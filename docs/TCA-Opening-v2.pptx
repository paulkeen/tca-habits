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7" r:id="rId3"/>
    <p:sldId id="268" r:id="rId4"/>
    <p:sldId id="260" r:id="rId5"/>
    <p:sldId id="257" r:id="rId6"/>
    <p:sldId id="258" r:id="rId7"/>
    <p:sldId id="259" r:id="rId8"/>
    <p:sldId id="261" r:id="rId9"/>
    <p:sldId id="262" r:id="rId10"/>
    <p:sldId id="263" r:id="rId11"/>
    <p:sldId id="264"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9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85"/>
    <p:restoredTop sz="94672"/>
  </p:normalViewPr>
  <p:slideViewPr>
    <p:cSldViewPr snapToGrid="0" snapToObjects="1">
      <p:cViewPr varScale="1">
        <p:scale>
          <a:sx n="338" d="100"/>
          <a:sy n="338" d="100"/>
        </p:scale>
        <p:origin x="46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12D68B-958A-334D-96D5-FE930E03AF8F}" type="doc">
      <dgm:prSet loTypeId="urn:microsoft.com/office/officeart/2024/layout/MeetTheTeam" loCatId="" qsTypeId="urn:microsoft.com/office/officeart/2005/8/quickstyle/simple1" qsCatId="simple" csTypeId="urn:microsoft.com/office/officeart/2005/8/colors/accent1_2" csCatId="accent1" phldr="1"/>
      <dgm:spPr/>
      <dgm:t>
        <a:bodyPr/>
        <a:lstStyle/>
        <a:p>
          <a:endParaRPr lang="en-GB"/>
        </a:p>
      </dgm:t>
    </dgm:pt>
    <dgm:pt modelId="{6D025309-62C0-B245-8288-EDA0E2E2D05E}">
      <dgm:prSet phldrT="Name">
        <dgm:extLst>
          <a:ext uri="{C7F2D5A4-9E3B-4C8F-A7D2-1F8E9B6C4A30}">
            <msodIdLoc:phldrLoc xmlns:msodIdLoc="http://schemas.microsoft.com/office/drawing/2026/04/diagram/placeholderloc" id="msoidsIgxPlaceholderName"/>
          </a:ext>
        </dgm:extLst>
      </dgm:prSet>
      <dgm:spPr/>
      <dgm:t>
        <a:bodyPr/>
        <a:lstStyle/>
        <a:p>
          <a:pPr>
            <a:defRPr b="1"/>
          </a:pPr>
          <a:r>
            <a:rPr lang="en-GB" dirty="0"/>
            <a:t>Adair Robins</a:t>
          </a:r>
        </a:p>
      </dgm:t>
    </dgm:pt>
    <dgm:pt modelId="{EB4FB280-B517-534D-827C-DC2ED99CC52F}" type="parTrans" cxnId="{3796E545-BDD0-334E-BE74-56C1FE91BC72}">
      <dgm:prSet/>
      <dgm:spPr/>
      <dgm:t>
        <a:bodyPr/>
        <a:lstStyle/>
        <a:p>
          <a:endParaRPr lang="en-GB"/>
        </a:p>
      </dgm:t>
    </dgm:pt>
    <dgm:pt modelId="{13050DFA-96A8-C54E-9A08-93EF4A17992E}" type="sibTrans" cxnId="{3796E545-BDD0-334E-BE74-56C1FE91BC72}">
      <dgm:prSet/>
      <dgm:spPr/>
      <dgm:t>
        <a:bodyPr/>
        <a:lstStyle/>
        <a:p>
          <a:endParaRPr lang="en-GB"/>
        </a:p>
      </dgm:t>
    </dgm:pt>
    <dgm:pt modelId="{F1695C5C-D70C-6845-A67B-4C4AA8FF0D14}">
      <dgm:prSet phldrT="Role">
        <dgm:extLst>
          <a:ext uri="{C7F2D5A4-9E3B-4C8F-A7D2-1F8E9B6C4A30}">
            <msodIdLoc:phldrLoc xmlns:msodIdLoc="http://schemas.microsoft.com/office/drawing/2026/04/diagram/placeholderloc" id="msoidsIgxPlaceholderRole"/>
          </a:ext>
        </dgm:extLst>
      </dgm:prSet>
      <dgm:spPr/>
      <dgm:t>
        <a:bodyPr/>
        <a:lstStyle/>
        <a:p>
          <a:r>
            <a:rPr lang="en-GB" dirty="0"/>
            <a:t>Tech Council Australia</a:t>
          </a:r>
        </a:p>
      </dgm:t>
    </dgm:pt>
    <dgm:pt modelId="{6100D918-FCC7-514B-A476-85A1EB173F92}" type="parTrans" cxnId="{809DA1E1-B8B0-E94C-829E-69BDEE2315AA}">
      <dgm:prSet/>
      <dgm:spPr/>
      <dgm:t>
        <a:bodyPr/>
        <a:lstStyle/>
        <a:p>
          <a:endParaRPr lang="en-GB"/>
        </a:p>
      </dgm:t>
    </dgm:pt>
    <dgm:pt modelId="{1A3A6041-201B-6E4B-A51D-C5FA411808D7}" type="sibTrans" cxnId="{809DA1E1-B8B0-E94C-829E-69BDEE2315AA}">
      <dgm:prSet/>
      <dgm:spPr/>
      <dgm:t>
        <a:bodyPr/>
        <a:lstStyle/>
        <a:p>
          <a:endParaRPr lang="en-GB"/>
        </a:p>
      </dgm:t>
    </dgm:pt>
    <dgm:pt modelId="{1E625335-15E0-4E49-998F-FA2EF7DF3BAA}">
      <dgm:prSet phldrT="Name">
        <dgm:extLst>
          <a:ext uri="{C7F2D5A4-9E3B-4C8F-A7D2-1F8E9B6C4A30}">
            <msodIdLoc:phldrLoc xmlns:msodIdLoc="http://schemas.microsoft.com/office/drawing/2026/04/diagram/placeholderloc" id="msoidsIgxPlaceholderName"/>
          </a:ext>
        </dgm:extLst>
      </dgm:prSet>
      <dgm:spPr/>
      <dgm:t>
        <a:bodyPr/>
        <a:lstStyle/>
        <a:p>
          <a:pPr>
            <a:defRPr b="1"/>
          </a:pPr>
          <a:r>
            <a:rPr lang="en-GB" dirty="0"/>
            <a:t>Jade Loyzaga</a:t>
          </a:r>
        </a:p>
      </dgm:t>
    </dgm:pt>
    <dgm:pt modelId="{8BD08FA7-97BA-6A4B-98DC-397262DC6B2D}" type="parTrans" cxnId="{70D296E2-4183-6B4D-9207-889734727E1C}">
      <dgm:prSet/>
      <dgm:spPr/>
      <dgm:t>
        <a:bodyPr/>
        <a:lstStyle/>
        <a:p>
          <a:endParaRPr lang="en-GB"/>
        </a:p>
      </dgm:t>
    </dgm:pt>
    <dgm:pt modelId="{C930A90D-3D0C-284F-95D6-1EE138E6DC29}" type="sibTrans" cxnId="{70D296E2-4183-6B4D-9207-889734727E1C}">
      <dgm:prSet/>
      <dgm:spPr/>
      <dgm:t>
        <a:bodyPr/>
        <a:lstStyle/>
        <a:p>
          <a:endParaRPr lang="en-GB"/>
        </a:p>
      </dgm:t>
    </dgm:pt>
    <dgm:pt modelId="{DD079FCE-2AE8-3243-A39C-4A4AF99A819A}">
      <dgm:prSet phldrT="Role">
        <dgm:extLst>
          <a:ext uri="{C7F2D5A4-9E3B-4C8F-A7D2-1F8E9B6C4A30}">
            <msodIdLoc:phldrLoc xmlns:msodIdLoc="http://schemas.microsoft.com/office/drawing/2026/04/diagram/placeholderloc" id="msoidsIgxPlaceholderRole"/>
          </a:ext>
        </dgm:extLst>
      </dgm:prSet>
      <dgm:spPr/>
      <dgm:t>
        <a:bodyPr/>
        <a:lstStyle/>
        <a:p>
          <a:r>
            <a:rPr lang="en-GB" dirty="0"/>
            <a:t>Canva</a:t>
          </a:r>
        </a:p>
      </dgm:t>
    </dgm:pt>
    <dgm:pt modelId="{79A5EF65-D5D8-2B48-BE56-E8BFCB5B4812}" type="parTrans" cxnId="{B37C1CC7-6289-7F4E-A648-05FC6D5C7B50}">
      <dgm:prSet/>
      <dgm:spPr/>
      <dgm:t>
        <a:bodyPr/>
        <a:lstStyle/>
        <a:p>
          <a:endParaRPr lang="en-GB"/>
        </a:p>
      </dgm:t>
    </dgm:pt>
    <dgm:pt modelId="{FEAE76E7-A0F2-D847-BC7B-74E4A789E574}" type="sibTrans" cxnId="{B37C1CC7-6289-7F4E-A648-05FC6D5C7B50}">
      <dgm:prSet/>
      <dgm:spPr/>
      <dgm:t>
        <a:bodyPr/>
        <a:lstStyle/>
        <a:p>
          <a:endParaRPr lang="en-GB"/>
        </a:p>
      </dgm:t>
    </dgm:pt>
    <dgm:pt modelId="{0EF43A98-E0FA-1B4B-BCB8-994A6F9CC512}">
      <dgm:prSet phldrT="Name">
        <dgm:extLst>
          <a:ext uri="{C7F2D5A4-9E3B-4C8F-A7D2-1F8E9B6C4A30}">
            <msodIdLoc:phldrLoc xmlns:msodIdLoc="http://schemas.microsoft.com/office/drawing/2026/04/diagram/placeholderloc" id="msoidsIgxPlaceholderName"/>
          </a:ext>
        </dgm:extLst>
      </dgm:prSet>
      <dgm:spPr/>
      <dgm:t>
        <a:bodyPr/>
        <a:lstStyle/>
        <a:p>
          <a:pPr>
            <a:defRPr b="1"/>
          </a:pPr>
          <a:r>
            <a:rPr lang="en-GB" dirty="0"/>
            <a:t>Paul Keen</a:t>
          </a:r>
        </a:p>
      </dgm:t>
    </dgm:pt>
    <dgm:pt modelId="{805352B8-785C-8043-868B-20DC6DF38F69}" type="parTrans" cxnId="{425FEAF0-F153-4948-9E6A-6043365998B1}">
      <dgm:prSet/>
      <dgm:spPr/>
      <dgm:t>
        <a:bodyPr/>
        <a:lstStyle/>
        <a:p>
          <a:endParaRPr lang="en-GB"/>
        </a:p>
      </dgm:t>
    </dgm:pt>
    <dgm:pt modelId="{4BB0D2CC-8A9B-1841-9F95-BAA63ACB1939}" type="sibTrans" cxnId="{425FEAF0-F153-4948-9E6A-6043365998B1}">
      <dgm:prSet/>
      <dgm:spPr/>
      <dgm:t>
        <a:bodyPr/>
        <a:lstStyle/>
        <a:p>
          <a:endParaRPr lang="en-GB"/>
        </a:p>
      </dgm:t>
    </dgm:pt>
    <dgm:pt modelId="{DA2FE48F-A908-1749-AD09-C3F234C3D5E5}">
      <dgm:prSet phldrT="Role">
        <dgm:extLst>
          <a:ext uri="{C7F2D5A4-9E3B-4C8F-A7D2-1F8E9B6C4A30}">
            <msodIdLoc:phldrLoc xmlns:msodIdLoc="http://schemas.microsoft.com/office/drawing/2026/04/diagram/placeholderloc" id="msoidsIgxPlaceholderRole"/>
          </a:ext>
        </dgm:extLst>
      </dgm:prSet>
      <dgm:spPr/>
      <dgm:t>
        <a:bodyPr/>
        <a:lstStyle/>
        <a:p>
          <a:r>
            <a:rPr lang="en-GB" dirty="0"/>
            <a:t>Culture Amp</a:t>
          </a:r>
        </a:p>
      </dgm:t>
    </dgm:pt>
    <dgm:pt modelId="{77038DE6-CE97-6C4B-86D6-3351FF99874A}" type="parTrans" cxnId="{D868C7FA-66D5-D54D-AACC-39A89846C016}">
      <dgm:prSet/>
      <dgm:spPr/>
      <dgm:t>
        <a:bodyPr/>
        <a:lstStyle/>
        <a:p>
          <a:endParaRPr lang="en-GB"/>
        </a:p>
      </dgm:t>
    </dgm:pt>
    <dgm:pt modelId="{CBF7065D-2220-374A-A185-0E2202E86B1B}" type="sibTrans" cxnId="{D868C7FA-66D5-D54D-AACC-39A89846C016}">
      <dgm:prSet/>
      <dgm:spPr/>
      <dgm:t>
        <a:bodyPr/>
        <a:lstStyle/>
        <a:p>
          <a:endParaRPr lang="en-GB"/>
        </a:p>
      </dgm:t>
    </dgm:pt>
    <dgm:pt modelId="{03718E08-4DB1-4D4F-9363-D8752392CE30}">
      <dgm:prSet phldrT="Name">
        <dgm:extLst>
          <a:ext uri="{C7F2D5A4-9E3B-4C8F-A7D2-1F8E9B6C4A30}">
            <msodIdLoc:phldrLoc xmlns:msodIdLoc="http://schemas.microsoft.com/office/drawing/2026/04/diagram/placeholderloc" id="msoidsIgxPlaceholderName"/>
          </a:ext>
        </dgm:extLst>
      </dgm:prSet>
      <dgm:spPr/>
      <dgm:t>
        <a:bodyPr/>
        <a:lstStyle/>
        <a:p>
          <a:pPr>
            <a:defRPr b="1"/>
          </a:pPr>
          <a:r>
            <a:rPr lang="en-GB" dirty="0"/>
            <a:t>Joris Dries</a:t>
          </a:r>
        </a:p>
      </dgm:t>
    </dgm:pt>
    <dgm:pt modelId="{E5F156CF-23D5-984F-BEF8-FE8F839FA8B0}" type="parTrans" cxnId="{25383F99-9F33-2442-B554-E245CD894C07}">
      <dgm:prSet/>
      <dgm:spPr/>
      <dgm:t>
        <a:bodyPr/>
        <a:lstStyle/>
        <a:p>
          <a:endParaRPr lang="en-GB"/>
        </a:p>
      </dgm:t>
    </dgm:pt>
    <dgm:pt modelId="{F2D4A29D-672A-464E-A7CA-41C9D5F2016D}" type="sibTrans" cxnId="{25383F99-9F33-2442-B554-E245CD894C07}">
      <dgm:prSet/>
      <dgm:spPr/>
      <dgm:t>
        <a:bodyPr/>
        <a:lstStyle/>
        <a:p>
          <a:endParaRPr lang="en-GB"/>
        </a:p>
      </dgm:t>
    </dgm:pt>
    <dgm:pt modelId="{FB642850-9FB0-E04E-983B-765EE8E7E854}">
      <dgm:prSet phldrT="Role">
        <dgm:extLst>
          <a:ext uri="{C7F2D5A4-9E3B-4C8F-A7D2-1F8E9B6C4A30}">
            <msodIdLoc:phldrLoc xmlns:msodIdLoc="http://schemas.microsoft.com/office/drawing/2026/04/diagram/placeholderloc" id="msoidsIgxPlaceholderRole"/>
          </a:ext>
        </dgm:extLst>
      </dgm:prSet>
      <dgm:spPr/>
      <dgm:t>
        <a:bodyPr/>
        <a:lstStyle/>
        <a:p>
          <a:r>
            <a:rPr lang="en-GB" dirty="0"/>
            <a:t>Resonate CX</a:t>
          </a:r>
        </a:p>
      </dgm:t>
    </dgm:pt>
    <dgm:pt modelId="{15DC7290-627E-5E45-8FAD-A681AAE324A8}" type="parTrans" cxnId="{E01899C1-0D75-1347-B896-4C2E60978D2E}">
      <dgm:prSet/>
      <dgm:spPr/>
      <dgm:t>
        <a:bodyPr/>
        <a:lstStyle/>
        <a:p>
          <a:endParaRPr lang="en-GB"/>
        </a:p>
      </dgm:t>
    </dgm:pt>
    <dgm:pt modelId="{FD32DE12-5468-F243-8797-99E088B50181}" type="sibTrans" cxnId="{E01899C1-0D75-1347-B896-4C2E60978D2E}">
      <dgm:prSet/>
      <dgm:spPr/>
      <dgm:t>
        <a:bodyPr/>
        <a:lstStyle/>
        <a:p>
          <a:endParaRPr lang="en-GB"/>
        </a:p>
      </dgm:t>
    </dgm:pt>
    <dgm:pt modelId="{BFC6E888-509A-FF47-9CD3-D88A109D9774}" type="pres">
      <dgm:prSet presAssocID="{8A12D68B-958A-334D-96D5-FE930E03AF8F}" presName="root" presStyleCnt="0">
        <dgm:presLayoutVars>
          <dgm:dir/>
          <dgm:resizeHandles val="exact"/>
        </dgm:presLayoutVars>
      </dgm:prSet>
      <dgm:spPr/>
    </dgm:pt>
    <dgm:pt modelId="{EF3A4634-2181-9544-A4F3-4A2765EF40D6}" type="pres">
      <dgm:prSet presAssocID="{6D025309-62C0-B245-8288-EDA0E2E2D05E}" presName="compNode" presStyleCnt="0"/>
      <dgm:spPr/>
    </dgm:pt>
    <dgm:pt modelId="{EE3D2DAF-7AF2-DD4E-86BD-1B41C4FE61A6}" type="pres">
      <dgm:prSet presAssocID="{6D025309-62C0-B245-8288-EDA0E2E2D05E}" presName="photoCircle" presStyleLbl="fgImgPlace1" presStyleIdx="0" presStyleCnt="4"/>
      <dgm:spPr>
        <a:blipFill>
          <a:blip xmlns:r="http://schemas.openxmlformats.org/officeDocument/2006/relationships" r:embed="rId1"/>
          <a:srcRect/>
          <a:stretch>
            <a:fillRect/>
          </a:stretch>
        </a:blipFill>
      </dgm:spPr>
    </dgm:pt>
    <dgm:pt modelId="{F3ECDDFB-82C0-BE44-85E8-36D4E2B2FDF0}" type="pres">
      <dgm:prSet presAssocID="{6D025309-62C0-B245-8288-EDA0E2E2D05E}" presName="spacer" presStyleCnt="0"/>
      <dgm:spPr/>
    </dgm:pt>
    <dgm:pt modelId="{03014DC9-D0AE-B14C-84B8-E9E324B298FB}" type="pres">
      <dgm:prSet presAssocID="{6D025309-62C0-B245-8288-EDA0E2E2D05E}" presName="nameText" presStyleLbl="revTx" presStyleIdx="0" presStyleCnt="8">
        <dgm:presLayoutVars>
          <dgm:chMax val="1"/>
          <dgm:chPref val="1"/>
        </dgm:presLayoutVars>
      </dgm:prSet>
      <dgm:spPr/>
    </dgm:pt>
    <dgm:pt modelId="{398329E6-4D5B-DC49-9283-5C1A4A0C4687}" type="pres">
      <dgm:prSet presAssocID="{6D025309-62C0-B245-8288-EDA0E2E2D05E}" presName="roleText" presStyleLbl="revTx" presStyleIdx="1" presStyleCnt="8">
        <dgm:presLayoutVars>
          <dgm:chMax val="0"/>
        </dgm:presLayoutVars>
      </dgm:prSet>
      <dgm:spPr/>
    </dgm:pt>
    <dgm:pt modelId="{DF0180FA-92F8-3D4B-B277-5E45D923572D}" type="pres">
      <dgm:prSet presAssocID="{13050DFA-96A8-C54E-9A08-93EF4A17992E}" presName="sibTrans" presStyleCnt="0"/>
      <dgm:spPr/>
    </dgm:pt>
    <dgm:pt modelId="{B3E3EF6C-FDD3-8144-BE67-CCD3D811BA40}" type="pres">
      <dgm:prSet presAssocID="{1E625335-15E0-4E49-998F-FA2EF7DF3BAA}" presName="compNode" presStyleCnt="0"/>
      <dgm:spPr/>
    </dgm:pt>
    <dgm:pt modelId="{118FCCF5-4AA6-7244-9485-085CC68FA17C}" type="pres">
      <dgm:prSet presAssocID="{1E625335-15E0-4E49-998F-FA2EF7DF3BAA}" presName="photoCircle" presStyleLbl="fgImgPlace1" presStyleIdx="1" presStyleCnt="4"/>
      <dgm:spPr>
        <a:blipFill>
          <a:blip xmlns:r="http://schemas.openxmlformats.org/officeDocument/2006/relationships" r:embed="rId2"/>
          <a:srcRect/>
          <a:stretch>
            <a:fillRect/>
          </a:stretch>
        </a:blipFill>
      </dgm:spPr>
    </dgm:pt>
    <dgm:pt modelId="{5B831728-407E-A047-B3E3-F8A28DDE54AD}" type="pres">
      <dgm:prSet presAssocID="{1E625335-15E0-4E49-998F-FA2EF7DF3BAA}" presName="spacer" presStyleCnt="0"/>
      <dgm:spPr/>
    </dgm:pt>
    <dgm:pt modelId="{098DC4A7-4C34-3F4B-A119-14DBE7D46546}" type="pres">
      <dgm:prSet presAssocID="{1E625335-15E0-4E49-998F-FA2EF7DF3BAA}" presName="nameText" presStyleLbl="revTx" presStyleIdx="2" presStyleCnt="8">
        <dgm:presLayoutVars>
          <dgm:chMax val="1"/>
          <dgm:chPref val="1"/>
        </dgm:presLayoutVars>
      </dgm:prSet>
      <dgm:spPr/>
    </dgm:pt>
    <dgm:pt modelId="{058A0958-2E51-A148-B74E-3CB7C2C30F95}" type="pres">
      <dgm:prSet presAssocID="{1E625335-15E0-4E49-998F-FA2EF7DF3BAA}" presName="roleText" presStyleLbl="revTx" presStyleIdx="3" presStyleCnt="8">
        <dgm:presLayoutVars>
          <dgm:chMax val="0"/>
        </dgm:presLayoutVars>
      </dgm:prSet>
      <dgm:spPr/>
    </dgm:pt>
    <dgm:pt modelId="{B0FB3A9A-FEE0-3D47-9DD6-3BBFED58191F}" type="pres">
      <dgm:prSet presAssocID="{C930A90D-3D0C-284F-95D6-1EE138E6DC29}" presName="sibTrans" presStyleCnt="0"/>
      <dgm:spPr/>
    </dgm:pt>
    <dgm:pt modelId="{7CBE45AC-D736-914A-A5CC-B1A7BC7FB803}" type="pres">
      <dgm:prSet presAssocID="{0EF43A98-E0FA-1B4B-BCB8-994A6F9CC512}" presName="compNode" presStyleCnt="0"/>
      <dgm:spPr/>
    </dgm:pt>
    <dgm:pt modelId="{9BDE1F2B-42C0-034A-988F-D0C43351E50C}" type="pres">
      <dgm:prSet presAssocID="{0EF43A98-E0FA-1B4B-BCB8-994A6F9CC512}" presName="photoCircle" presStyleLbl="fgImgPlace1" presStyleIdx="2" presStyleCnt="4"/>
      <dgm:spPr>
        <a:blipFill>
          <a:blip xmlns:r="http://schemas.openxmlformats.org/officeDocument/2006/relationships" r:embed="rId3"/>
          <a:srcRect/>
          <a:stretch>
            <a:fillRect/>
          </a:stretch>
        </a:blipFill>
      </dgm:spPr>
    </dgm:pt>
    <dgm:pt modelId="{019E83AA-4BA2-B543-9135-D81CCC8F4E32}" type="pres">
      <dgm:prSet presAssocID="{0EF43A98-E0FA-1B4B-BCB8-994A6F9CC512}" presName="spacer" presStyleCnt="0"/>
      <dgm:spPr/>
    </dgm:pt>
    <dgm:pt modelId="{1BC28CBB-B7CB-1E44-8C2E-1C54A4B7A701}" type="pres">
      <dgm:prSet presAssocID="{0EF43A98-E0FA-1B4B-BCB8-994A6F9CC512}" presName="nameText" presStyleLbl="revTx" presStyleIdx="4" presStyleCnt="8">
        <dgm:presLayoutVars>
          <dgm:chMax val="1"/>
          <dgm:chPref val="1"/>
        </dgm:presLayoutVars>
      </dgm:prSet>
      <dgm:spPr/>
    </dgm:pt>
    <dgm:pt modelId="{C92C9D12-B57D-C140-AD53-F33408760C66}" type="pres">
      <dgm:prSet presAssocID="{0EF43A98-E0FA-1B4B-BCB8-994A6F9CC512}" presName="roleText" presStyleLbl="revTx" presStyleIdx="5" presStyleCnt="8">
        <dgm:presLayoutVars>
          <dgm:chMax val="0"/>
        </dgm:presLayoutVars>
      </dgm:prSet>
      <dgm:spPr/>
    </dgm:pt>
    <dgm:pt modelId="{71B4F54E-31F1-3847-8A84-9DDC5AE269F2}" type="pres">
      <dgm:prSet presAssocID="{4BB0D2CC-8A9B-1841-9F95-BAA63ACB1939}" presName="sibTrans" presStyleCnt="0"/>
      <dgm:spPr/>
    </dgm:pt>
    <dgm:pt modelId="{57AAC3A9-B8D3-2C4C-AC5D-667014870E1B}" type="pres">
      <dgm:prSet presAssocID="{03718E08-4DB1-4D4F-9363-D8752392CE30}" presName="compNode" presStyleCnt="0"/>
      <dgm:spPr/>
    </dgm:pt>
    <dgm:pt modelId="{93AEF8AA-6935-0D49-A45D-D9ADEDB390EB}" type="pres">
      <dgm:prSet presAssocID="{03718E08-4DB1-4D4F-9363-D8752392CE30}" presName="photoCircle" presStyleLbl="fgImgPlace1" presStyleIdx="3" presStyleCnt="4"/>
      <dgm:spPr>
        <a:blipFill>
          <a:blip xmlns:r="http://schemas.openxmlformats.org/officeDocument/2006/relationships" r:embed="rId4"/>
          <a:srcRect/>
          <a:stretch>
            <a:fillRect/>
          </a:stretch>
        </a:blipFill>
      </dgm:spPr>
    </dgm:pt>
    <dgm:pt modelId="{992E2D55-0175-8C46-B8FC-D384A1800248}" type="pres">
      <dgm:prSet presAssocID="{03718E08-4DB1-4D4F-9363-D8752392CE30}" presName="spacer" presStyleCnt="0"/>
      <dgm:spPr/>
    </dgm:pt>
    <dgm:pt modelId="{F6957137-863B-1949-AB15-790219CFF326}" type="pres">
      <dgm:prSet presAssocID="{03718E08-4DB1-4D4F-9363-D8752392CE30}" presName="nameText" presStyleLbl="revTx" presStyleIdx="6" presStyleCnt="8">
        <dgm:presLayoutVars>
          <dgm:chMax val="1"/>
          <dgm:chPref val="1"/>
        </dgm:presLayoutVars>
      </dgm:prSet>
      <dgm:spPr/>
    </dgm:pt>
    <dgm:pt modelId="{DDD09763-9CDD-8848-B772-055452AF72EA}" type="pres">
      <dgm:prSet presAssocID="{03718E08-4DB1-4D4F-9363-D8752392CE30}" presName="roleText" presStyleLbl="revTx" presStyleIdx="7" presStyleCnt="8">
        <dgm:presLayoutVars>
          <dgm:chMax val="0"/>
        </dgm:presLayoutVars>
      </dgm:prSet>
      <dgm:spPr/>
    </dgm:pt>
  </dgm:ptLst>
  <dgm:cxnLst>
    <dgm:cxn modelId="{A080F105-89D8-5940-BC01-C8E2CE195566}" type="presOf" srcId="{0EF43A98-E0FA-1B4B-BCB8-994A6F9CC512}" destId="{1BC28CBB-B7CB-1E44-8C2E-1C54A4B7A701}" srcOrd="0" destOrd="0" presId="urn:microsoft.com/office/officeart/2024/layout/MeetTheTeam"/>
    <dgm:cxn modelId="{8785A519-02F3-4346-A10B-27DF703BF093}" type="presOf" srcId="{1E625335-15E0-4E49-998F-FA2EF7DF3BAA}" destId="{098DC4A7-4C34-3F4B-A119-14DBE7D46546}" srcOrd="0" destOrd="0" presId="urn:microsoft.com/office/officeart/2024/layout/MeetTheTeam"/>
    <dgm:cxn modelId="{0D292439-65C1-A540-A979-E5339C82E446}" type="presOf" srcId="{FB642850-9FB0-E04E-983B-765EE8E7E854}" destId="{DDD09763-9CDD-8848-B772-055452AF72EA}" srcOrd="0" destOrd="0" presId="urn:microsoft.com/office/officeart/2024/layout/MeetTheTeam"/>
    <dgm:cxn modelId="{E6547641-D282-8645-B31A-C48D1C983A3D}" type="presOf" srcId="{6D025309-62C0-B245-8288-EDA0E2E2D05E}" destId="{03014DC9-D0AE-B14C-84B8-E9E324B298FB}" srcOrd="0" destOrd="0" presId="urn:microsoft.com/office/officeart/2024/layout/MeetTheTeam"/>
    <dgm:cxn modelId="{3796E545-BDD0-334E-BE74-56C1FE91BC72}" srcId="{8A12D68B-958A-334D-96D5-FE930E03AF8F}" destId="{6D025309-62C0-B245-8288-EDA0E2E2D05E}" srcOrd="0" destOrd="0" parTransId="{EB4FB280-B517-534D-827C-DC2ED99CC52F}" sibTransId="{13050DFA-96A8-C54E-9A08-93EF4A17992E}"/>
    <dgm:cxn modelId="{F90A1051-56AA-8543-BA17-1BE1B27D1AAC}" type="presOf" srcId="{8A12D68B-958A-334D-96D5-FE930E03AF8F}" destId="{BFC6E888-509A-FF47-9CD3-D88A109D9774}" srcOrd="0" destOrd="0" presId="urn:microsoft.com/office/officeart/2024/layout/MeetTheTeam"/>
    <dgm:cxn modelId="{25383F99-9F33-2442-B554-E245CD894C07}" srcId="{8A12D68B-958A-334D-96D5-FE930E03AF8F}" destId="{03718E08-4DB1-4D4F-9363-D8752392CE30}" srcOrd="3" destOrd="0" parTransId="{E5F156CF-23D5-984F-BEF8-FE8F839FA8B0}" sibTransId="{F2D4A29D-672A-464E-A7CA-41C9D5F2016D}"/>
    <dgm:cxn modelId="{769D469F-73FC-7644-95AD-26F48EBCD6BE}" type="presOf" srcId="{03718E08-4DB1-4D4F-9363-D8752392CE30}" destId="{F6957137-863B-1949-AB15-790219CFF326}" srcOrd="0" destOrd="0" presId="urn:microsoft.com/office/officeart/2024/layout/MeetTheTeam"/>
    <dgm:cxn modelId="{89AABFA3-0A26-2940-A774-52E7947E8F44}" type="presOf" srcId="{DD079FCE-2AE8-3243-A39C-4A4AF99A819A}" destId="{058A0958-2E51-A148-B74E-3CB7C2C30F95}" srcOrd="0" destOrd="0" presId="urn:microsoft.com/office/officeart/2024/layout/MeetTheTeam"/>
    <dgm:cxn modelId="{E01899C1-0D75-1347-B896-4C2E60978D2E}" srcId="{03718E08-4DB1-4D4F-9363-D8752392CE30}" destId="{FB642850-9FB0-E04E-983B-765EE8E7E854}" srcOrd="0" destOrd="0" parTransId="{15DC7290-627E-5E45-8FAD-A681AAE324A8}" sibTransId="{FD32DE12-5468-F243-8797-99E088B50181}"/>
    <dgm:cxn modelId="{B37C1CC7-6289-7F4E-A648-05FC6D5C7B50}" srcId="{1E625335-15E0-4E49-998F-FA2EF7DF3BAA}" destId="{DD079FCE-2AE8-3243-A39C-4A4AF99A819A}" srcOrd="0" destOrd="0" parTransId="{79A5EF65-D5D8-2B48-BE56-E8BFCB5B4812}" sibTransId="{FEAE76E7-A0F2-D847-BC7B-74E4A789E574}"/>
    <dgm:cxn modelId="{CBD757DB-2036-9C46-9177-5DC18E03579E}" type="presOf" srcId="{F1695C5C-D70C-6845-A67B-4C4AA8FF0D14}" destId="{398329E6-4D5B-DC49-9283-5C1A4A0C4687}" srcOrd="0" destOrd="0" presId="urn:microsoft.com/office/officeart/2024/layout/MeetTheTeam"/>
    <dgm:cxn modelId="{809DA1E1-B8B0-E94C-829E-69BDEE2315AA}" srcId="{6D025309-62C0-B245-8288-EDA0E2E2D05E}" destId="{F1695C5C-D70C-6845-A67B-4C4AA8FF0D14}" srcOrd="0" destOrd="0" parTransId="{6100D918-FCC7-514B-A476-85A1EB173F92}" sibTransId="{1A3A6041-201B-6E4B-A51D-C5FA411808D7}"/>
    <dgm:cxn modelId="{70D296E2-4183-6B4D-9207-889734727E1C}" srcId="{8A12D68B-958A-334D-96D5-FE930E03AF8F}" destId="{1E625335-15E0-4E49-998F-FA2EF7DF3BAA}" srcOrd="1" destOrd="0" parTransId="{8BD08FA7-97BA-6A4B-98DC-397262DC6B2D}" sibTransId="{C930A90D-3D0C-284F-95D6-1EE138E6DC29}"/>
    <dgm:cxn modelId="{FE576DE7-93B9-FA4D-96F4-3A310340FD23}" type="presOf" srcId="{DA2FE48F-A908-1749-AD09-C3F234C3D5E5}" destId="{C92C9D12-B57D-C140-AD53-F33408760C66}" srcOrd="0" destOrd="0" presId="urn:microsoft.com/office/officeart/2024/layout/MeetTheTeam"/>
    <dgm:cxn modelId="{425FEAF0-F153-4948-9E6A-6043365998B1}" srcId="{8A12D68B-958A-334D-96D5-FE930E03AF8F}" destId="{0EF43A98-E0FA-1B4B-BCB8-994A6F9CC512}" srcOrd="2" destOrd="0" parTransId="{805352B8-785C-8043-868B-20DC6DF38F69}" sibTransId="{4BB0D2CC-8A9B-1841-9F95-BAA63ACB1939}"/>
    <dgm:cxn modelId="{D868C7FA-66D5-D54D-AACC-39A89846C016}" srcId="{0EF43A98-E0FA-1B4B-BCB8-994A6F9CC512}" destId="{DA2FE48F-A908-1749-AD09-C3F234C3D5E5}" srcOrd="0" destOrd="0" parTransId="{77038DE6-CE97-6C4B-86D6-3351FF99874A}" sibTransId="{CBF7065D-2220-374A-A185-0E2202E86B1B}"/>
    <dgm:cxn modelId="{FC4AFC75-A248-D944-B8AB-EAAB89F26A59}" type="presParOf" srcId="{BFC6E888-509A-FF47-9CD3-D88A109D9774}" destId="{EF3A4634-2181-9544-A4F3-4A2765EF40D6}" srcOrd="0" destOrd="0" presId="urn:microsoft.com/office/officeart/2024/layout/MeetTheTeam"/>
    <dgm:cxn modelId="{BB85D3B8-CB78-A74C-9AE7-3833C21D25D4}" type="presParOf" srcId="{EF3A4634-2181-9544-A4F3-4A2765EF40D6}" destId="{EE3D2DAF-7AF2-DD4E-86BD-1B41C4FE61A6}" srcOrd="0" destOrd="0" presId="urn:microsoft.com/office/officeart/2024/layout/MeetTheTeam"/>
    <dgm:cxn modelId="{BFAC5FBC-5680-AD4B-917E-08B73171143F}" type="presParOf" srcId="{EF3A4634-2181-9544-A4F3-4A2765EF40D6}" destId="{F3ECDDFB-82C0-BE44-85E8-36D4E2B2FDF0}" srcOrd="1" destOrd="0" presId="urn:microsoft.com/office/officeart/2024/layout/MeetTheTeam"/>
    <dgm:cxn modelId="{F70AE60E-5AA8-A64F-B09F-F31BA47EAD2E}" type="presParOf" srcId="{EF3A4634-2181-9544-A4F3-4A2765EF40D6}" destId="{03014DC9-D0AE-B14C-84B8-E9E324B298FB}" srcOrd="2" destOrd="0" presId="urn:microsoft.com/office/officeart/2024/layout/MeetTheTeam"/>
    <dgm:cxn modelId="{542683F9-DFF4-4749-B967-83D64E89F3C0}" type="presParOf" srcId="{EF3A4634-2181-9544-A4F3-4A2765EF40D6}" destId="{398329E6-4D5B-DC49-9283-5C1A4A0C4687}" srcOrd="3" destOrd="0" presId="urn:microsoft.com/office/officeart/2024/layout/MeetTheTeam"/>
    <dgm:cxn modelId="{96D686FA-B4F6-2341-BFC6-C4DC2FD676EF}" type="presParOf" srcId="{BFC6E888-509A-FF47-9CD3-D88A109D9774}" destId="{DF0180FA-92F8-3D4B-B277-5E45D923572D}" srcOrd="1" destOrd="0" presId="urn:microsoft.com/office/officeart/2024/layout/MeetTheTeam"/>
    <dgm:cxn modelId="{2341266D-2252-C547-A161-B8A1A96682C0}" type="presParOf" srcId="{BFC6E888-509A-FF47-9CD3-D88A109D9774}" destId="{B3E3EF6C-FDD3-8144-BE67-CCD3D811BA40}" srcOrd="2" destOrd="0" presId="urn:microsoft.com/office/officeart/2024/layout/MeetTheTeam"/>
    <dgm:cxn modelId="{6CEA011F-C57A-F64B-A410-9A5E4BF33DA7}" type="presParOf" srcId="{B3E3EF6C-FDD3-8144-BE67-CCD3D811BA40}" destId="{118FCCF5-4AA6-7244-9485-085CC68FA17C}" srcOrd="0" destOrd="0" presId="urn:microsoft.com/office/officeart/2024/layout/MeetTheTeam"/>
    <dgm:cxn modelId="{76496318-5D05-EC48-85EF-0BFB64885BAC}" type="presParOf" srcId="{B3E3EF6C-FDD3-8144-BE67-CCD3D811BA40}" destId="{5B831728-407E-A047-B3E3-F8A28DDE54AD}" srcOrd="1" destOrd="0" presId="urn:microsoft.com/office/officeart/2024/layout/MeetTheTeam"/>
    <dgm:cxn modelId="{62C1841E-D6A2-9D48-8751-F1C055DA1F6D}" type="presParOf" srcId="{B3E3EF6C-FDD3-8144-BE67-CCD3D811BA40}" destId="{098DC4A7-4C34-3F4B-A119-14DBE7D46546}" srcOrd="2" destOrd="0" presId="urn:microsoft.com/office/officeart/2024/layout/MeetTheTeam"/>
    <dgm:cxn modelId="{34027E72-97BC-A245-A7C0-7DC4019A2349}" type="presParOf" srcId="{B3E3EF6C-FDD3-8144-BE67-CCD3D811BA40}" destId="{058A0958-2E51-A148-B74E-3CB7C2C30F95}" srcOrd="3" destOrd="0" presId="urn:microsoft.com/office/officeart/2024/layout/MeetTheTeam"/>
    <dgm:cxn modelId="{5A3FC8F1-42D1-9042-A337-8B503BFEEADE}" type="presParOf" srcId="{BFC6E888-509A-FF47-9CD3-D88A109D9774}" destId="{B0FB3A9A-FEE0-3D47-9DD6-3BBFED58191F}" srcOrd="3" destOrd="0" presId="urn:microsoft.com/office/officeart/2024/layout/MeetTheTeam"/>
    <dgm:cxn modelId="{AE14B1BA-95FE-164A-A503-DAFE18AF2C70}" type="presParOf" srcId="{BFC6E888-509A-FF47-9CD3-D88A109D9774}" destId="{7CBE45AC-D736-914A-A5CC-B1A7BC7FB803}" srcOrd="4" destOrd="0" presId="urn:microsoft.com/office/officeart/2024/layout/MeetTheTeam"/>
    <dgm:cxn modelId="{62B64ABB-8E85-1148-B6CD-073DE2F77EFE}" type="presParOf" srcId="{7CBE45AC-D736-914A-A5CC-B1A7BC7FB803}" destId="{9BDE1F2B-42C0-034A-988F-D0C43351E50C}" srcOrd="0" destOrd="0" presId="urn:microsoft.com/office/officeart/2024/layout/MeetTheTeam"/>
    <dgm:cxn modelId="{EA7199EA-9380-7A4E-AF11-5DF7B459E1ED}" type="presParOf" srcId="{7CBE45AC-D736-914A-A5CC-B1A7BC7FB803}" destId="{019E83AA-4BA2-B543-9135-D81CCC8F4E32}" srcOrd="1" destOrd="0" presId="urn:microsoft.com/office/officeart/2024/layout/MeetTheTeam"/>
    <dgm:cxn modelId="{098AA4BB-8EE6-7D48-AF13-F64170A88013}" type="presParOf" srcId="{7CBE45AC-D736-914A-A5CC-B1A7BC7FB803}" destId="{1BC28CBB-B7CB-1E44-8C2E-1C54A4B7A701}" srcOrd="2" destOrd="0" presId="urn:microsoft.com/office/officeart/2024/layout/MeetTheTeam"/>
    <dgm:cxn modelId="{ED1DC7AE-1C37-CD4B-9D4C-6F6A1DC70CD4}" type="presParOf" srcId="{7CBE45AC-D736-914A-A5CC-B1A7BC7FB803}" destId="{C92C9D12-B57D-C140-AD53-F33408760C66}" srcOrd="3" destOrd="0" presId="urn:microsoft.com/office/officeart/2024/layout/MeetTheTeam"/>
    <dgm:cxn modelId="{78840E28-8AA0-5348-9AB0-E9CDF1A377F0}" type="presParOf" srcId="{BFC6E888-509A-FF47-9CD3-D88A109D9774}" destId="{71B4F54E-31F1-3847-8A84-9DDC5AE269F2}" srcOrd="5" destOrd="0" presId="urn:microsoft.com/office/officeart/2024/layout/MeetTheTeam"/>
    <dgm:cxn modelId="{171A4F32-74FB-2C40-BF9C-476563C41676}" type="presParOf" srcId="{BFC6E888-509A-FF47-9CD3-D88A109D9774}" destId="{57AAC3A9-B8D3-2C4C-AC5D-667014870E1B}" srcOrd="6" destOrd="0" presId="urn:microsoft.com/office/officeart/2024/layout/MeetTheTeam"/>
    <dgm:cxn modelId="{0D4536C9-4492-2E45-B99B-2EB64868FFAE}" type="presParOf" srcId="{57AAC3A9-B8D3-2C4C-AC5D-667014870E1B}" destId="{93AEF8AA-6935-0D49-A45D-D9ADEDB390EB}" srcOrd="0" destOrd="0" presId="urn:microsoft.com/office/officeart/2024/layout/MeetTheTeam"/>
    <dgm:cxn modelId="{F1656F6E-0A6C-924F-A262-C9CE95F1C585}" type="presParOf" srcId="{57AAC3A9-B8D3-2C4C-AC5D-667014870E1B}" destId="{992E2D55-0175-8C46-B8FC-D384A1800248}" srcOrd="1" destOrd="0" presId="urn:microsoft.com/office/officeart/2024/layout/MeetTheTeam"/>
    <dgm:cxn modelId="{7FF15E09-E0E7-3D4C-A831-84086D39B371}" type="presParOf" srcId="{57AAC3A9-B8D3-2C4C-AC5D-667014870E1B}" destId="{F6957137-863B-1949-AB15-790219CFF326}" srcOrd="2" destOrd="0" presId="urn:microsoft.com/office/officeart/2024/layout/MeetTheTeam"/>
    <dgm:cxn modelId="{A4EBD5E9-5536-924B-9B66-9227DF416FAA}" type="presParOf" srcId="{57AAC3A9-B8D3-2C4C-AC5D-667014870E1B}" destId="{DDD09763-9CDD-8848-B772-055452AF72EA}" srcOrd="3" destOrd="0" presId="urn:microsoft.com/office/officeart/2024/layout/MeetTheTeam"/>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3D2DAF-7AF2-DD4E-86BD-1B41C4FE61A6}">
      <dsp:nvSpPr>
        <dsp:cNvPr id="0" name=""/>
        <dsp:cNvSpPr/>
      </dsp:nvSpPr>
      <dsp:spPr>
        <a:xfrm>
          <a:off x="407939" y="793962"/>
          <a:ext cx="1778975" cy="1778975"/>
        </a:xfrm>
        <a:prstGeom prst="ellipse">
          <a:avLst/>
        </a:prstGeom>
        <a:blipFill>
          <a:blip xmlns:r="http://schemas.openxmlformats.org/officeDocument/2006/relationships" r:embed="rId1"/>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014DC9-D0AE-B14C-84B8-E9E324B298FB}">
      <dsp:nvSpPr>
        <dsp:cNvPr id="0" name=""/>
        <dsp:cNvSpPr/>
      </dsp:nvSpPr>
      <dsp:spPr>
        <a:xfrm>
          <a:off x="337185" y="2676037"/>
          <a:ext cx="1920484" cy="32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GB" sz="1800" kern="1200" dirty="0"/>
            <a:t>Adair Robins</a:t>
          </a:r>
        </a:p>
      </dsp:txBody>
      <dsp:txXfrm>
        <a:off x="337185" y="2676037"/>
        <a:ext cx="1920484" cy="324000"/>
      </dsp:txXfrm>
    </dsp:sp>
    <dsp:sp modelId="{398329E6-4D5B-DC49-9283-5C1A4A0C4687}">
      <dsp:nvSpPr>
        <dsp:cNvPr id="0" name=""/>
        <dsp:cNvSpPr/>
      </dsp:nvSpPr>
      <dsp:spPr>
        <a:xfrm>
          <a:off x="337185" y="3000037"/>
          <a:ext cx="1920484" cy="2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kern="1200" dirty="0"/>
            <a:t>Tech Council Australia</a:t>
          </a:r>
        </a:p>
      </dsp:txBody>
      <dsp:txXfrm>
        <a:off x="337185" y="3000037"/>
        <a:ext cx="1920484" cy="270000"/>
      </dsp:txXfrm>
    </dsp:sp>
    <dsp:sp modelId="{118FCCF5-4AA6-7244-9485-085CC68FA17C}">
      <dsp:nvSpPr>
        <dsp:cNvPr id="0" name=""/>
        <dsp:cNvSpPr/>
      </dsp:nvSpPr>
      <dsp:spPr>
        <a:xfrm>
          <a:off x="2506321" y="793962"/>
          <a:ext cx="1778975" cy="1778975"/>
        </a:xfrm>
        <a:prstGeom prst="ellipse">
          <a:avLst/>
        </a:prstGeom>
        <a:blipFill>
          <a:blip xmlns:r="http://schemas.openxmlformats.org/officeDocument/2006/relationships" r:embed="rId2"/>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8DC4A7-4C34-3F4B-A119-14DBE7D46546}">
      <dsp:nvSpPr>
        <dsp:cNvPr id="0" name=""/>
        <dsp:cNvSpPr/>
      </dsp:nvSpPr>
      <dsp:spPr>
        <a:xfrm>
          <a:off x="2435566" y="2676037"/>
          <a:ext cx="1920484" cy="32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GB" sz="1800" kern="1200" dirty="0"/>
            <a:t>Jade Loyzaga</a:t>
          </a:r>
        </a:p>
      </dsp:txBody>
      <dsp:txXfrm>
        <a:off x="2435566" y="2676037"/>
        <a:ext cx="1920484" cy="324000"/>
      </dsp:txXfrm>
    </dsp:sp>
    <dsp:sp modelId="{058A0958-2E51-A148-B74E-3CB7C2C30F95}">
      <dsp:nvSpPr>
        <dsp:cNvPr id="0" name=""/>
        <dsp:cNvSpPr/>
      </dsp:nvSpPr>
      <dsp:spPr>
        <a:xfrm>
          <a:off x="2435566" y="3000037"/>
          <a:ext cx="1920484" cy="2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kern="1200" dirty="0"/>
            <a:t>Canva</a:t>
          </a:r>
        </a:p>
      </dsp:txBody>
      <dsp:txXfrm>
        <a:off x="2435566" y="3000037"/>
        <a:ext cx="1920484" cy="270000"/>
      </dsp:txXfrm>
    </dsp:sp>
    <dsp:sp modelId="{9BDE1F2B-42C0-034A-988F-D0C43351E50C}">
      <dsp:nvSpPr>
        <dsp:cNvPr id="0" name=""/>
        <dsp:cNvSpPr/>
      </dsp:nvSpPr>
      <dsp:spPr>
        <a:xfrm>
          <a:off x="4604703" y="793962"/>
          <a:ext cx="1778975" cy="1778975"/>
        </a:xfrm>
        <a:prstGeom prst="ellipse">
          <a:avLst/>
        </a:prstGeom>
        <a:blipFill>
          <a:blip xmlns:r="http://schemas.openxmlformats.org/officeDocument/2006/relationships" r:embed="rId3"/>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C28CBB-B7CB-1E44-8C2E-1C54A4B7A701}">
      <dsp:nvSpPr>
        <dsp:cNvPr id="0" name=""/>
        <dsp:cNvSpPr/>
      </dsp:nvSpPr>
      <dsp:spPr>
        <a:xfrm>
          <a:off x="4533948" y="2676037"/>
          <a:ext cx="1920484" cy="32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GB" sz="1800" kern="1200" dirty="0"/>
            <a:t>Paul Keen</a:t>
          </a:r>
        </a:p>
      </dsp:txBody>
      <dsp:txXfrm>
        <a:off x="4533948" y="2676037"/>
        <a:ext cx="1920484" cy="324000"/>
      </dsp:txXfrm>
    </dsp:sp>
    <dsp:sp modelId="{C92C9D12-B57D-C140-AD53-F33408760C66}">
      <dsp:nvSpPr>
        <dsp:cNvPr id="0" name=""/>
        <dsp:cNvSpPr/>
      </dsp:nvSpPr>
      <dsp:spPr>
        <a:xfrm>
          <a:off x="4533948" y="3000037"/>
          <a:ext cx="1920484" cy="2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kern="1200" dirty="0"/>
            <a:t>Culture Amp</a:t>
          </a:r>
        </a:p>
      </dsp:txBody>
      <dsp:txXfrm>
        <a:off x="4533948" y="3000037"/>
        <a:ext cx="1920484" cy="270000"/>
      </dsp:txXfrm>
    </dsp:sp>
    <dsp:sp modelId="{93AEF8AA-6935-0D49-A45D-D9ADEDB390EB}">
      <dsp:nvSpPr>
        <dsp:cNvPr id="0" name=""/>
        <dsp:cNvSpPr/>
      </dsp:nvSpPr>
      <dsp:spPr>
        <a:xfrm>
          <a:off x="6703085" y="793962"/>
          <a:ext cx="1778975" cy="1778975"/>
        </a:xfrm>
        <a:prstGeom prst="ellipse">
          <a:avLst/>
        </a:prstGeom>
        <a:blipFill>
          <a:blip xmlns:r="http://schemas.openxmlformats.org/officeDocument/2006/relationships" r:embed="rId4"/>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6957137-863B-1949-AB15-790219CFF326}">
      <dsp:nvSpPr>
        <dsp:cNvPr id="0" name=""/>
        <dsp:cNvSpPr/>
      </dsp:nvSpPr>
      <dsp:spPr>
        <a:xfrm>
          <a:off x="6632330" y="2676037"/>
          <a:ext cx="1920484" cy="32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b="1"/>
          </a:pPr>
          <a:r>
            <a:rPr lang="en-GB" sz="1800" kern="1200" dirty="0"/>
            <a:t>Joris Dries</a:t>
          </a:r>
        </a:p>
      </dsp:txBody>
      <dsp:txXfrm>
        <a:off x="6632330" y="2676037"/>
        <a:ext cx="1920484" cy="324000"/>
      </dsp:txXfrm>
    </dsp:sp>
    <dsp:sp modelId="{DDD09763-9CDD-8848-B772-055452AF72EA}">
      <dsp:nvSpPr>
        <dsp:cNvPr id="0" name=""/>
        <dsp:cNvSpPr/>
      </dsp:nvSpPr>
      <dsp:spPr>
        <a:xfrm>
          <a:off x="6632330" y="3000037"/>
          <a:ext cx="1920484" cy="2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kern="1200" dirty="0"/>
            <a:t>Resonate CX</a:t>
          </a:r>
        </a:p>
      </dsp:txBody>
      <dsp:txXfrm>
        <a:off x="6632330" y="3000037"/>
        <a:ext cx="1920484" cy="270000"/>
      </dsp:txXfrm>
    </dsp:sp>
  </dsp:spTree>
</dsp:drawing>
</file>

<file path=ppt/diagrams/layout1.xml><?xml version="1.0" encoding="utf-8"?>
<dgm:layoutDef xmlns:dgm="http://schemas.openxmlformats.org/drawingml/2006/diagram" xmlns:a="http://schemas.openxmlformats.org/drawingml/2006/main" uniqueId="urn:microsoft.com/office/officeart/2024/layout/MeetTheTeam">
  <dgm:title val=""/>
  <dgm:desc val=""/>
  <dgm:catLst>
    <dgm:cat type="meettheteam" pri="100"/>
  </dgm:catLst>
  <dgm:sampData>
    <dgm:dataModel>
      <dgm:ptLst>
        <dgm:pt modelId="0" type="doc"/>
        <dgm:pt modelId="10">
          <dgm:prSet phldrT="Name" phldr="1">
            <dgm:extLst>
              <a:ext uri="{C7F2D5A4-9E3B-4C8F-A7D2-1F8E9B6C4A30}">
                <msodIdLoc:phldrLoc xmlns:msodIdLoc="http://schemas.microsoft.com/office/drawing/2026/04/diagram/placeholderloc" id="msoidsIgxPlaceholderName"/>
              </a:ext>
            </dgm:extLst>
          </dgm:prSet>
        </dgm:pt>
        <dgm:pt modelId="11">
          <dgm:prSet phldrT="Role" phldr="1">
            <dgm:extLst>
              <a:ext uri="{C7F2D5A4-9E3B-4C8F-A7D2-1F8E9B6C4A30}">
                <msodIdLoc:phldrLoc xmlns:msodIdLoc="http://schemas.microsoft.com/office/drawing/2026/04/diagram/placeholderloc" id="msoidsIgxPlaceholderRole"/>
              </a:ext>
            </dgm:extLst>
          </dgm:prSet>
        </dgm:pt>
        <dgm:pt modelId="20">
          <dgm:prSet phldrT="Name" phldr="1">
            <dgm:extLst>
              <a:ext uri="{C7F2D5A4-9E3B-4C8F-A7D2-1F8E9B6C4A30}">
                <msodIdLoc:phldrLoc xmlns:msodIdLoc="http://schemas.microsoft.com/office/drawing/2026/04/diagram/placeholderloc" id="msoidsIgxPlaceholderName"/>
              </a:ext>
            </dgm:extLst>
          </dgm:prSet>
        </dgm:pt>
        <dgm:pt modelId="21">
          <dgm:prSet phldrT="Role" phldr="1">
            <dgm:extLst>
              <a:ext uri="{C7F2D5A4-9E3B-4C8F-A7D2-1F8E9B6C4A30}">
                <msodIdLoc:phldrLoc xmlns:msodIdLoc="http://schemas.microsoft.com/office/drawing/2026/04/diagram/placeholderloc" id="msoidsIgxPlaceholderRole"/>
              </a:ext>
            </dgm:extLst>
          </dgm:prSet>
        </dgm:pt>
        <dgm:pt modelId="30">
          <dgm:prSet phldrT="Name" phldr="1">
            <dgm:extLst>
              <a:ext uri="{C7F2D5A4-9E3B-4C8F-A7D2-1F8E9B6C4A30}">
                <msodIdLoc:phldrLoc xmlns:msodIdLoc="http://schemas.microsoft.com/office/drawing/2026/04/diagram/placeholderloc" id="msoidsIgxPlaceholderName"/>
              </a:ext>
            </dgm:extLst>
          </dgm:prSet>
        </dgm:pt>
        <dgm:pt modelId="31">
          <dgm:prSet phldrT="Role" phldr="1">
            <dgm:extLst>
              <a:ext uri="{C7F2D5A4-9E3B-4C8F-A7D2-1F8E9B6C4A30}">
                <msodIdLoc:phldrLoc xmlns:msodIdLoc="http://schemas.microsoft.com/office/drawing/2026/04/diagram/placeholderloc" id="msoidsIgxPlaceholderRole"/>
              </a:ext>
            </dgm:extLst>
          </dgm:prSet>
        </dgm:pt>
        <dgm:pt modelId="40">
          <dgm:prSet phldrT="Name" phldr="1">
            <dgm:extLst>
              <a:ext uri="{C7F2D5A4-9E3B-4C8F-A7D2-1F8E9B6C4A30}">
                <msodIdLoc:phldrLoc xmlns:msodIdLoc="http://schemas.microsoft.com/office/drawing/2026/04/diagram/placeholderloc" id="msoidsIgxPlaceholderName"/>
              </a:ext>
            </dgm:extLst>
          </dgm:prSet>
        </dgm:pt>
        <dgm:pt modelId="41">
          <dgm:prSet phldrT="Role" phldr="1">
            <dgm:extLst>
              <a:ext uri="{C7F2D5A4-9E3B-4C8F-A7D2-1F8E9B6C4A30}">
                <msodIdLoc:phldrLoc xmlns:msodIdLoc="http://schemas.microsoft.com/office/drawing/2026/04/diagram/placeholderloc" id="msoidsIgxPlaceholderRole"/>
              </a:ext>
            </dgm:extLst>
          </dgm:prSet>
        </dgm:pt>
      </dgm:ptLst>
      <dgm:cxnLst>
        <dgm:cxn modelId="100" srcId="0" destId="10" srcOrd="0" destOrd="0"/>
        <dgm:cxn modelId="101" srcId="10" destId="11" srcOrd="0" destOrd="0"/>
        <dgm:cxn modelId="102" srcId="0" destId="20" srcOrd="1" destOrd="0"/>
        <dgm:cxn modelId="103" srcId="20" destId="21" srcOrd="0" destOrd="0"/>
        <dgm:cxn modelId="104" srcId="0" destId="30" srcOrd="2" destOrd="0"/>
        <dgm:cxn modelId="105" srcId="30" destId="31" srcOrd="0" destOrd="0"/>
        <dgm:cxn modelId="106" srcId="0" destId="40" srcOrd="3" destOrd="0"/>
        <dgm:cxn modelId="107" srcId="40" destId="4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Lst>
      </dgm:if>
      <dgm:if name="Name5" axis="ch" ptType="node" func="cnt" op="lte" val="3">
        <dgm:constrLst>
          <dgm:constr type="h" for="ch" forName="compNode" refType="h" fact="0.4"/>
          <dgm:constr type="w" for="ch" forName="compNode" val="100"/>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Lst>
      </dgm:if>
      <dgm:if name="Name6" axis="ch" ptType="node" func="cnt" op="lte" val="4">
        <dgm:constrLst>
          <dgm:constr type="h" for="ch" forName="compNode" refType="h" fact="0.4"/>
          <dgm:constr type="w" for="ch" forName="compNode" refType="w"/>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Lst>
      </dgm:if>
      <dgm:else name="Name7">
        <dgm:constrLst>
          <dgm:constr type="h" for="ch" forName="compNode" refType="h" fact="0.4"/>
          <dgm:constr type="w" for="ch" forName="compNode" refType="w"/>
          <dgm:constr type="w" for="ch" forName="sibTrans" refType="w" refFor="ch" refForName="compNode" fact="0.038"/>
          <dgm:constr type="sp" refType="w" refFor="ch" refForName="compNode" op="equ" fact="0.03"/>
          <dgm:constr type="primFontSz" for="des" forName="nameText" op="equ" val="18"/>
          <dgm:constr type="primFontSz" for="des" forName="roleText" op="equ" val="14"/>
          <dgm:constr type="h" for="des" forName="compNode"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photoCircle" refType="w" fact="0.88"/>
          <dgm:constr type="h" for="ch" forName="photoCircle" refType="w" refFor="ch" refForName="photoCircle"/>
          <dgm:constr type="t" for="ch" forName="photoCircle"/>
          <dgm:constr type="ctrX" for="ch" forName="photoCircle" refType="w" fact="0.5"/>
          <dgm:constr type="h" for="ch" forName="spacer" refType="w" fact="0.051"/>
          <dgm:constr type="w" for="ch" forName="spacer" refType="w"/>
          <dgm:constr type="l" for="ch" forName="spacer"/>
          <dgm:constr type="t" for="ch" forName="spacer" refType="b" refFor="ch" refForName="photoCircle"/>
          <dgm:constr type="h" for="ch" forName="nameText" val="9"/>
          <dgm:constr type="w" for="ch" forName="nameText" refType="w" fact="0.95"/>
          <dgm:constr type="ctrX" for="ch" forName="nameText" refType="w" fact="0.5"/>
          <dgm:constr type="t" for="ch" forName="nameText" refType="b" refFor="ch" refForName="spacer"/>
          <dgm:constr type="h" for="ch" forName="roleText" val="7.5"/>
          <dgm:constr type="w" for="ch" forName="roleText" refType="w" fact="0.95"/>
          <dgm:constr type="ctrX" for="ch" forName="roleText" refType="w" fact="0.5"/>
          <dgm:constr type="t" for="ch" forName="roleText" refType="b" refFor="ch" refForName="nameText"/>
        </dgm:constrLst>
        <dgm:ruleLst>
          <dgm:rule type="h" val="INF" fact="NaN" max="NaN"/>
        </dgm:ruleLst>
        <dgm:layoutNode name="photoCircle" styleLbl="fgImgPlace1">
          <dgm:alg type="sp"/>
          <dgm:shape xmlns:r="http://schemas.openxmlformats.org/officeDocument/2006/relationships" type="ellipse" r:blip="" blipPhldr="1">
            <dgm:adjLst/>
          </dgm:shape>
          <dgm:presOf/>
          <dgm:constrLst/>
          <dgm:ruleLst/>
        </dgm:layoutNode>
        <dgm:layoutNode name="spacer">
          <dgm:alg type="sp"/>
          <dgm:shape xmlns:r="http://schemas.openxmlformats.org/officeDocument/2006/relationships" r:blip="">
            <dgm:adjLst/>
          </dgm:shape>
          <dgm:presOf/>
          <dgm:constrLst/>
          <dgm:ruleLst/>
        </dgm:layoutNode>
        <dgm:layoutNode name="nameText" styleLbl="revTx">
          <dgm:varLst>
            <dgm:chMax val="1"/>
            <dgm:chPref val="1"/>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5" fact="NaN" max="NaN"/>
            <dgm:rule type="h" val="INF" fact="NaN" max="NaN"/>
          </dgm:ruleLst>
        </dgm:layoutNode>
        <dgm:layoutNode name="roleText" styleLbl="revTx">
          <dgm:varLst>
            <dgm:chMax val="0"/>
          </dgm:varLst>
          <dgm:alg type="tx">
            <dgm:param type="txAnchorVert" val="t"/>
            <dgm:param type="txAnchorHorzCh" val="ctr"/>
          </dgm:alg>
          <dgm:shape xmlns:r="http://schemas.openxmlformats.org/officeDocument/2006/relationships" type="rect" r:blip="">
            <dgm:adjLst/>
          </dgm:shape>
          <dgm:presOf axis="des" ptType="node"/>
          <dgm:constrLst>
            <dgm:constr type="lMarg"/>
            <dgm:constr type="rMarg"/>
            <dgm:constr type="tMarg"/>
            <dgm:constr type="bMarg"/>
          </dgm:constrLst>
          <dgm:ruleLst>
            <dgm:rule type="primFontSz" val="5"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9264F-4DF6-2E40-B9FF-FB19C3894662}" type="datetimeFigureOut">
              <a:rPr lang="en-AU" smtClean="0"/>
              <a:t>29/7/2026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86565-23E4-7A40-B92C-B76925F2B224}" type="slidenum">
              <a:rPr lang="en-AU" smtClean="0"/>
              <a:t>‹#›</a:t>
            </a:fld>
            <a:endParaRPr lang="en-AU"/>
          </a:p>
        </p:txBody>
      </p:sp>
    </p:spTree>
    <p:extLst>
      <p:ext uri="{BB962C8B-B14F-4D97-AF65-F5344CB8AC3E}">
        <p14:creationId xmlns:p14="http://schemas.microsoft.com/office/powerpoint/2010/main" val="2991928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[09:32 · 4 min]  Facilitators first, then the room, and keep it moving.</a:t>
            </a:r>
          </a:p>
          <a:p>
            <a:r>
              <a:rPr sz="1200"/>
              <a:t>Facilitators: name, where you work, one line on why you are here. Fifteen seconds each. Model the brevity you want.</a:t>
            </a:r>
          </a:p>
          <a:p>
            <a:r>
              <a:rPr sz="1200"/>
              <a:t>Then the question on screen, round the room: what is the one habit you would love to stick to?</a:t>
            </a:r>
          </a:p>
          <a:p>
            <a:r>
              <a:rPr sz="1200"/>
              <a:t>Two reasons this question is doing real work. It gets every voice in the room used once, which halves the cost of the first question in the lab. And it is the seed for their app: they will type their own habit into the tracker at 10:15, which is what stops this feeling like a tutorial.</a:t>
            </a:r>
          </a:p>
          <a:p>
            <a:r>
              <a:rPr sz="1200"/>
              <a:t>Watch the clock. Twelve people at fifteen seconds is three minutes; twelve people telling a story is nine. If someone starts a story, thank them warmly and move on.</a:t>
            </a:r>
          </a:p>
        </p:txBody>
      </p:sp>
      <p:sp>
        <p:nvSpPr>
          <p:cNvPr id="4" name="Slide Number Placeholder 3"/>
          <p:cNvSpPr>
            <a:spLocks noGrp="1"/>
          </p:cNvSpPr>
          <p:nvPr>
            <p:ph type="sldNum" sz="quarter" idx="5"/>
          </p:nvPr>
        </p:nvSpPr>
        <p:spPr/>
        <p:txBody>
          <a:bodyPr/>
          <a:lstStyle/>
          <a:p>
            <a:fld id="{C9486565-23E4-7A40-B92C-B76925F2B224}" type="slidenum">
              <a:rPr lang="en-AU" smtClean="0"/>
              <a:t>3</a:t>
            </a:fld>
            <a:endParaRPr lang="en-AU"/>
          </a:p>
        </p:txBody>
      </p:sp>
    </p:spTree>
    <p:extLst>
      <p:ext uri="{BB962C8B-B14F-4D97-AF65-F5344CB8AC3E}">
        <p14:creationId xmlns:p14="http://schemas.microsoft.com/office/powerpoint/2010/main" val="1717718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[09:41 · 2 min]  Show the finish line. People work better when they can see it.</a:t>
            </a:r>
            <a:endParaRPr lang="en-AU" dirty="0"/>
          </a:p>
          <a:p>
            <a:r>
              <a:rPr sz="1200"/>
              <a:t>The app: a habit tracker. Add habits, tick them off, watch a streak grow, break the chain and it resets. Family routines, fitness, hobbies, for people coming back to a full life.</a:t>
            </a:r>
          </a:p>
          <a:p>
            <a:r>
              <a:rPr sz="1200"/>
              <a:t>Walk the three end states left to right, and stress the first one: at 11:30 it is meant to be ugly. Ugly and working beats elegant and imaginary.</a:t>
            </a:r>
          </a:p>
          <a:p>
            <a:r>
              <a:rPr sz="1200"/>
              <a:t>Why this domain: nobody spends the day working out what the requirements are. And it has real edge cases underneath, streak maths, scheduled days, midnight, so the afternoon's harness has something genuine to bite on.</a:t>
            </a:r>
          </a:p>
          <a:p>
            <a:r>
              <a:rPr sz="1200"/>
              <a:t>Say plainly: "You are building this. Not opening a finished copy of it."</a:t>
            </a:r>
          </a:p>
        </p:txBody>
      </p:sp>
      <p:sp>
        <p:nvSpPr>
          <p:cNvPr id="4" name="Slide Number Placeholder 3"/>
          <p:cNvSpPr>
            <a:spLocks noGrp="1"/>
          </p:cNvSpPr>
          <p:nvPr>
            <p:ph type="sldNum" sz="quarter" idx="5"/>
          </p:nvPr>
        </p:nvSpPr>
        <p:spPr/>
        <p:txBody>
          <a:bodyPr/>
          <a:lstStyle/>
          <a:p>
            <a:fld id="{C9486565-23E4-7A40-B92C-B76925F2B224}" type="slidenum">
              <a:rPr lang="en-AU" smtClean="0"/>
              <a:t>7</a:t>
            </a:fld>
            <a:endParaRPr lang="en-AU"/>
          </a:p>
        </p:txBody>
      </p:sp>
    </p:spTree>
    <p:extLst>
      <p:ext uri="{BB962C8B-B14F-4D97-AF65-F5344CB8AC3E}">
        <p14:creationId xmlns:p14="http://schemas.microsoft.com/office/powerpoint/2010/main" val="1891360270"/>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[09:30 · 1 min]  Warm, short, then move. Do not start explaining the day yet.</a:t>
            </a:r>
          </a:p>
          <a:p>
            <a:r>
              <a:rPr sz="1200"/>
              <a:t>Say: "Welcome. One day, three sections, one app that you are going to build yourself."</a:t>
            </a:r>
          </a:p>
          <a:p>
            <a:r>
              <a:rPr sz="1200"/>
              <a:t>Name the three sections out loud, in order, and stop there. Slide 6 does the explaining.</a:t>
            </a:r>
          </a:p>
          <a:p>
            <a:r>
              <a:rPr sz="1200"/>
              <a:t>Housekeeping in one breath: two breaks, lunch at 13:15, finish at 16:00, wifi and toilets.</a:t>
            </a:r>
          </a:p>
          <a:p>
            <a:r>
              <a:rPr sz="1200"/>
              <a:t>Tone to set: this is a workshop, not a webinar. They will be typing within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[09:31 · 1 min]  Read it properly. Slow down, look up from the screen.</a:t>
            </a:r>
          </a:p>
          <a:p>
            <a:r>
              <a:rPr sz="1200"/>
              <a:t>Do not rush into the next slide off the back of it. A beat of silence is correct here.</a:t>
            </a:r>
          </a:p>
          <a:p>
            <a:r>
              <a:rPr sz="1200"/>
              <a:t>If you are delivering outside Sydney, change the nation named on the slide before the day. Do not improvise it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[09:36 · 1 min]  Logistics slide. Point, do not narrate.</a:t>
            </a:r>
          </a:p>
          <a:p>
            <a:r>
              <a:rPr sz="1200"/>
              <a:t>The only things they need from it: three sections, two breaks, and lunch at 13:15.</a:t>
            </a:r>
          </a:p>
          <a:p>
            <a:r>
              <a:rPr sz="1200"/>
              <a:t>Say: "Every section is roughly a third teaching and two thirds you at the keyboard."</a:t>
            </a:r>
          </a:p>
          <a:p>
            <a:r>
              <a:rPr sz="1200"/>
              <a:t>If asked about pace: the segment lengths matter, the clock times do not. Nobody is being graded on finishing.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[09:37 · 2 min]  The pitch. This is the slide that decides whether the confident half of the room stays with you.</a:t>
            </a:r>
          </a:p>
          <a:p>
            <a:r>
              <a:rPr sz="1200"/>
              <a:t>Say: "You build one app, three times over, and each time you give up a different crutch."</a:t>
            </a:r>
          </a:p>
          <a:p>
            <a:r>
              <a:rPr sz="1200"/>
              <a:t>Then the two audience lines, and read them both aloud. They are doing real work.</a:t>
            </a:r>
          </a:p>
          <a:p>
            <a:r>
              <a:rPr sz="1200"/>
              <a:t>Rusty: the win is confidence. The tools stop being frightening and your judgement turns out to be the valuable part.</a:t>
            </a:r>
          </a:p>
          <a:p>
            <a:r>
              <a:rPr sz="1200"/>
              <a:t>Confident: the win is restraint, which is harder. You get further by doing less, and that is genuinely uncomfortable.</a:t>
            </a:r>
          </a:p>
          <a:p>
            <a:r>
              <a:rPr sz="1200"/>
              <a:t>The line to land: the project gets built either way. Nobody leaves with nothing.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[09:39 · 2 min]  The spine of the whole day. Everything later hangs off this slide.</a:t>
            </a:r>
          </a:p>
          <a:p>
            <a:r>
              <a:rPr sz="1200"/>
              <a:t>Walk the three rungs once, briskly. Rung one: use the tool, ugly is fine. Rung two: make it behave the same tomorrow as today. Rung three: stop trusting it and engineer around it.</a:t>
            </a:r>
          </a:p>
          <a:p>
            <a:r>
              <a:rPr sz="1200"/>
              <a:t>The message: what changes across the day is your relationship to the code, not the app.</a:t>
            </a:r>
          </a:p>
          <a:p>
            <a:r>
              <a:rPr sz="1200"/>
              <a:t>Do not over-explain rungs two and three. They will not land yet, and you will spend four minutes proving it.</a:t>
            </a:r>
          </a:p>
          <a:p>
            <a:r>
              <a:rPr sz="1200"/>
              <a:t>This slide comes back at the top of every section with a "you are here" marker, so plant the shape and move.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[09:43 · 2 min]  The safety slide, and the one people remember at 11:20 when it goes wrong.</a:t>
            </a:r>
          </a:p>
          <a:p>
            <a:r>
              <a:rPr sz="1200"/>
              <a:t>Two nets, and they are different things. Small commits are yours: a bad turn is one revert away. The checkpoint is the room's: the reference repo has a working app at the end of every section.</a:t>
            </a:r>
          </a:p>
          <a:p>
            <a:r>
              <a:rPr sz="1200"/>
              <a:t>Now do the live demo, and break something first. Delete a line, watch it fail, then reset and watch it run. Fifteen seconds of theatre buys you a day of permission.</a:t>
            </a:r>
          </a:p>
          <a:p>
            <a:r>
              <a:rPr sz="1200"/>
              <a:t>The line, said exactly as written: "Reaching for the checkpoint is the design, not a failure."</a:t>
            </a:r>
          </a:p>
          <a:p>
            <a:r>
              <a:rPr sz="1200"/>
              <a:t>Then the sentence that matters most and gets forgotten: the reference app is fuller than a lab produces, because it has had more days spent on it. It is somewhere to get unstuck, never a score to match.</a:t>
            </a:r>
          </a:p>
          <a:p>
            <a:r>
              <a:rPr sz="1200"/>
              <a:t>Point at the two folder paths on the whiteboard. Their app, and the net. Leave them up all 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[09:45 · 1 min]  Say it, then get off it. Anything longer starts to sound like reassurance, which undermines it.</a:t>
            </a:r>
          </a:p>
          <a:p>
            <a:r>
              <a:rPr sz="1200"/>
              <a:t>Say: "Everyone here starts on a different rung, and everyone leaves higher."</a:t>
            </a:r>
          </a:p>
          <a:p>
            <a:r>
              <a:rPr sz="1200"/>
              <a:t>Core path for everyone, stretch goals for anyone flying. Nobody is asked to keep pace with the room.</a:t>
            </a:r>
          </a:p>
          <a:p>
            <a:r>
              <a:rPr sz="1200"/>
              <a:t>The honest bit, and it lands well with seniors: the agentic shift is hardest for the confident ones, because they have the most habits to unlearn.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[09:46 · 1 min]  Three columns, one line each. Do not read all nine bullets.</a:t>
            </a:r>
          </a:p>
          <a:p>
            <a:r>
              <a:rPr sz="1200"/>
              <a:t>Rusty: you leave able to build. Mid: able to build reliably. Senior: able to design how your team works with agents.</a:t>
            </a:r>
          </a:p>
          <a:p>
            <a:r>
              <a:rPr sz="1200"/>
              <a:t>Say: "Find your column, and hold me to it at 16:00."</a:t>
            </a:r>
          </a:p>
          <a:p>
            <a:r>
              <a:rPr sz="1200"/>
              <a:t>Then straight into the handover. Do not editorialise; the next voice does the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[09:47 · 30 sec]  Handover slide. Names, and out of the way.</a:t>
            </a:r>
          </a:p>
          <a:p>
            <a:r>
              <a:rPr sz="1200"/>
              <a:t>Say: "Jade Loyzaga from Canva, on how the engineer's life has changed." Then sit down.</a:t>
            </a:r>
          </a:p>
          <a:p>
            <a:r>
              <a:rPr sz="1200"/>
              <a:t>Timekeeping: this segment is fifteen minutes and Section 1 starts at 10:00 whatever happens. Agree the signal with Jade before the day rather than waving at her from the 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2.png"/>
          <p:cNvPicPr>
            <a:picLocks noChangeAspect="1"/>
          </p:cNvPicPr>
          <p:nvPr/>
        </p:nvPicPr>
        <p:blipFill>
          <a:blip r:embed="rId2"/>
          <a:stretch>
            <a:fillRect/>
          </a:stretch>
        </p:blipFill>
        <p:spPr>
          <a:xfrm>
            <a:off x="457200" y="384048"/>
            <a:ext cx="2148840" cy="484632"/>
          </a:xfrm>
          <a:prstGeom prst="rect">
            <a:avLst/>
          </a:prstGeom>
        </p:spPr>
      </p:pic>
      <p:sp>
        <p:nvSpPr>
          <p:cNvPr id="5" name="Rectangle 4"/>
          <p:cNvSpPr/>
          <p:nvPr/>
        </p:nvSpPr>
        <p:spPr>
          <a:xfrm>
            <a:off x="457200" y="1234440"/>
            <a:ext cx="82296" cy="21488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1.jpeg"/>
          <p:cNvPicPr>
            <a:picLocks noChangeAspect="1"/>
          </p:cNvPicPr>
          <p:nvPr/>
        </p:nvPicPr>
        <p:blipFill>
          <a:blip r:embed="rId3"/>
          <a:stretch>
            <a:fillRect/>
          </a:stretch>
        </p:blipFill>
        <p:spPr>
          <a:xfrm>
            <a:off x="8366760" y="4526280"/>
            <a:ext cx="411480" cy="411480"/>
          </a:xfrm>
          <a:prstGeom prst="rect">
            <a:avLst/>
          </a:prstGeom>
        </p:spPr>
      </p:pic>
      <p:sp>
        <p:nvSpPr>
          <p:cNvPr id="7" name="TextBox 6"/>
          <p:cNvSpPr txBox="1"/>
          <p:nvPr/>
        </p:nvSpPr>
        <p:spPr>
          <a:xfrm>
            <a:off x="457200" y="4709160"/>
            <a:ext cx="5669280" cy="274320"/>
          </a:xfrm>
          <a:prstGeom prst="rect">
            <a:avLst/>
          </a:prstGeom>
          <a:noFill/>
        </p:spPr>
        <p:txBody>
          <a:bodyPr wrap="square" lIns="0" tIns="0" rIns="0" bIns="0" anchor="t">
            <a:spAutoFit/>
          </a:bodyPr>
          <a:lstStyle/>
          <a:p>
            <a:pPr algn="l"/>
            <a:r>
              <a:rPr sz="900" b="0">
                <a:solidFill>
                  <a:srgbClr val="C4B5E8"/>
                </a:solidFill>
                <a:latin typeface="Calibri"/>
              </a:rPr>
              <a:t>Tech Council of Australia  |  techcouncil.com.au</a:t>
            </a:r>
          </a:p>
        </p:txBody>
      </p:sp>
      <p:sp>
        <p:nvSpPr>
          <p:cNvPr id="8" name="TextBox 7"/>
          <p:cNvSpPr txBox="1"/>
          <p:nvPr/>
        </p:nvSpPr>
        <p:spPr>
          <a:xfrm>
            <a:off x="658368" y="1325880"/>
            <a:ext cx="5486400" cy="274320"/>
          </a:xfrm>
          <a:prstGeom prst="rect">
            <a:avLst/>
          </a:prstGeom>
          <a:noFill/>
        </p:spPr>
        <p:txBody>
          <a:bodyPr wrap="square" lIns="0" tIns="0" rIns="0" bIns="0" anchor="t">
            <a:spAutoFit/>
          </a:bodyPr>
          <a:lstStyle/>
          <a:p>
            <a:pPr algn="l"/>
            <a:r>
              <a:rPr sz="1200" b="1">
                <a:solidFill>
                  <a:srgbClr val="F59E0B"/>
                </a:solidFill>
                <a:latin typeface="Calibri"/>
              </a:rPr>
              <a:t>AGENTIC ENGINEERING  ·  A ONE-DAY PROGRAM</a:t>
            </a:r>
          </a:p>
        </p:txBody>
      </p:sp>
      <p:sp>
        <p:nvSpPr>
          <p:cNvPr id="9" name="TextBox 8"/>
          <p:cNvSpPr txBox="1"/>
          <p:nvPr/>
        </p:nvSpPr>
        <p:spPr>
          <a:xfrm>
            <a:off x="676656" y="1930941"/>
            <a:ext cx="5577840" cy="707886"/>
          </a:xfrm>
          <a:prstGeom prst="rect">
            <a:avLst/>
          </a:prstGeom>
          <a:noFill/>
        </p:spPr>
        <p:txBody>
          <a:bodyPr wrap="square" lIns="0" tIns="0" rIns="0" bIns="0" anchor="ctr">
            <a:spAutoFit/>
          </a:bodyPr>
          <a:lstStyle/>
          <a:p>
            <a:pPr algn="l"/>
            <a:r>
              <a:rPr sz="4600" b="1" dirty="0">
                <a:solidFill>
                  <a:srgbClr val="FFFFFF"/>
                </a:solidFill>
                <a:latin typeface="Arial Black"/>
              </a:rPr>
              <a:t>Welcome</a:t>
            </a:r>
          </a:p>
        </p:txBody>
      </p:sp>
      <p:sp>
        <p:nvSpPr>
          <p:cNvPr id="10" name="TextBox 9"/>
          <p:cNvSpPr txBox="1"/>
          <p:nvPr/>
        </p:nvSpPr>
        <p:spPr>
          <a:xfrm>
            <a:off x="676656" y="2947824"/>
            <a:ext cx="5486400" cy="230832"/>
          </a:xfrm>
          <a:prstGeom prst="rect">
            <a:avLst/>
          </a:prstGeom>
          <a:noFill/>
        </p:spPr>
        <p:txBody>
          <a:bodyPr wrap="square" lIns="0" tIns="0" rIns="0" bIns="0" anchor="ctr">
            <a:spAutoFit/>
          </a:bodyPr>
          <a:lstStyle/>
          <a:p>
            <a:pPr algn="l"/>
            <a:r>
              <a:rPr sz="1500" b="0" dirty="0">
                <a:solidFill>
                  <a:srgbClr val="DDD6FE"/>
                </a:solidFill>
                <a:latin typeface="Calibri"/>
              </a:rPr>
              <a:t>For software engineers returning from carers’ or parental leave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a:extLst>
            <a:ext uri="{FF2B5EF4-FFF2-40B4-BE49-F238E27FC236}">
              <a16:creationId xmlns:a16="http://schemas.microsoft.com/office/drawing/2014/main" id="{73A15946-A898-82E9-18F7-D0C7C29DECD9}"/>
            </a:ext>
          </a:extLst>
        </p:cNvPr>
        <p:cNvGrpSpPr/>
        <p:nvPr/>
      </p:nvGrpSpPr>
      <p:grpSpPr>
        <a:xfrm>
          <a:off x="0" y="0"/>
          <a:ext cx="0" cy="0"/>
          <a:chOff x="0" y="0"/>
          <a:chExt cx="0" cy="0"/>
        </a:xfrm>
      </p:grpSpPr>
      <p:pic>
        <p:nvPicPr>
          <p:cNvPr id="4" name="Picture 3" descr="Official Artwork | Illawarra Aboriginal Corporation">
            <a:extLst>
              <a:ext uri="{FF2B5EF4-FFF2-40B4-BE49-F238E27FC236}">
                <a16:creationId xmlns:a16="http://schemas.microsoft.com/office/drawing/2014/main" id="{7406F579-B9A2-7C4B-D32D-ACF7DE84C3C9}"/>
              </a:ext>
            </a:extLst>
          </p:cNvPr>
          <p:cNvPicPr>
            <a:picLocks noChangeAspect="1"/>
          </p:cNvPicPr>
          <p:nvPr/>
        </p:nvPicPr>
        <p:blipFill>
          <a:blip r:embed="rId2"/>
          <a:stretch>
            <a:fillRect/>
          </a:stretch>
        </p:blipFill>
        <p:spPr>
          <a:xfrm>
            <a:off x="0" y="0"/>
            <a:ext cx="9144000" cy="4610680"/>
          </a:xfrm>
          <a:prstGeom prst="rect">
            <a:avLst/>
          </a:prstGeom>
        </p:spPr>
      </p:pic>
      <p:pic>
        <p:nvPicPr>
          <p:cNvPr id="2" name="Picture 1" descr="image1.jpeg">
            <a:extLst>
              <a:ext uri="{FF2B5EF4-FFF2-40B4-BE49-F238E27FC236}">
                <a16:creationId xmlns:a16="http://schemas.microsoft.com/office/drawing/2014/main" id="{A7EC04F5-9B30-B612-B0EC-C62767BD694A}"/>
              </a:ext>
            </a:extLst>
          </p:cNvPr>
          <p:cNvPicPr>
            <a:picLocks noChangeAspect="1"/>
          </p:cNvPicPr>
          <p:nvPr/>
        </p:nvPicPr>
        <p:blipFill>
          <a:blip r:embed="rId3"/>
          <a:stretch>
            <a:fillRect/>
          </a:stretch>
        </p:blipFill>
        <p:spPr>
          <a:xfrm>
            <a:off x="8366760" y="4526280"/>
            <a:ext cx="411480" cy="411480"/>
          </a:xfrm>
          <a:prstGeom prst="rect">
            <a:avLst/>
          </a:prstGeom>
        </p:spPr>
      </p:pic>
      <p:sp>
        <p:nvSpPr>
          <p:cNvPr id="17" name="TextBox 16">
            <a:extLst>
              <a:ext uri="{FF2B5EF4-FFF2-40B4-BE49-F238E27FC236}">
                <a16:creationId xmlns:a16="http://schemas.microsoft.com/office/drawing/2014/main" id="{09B5D7D3-00EA-B10C-0854-5A107348177E}"/>
              </a:ext>
            </a:extLst>
          </p:cNvPr>
          <p:cNvSpPr txBox="1"/>
          <p:nvPr/>
        </p:nvSpPr>
        <p:spPr>
          <a:xfrm>
            <a:off x="578744" y="1987439"/>
            <a:ext cx="8229600" cy="338554"/>
          </a:xfrm>
          <a:prstGeom prst="rect">
            <a:avLst/>
          </a:prstGeom>
          <a:noFill/>
        </p:spPr>
        <p:txBody>
          <a:bodyPr wrap="square" lIns="0" tIns="0" rIns="0" bIns="0" anchor="t">
            <a:spAutoFit/>
          </a:bodyPr>
          <a:lstStyle/>
          <a:p>
            <a:pPr algn="l"/>
            <a:r>
              <a:rPr lang="en-AU" sz="2200" b="1" dirty="0">
                <a:solidFill>
                  <a:srgbClr val="2D1155"/>
                </a:solidFill>
                <a:latin typeface="Arial Black"/>
              </a:rPr>
              <a:t>ACKNOWLEDGEMENT OF COUNTRY</a:t>
            </a:r>
            <a:endParaRPr sz="2200" b="1" dirty="0">
              <a:solidFill>
                <a:srgbClr val="2D1155"/>
              </a:solidFill>
              <a:latin typeface="Arial Black"/>
            </a:endParaRPr>
          </a:p>
        </p:txBody>
      </p:sp>
      <p:sp>
        <p:nvSpPr>
          <p:cNvPr id="18" name="Rectangle 17">
            <a:extLst>
              <a:ext uri="{FF2B5EF4-FFF2-40B4-BE49-F238E27FC236}">
                <a16:creationId xmlns:a16="http://schemas.microsoft.com/office/drawing/2014/main" id="{963B798C-856E-BAAF-731A-38CC37A34BDC}"/>
              </a:ext>
            </a:extLst>
          </p:cNvPr>
          <p:cNvSpPr/>
          <p:nvPr/>
        </p:nvSpPr>
        <p:spPr>
          <a:xfrm>
            <a:off x="548640" y="2325993"/>
            <a:ext cx="8229600" cy="2144406"/>
          </a:xfrm>
          <a:prstGeom prst="rect">
            <a:avLst/>
          </a:prstGeom>
          <a:solidFill>
            <a:srgbClr val="2D1155"/>
          </a:solidFill>
          <a:ln w="19050">
            <a:solidFill>
              <a:srgbClr val="EEE9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5F965274-AD9A-826D-EDE3-4B6FB5757FEB}"/>
              </a:ext>
            </a:extLst>
          </p:cNvPr>
          <p:cNvSpPr txBox="1"/>
          <p:nvPr/>
        </p:nvSpPr>
        <p:spPr>
          <a:xfrm>
            <a:off x="785330" y="2531477"/>
            <a:ext cx="7498079" cy="1791388"/>
          </a:xfrm>
          <a:prstGeom prst="rect">
            <a:avLst/>
          </a:prstGeom>
          <a:noFill/>
        </p:spPr>
        <p:txBody>
          <a:bodyPr wrap="square" lIns="0" tIns="0" rIns="0" bIns="0" anchor="ctr">
            <a:spAutoFit/>
          </a:bodyPr>
          <a:lstStyle/>
          <a:p>
            <a:pPr algn="l">
              <a:lnSpc>
                <a:spcPct val="105000"/>
              </a:lnSpc>
            </a:pPr>
            <a:r>
              <a:rPr lang="en-AU" sz="2800" b="0" dirty="0">
                <a:solidFill>
                  <a:srgbClr val="FFFFFF"/>
                </a:solidFill>
                <a:latin typeface="Calibri"/>
              </a:rPr>
              <a:t>I would like to acknowledge the Gadigal of the Eora Nation, the traditional custodians of this land and pay my respects to the Elders both past and present.</a:t>
            </a:r>
            <a:endParaRPr sz="2800" b="0" dirty="0">
              <a:solidFill>
                <a:srgbClr val="FFFFFF"/>
              </a:solidFill>
              <a:latin typeface="Calibri"/>
            </a:endParaRPr>
          </a:p>
        </p:txBody>
      </p:sp>
    </p:spTree>
    <p:extLst>
      <p:ext uri="{BB962C8B-B14F-4D97-AF65-F5344CB8AC3E}">
        <p14:creationId xmlns:p14="http://schemas.microsoft.com/office/powerpoint/2010/main" val="3878019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a:extLst>
            <a:ext uri="{FF2B5EF4-FFF2-40B4-BE49-F238E27FC236}">
              <a16:creationId xmlns:a16="http://schemas.microsoft.com/office/drawing/2014/main" id="{56A3289A-295E-5893-0E94-858178461E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3A6283-3895-D445-F310-A98736746A28}"/>
              </a:ext>
            </a:extLst>
          </p:cNvPr>
          <p:cNvSpPr txBox="1"/>
          <p:nvPr/>
        </p:nvSpPr>
        <p:spPr>
          <a:xfrm>
            <a:off x="457200" y="292608"/>
            <a:ext cx="8229600" cy="338554"/>
          </a:xfrm>
          <a:prstGeom prst="rect">
            <a:avLst/>
          </a:prstGeom>
          <a:noFill/>
        </p:spPr>
        <p:txBody>
          <a:bodyPr wrap="square" lIns="0" tIns="0" rIns="0" bIns="0" anchor="t">
            <a:spAutoFit/>
          </a:bodyPr>
          <a:lstStyle/>
          <a:p>
            <a:pPr algn="l"/>
            <a:r>
              <a:rPr lang="en-AU" sz="2200" b="1" dirty="0">
                <a:solidFill>
                  <a:srgbClr val="2D1155"/>
                </a:solidFill>
                <a:latin typeface="Arial Black"/>
              </a:rPr>
              <a:t>INTRODUCTIONS</a:t>
            </a:r>
            <a:endParaRPr sz="2200" b="1" dirty="0">
              <a:solidFill>
                <a:srgbClr val="2D1155"/>
              </a:solidFill>
              <a:latin typeface="Arial Black"/>
            </a:endParaRPr>
          </a:p>
        </p:txBody>
      </p:sp>
      <p:pic>
        <p:nvPicPr>
          <p:cNvPr id="4" name="Picture 3" descr="image1.jpeg">
            <a:extLst>
              <a:ext uri="{FF2B5EF4-FFF2-40B4-BE49-F238E27FC236}">
                <a16:creationId xmlns:a16="http://schemas.microsoft.com/office/drawing/2014/main" id="{6ECC84A2-A7F0-8EE7-01F1-4AF63B0B149D}"/>
              </a:ext>
            </a:extLst>
          </p:cNvPr>
          <p:cNvPicPr>
            <a:picLocks noChangeAspect="1"/>
          </p:cNvPicPr>
          <p:nvPr/>
        </p:nvPicPr>
        <p:blipFill>
          <a:blip r:embed="rId3"/>
          <a:stretch>
            <a:fillRect/>
          </a:stretch>
        </p:blipFill>
        <p:spPr>
          <a:xfrm>
            <a:off x="8366760" y="4526280"/>
            <a:ext cx="411480" cy="411480"/>
          </a:xfrm>
          <a:prstGeom prst="rect">
            <a:avLst/>
          </a:prstGeom>
        </p:spPr>
      </p:pic>
      <p:graphicFrame>
        <p:nvGraphicFramePr>
          <p:cNvPr id="7" name="Diagram 6">
            <a:extLst>
              <a:ext uri="{FF2B5EF4-FFF2-40B4-BE49-F238E27FC236}">
                <a16:creationId xmlns:a16="http://schemas.microsoft.com/office/drawing/2014/main" id="{F844EF40-0189-8926-C7B9-9AA0B8DB89E7}"/>
              </a:ext>
            </a:extLst>
          </p:cNvPr>
          <p:cNvGraphicFramePr/>
          <p:nvPr>
            <p:extLst>
              <p:ext uri="{D42A27DB-BD31-4B8C-83A1-F6EECF244321}">
                <p14:modId xmlns:p14="http://schemas.microsoft.com/office/powerpoint/2010/main" val="1635626018"/>
              </p:ext>
            </p:extLst>
          </p:nvPr>
        </p:nvGraphicFramePr>
        <p:xfrm>
          <a:off x="96896" y="334669"/>
          <a:ext cx="8890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Rectangle 2">
            <a:extLst>
              <a:ext uri="{FF2B5EF4-FFF2-40B4-BE49-F238E27FC236}">
                <a16:creationId xmlns:a16="http://schemas.microsoft.com/office/drawing/2014/main" id="{9D6615D6-2057-3C3A-122C-51C1BF0AE89C}"/>
              </a:ext>
            </a:extLst>
          </p:cNvPr>
          <p:cNvSpPr/>
          <p:nvPr/>
        </p:nvSpPr>
        <p:spPr>
          <a:xfrm>
            <a:off x="342900" y="3912377"/>
            <a:ext cx="8229600" cy="548048"/>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8E69711-1C4C-5427-3AC9-20A8E4D80972}"/>
              </a:ext>
            </a:extLst>
          </p:cNvPr>
          <p:cNvSpPr txBox="1"/>
          <p:nvPr/>
        </p:nvSpPr>
        <p:spPr>
          <a:xfrm>
            <a:off x="822960" y="4028225"/>
            <a:ext cx="7498079" cy="310085"/>
          </a:xfrm>
          <a:prstGeom prst="rect">
            <a:avLst/>
          </a:prstGeom>
          <a:noFill/>
        </p:spPr>
        <p:txBody>
          <a:bodyPr wrap="square" lIns="0" tIns="0" rIns="0" bIns="0" anchor="ctr">
            <a:spAutoFit/>
          </a:bodyPr>
          <a:lstStyle/>
          <a:p>
            <a:pPr algn="ctr">
              <a:lnSpc>
                <a:spcPct val="105000"/>
              </a:lnSpc>
            </a:pPr>
            <a:r>
              <a:rPr lang="en-AU" sz="2000" b="0" dirty="0">
                <a:solidFill>
                  <a:srgbClr val="FFFFFF"/>
                </a:solidFill>
                <a:latin typeface="Calibri"/>
              </a:rPr>
              <a:t>What is the </a:t>
            </a:r>
            <a:r>
              <a:rPr sz="2000" b="1" dirty="0">
                <a:solidFill>
                  <a:srgbClr val="F59E0B"/>
                </a:solidFill>
                <a:latin typeface="Arial Black"/>
              </a:rPr>
              <a:t>one </a:t>
            </a:r>
            <a:r>
              <a:rPr lang="en-AU" sz="2000" b="1" dirty="0">
                <a:solidFill>
                  <a:srgbClr val="F59E0B"/>
                </a:solidFill>
                <a:latin typeface="Arial Black"/>
              </a:rPr>
              <a:t>habit</a:t>
            </a:r>
            <a:r>
              <a:rPr sz="2000" b="0" dirty="0">
                <a:solidFill>
                  <a:srgbClr val="FFFFFF"/>
                </a:solidFill>
                <a:latin typeface="Calibri"/>
              </a:rPr>
              <a:t> </a:t>
            </a:r>
            <a:r>
              <a:rPr lang="en-AU" sz="2000" b="0" dirty="0">
                <a:solidFill>
                  <a:srgbClr val="FFFFFF"/>
                </a:solidFill>
                <a:latin typeface="Calibri"/>
              </a:rPr>
              <a:t>you </a:t>
            </a:r>
            <a:r>
              <a:rPr lang="en-AU" sz="2000" dirty="0">
                <a:solidFill>
                  <a:srgbClr val="FFFFFF"/>
                </a:solidFill>
                <a:latin typeface="Calibri"/>
              </a:rPr>
              <a:t>would love to stick to?</a:t>
            </a:r>
            <a:endParaRPr sz="2000" b="0" dirty="0">
              <a:solidFill>
                <a:srgbClr val="FFFFFF"/>
              </a:solidFill>
              <a:latin typeface="Calibri"/>
            </a:endParaRPr>
          </a:p>
        </p:txBody>
      </p:sp>
    </p:spTree>
    <p:extLst>
      <p:ext uri="{BB962C8B-B14F-4D97-AF65-F5344CB8AC3E}">
        <p14:creationId xmlns:p14="http://schemas.microsoft.com/office/powerpoint/2010/main" val="397022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RUN OF DAY</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dirty="0">
                <a:solidFill>
                  <a:srgbClr val="6E6389"/>
                </a:solidFill>
                <a:latin typeface="Calibri"/>
              </a:rPr>
              <a:t>Segment lengths are what matter. Times assume a 09:30 start.</a:t>
            </a:r>
          </a:p>
        </p:txBody>
      </p:sp>
      <p:pic>
        <p:nvPicPr>
          <p:cNvPr id="4" name="Picture 3" descr="image1.jpeg"/>
          <p:cNvPicPr>
            <a:picLocks noChangeAspect="1"/>
          </p:cNvPicPr>
          <p:nvPr/>
        </p:nvPicPr>
        <p:blipFill>
          <a:blip r:embed="rId2"/>
          <a:stretch>
            <a:fillRect/>
          </a:stretch>
        </p:blipFill>
        <p:spPr>
          <a:xfrm>
            <a:off x="8366760" y="4526280"/>
            <a:ext cx="411480" cy="411480"/>
          </a:xfrm>
          <a:prstGeom prst="rect">
            <a:avLst/>
          </a:prstGeom>
        </p:spPr>
      </p:pic>
      <p:sp>
        <p:nvSpPr>
          <p:cNvPr id="5" name="TextBox 4"/>
          <p:cNvSpPr txBox="1"/>
          <p:nvPr/>
        </p:nvSpPr>
        <p:spPr>
          <a:xfrm>
            <a:off x="566928" y="1371600"/>
            <a:ext cx="914400" cy="274320"/>
          </a:xfrm>
          <a:prstGeom prst="rect">
            <a:avLst/>
          </a:prstGeom>
          <a:noFill/>
        </p:spPr>
        <p:txBody>
          <a:bodyPr wrap="square" lIns="0" tIns="0" rIns="0" bIns="0" anchor="t">
            <a:spAutoFit/>
          </a:bodyPr>
          <a:lstStyle/>
          <a:p>
            <a:pPr algn="l"/>
            <a:r>
              <a:rPr sz="900" b="1">
                <a:solidFill>
                  <a:srgbClr val="6E6389"/>
                </a:solidFill>
                <a:latin typeface="Calibri"/>
              </a:rPr>
              <a:t>TIME</a:t>
            </a:r>
          </a:p>
        </p:txBody>
      </p:sp>
      <p:sp>
        <p:nvSpPr>
          <p:cNvPr id="6" name="TextBox 5"/>
          <p:cNvSpPr txBox="1"/>
          <p:nvPr/>
        </p:nvSpPr>
        <p:spPr>
          <a:xfrm>
            <a:off x="1737360" y="1371600"/>
            <a:ext cx="5486400" cy="274320"/>
          </a:xfrm>
          <a:prstGeom prst="rect">
            <a:avLst/>
          </a:prstGeom>
          <a:noFill/>
        </p:spPr>
        <p:txBody>
          <a:bodyPr wrap="square" lIns="0" tIns="0" rIns="0" bIns="0" anchor="t">
            <a:spAutoFit/>
          </a:bodyPr>
          <a:lstStyle/>
          <a:p>
            <a:pPr algn="l"/>
            <a:r>
              <a:rPr sz="900" b="1">
                <a:solidFill>
                  <a:srgbClr val="6E6389"/>
                </a:solidFill>
                <a:latin typeface="Calibri"/>
              </a:rPr>
              <a:t>SEGMENT</a:t>
            </a:r>
          </a:p>
        </p:txBody>
      </p:sp>
      <p:sp>
        <p:nvSpPr>
          <p:cNvPr id="8" name="TextBox 7"/>
          <p:cNvSpPr txBox="1"/>
          <p:nvPr/>
        </p:nvSpPr>
        <p:spPr>
          <a:xfrm>
            <a:off x="566928" y="1682496"/>
            <a:ext cx="1005840" cy="338328"/>
          </a:xfrm>
          <a:prstGeom prst="rect">
            <a:avLst/>
          </a:prstGeom>
          <a:noFill/>
        </p:spPr>
        <p:txBody>
          <a:bodyPr wrap="square" lIns="0" tIns="0" rIns="0" bIns="0" anchor="ctr">
            <a:spAutoFit/>
          </a:bodyPr>
          <a:lstStyle/>
          <a:p>
            <a:pPr algn="l"/>
            <a:r>
              <a:rPr sz="1200" b="1">
                <a:solidFill>
                  <a:srgbClr val="7C3AED"/>
                </a:solidFill>
                <a:latin typeface="Calibri"/>
              </a:rPr>
              <a:t>09:30</a:t>
            </a:r>
          </a:p>
        </p:txBody>
      </p:sp>
      <p:sp>
        <p:nvSpPr>
          <p:cNvPr id="9" name="TextBox 8"/>
          <p:cNvSpPr txBox="1"/>
          <p:nvPr/>
        </p:nvSpPr>
        <p:spPr>
          <a:xfrm>
            <a:off x="1737360" y="1682496"/>
            <a:ext cx="5486400" cy="338328"/>
          </a:xfrm>
          <a:prstGeom prst="rect">
            <a:avLst/>
          </a:prstGeom>
          <a:noFill/>
        </p:spPr>
        <p:txBody>
          <a:bodyPr wrap="square" lIns="0" tIns="0" rIns="0" bIns="0" anchor="ctr">
            <a:spAutoFit/>
          </a:bodyPr>
          <a:lstStyle/>
          <a:p>
            <a:pPr algn="l"/>
            <a:r>
              <a:rPr sz="1200" b="0">
                <a:solidFill>
                  <a:srgbClr val="6E6389"/>
                </a:solidFill>
                <a:latin typeface="Calibri"/>
              </a:rPr>
              <a:t>Welcome, introduction, setup check — the day’s shape</a:t>
            </a:r>
          </a:p>
        </p:txBody>
      </p:sp>
      <p:sp>
        <p:nvSpPr>
          <p:cNvPr id="11" name="TextBox 10"/>
          <p:cNvSpPr txBox="1"/>
          <p:nvPr/>
        </p:nvSpPr>
        <p:spPr>
          <a:xfrm>
            <a:off x="566928" y="2020824"/>
            <a:ext cx="1005840" cy="338328"/>
          </a:xfrm>
          <a:prstGeom prst="rect">
            <a:avLst/>
          </a:prstGeom>
          <a:noFill/>
        </p:spPr>
        <p:txBody>
          <a:bodyPr wrap="square" lIns="0" tIns="0" rIns="0" bIns="0" anchor="ctr">
            <a:spAutoFit/>
          </a:bodyPr>
          <a:lstStyle/>
          <a:p>
            <a:pPr algn="l"/>
            <a:r>
              <a:rPr sz="1200" b="1">
                <a:solidFill>
                  <a:srgbClr val="7C3AED"/>
                </a:solidFill>
                <a:latin typeface="Calibri"/>
              </a:rPr>
              <a:t>09:45</a:t>
            </a:r>
          </a:p>
        </p:txBody>
      </p:sp>
      <p:sp>
        <p:nvSpPr>
          <p:cNvPr id="12" name="TextBox 11"/>
          <p:cNvSpPr txBox="1"/>
          <p:nvPr/>
        </p:nvSpPr>
        <p:spPr>
          <a:xfrm>
            <a:off x="1737360" y="2020824"/>
            <a:ext cx="5486400" cy="338328"/>
          </a:xfrm>
          <a:prstGeom prst="rect">
            <a:avLst/>
          </a:prstGeom>
          <a:noFill/>
        </p:spPr>
        <p:txBody>
          <a:bodyPr wrap="square" lIns="0" tIns="0" rIns="0" bIns="0" anchor="ctr">
            <a:spAutoFit/>
          </a:bodyPr>
          <a:lstStyle/>
          <a:p>
            <a:pPr algn="l"/>
            <a:r>
              <a:rPr sz="1200" b="0" dirty="0">
                <a:solidFill>
                  <a:srgbClr val="6E6389"/>
                </a:solidFill>
                <a:latin typeface="Calibri"/>
              </a:rPr>
              <a:t>How the engineer’s life has changed</a:t>
            </a:r>
          </a:p>
        </p:txBody>
      </p:sp>
      <p:sp>
        <p:nvSpPr>
          <p:cNvPr id="14" name="Rectangle 13"/>
          <p:cNvSpPr/>
          <p:nvPr/>
        </p:nvSpPr>
        <p:spPr>
          <a:xfrm>
            <a:off x="457200" y="2359152"/>
            <a:ext cx="7680960" cy="3383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359152"/>
            <a:ext cx="1005840" cy="338328"/>
          </a:xfrm>
          <a:prstGeom prst="rect">
            <a:avLst/>
          </a:prstGeom>
          <a:noFill/>
        </p:spPr>
        <p:txBody>
          <a:bodyPr wrap="square" lIns="0" tIns="0" rIns="0" bIns="0" anchor="ctr">
            <a:spAutoFit/>
          </a:bodyPr>
          <a:lstStyle/>
          <a:p>
            <a:pPr algn="l"/>
            <a:r>
              <a:rPr sz="1200" b="1">
                <a:solidFill>
                  <a:srgbClr val="7C3AED"/>
                </a:solidFill>
                <a:latin typeface="Calibri"/>
              </a:rPr>
              <a:t>10:00</a:t>
            </a:r>
          </a:p>
        </p:txBody>
      </p:sp>
      <p:sp>
        <p:nvSpPr>
          <p:cNvPr id="16" name="TextBox 15"/>
          <p:cNvSpPr txBox="1"/>
          <p:nvPr/>
        </p:nvSpPr>
        <p:spPr>
          <a:xfrm>
            <a:off x="1737360" y="2359152"/>
            <a:ext cx="5486400" cy="338328"/>
          </a:xfrm>
          <a:prstGeom prst="rect">
            <a:avLst/>
          </a:prstGeom>
          <a:noFill/>
        </p:spPr>
        <p:txBody>
          <a:bodyPr wrap="square" lIns="0" tIns="0" rIns="0" bIns="0" anchor="ctr">
            <a:spAutoFit/>
          </a:bodyPr>
          <a:lstStyle/>
          <a:p>
            <a:pPr algn="l"/>
            <a:r>
              <a:rPr sz="1250" b="1">
                <a:solidFill>
                  <a:srgbClr val="2D1155"/>
                </a:solidFill>
                <a:latin typeface="Arial Black"/>
              </a:rPr>
              <a:t>Section 1 · Vibe Coding</a:t>
            </a:r>
          </a:p>
        </p:txBody>
      </p:sp>
      <p:sp>
        <p:nvSpPr>
          <p:cNvPr id="18" name="TextBox 17"/>
          <p:cNvSpPr txBox="1"/>
          <p:nvPr/>
        </p:nvSpPr>
        <p:spPr>
          <a:xfrm>
            <a:off x="566928" y="2697480"/>
            <a:ext cx="1005840" cy="338328"/>
          </a:xfrm>
          <a:prstGeom prst="rect">
            <a:avLst/>
          </a:prstGeom>
          <a:noFill/>
        </p:spPr>
        <p:txBody>
          <a:bodyPr wrap="square" lIns="0" tIns="0" rIns="0" bIns="0" anchor="ctr">
            <a:spAutoFit/>
          </a:bodyPr>
          <a:lstStyle/>
          <a:p>
            <a:pPr algn="l"/>
            <a:r>
              <a:rPr sz="1200" b="1">
                <a:solidFill>
                  <a:srgbClr val="7C3AED"/>
                </a:solidFill>
                <a:latin typeface="Calibri"/>
              </a:rPr>
              <a:t>11:30</a:t>
            </a:r>
          </a:p>
        </p:txBody>
      </p:sp>
      <p:sp>
        <p:nvSpPr>
          <p:cNvPr id="19" name="TextBox 18"/>
          <p:cNvSpPr txBox="1"/>
          <p:nvPr/>
        </p:nvSpPr>
        <p:spPr>
          <a:xfrm>
            <a:off x="1737360" y="2697480"/>
            <a:ext cx="5486400" cy="338328"/>
          </a:xfrm>
          <a:prstGeom prst="rect">
            <a:avLst/>
          </a:prstGeom>
          <a:noFill/>
        </p:spPr>
        <p:txBody>
          <a:bodyPr wrap="square" lIns="0" tIns="0" rIns="0" bIns="0" anchor="ctr">
            <a:spAutoFit/>
          </a:bodyPr>
          <a:lstStyle/>
          <a:p>
            <a:pPr algn="l"/>
            <a:r>
              <a:rPr sz="1200" b="0">
                <a:solidFill>
                  <a:srgbClr val="6E6389"/>
                </a:solidFill>
                <a:latin typeface="Calibri"/>
              </a:rPr>
              <a:t>Break</a:t>
            </a:r>
          </a:p>
        </p:txBody>
      </p:sp>
      <p:sp>
        <p:nvSpPr>
          <p:cNvPr id="21" name="Rectangle 20"/>
          <p:cNvSpPr/>
          <p:nvPr/>
        </p:nvSpPr>
        <p:spPr>
          <a:xfrm>
            <a:off x="457200" y="3035808"/>
            <a:ext cx="7680960" cy="3383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3035808"/>
            <a:ext cx="1005840" cy="338328"/>
          </a:xfrm>
          <a:prstGeom prst="rect">
            <a:avLst/>
          </a:prstGeom>
          <a:noFill/>
        </p:spPr>
        <p:txBody>
          <a:bodyPr wrap="square" lIns="0" tIns="0" rIns="0" bIns="0" anchor="ctr">
            <a:spAutoFit/>
          </a:bodyPr>
          <a:lstStyle/>
          <a:p>
            <a:pPr algn="l"/>
            <a:r>
              <a:rPr sz="1200" b="1">
                <a:solidFill>
                  <a:srgbClr val="7C3AED"/>
                </a:solidFill>
                <a:latin typeface="Calibri"/>
              </a:rPr>
              <a:t>11:45</a:t>
            </a:r>
          </a:p>
        </p:txBody>
      </p:sp>
      <p:sp>
        <p:nvSpPr>
          <p:cNvPr id="23" name="TextBox 22"/>
          <p:cNvSpPr txBox="1"/>
          <p:nvPr/>
        </p:nvSpPr>
        <p:spPr>
          <a:xfrm>
            <a:off x="1737360" y="3035808"/>
            <a:ext cx="5486400" cy="338328"/>
          </a:xfrm>
          <a:prstGeom prst="rect">
            <a:avLst/>
          </a:prstGeom>
          <a:noFill/>
        </p:spPr>
        <p:txBody>
          <a:bodyPr wrap="square" lIns="0" tIns="0" rIns="0" bIns="0" anchor="ctr">
            <a:spAutoFit/>
          </a:bodyPr>
          <a:lstStyle/>
          <a:p>
            <a:pPr algn="l"/>
            <a:r>
              <a:rPr sz="1250" b="1">
                <a:solidFill>
                  <a:srgbClr val="2D1155"/>
                </a:solidFill>
                <a:latin typeface="Arial Black"/>
              </a:rPr>
              <a:t>Section 2 · Vibe Engineering</a:t>
            </a:r>
          </a:p>
        </p:txBody>
      </p:sp>
      <p:sp>
        <p:nvSpPr>
          <p:cNvPr id="25" name="TextBox 24"/>
          <p:cNvSpPr txBox="1"/>
          <p:nvPr/>
        </p:nvSpPr>
        <p:spPr>
          <a:xfrm>
            <a:off x="566928" y="3374136"/>
            <a:ext cx="1005840" cy="338328"/>
          </a:xfrm>
          <a:prstGeom prst="rect">
            <a:avLst/>
          </a:prstGeom>
          <a:noFill/>
        </p:spPr>
        <p:txBody>
          <a:bodyPr wrap="square" lIns="0" tIns="0" rIns="0" bIns="0" anchor="ctr">
            <a:spAutoFit/>
          </a:bodyPr>
          <a:lstStyle/>
          <a:p>
            <a:pPr algn="l"/>
            <a:r>
              <a:rPr sz="1200" b="1">
                <a:solidFill>
                  <a:srgbClr val="7C3AED"/>
                </a:solidFill>
                <a:latin typeface="Calibri"/>
              </a:rPr>
              <a:t>13:15</a:t>
            </a:r>
          </a:p>
        </p:txBody>
      </p:sp>
      <p:sp>
        <p:nvSpPr>
          <p:cNvPr id="26" name="TextBox 25"/>
          <p:cNvSpPr txBox="1"/>
          <p:nvPr/>
        </p:nvSpPr>
        <p:spPr>
          <a:xfrm>
            <a:off x="1737360" y="3374136"/>
            <a:ext cx="5486400" cy="338328"/>
          </a:xfrm>
          <a:prstGeom prst="rect">
            <a:avLst/>
          </a:prstGeom>
          <a:noFill/>
        </p:spPr>
        <p:txBody>
          <a:bodyPr wrap="square" lIns="0" tIns="0" rIns="0" bIns="0" anchor="ctr">
            <a:spAutoFit/>
          </a:bodyPr>
          <a:lstStyle/>
          <a:p>
            <a:pPr algn="l"/>
            <a:r>
              <a:rPr sz="1200" b="0">
                <a:solidFill>
                  <a:srgbClr val="6E6389"/>
                </a:solidFill>
                <a:latin typeface="Calibri"/>
              </a:rPr>
              <a:t>Lunch</a:t>
            </a:r>
          </a:p>
        </p:txBody>
      </p:sp>
      <p:sp>
        <p:nvSpPr>
          <p:cNvPr id="28" name="Rectangle 27"/>
          <p:cNvSpPr/>
          <p:nvPr/>
        </p:nvSpPr>
        <p:spPr>
          <a:xfrm>
            <a:off x="457200" y="3712464"/>
            <a:ext cx="7680960" cy="33832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3712464"/>
            <a:ext cx="1005840" cy="338328"/>
          </a:xfrm>
          <a:prstGeom prst="rect">
            <a:avLst/>
          </a:prstGeom>
          <a:noFill/>
        </p:spPr>
        <p:txBody>
          <a:bodyPr wrap="square" lIns="0" tIns="0" rIns="0" bIns="0" anchor="ctr">
            <a:spAutoFit/>
          </a:bodyPr>
          <a:lstStyle/>
          <a:p>
            <a:pPr algn="l"/>
            <a:r>
              <a:rPr sz="1200" b="1">
                <a:solidFill>
                  <a:srgbClr val="7C3AED"/>
                </a:solidFill>
                <a:latin typeface="Calibri"/>
              </a:rPr>
              <a:t>14:00</a:t>
            </a:r>
          </a:p>
        </p:txBody>
      </p:sp>
      <p:sp>
        <p:nvSpPr>
          <p:cNvPr id="30" name="TextBox 29"/>
          <p:cNvSpPr txBox="1"/>
          <p:nvPr/>
        </p:nvSpPr>
        <p:spPr>
          <a:xfrm>
            <a:off x="1737360" y="3712464"/>
            <a:ext cx="5486400" cy="338328"/>
          </a:xfrm>
          <a:prstGeom prst="rect">
            <a:avLst/>
          </a:prstGeom>
          <a:noFill/>
        </p:spPr>
        <p:txBody>
          <a:bodyPr wrap="square" lIns="0" tIns="0" rIns="0" bIns="0" anchor="ctr">
            <a:spAutoFit/>
          </a:bodyPr>
          <a:lstStyle/>
          <a:p>
            <a:pPr algn="l"/>
            <a:r>
              <a:rPr sz="1250" b="1">
                <a:solidFill>
                  <a:srgbClr val="2D1155"/>
                </a:solidFill>
                <a:latin typeface="Arial Black"/>
              </a:rPr>
              <a:t>Section 3 · Agentic Engineering</a:t>
            </a:r>
          </a:p>
        </p:txBody>
      </p:sp>
      <p:sp>
        <p:nvSpPr>
          <p:cNvPr id="32" name="TextBox 31"/>
          <p:cNvSpPr txBox="1"/>
          <p:nvPr/>
        </p:nvSpPr>
        <p:spPr>
          <a:xfrm>
            <a:off x="566928" y="4050792"/>
            <a:ext cx="1005840" cy="338328"/>
          </a:xfrm>
          <a:prstGeom prst="rect">
            <a:avLst/>
          </a:prstGeom>
          <a:noFill/>
        </p:spPr>
        <p:txBody>
          <a:bodyPr wrap="square" lIns="0" tIns="0" rIns="0" bIns="0" anchor="ctr">
            <a:spAutoFit/>
          </a:bodyPr>
          <a:lstStyle/>
          <a:p>
            <a:pPr algn="l"/>
            <a:r>
              <a:rPr sz="1200" b="1">
                <a:solidFill>
                  <a:srgbClr val="7C3AED"/>
                </a:solidFill>
                <a:latin typeface="Calibri"/>
              </a:rPr>
              <a:t>15:45</a:t>
            </a:r>
          </a:p>
        </p:txBody>
      </p:sp>
      <p:sp>
        <p:nvSpPr>
          <p:cNvPr id="33" name="TextBox 32"/>
          <p:cNvSpPr txBox="1"/>
          <p:nvPr/>
        </p:nvSpPr>
        <p:spPr>
          <a:xfrm>
            <a:off x="1737360" y="4050792"/>
            <a:ext cx="5486400" cy="338328"/>
          </a:xfrm>
          <a:prstGeom prst="rect">
            <a:avLst/>
          </a:prstGeom>
          <a:noFill/>
        </p:spPr>
        <p:txBody>
          <a:bodyPr wrap="square" lIns="0" tIns="0" rIns="0" bIns="0" anchor="ctr">
            <a:spAutoFit/>
          </a:bodyPr>
          <a:lstStyle/>
          <a:p>
            <a:pPr algn="l"/>
            <a:r>
              <a:rPr sz="1200" b="0">
                <a:solidFill>
                  <a:srgbClr val="6E6389"/>
                </a:solidFill>
                <a:latin typeface="Calibri"/>
              </a:rPr>
              <a:t>Showcase and close</a:t>
            </a:r>
          </a:p>
        </p:txBody>
      </p:sp>
      <p:sp>
        <p:nvSpPr>
          <p:cNvPr id="35" name="TextBox 34"/>
          <p:cNvSpPr txBox="1"/>
          <p:nvPr/>
        </p:nvSpPr>
        <p:spPr>
          <a:xfrm>
            <a:off x="566928" y="4389120"/>
            <a:ext cx="1005840" cy="338328"/>
          </a:xfrm>
          <a:prstGeom prst="rect">
            <a:avLst/>
          </a:prstGeom>
          <a:noFill/>
        </p:spPr>
        <p:txBody>
          <a:bodyPr wrap="square" lIns="0" tIns="0" rIns="0" bIns="0" anchor="ctr">
            <a:spAutoFit/>
          </a:bodyPr>
          <a:lstStyle/>
          <a:p>
            <a:pPr algn="l"/>
            <a:r>
              <a:rPr sz="1200" b="1">
                <a:solidFill>
                  <a:srgbClr val="7C3AED"/>
                </a:solidFill>
                <a:latin typeface="Calibri"/>
              </a:rPr>
              <a:t>16:00</a:t>
            </a:r>
          </a:p>
        </p:txBody>
      </p:sp>
      <p:sp>
        <p:nvSpPr>
          <p:cNvPr id="36" name="TextBox 35"/>
          <p:cNvSpPr txBox="1"/>
          <p:nvPr/>
        </p:nvSpPr>
        <p:spPr>
          <a:xfrm>
            <a:off x="1737360" y="4389120"/>
            <a:ext cx="5486400" cy="338328"/>
          </a:xfrm>
          <a:prstGeom prst="rect">
            <a:avLst/>
          </a:prstGeom>
          <a:noFill/>
        </p:spPr>
        <p:txBody>
          <a:bodyPr wrap="square" lIns="0" tIns="0" rIns="0" bIns="0" anchor="ctr">
            <a:spAutoFit/>
          </a:bodyPr>
          <a:lstStyle/>
          <a:p>
            <a:pPr algn="l"/>
            <a:r>
              <a:rPr sz="1200" b="0">
                <a:solidFill>
                  <a:srgbClr val="6E6389"/>
                </a:solidFill>
                <a:latin typeface="Calibri"/>
              </a:rPr>
              <a:t>End</a:t>
            </a:r>
          </a:p>
        </p:txBody>
      </p:sp>
      <p:sp>
        <p:nvSpPr>
          <p:cNvPr id="37" name="TextBox 36"/>
          <p:cNvSpPr txBox="1"/>
          <p:nvPr/>
        </p:nvSpPr>
        <p:spPr>
          <a:xfrm>
            <a:off x="7315200" y="4389120"/>
            <a:ext cx="822960" cy="338328"/>
          </a:xfrm>
          <a:prstGeom prst="rect">
            <a:avLst/>
          </a:prstGeom>
          <a:noFill/>
        </p:spPr>
        <p:txBody>
          <a:bodyPr wrap="square" lIns="0" tIns="0" rIns="0" bIns="0" anchor="ctr">
            <a:spAutoFit/>
          </a:bodyPr>
          <a:lstStyle/>
          <a:p>
            <a:pPr algn="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PROMISE</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What today is really about.</a:t>
            </a:r>
          </a:p>
        </p:txBody>
      </p:sp>
      <p:pic>
        <p:nvPicPr>
          <p:cNvPr id="4" name="Picture 3" descr="image1.jpeg"/>
          <p:cNvPicPr>
            <a:picLocks noChangeAspect="1"/>
          </p:cNvPicPr>
          <p:nvPr/>
        </p:nvPicPr>
        <p:blipFill>
          <a:blip r:embed="rId2"/>
          <a:stretch>
            <a:fillRect/>
          </a:stretch>
        </p:blipFill>
        <p:spPr>
          <a:xfrm>
            <a:off x="8366760" y="4526280"/>
            <a:ext cx="411480" cy="411480"/>
          </a:xfrm>
          <a:prstGeom prst="rect">
            <a:avLst/>
          </a:prstGeom>
        </p:spPr>
      </p:pic>
      <p:sp>
        <p:nvSpPr>
          <p:cNvPr id="5" name="Rectangle 4"/>
          <p:cNvSpPr/>
          <p:nvPr/>
        </p:nvSpPr>
        <p:spPr>
          <a:xfrm>
            <a:off x="457200" y="1463040"/>
            <a:ext cx="8229600" cy="1170432"/>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1631"/>
            <a:ext cx="7498079" cy="633250"/>
          </a:xfrm>
          <a:prstGeom prst="rect">
            <a:avLst/>
          </a:prstGeom>
          <a:noFill/>
        </p:spPr>
        <p:txBody>
          <a:bodyPr wrap="square" lIns="0" tIns="0" rIns="0" bIns="0" anchor="ctr">
            <a:spAutoFit/>
          </a:bodyPr>
          <a:lstStyle/>
          <a:p>
            <a:pPr algn="l">
              <a:lnSpc>
                <a:spcPct val="105000"/>
              </a:lnSpc>
            </a:pPr>
            <a:r>
              <a:rPr sz="2000" b="0" dirty="0">
                <a:solidFill>
                  <a:srgbClr val="FFFFFF"/>
                </a:solidFill>
                <a:latin typeface="Calibri"/>
              </a:rPr>
              <a:t>You build </a:t>
            </a:r>
            <a:r>
              <a:rPr sz="2000" b="1" dirty="0">
                <a:solidFill>
                  <a:srgbClr val="F59E0B"/>
                </a:solidFill>
                <a:latin typeface="Arial Black"/>
              </a:rPr>
              <a:t>one app, three times over</a:t>
            </a:r>
            <a:r>
              <a:rPr lang="en-AU" sz="2000" b="1" dirty="0">
                <a:solidFill>
                  <a:srgbClr val="F59E0B"/>
                </a:solidFill>
                <a:latin typeface="Arial Black"/>
              </a:rPr>
              <a:t>,</a:t>
            </a:r>
            <a:r>
              <a:rPr sz="2000" b="0" dirty="0">
                <a:solidFill>
                  <a:srgbClr val="FFFFFF"/>
                </a:solidFill>
                <a:latin typeface="Calibri"/>
              </a:rPr>
              <a:t> each time giving up a different crutch.</a:t>
            </a:r>
          </a:p>
        </p:txBody>
      </p:sp>
      <p:sp>
        <p:nvSpPr>
          <p:cNvPr id="7" name="TextBox 6"/>
          <p:cNvSpPr txBox="1"/>
          <p:nvPr/>
        </p:nvSpPr>
        <p:spPr>
          <a:xfrm>
            <a:off x="457200" y="2880360"/>
            <a:ext cx="8229600" cy="457200"/>
          </a:xfrm>
          <a:prstGeom prst="rect">
            <a:avLst/>
          </a:prstGeom>
          <a:noFill/>
        </p:spPr>
        <p:txBody>
          <a:bodyPr wrap="square" lIns="0" tIns="0" rIns="0" bIns="0" anchor="t">
            <a:spAutoFit/>
          </a:bodyPr>
          <a:lstStyle/>
          <a:p>
            <a:pPr algn="l"/>
            <a:r>
              <a:rPr sz="1350" b="0" dirty="0">
                <a:solidFill>
                  <a:srgbClr val="6E6389"/>
                </a:solidFill>
                <a:latin typeface="Calibri"/>
              </a:rPr>
              <a:t>The project builds either way, and you learn something new no matter what level you walk in at.</a:t>
            </a:r>
          </a:p>
        </p:txBody>
      </p:sp>
      <p:sp>
        <p:nvSpPr>
          <p:cNvPr id="8" name="Rectangle 7"/>
          <p:cNvSpPr/>
          <p:nvPr/>
        </p:nvSpPr>
        <p:spPr>
          <a:xfrm>
            <a:off x="457200" y="3520440"/>
            <a:ext cx="4023360" cy="12344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3703320"/>
            <a:ext cx="3566160" cy="320040"/>
          </a:xfrm>
          <a:prstGeom prst="rect">
            <a:avLst/>
          </a:prstGeom>
          <a:noFill/>
        </p:spPr>
        <p:txBody>
          <a:bodyPr wrap="square" lIns="0" tIns="0" rIns="0" bIns="0" anchor="t">
            <a:spAutoFit/>
          </a:bodyPr>
          <a:lstStyle/>
          <a:p>
            <a:pPr algn="l"/>
            <a:r>
              <a:rPr sz="1100" b="1">
                <a:solidFill>
                  <a:srgbClr val="7C3AED"/>
                </a:solidFill>
                <a:latin typeface="Calibri"/>
              </a:rPr>
              <a:t>A RUSTY ENGINEER</a:t>
            </a:r>
          </a:p>
        </p:txBody>
      </p:sp>
      <p:sp>
        <p:nvSpPr>
          <p:cNvPr id="10" name="TextBox 9"/>
          <p:cNvSpPr txBox="1"/>
          <p:nvPr/>
        </p:nvSpPr>
        <p:spPr>
          <a:xfrm>
            <a:off x="685800" y="4041648"/>
            <a:ext cx="3566160" cy="640080"/>
          </a:xfrm>
          <a:prstGeom prst="rect">
            <a:avLst/>
          </a:prstGeom>
          <a:noFill/>
        </p:spPr>
        <p:txBody>
          <a:bodyPr wrap="square" lIns="0" tIns="0" rIns="0" bIns="0" anchor="t">
            <a:spAutoFit/>
          </a:bodyPr>
          <a:lstStyle/>
          <a:p>
            <a:pPr algn="l">
              <a:lnSpc>
                <a:spcPct val="105000"/>
              </a:lnSpc>
            </a:pPr>
            <a:r>
              <a:rPr sz="1250" b="0">
                <a:solidFill>
                  <a:srgbClr val="2D1155"/>
                </a:solidFill>
                <a:latin typeface="Calibri"/>
              </a:rPr>
              <a:t>learns the loop and the tools — and stops fearing them.</a:t>
            </a:r>
          </a:p>
        </p:txBody>
      </p:sp>
      <p:sp>
        <p:nvSpPr>
          <p:cNvPr id="11" name="Rectangle 10"/>
          <p:cNvSpPr/>
          <p:nvPr/>
        </p:nvSpPr>
        <p:spPr>
          <a:xfrm>
            <a:off x="4663440" y="3520440"/>
            <a:ext cx="4023360" cy="12344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2040" y="3703320"/>
            <a:ext cx="3566160" cy="320040"/>
          </a:xfrm>
          <a:prstGeom prst="rect">
            <a:avLst/>
          </a:prstGeom>
          <a:noFill/>
        </p:spPr>
        <p:txBody>
          <a:bodyPr wrap="square" lIns="0" tIns="0" rIns="0" bIns="0" anchor="t">
            <a:spAutoFit/>
          </a:bodyPr>
          <a:lstStyle/>
          <a:p>
            <a:pPr algn="l"/>
            <a:r>
              <a:rPr sz="1100" b="1">
                <a:solidFill>
                  <a:srgbClr val="7C3AED"/>
                </a:solidFill>
                <a:latin typeface="Calibri"/>
              </a:rPr>
              <a:t>A CONFIDENT ONE</a:t>
            </a:r>
          </a:p>
        </p:txBody>
      </p:sp>
      <p:sp>
        <p:nvSpPr>
          <p:cNvPr id="13" name="TextBox 12"/>
          <p:cNvSpPr txBox="1"/>
          <p:nvPr/>
        </p:nvSpPr>
        <p:spPr>
          <a:xfrm>
            <a:off x="4892040" y="4041648"/>
            <a:ext cx="3566160" cy="640080"/>
          </a:xfrm>
          <a:prstGeom prst="rect">
            <a:avLst/>
          </a:prstGeom>
          <a:noFill/>
        </p:spPr>
        <p:txBody>
          <a:bodyPr wrap="square" lIns="0" tIns="0" rIns="0" bIns="0" anchor="t">
            <a:spAutoFit/>
          </a:bodyPr>
          <a:lstStyle/>
          <a:p>
            <a:pPr algn="l">
              <a:lnSpc>
                <a:spcPct val="105000"/>
              </a:lnSpc>
            </a:pPr>
            <a:r>
              <a:rPr sz="1250" b="0">
                <a:solidFill>
                  <a:srgbClr val="2D1155"/>
                </a:solidFill>
                <a:latin typeface="Calibri"/>
              </a:rPr>
              <a:t>learns to give up the keyboard and build the harness instead.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2"/>
          <a:stretch>
            <a:fillRect/>
          </a:stretch>
        </p:blipFill>
        <p:spPr>
          <a:xfrm>
            <a:off x="8366760" y="4526280"/>
            <a:ext cx="411480" cy="411480"/>
          </a:xfrm>
          <a:prstGeom prst="rect">
            <a:avLst/>
          </a:prstGeom>
        </p:spPr>
      </p:pic>
      <p:sp>
        <p:nvSpPr>
          <p:cNvPr id="3" name="TextBox 2"/>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THE DAY IS A LADDER</a:t>
            </a:r>
          </a:p>
        </p:txBody>
      </p:sp>
      <p:sp>
        <p:nvSpPr>
          <p:cNvPr id="4" name="TextBox 3"/>
          <p:cNvSpPr txBox="1"/>
          <p:nvPr/>
        </p:nvSpPr>
        <p:spPr>
          <a:xfrm>
            <a:off x="475488" y="896112"/>
            <a:ext cx="8229600" cy="329184"/>
          </a:xfrm>
          <a:prstGeom prst="rect">
            <a:avLst/>
          </a:prstGeom>
          <a:noFill/>
        </p:spPr>
        <p:txBody>
          <a:bodyPr wrap="square" lIns="0" tIns="0" rIns="0" bIns="0" anchor="t">
            <a:spAutoFit/>
          </a:bodyPr>
          <a:lstStyle/>
          <a:p>
            <a:pPr algn="l"/>
            <a:r>
              <a:rPr sz="1300" b="0" dirty="0">
                <a:solidFill>
                  <a:srgbClr val="6E6389"/>
                </a:solidFill>
                <a:latin typeface="Calibri"/>
              </a:rPr>
              <a:t>Not three workshops. Each rung removes a different crutch.</a:t>
            </a:r>
          </a:p>
        </p:txBody>
      </p:sp>
      <p:sp>
        <p:nvSpPr>
          <p:cNvPr id="5" name="Rectangle 4"/>
          <p:cNvSpPr/>
          <p:nvPr/>
        </p:nvSpPr>
        <p:spPr>
          <a:xfrm>
            <a:off x="457200" y="1481328"/>
            <a:ext cx="8229600" cy="93268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81328"/>
            <a:ext cx="914400" cy="932688"/>
          </a:xfrm>
          <a:prstGeom prst="rect">
            <a:avLst/>
          </a:prstGeom>
          <a:noFill/>
        </p:spPr>
        <p:txBody>
          <a:bodyPr wrap="square" lIns="0" tIns="0" rIns="0" bIns="0" anchor="ctr">
            <a:spAutoFit/>
          </a:bodyPr>
          <a:lstStyle/>
          <a:p>
            <a:pPr algn="ctr"/>
            <a:r>
              <a:rPr sz="3000" b="1">
                <a:solidFill>
                  <a:srgbClr val="F59E0B"/>
                </a:solidFill>
                <a:latin typeface="Arial Black"/>
              </a:rPr>
              <a:t>01</a:t>
            </a:r>
          </a:p>
        </p:txBody>
      </p:sp>
      <p:sp>
        <p:nvSpPr>
          <p:cNvPr id="7" name="TextBox 6"/>
          <p:cNvSpPr txBox="1"/>
          <p:nvPr/>
        </p:nvSpPr>
        <p:spPr>
          <a:xfrm>
            <a:off x="1691640" y="1627632"/>
            <a:ext cx="6217920" cy="384048"/>
          </a:xfrm>
          <a:prstGeom prst="rect">
            <a:avLst/>
          </a:prstGeom>
          <a:noFill/>
        </p:spPr>
        <p:txBody>
          <a:bodyPr wrap="square" lIns="0" tIns="0" rIns="0" bIns="0" anchor="t">
            <a:spAutoFit/>
          </a:bodyPr>
          <a:lstStyle/>
          <a:p>
            <a:pPr algn="l"/>
            <a:r>
              <a:rPr sz="1500" b="1">
                <a:solidFill>
                  <a:srgbClr val="2D1155"/>
                </a:solidFill>
                <a:latin typeface="Arial Black"/>
              </a:rPr>
              <a:t>Vibe Coding</a:t>
            </a:r>
          </a:p>
        </p:txBody>
      </p:sp>
      <p:sp>
        <p:nvSpPr>
          <p:cNvPr id="8" name="TextBox 7"/>
          <p:cNvSpPr txBox="1"/>
          <p:nvPr/>
        </p:nvSpPr>
        <p:spPr>
          <a:xfrm>
            <a:off x="1691640" y="2011680"/>
            <a:ext cx="6766560" cy="347472"/>
          </a:xfrm>
          <a:prstGeom prst="rect">
            <a:avLst/>
          </a:prstGeom>
          <a:noFill/>
        </p:spPr>
        <p:txBody>
          <a:bodyPr wrap="square" lIns="0" tIns="0" rIns="0" bIns="0" anchor="t">
            <a:spAutoFit/>
          </a:bodyPr>
          <a:lstStyle/>
          <a:p>
            <a:pPr algn="l"/>
            <a:r>
              <a:rPr sz="1200" b="0">
                <a:solidFill>
                  <a:srgbClr val="6E6389"/>
                </a:solidFill>
                <a:latin typeface="Calibri"/>
              </a:rPr>
              <a:t>Use the tool. Make it work, don’t care how.</a:t>
            </a:r>
          </a:p>
        </p:txBody>
      </p:sp>
      <p:sp>
        <p:nvSpPr>
          <p:cNvPr id="9" name="Rectangle 8"/>
          <p:cNvSpPr/>
          <p:nvPr/>
        </p:nvSpPr>
        <p:spPr>
          <a:xfrm>
            <a:off x="457200" y="2523744"/>
            <a:ext cx="8229600" cy="93268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523744"/>
            <a:ext cx="914400" cy="932688"/>
          </a:xfrm>
          <a:prstGeom prst="rect">
            <a:avLst/>
          </a:prstGeom>
          <a:noFill/>
        </p:spPr>
        <p:txBody>
          <a:bodyPr wrap="square" lIns="0" tIns="0" rIns="0" bIns="0" anchor="ctr">
            <a:spAutoFit/>
          </a:bodyPr>
          <a:lstStyle/>
          <a:p>
            <a:pPr algn="ctr"/>
            <a:r>
              <a:rPr sz="3000" b="1">
                <a:solidFill>
                  <a:srgbClr val="7C3AED"/>
                </a:solidFill>
                <a:latin typeface="Arial Black"/>
              </a:rPr>
              <a:t>02</a:t>
            </a:r>
          </a:p>
        </p:txBody>
      </p:sp>
      <p:sp>
        <p:nvSpPr>
          <p:cNvPr id="11" name="TextBox 10"/>
          <p:cNvSpPr txBox="1"/>
          <p:nvPr/>
        </p:nvSpPr>
        <p:spPr>
          <a:xfrm>
            <a:off x="1691640" y="2670048"/>
            <a:ext cx="6217920" cy="384048"/>
          </a:xfrm>
          <a:prstGeom prst="rect">
            <a:avLst/>
          </a:prstGeom>
          <a:noFill/>
        </p:spPr>
        <p:txBody>
          <a:bodyPr wrap="square" lIns="0" tIns="0" rIns="0" bIns="0" anchor="t">
            <a:spAutoFit/>
          </a:bodyPr>
          <a:lstStyle/>
          <a:p>
            <a:pPr algn="l"/>
            <a:r>
              <a:rPr sz="1500" b="1">
                <a:solidFill>
                  <a:srgbClr val="2D1155"/>
                </a:solidFill>
                <a:latin typeface="Arial Black"/>
              </a:rPr>
              <a:t>Vibe Engineering</a:t>
            </a:r>
          </a:p>
        </p:txBody>
      </p:sp>
      <p:sp>
        <p:nvSpPr>
          <p:cNvPr id="12" name="TextBox 11"/>
          <p:cNvSpPr txBox="1"/>
          <p:nvPr/>
        </p:nvSpPr>
        <p:spPr>
          <a:xfrm>
            <a:off x="1691640" y="3054096"/>
            <a:ext cx="6766560" cy="347472"/>
          </a:xfrm>
          <a:prstGeom prst="rect">
            <a:avLst/>
          </a:prstGeom>
          <a:noFill/>
        </p:spPr>
        <p:txBody>
          <a:bodyPr wrap="square" lIns="0" tIns="0" rIns="0" bIns="0" anchor="t">
            <a:spAutoFit/>
          </a:bodyPr>
          <a:lstStyle/>
          <a:p>
            <a:pPr algn="l"/>
            <a:r>
              <a:rPr sz="1200" b="0">
                <a:solidFill>
                  <a:srgbClr val="6E6389"/>
                </a:solidFill>
                <a:latin typeface="Calibri"/>
              </a:rPr>
              <a:t>Make it repeatable. Stop repeating yourself.</a:t>
            </a:r>
          </a:p>
        </p:txBody>
      </p:sp>
      <p:sp>
        <p:nvSpPr>
          <p:cNvPr id="13" name="Rectangle 12"/>
          <p:cNvSpPr/>
          <p:nvPr/>
        </p:nvSpPr>
        <p:spPr>
          <a:xfrm>
            <a:off x="457200" y="3566159"/>
            <a:ext cx="8229600" cy="932688"/>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566159"/>
            <a:ext cx="914400" cy="932688"/>
          </a:xfrm>
          <a:prstGeom prst="rect">
            <a:avLst/>
          </a:prstGeom>
          <a:noFill/>
        </p:spPr>
        <p:txBody>
          <a:bodyPr wrap="square" lIns="0" tIns="0" rIns="0" bIns="0" anchor="ctr">
            <a:spAutoFit/>
          </a:bodyPr>
          <a:lstStyle/>
          <a:p>
            <a:pPr algn="ctr"/>
            <a:r>
              <a:rPr sz="3000" b="1">
                <a:solidFill>
                  <a:srgbClr val="5B21B6"/>
                </a:solidFill>
                <a:latin typeface="Arial Black"/>
              </a:rPr>
              <a:t>03</a:t>
            </a:r>
          </a:p>
        </p:txBody>
      </p:sp>
      <p:sp>
        <p:nvSpPr>
          <p:cNvPr id="15" name="TextBox 14"/>
          <p:cNvSpPr txBox="1"/>
          <p:nvPr/>
        </p:nvSpPr>
        <p:spPr>
          <a:xfrm>
            <a:off x="1691640" y="3712463"/>
            <a:ext cx="6217920" cy="384048"/>
          </a:xfrm>
          <a:prstGeom prst="rect">
            <a:avLst/>
          </a:prstGeom>
          <a:noFill/>
        </p:spPr>
        <p:txBody>
          <a:bodyPr wrap="square" lIns="0" tIns="0" rIns="0" bIns="0" anchor="t">
            <a:spAutoFit/>
          </a:bodyPr>
          <a:lstStyle/>
          <a:p>
            <a:pPr algn="l"/>
            <a:r>
              <a:rPr sz="1500" b="1">
                <a:solidFill>
                  <a:srgbClr val="2D1155"/>
                </a:solidFill>
                <a:latin typeface="Arial Black"/>
              </a:rPr>
              <a:t>Agentic Engineering</a:t>
            </a:r>
          </a:p>
        </p:txBody>
      </p:sp>
      <p:sp>
        <p:nvSpPr>
          <p:cNvPr id="16" name="TextBox 15"/>
          <p:cNvSpPr txBox="1"/>
          <p:nvPr/>
        </p:nvSpPr>
        <p:spPr>
          <a:xfrm>
            <a:off x="1691640" y="4096511"/>
            <a:ext cx="6766560" cy="347472"/>
          </a:xfrm>
          <a:prstGeom prst="rect">
            <a:avLst/>
          </a:prstGeom>
          <a:noFill/>
        </p:spPr>
        <p:txBody>
          <a:bodyPr wrap="square" lIns="0" tIns="0" rIns="0" bIns="0" anchor="t">
            <a:spAutoFit/>
          </a:bodyPr>
          <a:lstStyle/>
          <a:p>
            <a:pPr algn="l"/>
            <a:r>
              <a:rPr sz="1200" b="0">
                <a:solidFill>
                  <a:srgbClr val="6E6389"/>
                </a:solidFill>
                <a:latin typeface="Calibri"/>
              </a:rPr>
              <a:t>Stop trusting the agent. Engineer around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ONE PROJECT, ALL DAY: TCA HABITS</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A habit tracker you build, then make repeatable, then harden.</a:t>
            </a:r>
          </a:p>
        </p:txBody>
      </p:sp>
      <p:pic>
        <p:nvPicPr>
          <p:cNvPr id="4" name="Picture 3" descr="image1.jpeg"/>
          <p:cNvPicPr>
            <a:picLocks noChangeAspect="1"/>
          </p:cNvPicPr>
          <p:nvPr/>
        </p:nvPicPr>
        <p:blipFill>
          <a:blip r:embed="rId3"/>
          <a:stretch>
            <a:fillRect/>
          </a:stretch>
        </p:blipFill>
        <p:spPr>
          <a:xfrm>
            <a:off x="8366760" y="4526280"/>
            <a:ext cx="411480" cy="411480"/>
          </a:xfrm>
          <a:prstGeom prst="rect">
            <a:avLst/>
          </a:prstGeom>
        </p:spPr>
      </p:pic>
      <p:sp>
        <p:nvSpPr>
          <p:cNvPr id="5" name="Rectangle 4"/>
          <p:cNvSpPr/>
          <p:nvPr/>
        </p:nvSpPr>
        <p:spPr>
          <a:xfrm>
            <a:off x="457200" y="157276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572768"/>
            <a:ext cx="2615184"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572768"/>
            <a:ext cx="2615184" cy="457200"/>
          </a:xfrm>
          <a:prstGeom prst="rect">
            <a:avLst/>
          </a:prstGeom>
          <a:noFill/>
        </p:spPr>
        <p:txBody>
          <a:bodyPr wrap="square" lIns="0" tIns="0" rIns="0" bIns="0" anchor="ctr">
            <a:spAutoFit/>
          </a:bodyPr>
          <a:lstStyle/>
          <a:p>
            <a:pPr algn="ctr"/>
            <a:r>
              <a:rPr sz="1100" b="1">
                <a:solidFill>
                  <a:srgbClr val="F59E0B"/>
                </a:solidFill>
                <a:latin typeface="Calibri"/>
              </a:rPr>
              <a:t>END OF SECTION 1</a:t>
            </a:r>
          </a:p>
        </p:txBody>
      </p:sp>
      <p:sp>
        <p:nvSpPr>
          <p:cNvPr id="8" name="TextBox 7"/>
          <p:cNvSpPr txBox="1"/>
          <p:nvPr/>
        </p:nvSpPr>
        <p:spPr>
          <a:xfrm>
            <a:off x="658368" y="2212848"/>
            <a:ext cx="2212848" cy="137160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A working tracker. Add a habit, tick it, watch a streak grow. Ugly is fine.</a:t>
            </a:r>
          </a:p>
        </p:txBody>
      </p:sp>
      <p:sp>
        <p:nvSpPr>
          <p:cNvPr id="9" name="TextBox 8"/>
          <p:cNvSpPr txBox="1"/>
          <p:nvPr/>
        </p:nvSpPr>
        <p:spPr>
          <a:xfrm>
            <a:off x="3054096" y="1572768"/>
            <a:ext cx="228600" cy="2148840"/>
          </a:xfrm>
          <a:prstGeom prst="rect">
            <a:avLst/>
          </a:prstGeom>
          <a:noFill/>
        </p:spPr>
        <p:txBody>
          <a:bodyPr wrap="square" lIns="0" tIns="0" rIns="0" bIns="0" anchor="ctr">
            <a:spAutoFit/>
          </a:bodyPr>
          <a:lstStyle/>
          <a:p>
            <a:pPr algn="ctr"/>
            <a:r>
              <a:rPr sz="2600" b="1">
                <a:solidFill>
                  <a:srgbClr val="7C3AED"/>
                </a:solidFill>
                <a:latin typeface="Arial Black"/>
              </a:rPr>
              <a:t>›</a:t>
            </a:r>
          </a:p>
        </p:txBody>
      </p:sp>
      <p:sp>
        <p:nvSpPr>
          <p:cNvPr id="10" name="Rectangle 9"/>
          <p:cNvSpPr/>
          <p:nvPr/>
        </p:nvSpPr>
        <p:spPr>
          <a:xfrm>
            <a:off x="3264408" y="157276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64408" y="1572768"/>
            <a:ext cx="2615184"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64408" y="1572768"/>
            <a:ext cx="2615184" cy="457200"/>
          </a:xfrm>
          <a:prstGeom prst="rect">
            <a:avLst/>
          </a:prstGeom>
          <a:noFill/>
        </p:spPr>
        <p:txBody>
          <a:bodyPr wrap="square" lIns="0" tIns="0" rIns="0" bIns="0" anchor="ctr">
            <a:spAutoFit/>
          </a:bodyPr>
          <a:lstStyle/>
          <a:p>
            <a:pPr algn="ctr"/>
            <a:r>
              <a:rPr sz="1100" b="1">
                <a:solidFill>
                  <a:srgbClr val="F59E0B"/>
                </a:solidFill>
                <a:latin typeface="Calibri"/>
              </a:rPr>
              <a:t>END OF SECTION 2</a:t>
            </a:r>
          </a:p>
        </p:txBody>
      </p:sp>
      <p:sp>
        <p:nvSpPr>
          <p:cNvPr id="13" name="TextBox 12"/>
          <p:cNvSpPr txBox="1"/>
          <p:nvPr/>
        </p:nvSpPr>
        <p:spPr>
          <a:xfrm>
            <a:off x="3465576" y="2212848"/>
            <a:ext cx="2212848" cy="137160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A project contract, a reusable command, scheduled days, colour tiles, a weekly summary and an AI nudge.</a:t>
            </a:r>
          </a:p>
        </p:txBody>
      </p:sp>
      <p:sp>
        <p:nvSpPr>
          <p:cNvPr id="14" name="TextBox 13"/>
          <p:cNvSpPr txBox="1"/>
          <p:nvPr/>
        </p:nvSpPr>
        <p:spPr>
          <a:xfrm>
            <a:off x="5861304" y="1572768"/>
            <a:ext cx="228600" cy="2148840"/>
          </a:xfrm>
          <a:prstGeom prst="rect">
            <a:avLst/>
          </a:prstGeom>
          <a:noFill/>
        </p:spPr>
        <p:txBody>
          <a:bodyPr wrap="square" lIns="0" tIns="0" rIns="0" bIns="0" anchor="ctr">
            <a:spAutoFit/>
          </a:bodyPr>
          <a:lstStyle/>
          <a:p>
            <a:pPr algn="ctr"/>
            <a:r>
              <a:rPr sz="2600" b="1">
                <a:solidFill>
                  <a:srgbClr val="7C3AED"/>
                </a:solidFill>
                <a:latin typeface="Arial Black"/>
              </a:rPr>
              <a:t>›</a:t>
            </a:r>
          </a:p>
        </p:txBody>
      </p:sp>
      <p:sp>
        <p:nvSpPr>
          <p:cNvPr id="15" name="Rectangle 14"/>
          <p:cNvSpPr/>
          <p:nvPr/>
        </p:nvSpPr>
        <p:spPr>
          <a:xfrm>
            <a:off x="6071616" y="1572768"/>
            <a:ext cx="2615184" cy="214884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071616" y="1572768"/>
            <a:ext cx="2615184" cy="457200"/>
          </a:xfrm>
          <a:prstGeom prst="rect">
            <a:avLst/>
          </a:prstGeom>
          <a:solidFill>
            <a:srgbClr val="2D1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71616" y="1572768"/>
            <a:ext cx="2615184" cy="457200"/>
          </a:xfrm>
          <a:prstGeom prst="rect">
            <a:avLst/>
          </a:prstGeom>
          <a:noFill/>
        </p:spPr>
        <p:txBody>
          <a:bodyPr wrap="square" lIns="0" tIns="0" rIns="0" bIns="0" anchor="ctr">
            <a:spAutoFit/>
          </a:bodyPr>
          <a:lstStyle/>
          <a:p>
            <a:pPr algn="ctr"/>
            <a:r>
              <a:rPr sz="1100" b="1">
                <a:solidFill>
                  <a:srgbClr val="F59E0B"/>
                </a:solidFill>
                <a:latin typeface="Calibri"/>
              </a:rPr>
              <a:t>END OF SECTION 3</a:t>
            </a:r>
          </a:p>
        </p:txBody>
      </p:sp>
      <p:sp>
        <p:nvSpPr>
          <p:cNvPr id="18" name="TextBox 17"/>
          <p:cNvSpPr txBox="1"/>
          <p:nvPr/>
        </p:nvSpPr>
        <p:spPr>
          <a:xfrm>
            <a:off x="6272783" y="2212848"/>
            <a:ext cx="2212848" cy="137160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Hardened. A test harness, sub-agents, an agent team that ships a feature under test, and CI.</a:t>
            </a:r>
          </a:p>
        </p:txBody>
      </p:sp>
      <p:sp>
        <p:nvSpPr>
          <p:cNvPr id="19" name="TextBox 18"/>
          <p:cNvSpPr txBox="1"/>
          <p:nvPr/>
        </p:nvSpPr>
        <p:spPr>
          <a:xfrm>
            <a:off x="457200" y="3977639"/>
            <a:ext cx="8229600" cy="640080"/>
          </a:xfrm>
          <a:prstGeom prst="rect">
            <a:avLst/>
          </a:prstGeom>
          <a:noFill/>
        </p:spPr>
        <p:txBody>
          <a:bodyPr wrap="square" lIns="0" tIns="0" rIns="0" bIns="0" anchor="t">
            <a:spAutoFit/>
          </a:bodyPr>
          <a:lstStyle/>
          <a:p>
            <a:pPr algn="l">
              <a:lnSpc>
                <a:spcPct val="110000"/>
              </a:lnSpc>
            </a:pPr>
            <a:r>
              <a:rPr sz="1200" b="0">
                <a:solidFill>
                  <a:srgbClr val="6E6389"/>
                </a:solidFill>
                <a:latin typeface="Calibri"/>
              </a:rPr>
              <a:t>Real backend, real frontend, real edge cases — streak maths, time zones, idempotency — so the afternoon’s harness has something genuine to bite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NO ONE GETS STRANDED</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Each section starts where the last one finished. If yours doesn't, the reference repo's does.</a:t>
            </a:r>
          </a:p>
        </p:txBody>
      </p:sp>
      <p:pic>
        <p:nvPicPr>
          <p:cNvPr id="4" name="Picture 3" descr="image1.jpeg"/>
          <p:cNvPicPr>
            <a:picLocks noChangeAspect="1"/>
          </p:cNvPicPr>
          <p:nvPr/>
        </p:nvPicPr>
        <p:blipFill>
          <a:blip r:embed="rId2"/>
          <a:stretch>
            <a:fillRect/>
          </a:stretch>
        </p:blipFill>
        <p:spPr>
          <a:xfrm>
            <a:off x="8366760" y="4526280"/>
            <a:ext cx="411480" cy="411480"/>
          </a:xfrm>
          <a:prstGeom prst="rect">
            <a:avLst/>
          </a:prstGeom>
        </p:spPr>
      </p:pic>
      <p:sp>
        <p:nvSpPr>
          <p:cNvPr id="5" name="Rectangle 4"/>
          <p:cNvSpPr/>
          <p:nvPr/>
        </p:nvSpPr>
        <p:spPr>
          <a:xfrm>
            <a:off x="457200" y="1600200"/>
            <a:ext cx="4023360" cy="17373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810512"/>
            <a:ext cx="3566160" cy="320040"/>
          </a:xfrm>
          <a:prstGeom prst="rect">
            <a:avLst/>
          </a:prstGeom>
          <a:noFill/>
        </p:spPr>
        <p:txBody>
          <a:bodyPr wrap="square" lIns="0" tIns="0" rIns="0" bIns="0" anchor="t">
            <a:spAutoFit/>
          </a:bodyPr>
          <a:lstStyle/>
          <a:p>
            <a:pPr algn="l"/>
            <a:r>
              <a:rPr sz="1100" b="1">
                <a:solidFill>
                  <a:srgbClr val="7C3AED"/>
                </a:solidFill>
                <a:latin typeface="Calibri"/>
              </a:rPr>
              <a:t>SMALL COMMITS</a:t>
            </a:r>
          </a:p>
        </p:txBody>
      </p:sp>
      <p:sp>
        <p:nvSpPr>
          <p:cNvPr id="7" name="TextBox 6"/>
          <p:cNvSpPr txBox="1"/>
          <p:nvPr/>
        </p:nvSpPr>
        <p:spPr>
          <a:xfrm>
            <a:off x="685800" y="2157984"/>
            <a:ext cx="3566160" cy="365760"/>
          </a:xfrm>
          <a:prstGeom prst="rect">
            <a:avLst/>
          </a:prstGeom>
          <a:noFill/>
        </p:spPr>
        <p:txBody>
          <a:bodyPr wrap="square" lIns="0" tIns="0" rIns="0" bIns="0" anchor="t">
            <a:spAutoFit/>
          </a:bodyPr>
          <a:lstStyle/>
          <a:p>
            <a:pPr algn="l"/>
            <a:r>
              <a:rPr sz="1500" b="1">
                <a:solidFill>
                  <a:srgbClr val="2D1155"/>
                </a:solidFill>
                <a:latin typeface="Arial Black"/>
              </a:rPr>
              <a:t>Your undo.</a:t>
            </a:r>
          </a:p>
        </p:txBody>
      </p:sp>
      <p:sp>
        <p:nvSpPr>
          <p:cNvPr id="8" name="TextBox 7"/>
          <p:cNvSpPr txBox="1"/>
          <p:nvPr/>
        </p:nvSpPr>
        <p:spPr>
          <a:xfrm>
            <a:off x="685800" y="2578608"/>
            <a:ext cx="3566160" cy="685800"/>
          </a:xfrm>
          <a:prstGeom prst="rect">
            <a:avLst/>
          </a:prstGeom>
          <a:noFill/>
        </p:spPr>
        <p:txBody>
          <a:bodyPr wrap="square" lIns="0" tIns="0" rIns="0" bIns="0" anchor="t">
            <a:spAutoFit/>
          </a:bodyPr>
          <a:lstStyle/>
          <a:p>
            <a:pPr algn="l">
              <a:lnSpc>
                <a:spcPct val="108000"/>
              </a:lnSpc>
            </a:pPr>
            <a:r>
              <a:rPr sz="1250" b="0">
                <a:solidFill>
                  <a:srgbClr val="6E6389"/>
                </a:solidFill>
                <a:latin typeface="Calibri"/>
              </a:rPr>
              <a:t>A bad turn is one revert away, no drama. git is your safety net inside a section.</a:t>
            </a:r>
          </a:p>
        </p:txBody>
      </p:sp>
      <p:sp>
        <p:nvSpPr>
          <p:cNvPr id="9" name="Rectangle 8"/>
          <p:cNvSpPr/>
          <p:nvPr/>
        </p:nvSpPr>
        <p:spPr>
          <a:xfrm>
            <a:off x="4663440" y="1600200"/>
            <a:ext cx="4023360" cy="17373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2040" y="1810512"/>
            <a:ext cx="3566160" cy="320040"/>
          </a:xfrm>
          <a:prstGeom prst="rect">
            <a:avLst/>
          </a:prstGeom>
          <a:noFill/>
        </p:spPr>
        <p:txBody>
          <a:bodyPr wrap="square" lIns="0" tIns="0" rIns="0" bIns="0" anchor="t">
            <a:spAutoFit/>
          </a:bodyPr>
          <a:lstStyle/>
          <a:p>
            <a:pPr algn="l"/>
            <a:r>
              <a:rPr sz="1100" b="1">
                <a:solidFill>
                  <a:srgbClr val="7C3AED"/>
                </a:solidFill>
                <a:latin typeface="Calibri"/>
              </a:rPr>
              <a:t>CHECKPOINTS</a:t>
            </a:r>
          </a:p>
        </p:txBody>
      </p:sp>
      <p:sp>
        <p:nvSpPr>
          <p:cNvPr id="11" name="TextBox 10"/>
          <p:cNvSpPr txBox="1"/>
          <p:nvPr/>
        </p:nvSpPr>
        <p:spPr>
          <a:xfrm>
            <a:off x="4892040" y="2157984"/>
            <a:ext cx="3566160" cy="365760"/>
          </a:xfrm>
          <a:prstGeom prst="rect">
            <a:avLst/>
          </a:prstGeom>
          <a:noFill/>
        </p:spPr>
        <p:txBody>
          <a:bodyPr wrap="square" lIns="0" tIns="0" rIns="0" bIns="0" anchor="t">
            <a:spAutoFit/>
          </a:bodyPr>
          <a:lstStyle/>
          <a:p>
            <a:pPr algn="l"/>
            <a:r>
              <a:rPr sz="1500" b="1">
                <a:solidFill>
                  <a:srgbClr val="2D1155"/>
                </a:solidFill>
                <a:latin typeface="Arial Black"/>
              </a:rPr>
              <a:t>The room’s net.</a:t>
            </a:r>
          </a:p>
        </p:txBody>
      </p:sp>
      <p:sp>
        <p:nvSpPr>
          <p:cNvPr id="12" name="TextBox 11"/>
          <p:cNvSpPr txBox="1"/>
          <p:nvPr/>
        </p:nvSpPr>
        <p:spPr>
          <a:xfrm>
            <a:off x="4892040" y="2578608"/>
            <a:ext cx="3566160" cy="685800"/>
          </a:xfrm>
          <a:prstGeom prst="rect">
            <a:avLst/>
          </a:prstGeom>
          <a:noFill/>
        </p:spPr>
        <p:txBody>
          <a:bodyPr wrap="square" lIns="0" tIns="0" rIns="0" bIns="0" anchor="t">
            <a:spAutoFit/>
          </a:bodyPr>
          <a:lstStyle/>
          <a:p>
            <a:pPr algn="l">
              <a:lnSpc>
                <a:spcPct val="108000"/>
              </a:lnSpc>
            </a:pPr>
            <a:r>
              <a:rPr sz="1250" b="0">
                <a:solidFill>
                  <a:srgbClr val="6E6389"/>
                </a:solidFill>
                <a:latin typeface="Calibri"/>
              </a:rPr>
              <a:t>Fall behind? The reference repo holds a working app at the end of every section. Drop into it and keep going.</a:t>
            </a:r>
          </a:p>
        </p:txBody>
      </p:sp>
      <p:sp>
        <p:nvSpPr>
          <p:cNvPr id="13" name="Rectangle 12"/>
          <p:cNvSpPr/>
          <p:nvPr/>
        </p:nvSpPr>
        <p:spPr>
          <a:xfrm>
            <a:off x="457200" y="3611880"/>
            <a:ext cx="8229600" cy="868680"/>
          </a:xfrm>
          <a:prstGeom prst="rect">
            <a:avLst/>
          </a:prstGeom>
          <a:solidFill>
            <a:srgbClr val="2D1155"/>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611880"/>
            <a:ext cx="7498079" cy="868680"/>
          </a:xfrm>
          <a:prstGeom prst="rect">
            <a:avLst/>
          </a:prstGeom>
          <a:noFill/>
        </p:spPr>
        <p:txBody>
          <a:bodyPr wrap="square" lIns="0" tIns="0" rIns="0" bIns="0" anchor="ctr">
            <a:spAutoFit/>
          </a:bodyPr>
          <a:lstStyle/>
          <a:p>
            <a:pPr algn="l"/>
            <a:r>
              <a:rPr sz="1700" b="1">
                <a:solidFill>
                  <a:srgbClr val="FFFFFF"/>
                </a:solidFill>
                <a:latin typeface="Arial Black"/>
              </a:rPr>
              <a:t>Reaching for the checkpoint is the design, not a failure.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1.jpeg"/>
          <p:cNvPicPr>
            <a:picLocks noChangeAspect="1"/>
          </p:cNvPicPr>
          <p:nvPr/>
        </p:nvPicPr>
        <p:blipFill>
          <a:blip r:embed="rId2"/>
          <a:stretch>
            <a:fillRect/>
          </a:stretch>
        </p:blipFill>
        <p:spPr>
          <a:xfrm>
            <a:off x="8366760" y="4526280"/>
            <a:ext cx="411480" cy="411480"/>
          </a:xfrm>
          <a:prstGeom prst="rect">
            <a:avLst/>
          </a:prstGeom>
        </p:spPr>
      </p:pic>
      <p:sp>
        <p:nvSpPr>
          <p:cNvPr id="5" name="Rectangle 4"/>
          <p:cNvSpPr/>
          <p:nvPr/>
        </p:nvSpPr>
        <p:spPr>
          <a:xfrm>
            <a:off x="457200" y="1051560"/>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097280"/>
            <a:ext cx="5669280" cy="274320"/>
          </a:xfrm>
          <a:prstGeom prst="rect">
            <a:avLst/>
          </a:prstGeom>
          <a:noFill/>
        </p:spPr>
        <p:txBody>
          <a:bodyPr wrap="square" lIns="0" tIns="0" rIns="0" bIns="0" anchor="t">
            <a:spAutoFit/>
          </a:bodyPr>
          <a:lstStyle/>
          <a:p>
            <a:pPr algn="l"/>
            <a:r>
              <a:rPr sz="1200" b="1">
                <a:solidFill>
                  <a:srgbClr val="F59E0B"/>
                </a:solidFill>
                <a:latin typeface="Calibri"/>
              </a:rPr>
              <a:t>NO ONE LEFT BEHIND</a:t>
            </a:r>
          </a:p>
        </p:txBody>
      </p:sp>
      <p:sp>
        <p:nvSpPr>
          <p:cNvPr id="7" name="TextBox 6"/>
          <p:cNvSpPr txBox="1"/>
          <p:nvPr/>
        </p:nvSpPr>
        <p:spPr>
          <a:xfrm>
            <a:off x="658368" y="1463040"/>
            <a:ext cx="5623560" cy="1645920"/>
          </a:xfrm>
          <a:prstGeom prst="rect">
            <a:avLst/>
          </a:prstGeom>
          <a:noFill/>
        </p:spPr>
        <p:txBody>
          <a:bodyPr wrap="square" lIns="0" tIns="0" rIns="0" bIns="0" anchor="t">
            <a:spAutoFit/>
          </a:bodyPr>
          <a:lstStyle/>
          <a:p>
            <a:pPr algn="l">
              <a:lnSpc>
                <a:spcPct val="100000"/>
              </a:lnSpc>
            </a:pPr>
            <a:r>
              <a:rPr sz="3400" b="1">
                <a:solidFill>
                  <a:srgbClr val="FFFFFF"/>
                </a:solidFill>
                <a:latin typeface="Arial Black"/>
              </a:rPr>
              <a:t>Everyone starts on a</a:t>
            </a:r>
          </a:p>
          <a:p>
            <a:pPr algn="l">
              <a:lnSpc>
                <a:spcPct val="100000"/>
              </a:lnSpc>
            </a:pPr>
            <a:r>
              <a:rPr sz="3400" b="1">
                <a:solidFill>
                  <a:srgbClr val="FFFFFF"/>
                </a:solidFill>
                <a:latin typeface="Arial Black"/>
              </a:rPr>
              <a:t>different rung.</a:t>
            </a:r>
          </a:p>
          <a:p>
            <a:pPr algn="l">
              <a:lnSpc>
                <a:spcPct val="100000"/>
              </a:lnSpc>
            </a:pPr>
            <a:r>
              <a:rPr sz="3400" b="1">
                <a:solidFill>
                  <a:srgbClr val="F59E0B"/>
                </a:solidFill>
                <a:latin typeface="Arial Black"/>
              </a:rPr>
              <a:t>Everyone leaves higher.</a:t>
            </a:r>
          </a:p>
        </p:txBody>
      </p:sp>
      <p:sp>
        <p:nvSpPr>
          <p:cNvPr id="8" name="TextBox 7"/>
          <p:cNvSpPr txBox="1"/>
          <p:nvPr/>
        </p:nvSpPr>
        <p:spPr>
          <a:xfrm>
            <a:off x="676656" y="3703320"/>
            <a:ext cx="5486400" cy="1097280"/>
          </a:xfrm>
          <a:prstGeom prst="rect">
            <a:avLst/>
          </a:prstGeom>
          <a:noFill/>
        </p:spPr>
        <p:txBody>
          <a:bodyPr wrap="square" lIns="0" tIns="0" rIns="0" bIns="0" anchor="t">
            <a:spAutoFit/>
          </a:bodyPr>
          <a:lstStyle/>
          <a:p>
            <a:pPr algn="l">
              <a:lnSpc>
                <a:spcPct val="112000"/>
              </a:lnSpc>
            </a:pPr>
            <a:r>
              <a:rPr sz="1300" b="0">
                <a:solidFill>
                  <a:srgbClr val="DDD6FE"/>
                </a:solidFill>
                <a:latin typeface="Calibri"/>
              </a:rPr>
              <a:t>For some, this morning is revision; for everyone, it’s a rung up. A core path for all of us, stretch goals for anyone flying. The agentic shift is hardest for the confident ones — they have the most habits to unlearn.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FF"/>
        </a:solidFill>
        <a:effectLst/>
      </p:bgPr>
    </p:bg>
    <p:spTree>
      <p:nvGrpSpPr>
        <p:cNvPr id="1" name=""/>
        <p:cNvGrpSpPr/>
        <p:nvPr/>
      </p:nvGrpSpPr>
      <p:grpSpPr>
        <a:xfrm>
          <a:off x="0" y="0"/>
          <a:ext cx="0" cy="0"/>
          <a:chOff x="0" y="0"/>
          <a:chExt cx="0" cy="0"/>
        </a:xfrm>
      </p:grpSpPr>
      <p:sp>
        <p:nvSpPr>
          <p:cNvPr id="2" name="TextBox 1"/>
          <p:cNvSpPr txBox="1"/>
          <p:nvPr/>
        </p:nvSpPr>
        <p:spPr>
          <a:xfrm>
            <a:off x="457200" y="292608"/>
            <a:ext cx="8229600" cy="566928"/>
          </a:xfrm>
          <a:prstGeom prst="rect">
            <a:avLst/>
          </a:prstGeom>
          <a:noFill/>
        </p:spPr>
        <p:txBody>
          <a:bodyPr wrap="square" lIns="0" tIns="0" rIns="0" bIns="0" anchor="t">
            <a:spAutoFit/>
          </a:bodyPr>
          <a:lstStyle/>
          <a:p>
            <a:pPr algn="l"/>
            <a:r>
              <a:rPr sz="2200" b="1">
                <a:solidFill>
                  <a:srgbClr val="2D1155"/>
                </a:solidFill>
                <a:latin typeface="Arial Black"/>
              </a:rPr>
              <a:t>WHAT YOU’LL WALK AWAY WITH</a:t>
            </a:r>
          </a:p>
        </p:txBody>
      </p:sp>
      <p:sp>
        <p:nvSpPr>
          <p:cNvPr id="3" name="TextBox 2"/>
          <p:cNvSpPr txBox="1"/>
          <p:nvPr/>
        </p:nvSpPr>
        <p:spPr>
          <a:xfrm>
            <a:off x="475488" y="896112"/>
            <a:ext cx="8229600" cy="329184"/>
          </a:xfrm>
          <a:prstGeom prst="rect">
            <a:avLst/>
          </a:prstGeom>
          <a:noFill/>
        </p:spPr>
        <p:txBody>
          <a:bodyPr wrap="square" lIns="0" tIns="0" rIns="0" bIns="0" anchor="t">
            <a:spAutoFit/>
          </a:bodyPr>
          <a:lstStyle/>
          <a:p>
            <a:pPr algn="l"/>
            <a:r>
              <a:rPr sz="1300" b="0">
                <a:solidFill>
                  <a:srgbClr val="6E6389"/>
                </a:solidFill>
                <a:latin typeface="Calibri"/>
              </a:rPr>
              <a:t>Wherever you start, you leave able to do more.</a:t>
            </a:r>
          </a:p>
        </p:txBody>
      </p:sp>
      <p:pic>
        <p:nvPicPr>
          <p:cNvPr id="4" name="Picture 3" descr="image1.jpeg"/>
          <p:cNvPicPr>
            <a:picLocks noChangeAspect="1"/>
          </p:cNvPicPr>
          <p:nvPr/>
        </p:nvPicPr>
        <p:blipFill>
          <a:blip r:embed="rId2"/>
          <a:stretch>
            <a:fillRect/>
          </a:stretch>
        </p:blipFill>
        <p:spPr>
          <a:xfrm>
            <a:off x="8366760" y="4526280"/>
            <a:ext cx="411480" cy="411480"/>
          </a:xfrm>
          <a:prstGeom prst="rect">
            <a:avLst/>
          </a:prstGeom>
        </p:spPr>
      </p:pic>
      <p:sp>
        <p:nvSpPr>
          <p:cNvPr id="5" name="Rectangle 4"/>
          <p:cNvSpPr/>
          <p:nvPr/>
        </p:nvSpPr>
        <p:spPr>
          <a:xfrm>
            <a:off x="457200" y="1572768"/>
            <a:ext cx="2615184" cy="24231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783080"/>
            <a:ext cx="2212848" cy="320040"/>
          </a:xfrm>
          <a:prstGeom prst="rect">
            <a:avLst/>
          </a:prstGeom>
          <a:noFill/>
        </p:spPr>
        <p:txBody>
          <a:bodyPr wrap="square" lIns="0" tIns="0" rIns="0" bIns="0" anchor="t">
            <a:spAutoFit/>
          </a:bodyPr>
          <a:lstStyle/>
          <a:p>
            <a:pPr algn="l"/>
            <a:r>
              <a:rPr sz="1050" b="1">
                <a:solidFill>
                  <a:srgbClr val="7C3AED"/>
                </a:solidFill>
                <a:latin typeface="Calibri"/>
              </a:rPr>
              <a:t>RUSTY / EARLIER-CAREER</a:t>
            </a:r>
          </a:p>
        </p:txBody>
      </p:sp>
      <p:sp>
        <p:nvSpPr>
          <p:cNvPr id="7" name="TextBox 6"/>
          <p:cNvSpPr txBox="1"/>
          <p:nvPr/>
        </p:nvSpPr>
        <p:spPr>
          <a:xfrm>
            <a:off x="658368" y="2194560"/>
            <a:ext cx="2212848" cy="128016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The loop, the core tools, and a working mental model.</a:t>
            </a:r>
          </a:p>
        </p:txBody>
      </p:sp>
      <p:sp>
        <p:nvSpPr>
          <p:cNvPr id="8" name="TextBox 7"/>
          <p:cNvSpPr txBox="1"/>
          <p:nvPr/>
        </p:nvSpPr>
        <p:spPr>
          <a:xfrm>
            <a:off x="658368" y="3401568"/>
            <a:ext cx="2212848" cy="502920"/>
          </a:xfrm>
          <a:prstGeom prst="rect">
            <a:avLst/>
          </a:prstGeom>
          <a:noFill/>
        </p:spPr>
        <p:txBody>
          <a:bodyPr wrap="square" lIns="0" tIns="0" rIns="0" bIns="0" anchor="t">
            <a:spAutoFit/>
          </a:bodyPr>
          <a:lstStyle/>
          <a:p>
            <a:pPr algn="l">
              <a:lnSpc>
                <a:spcPct val="105000"/>
              </a:lnSpc>
            </a:pPr>
            <a:r>
              <a:rPr sz="1150" b="1">
                <a:solidFill>
                  <a:srgbClr val="F59E0B"/>
                </a:solidFill>
                <a:latin typeface="Arial Black"/>
              </a:rPr>
              <a:t>You leave able to build.</a:t>
            </a:r>
          </a:p>
        </p:txBody>
      </p:sp>
      <p:sp>
        <p:nvSpPr>
          <p:cNvPr id="9" name="Rectangle 8"/>
          <p:cNvSpPr/>
          <p:nvPr/>
        </p:nvSpPr>
        <p:spPr>
          <a:xfrm>
            <a:off x="3264408" y="1572768"/>
            <a:ext cx="2615184" cy="24231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65576" y="1783080"/>
            <a:ext cx="2212848" cy="320040"/>
          </a:xfrm>
          <a:prstGeom prst="rect">
            <a:avLst/>
          </a:prstGeom>
          <a:noFill/>
        </p:spPr>
        <p:txBody>
          <a:bodyPr wrap="square" lIns="0" tIns="0" rIns="0" bIns="0" anchor="t">
            <a:spAutoFit/>
          </a:bodyPr>
          <a:lstStyle/>
          <a:p>
            <a:pPr algn="l"/>
            <a:r>
              <a:rPr sz="1050" b="1">
                <a:solidFill>
                  <a:srgbClr val="7C3AED"/>
                </a:solidFill>
                <a:latin typeface="Calibri"/>
              </a:rPr>
              <a:t>MID-LEVEL</a:t>
            </a:r>
          </a:p>
        </p:txBody>
      </p:sp>
      <p:sp>
        <p:nvSpPr>
          <p:cNvPr id="11" name="TextBox 10"/>
          <p:cNvSpPr txBox="1"/>
          <p:nvPr/>
        </p:nvSpPr>
        <p:spPr>
          <a:xfrm>
            <a:off x="3465576" y="2194560"/>
            <a:ext cx="2212848" cy="128016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The discipline: context, reusable workflows, small commits, correctness made mechanical.</a:t>
            </a:r>
          </a:p>
        </p:txBody>
      </p:sp>
      <p:sp>
        <p:nvSpPr>
          <p:cNvPr id="12" name="TextBox 11"/>
          <p:cNvSpPr txBox="1"/>
          <p:nvPr/>
        </p:nvSpPr>
        <p:spPr>
          <a:xfrm>
            <a:off x="3465576" y="3401568"/>
            <a:ext cx="2212848" cy="502920"/>
          </a:xfrm>
          <a:prstGeom prst="rect">
            <a:avLst/>
          </a:prstGeom>
          <a:noFill/>
        </p:spPr>
        <p:txBody>
          <a:bodyPr wrap="square" lIns="0" tIns="0" rIns="0" bIns="0" anchor="t">
            <a:spAutoFit/>
          </a:bodyPr>
          <a:lstStyle/>
          <a:p>
            <a:pPr algn="l">
              <a:lnSpc>
                <a:spcPct val="105000"/>
              </a:lnSpc>
            </a:pPr>
            <a:r>
              <a:rPr sz="1150" b="1">
                <a:solidFill>
                  <a:srgbClr val="F59E0B"/>
                </a:solidFill>
                <a:latin typeface="Arial Black"/>
              </a:rPr>
              <a:t>You leave able to build reliably.</a:t>
            </a:r>
          </a:p>
        </p:txBody>
      </p:sp>
      <p:sp>
        <p:nvSpPr>
          <p:cNvPr id="13" name="Rectangle 12"/>
          <p:cNvSpPr/>
          <p:nvPr/>
        </p:nvSpPr>
        <p:spPr>
          <a:xfrm>
            <a:off x="6071616" y="1572768"/>
            <a:ext cx="2615184" cy="2423160"/>
          </a:xfrm>
          <a:prstGeom prst="rect">
            <a:avLst/>
          </a:prstGeom>
          <a:solidFill>
            <a:srgbClr val="FFFF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72783" y="1783080"/>
            <a:ext cx="2212848" cy="320040"/>
          </a:xfrm>
          <a:prstGeom prst="rect">
            <a:avLst/>
          </a:prstGeom>
          <a:noFill/>
        </p:spPr>
        <p:txBody>
          <a:bodyPr wrap="square" lIns="0" tIns="0" rIns="0" bIns="0" anchor="t">
            <a:spAutoFit/>
          </a:bodyPr>
          <a:lstStyle/>
          <a:p>
            <a:pPr algn="l"/>
            <a:r>
              <a:rPr sz="1050" b="1">
                <a:solidFill>
                  <a:srgbClr val="7C3AED"/>
                </a:solidFill>
                <a:latin typeface="Calibri"/>
              </a:rPr>
              <a:t>SENIOR</a:t>
            </a:r>
          </a:p>
        </p:txBody>
      </p:sp>
      <p:sp>
        <p:nvSpPr>
          <p:cNvPr id="15" name="TextBox 14"/>
          <p:cNvSpPr txBox="1"/>
          <p:nvPr/>
        </p:nvSpPr>
        <p:spPr>
          <a:xfrm>
            <a:off x="6272783" y="2194560"/>
            <a:ext cx="2212848" cy="1280160"/>
          </a:xfrm>
          <a:prstGeom prst="rect">
            <a:avLst/>
          </a:prstGeom>
          <a:noFill/>
        </p:spPr>
        <p:txBody>
          <a:bodyPr wrap="square" lIns="0" tIns="0" rIns="0" bIns="0" anchor="t">
            <a:spAutoFit/>
          </a:bodyPr>
          <a:lstStyle/>
          <a:p>
            <a:pPr algn="l">
              <a:lnSpc>
                <a:spcPct val="112000"/>
              </a:lnSpc>
            </a:pPr>
            <a:r>
              <a:rPr sz="1250" b="0">
                <a:solidFill>
                  <a:srgbClr val="2D1155"/>
                </a:solidFill>
                <a:latin typeface="Calibri"/>
              </a:rPr>
              <a:t>The architecture of agentic systems: harnesses, sub-agent teams, where human judgement sits.</a:t>
            </a:r>
          </a:p>
        </p:txBody>
      </p:sp>
      <p:sp>
        <p:nvSpPr>
          <p:cNvPr id="16" name="TextBox 15"/>
          <p:cNvSpPr txBox="1"/>
          <p:nvPr/>
        </p:nvSpPr>
        <p:spPr>
          <a:xfrm>
            <a:off x="6272783" y="3401568"/>
            <a:ext cx="2212848" cy="502920"/>
          </a:xfrm>
          <a:prstGeom prst="rect">
            <a:avLst/>
          </a:prstGeom>
          <a:noFill/>
        </p:spPr>
        <p:txBody>
          <a:bodyPr wrap="square" lIns="0" tIns="0" rIns="0" bIns="0" anchor="t">
            <a:spAutoFit/>
          </a:bodyPr>
          <a:lstStyle/>
          <a:p>
            <a:pPr algn="l">
              <a:lnSpc>
                <a:spcPct val="105000"/>
              </a:lnSpc>
            </a:pPr>
            <a:r>
              <a:rPr sz="1150" b="1">
                <a:solidFill>
                  <a:srgbClr val="F59E0B"/>
                </a:solidFill>
                <a:latin typeface="Arial Black"/>
              </a:rPr>
              <a:t>You leave able to design how your team works with agents.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D1155"/>
        </a:solidFill>
        <a:effectLst/>
      </p:bgPr>
    </p:bg>
    <p:spTree>
      <p:nvGrpSpPr>
        <p:cNvPr id="1" name=""/>
        <p:cNvGrpSpPr/>
        <p:nvPr/>
      </p:nvGrpSpPr>
      <p:grpSpPr>
        <a:xfrm>
          <a:off x="0" y="0"/>
          <a:ext cx="0" cy="0"/>
          <a:chOff x="0" y="0"/>
          <a:chExt cx="0" cy="0"/>
        </a:xfrm>
      </p:grpSpPr>
      <p:sp>
        <p:nvSpPr>
          <p:cNvPr id="2" name="Rectangle 1"/>
          <p:cNvSpPr/>
          <p:nvPr/>
        </p:nvSpPr>
        <p:spPr>
          <a:xfrm>
            <a:off x="6400800" y="0"/>
            <a:ext cx="2743200" cy="51435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0" y="0"/>
            <a:ext cx="128016" cy="51435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2.png"/>
          <p:cNvPicPr>
            <a:picLocks noChangeAspect="1"/>
          </p:cNvPicPr>
          <p:nvPr/>
        </p:nvPicPr>
        <p:blipFill>
          <a:blip r:embed="rId2"/>
          <a:stretch>
            <a:fillRect/>
          </a:stretch>
        </p:blipFill>
        <p:spPr>
          <a:xfrm>
            <a:off x="457200" y="384048"/>
            <a:ext cx="2148840" cy="484632"/>
          </a:xfrm>
          <a:prstGeom prst="rect">
            <a:avLst/>
          </a:prstGeom>
        </p:spPr>
      </p:pic>
      <p:sp>
        <p:nvSpPr>
          <p:cNvPr id="5" name="Rectangle 4"/>
          <p:cNvSpPr/>
          <p:nvPr/>
        </p:nvSpPr>
        <p:spPr>
          <a:xfrm>
            <a:off x="457200" y="1501612"/>
            <a:ext cx="82296" cy="25134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1.jpeg"/>
          <p:cNvPicPr>
            <a:picLocks noChangeAspect="1"/>
          </p:cNvPicPr>
          <p:nvPr/>
        </p:nvPicPr>
        <p:blipFill>
          <a:blip r:embed="rId3"/>
          <a:stretch>
            <a:fillRect/>
          </a:stretch>
        </p:blipFill>
        <p:spPr>
          <a:xfrm>
            <a:off x="8366760" y="4526280"/>
            <a:ext cx="411480" cy="411480"/>
          </a:xfrm>
          <a:prstGeom prst="rect">
            <a:avLst/>
          </a:prstGeom>
        </p:spPr>
      </p:pic>
      <p:sp>
        <p:nvSpPr>
          <p:cNvPr id="7" name="TextBox 6"/>
          <p:cNvSpPr txBox="1"/>
          <p:nvPr/>
        </p:nvSpPr>
        <p:spPr>
          <a:xfrm>
            <a:off x="457200" y="4709160"/>
            <a:ext cx="5669280" cy="274320"/>
          </a:xfrm>
          <a:prstGeom prst="rect">
            <a:avLst/>
          </a:prstGeom>
          <a:noFill/>
        </p:spPr>
        <p:txBody>
          <a:bodyPr wrap="square" lIns="0" tIns="0" rIns="0" bIns="0" anchor="t">
            <a:spAutoFit/>
          </a:bodyPr>
          <a:lstStyle/>
          <a:p>
            <a:pPr algn="l"/>
            <a:r>
              <a:rPr sz="900" b="0">
                <a:solidFill>
                  <a:srgbClr val="C4B5E8"/>
                </a:solidFill>
                <a:latin typeface="Calibri"/>
              </a:rPr>
              <a:t>Tech Council of Australia  |  techcouncil.com.au</a:t>
            </a:r>
          </a:p>
        </p:txBody>
      </p:sp>
      <p:sp>
        <p:nvSpPr>
          <p:cNvPr id="9" name="TextBox 8"/>
          <p:cNvSpPr txBox="1"/>
          <p:nvPr/>
        </p:nvSpPr>
        <p:spPr>
          <a:xfrm>
            <a:off x="630936" y="1375554"/>
            <a:ext cx="5577840" cy="2831544"/>
          </a:xfrm>
          <a:prstGeom prst="rect">
            <a:avLst/>
          </a:prstGeom>
          <a:noFill/>
        </p:spPr>
        <p:txBody>
          <a:bodyPr wrap="square" lIns="0" tIns="0" rIns="0" bIns="0" anchor="t">
            <a:spAutoFit/>
          </a:bodyPr>
          <a:lstStyle/>
          <a:p>
            <a:pPr algn="l"/>
            <a:r>
              <a:rPr lang="en-AU" sz="4600" b="1" dirty="0">
                <a:solidFill>
                  <a:srgbClr val="FFFFFF"/>
                </a:solidFill>
                <a:latin typeface="Arial Black"/>
              </a:rPr>
              <a:t>How the engineer’s life has changed</a:t>
            </a:r>
          </a:p>
          <a:p>
            <a:pPr algn="l"/>
            <a:endParaRPr lang="en-AU" sz="4600" b="1" dirty="0">
              <a:solidFill>
                <a:srgbClr val="FFFFFF"/>
              </a:solidFill>
              <a:latin typeface="Arial Black"/>
            </a:endParaRPr>
          </a:p>
        </p:txBody>
      </p:sp>
      <p:sp>
        <p:nvSpPr>
          <p:cNvPr id="10" name="TextBox 9"/>
          <p:cNvSpPr txBox="1"/>
          <p:nvPr/>
        </p:nvSpPr>
        <p:spPr>
          <a:xfrm>
            <a:off x="676656" y="3387799"/>
            <a:ext cx="5486400" cy="687111"/>
          </a:xfrm>
          <a:prstGeom prst="rect">
            <a:avLst/>
          </a:prstGeom>
          <a:noFill/>
        </p:spPr>
        <p:txBody>
          <a:bodyPr wrap="square" lIns="0" tIns="0" rIns="0" bIns="0" anchor="t">
            <a:spAutoFit/>
          </a:bodyPr>
          <a:lstStyle/>
          <a:p>
            <a:pPr algn="l">
              <a:lnSpc>
                <a:spcPct val="115000"/>
              </a:lnSpc>
            </a:pPr>
            <a:endParaRPr lang="en-AU" sz="2000" b="0" dirty="0">
              <a:solidFill>
                <a:srgbClr val="DDD6FE"/>
              </a:solidFill>
              <a:latin typeface="Calibri"/>
            </a:endParaRPr>
          </a:p>
          <a:p>
            <a:pPr algn="l">
              <a:lnSpc>
                <a:spcPct val="115000"/>
              </a:lnSpc>
            </a:pPr>
            <a:r>
              <a:rPr lang="en-AU" sz="2000" b="0" dirty="0">
                <a:solidFill>
                  <a:srgbClr val="DDD6FE"/>
                </a:solidFill>
                <a:latin typeface="Calibri"/>
              </a:rPr>
              <a:t>Jade Loyzaga, Canva</a:t>
            </a:r>
            <a:endParaRPr sz="2000" b="0" dirty="0">
              <a:solidFill>
                <a:srgbClr val="DDD6FE"/>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961</TotalTime>
  <Words>710</Words>
  <Application>Microsoft Macintosh PowerPoint</Application>
  <PresentationFormat>On-screen Show (16:9)</PresentationFormat>
  <Paragraphs>102</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Paul Keen</cp:lastModifiedBy>
  <cp:revision>9</cp:revision>
  <dcterms:created xsi:type="dcterms:W3CDTF">2013-01-27T09:14:16Z</dcterms:created>
  <dcterms:modified xsi:type="dcterms:W3CDTF">2026-07-29T09:31:35Z</dcterms:modified>
  <cp:category/>
</cp:coreProperties>
</file>