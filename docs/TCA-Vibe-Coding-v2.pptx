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4" r:id="rId3"/>
    <p:sldId id="275" r:id="rId4"/>
    <p:sldId id="258" r:id="rId5"/>
    <p:sldId id="259" r:id="rId6"/>
    <p:sldId id="260" r:id="rId7"/>
    <p:sldId id="261" r:id="rId8"/>
    <p:sldId id="262" r:id="rId9"/>
    <p:sldId id="263" r:id="rId10"/>
    <p:sldId id="264" r:id="rId11"/>
    <p:sldId id="276" r:id="rId12"/>
    <p:sldId id="265" r:id="rId13"/>
    <p:sldId id="266" r:id="rId14"/>
    <p:sldId id="267" r:id="rId15"/>
    <p:sldId id="268" r:id="rId16"/>
    <p:sldId id="269" r:id="rId17"/>
    <p:sldId id="271" r:id="rId18"/>
    <p:sldId id="272"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1"/>
    <p:restoredTop sz="68373"/>
  </p:normalViewPr>
  <p:slideViewPr>
    <p:cSldViewPr snapToGrid="0" snapToObjects="1">
      <p:cViewPr varScale="1">
        <p:scale>
          <a:sx n="186" d="100"/>
          <a:sy n="186" d="100"/>
        </p:scale>
        <p:origin x="1856" y="184"/>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18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[0:00 · 30 sec]  Quick and energetic. Do not linger.</a:t>
            </a:r>
          </a:p>
          <a:p>
            <a:r>
              <a:rPr sz="1200"/>
              <a:t>Say: "This is Vibe Coding, the first rung, and it is the fun one."</a:t>
            </a:r>
          </a:p>
          <a:p>
            <a:r>
              <a:rPr sz="1200"/>
              <a:t>One line for the session: today you learn to fly the agent, not type the code. The keyboard is the thing we are taking away.</a:t>
            </a:r>
          </a:p>
          <a:p>
            <a:r>
              <a:rPr sz="1200"/>
              <a:t>Two tools on every slide. Pick whichever you installed. The ideas are identical and only the keystrokes differ.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[0:30 · 1.5 min]  Ask first, then reveal. "Who here thinks a prompt is the thing you type?"</a:t>
            </a:r>
          </a:p>
          <a:p>
            <a:r>
              <a:rPr sz="1200"/>
              <a:t>Let them nod, then show the right-hand side.</a:t>
            </a:r>
          </a:p>
          <a:p>
            <a:r>
              <a:rPr sz="1200"/>
              <a:t>ChatGPT's breakthrough was not a smarter model. GPT-3 could already do this. It was an interface trick: split one text stream into two authored halves. The builder writes one, you write the other, and the model reads them stapled together.</a:t>
            </a:r>
          </a:p>
          <a:p>
            <a:r>
              <a:rPr sz="1200"/>
              <a:t>Land the bottom line hard: the model cannot tell your words from the builder's. There is no privileged channel. One box, read top to bottom.</a:t>
            </a:r>
          </a:p>
          <a:p>
            <a:r>
              <a:rPr sz="1200"/>
              <a:t>Every persona, guardrail and tool behaviour you have ever seen is just text somebody put above your line.</a:t>
            </a:r>
          </a:p>
          <a:p>
            <a:r>
              <a:rPr sz="1200"/>
              <a:t>Do not take questions on jailbreaks or prompt injection here. Say "that is exactly why this matters" and move on.</a:t>
            </a:r>
          </a:p>
        </p:txBody>
      </p:sp>
      <p:sp>
        <p:nvSpPr>
          <p:cNvPr id="4" name="Slide Number Placeholder 3"/>
          <p:cNvSpPr>
            <a:spLocks noGrp="1"/>
          </p:cNvSpPr>
          <p:nvPr>
            <p:ph type="sldNum" sz="quarter" idx="10"/>
          </p:nvPr>
        </p:nvSpPr>
        <p:spPr/>
        <p:txBody>
          <a:bodyPr/>
          <a:lstStyle/>
          <a:p>
            <a:fld id="{F2809971-C818-43DD-B517-2093CF415FE7}" type="slidenum">
              <a:rPr lang="en-US"/>
              <a:t>2</a:t>
            </a:fld>
            <a:endParaRPr lang="en-US"/>
          </a:p>
        </p:txBody>
      </p:sp>
    </p:spTree>
    <p:extLst>
      <p:ext uri="{BB962C8B-B14F-4D97-AF65-F5344CB8AC3E}">
        <p14:creationId xmlns:p14="http://schemas.microsoft.com/office/powerpoint/2010/main" val="1500142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[2:00 · 2 min]  Core slide. Point at the stack, bottom to top.</a:t>
            </a:r>
          </a:p>
          <a:p>
            <a:r>
              <a:rPr sz="1200"/>
              <a:t>The only bar they control by typing is the amber one. Everything above it was assembled for them before they hit enter.</a:t>
            </a:r>
          </a:p>
          <a:p>
            <a:r>
              <a:rPr sz="1200"/>
              <a:t>Now demystify the two violet bars, because this is the bit that makes people relax. RAG is not something the model knows about: it is a search that runs first and pastes the results into the stack. MCP is not the model reaching out: it is a tool call whose output gets pasted into the stack. Memory files are the same move, pasted from disk.</a:t>
            </a:r>
          </a:p>
          <a:p>
            <a:r>
              <a:rPr sz="1200"/>
              <a:t>The money line: every fancy acronym is an automated way to write a better system prompt. If one thing survives from this slide, that is the one.</a:t>
            </a:r>
          </a:p>
          <a:p>
            <a:r>
              <a:rPr sz="1200"/>
              <a:t>Then the constraint on the right. The window is finite. Most failures they hit today will be context problems, not intelligence problems.</a:t>
            </a:r>
          </a:p>
          <a:p>
            <a:r>
              <a:rPr sz="1200"/>
              <a:t>Ask the room: "So what is the skill?" Answer: deciding what goes in, in what order, and what stays out.</a:t>
            </a:r>
          </a:p>
        </p:txBody>
      </p:sp>
      <p:sp>
        <p:nvSpPr>
          <p:cNvPr id="4" name="Slide Number Placeholder 3"/>
          <p:cNvSpPr>
            <a:spLocks noGrp="1"/>
          </p:cNvSpPr>
          <p:nvPr>
            <p:ph type="sldNum" sz="quarter" idx="10"/>
          </p:nvPr>
        </p:nvSpPr>
        <p:spPr/>
        <p:txBody>
          <a:bodyPr/>
          <a:lstStyle/>
          <a:p>
            <a:fld id="{A7ED5826-E960-41A7-9F26-56D1AFDE46B4}" type="slidenum">
              <a:rPr lang="en-US"/>
              <a:t>3</a:t>
            </a:fld>
            <a:endParaRPr lang="en-US"/>
          </a:p>
        </p:txBody>
      </p:sp>
    </p:spTree>
    <p:extLst>
      <p:ext uri="{BB962C8B-B14F-4D97-AF65-F5344CB8AC3E}">
        <p14:creationId xmlns:p14="http://schemas.microsoft.com/office/powerpoint/2010/main" val="150015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[4:00 · 1 min]  Callback to the welcome, with the marker on rung one.</a:t>
            </a:r>
          </a:p>
          <a:p>
            <a:r>
              <a:rPr sz="1200"/>
              <a:t>Each rung removes a crutch. Today's crutch is your hands.</a:t>
            </a:r>
          </a:p>
          <a:p>
            <a:r>
              <a:rPr sz="1200"/>
              <a:t>Say: "This morning you lean on the agent completely, and ugly is fine."</a:t>
            </a:r>
          </a:p>
          <a:p>
            <a:r>
              <a:rPr sz="1200"/>
              <a:t>Do not re-teach rungs two and three. Ten seconds each, maximum.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[5:00 · 1 min]  Definition slide. Vibe coding is using the tool. That is the whole definition today.</a:t>
            </a:r>
          </a:p>
          <a:p>
            <a:r>
              <a:rPr sz="1200"/>
              <a:t>The mindset shift is the money line, so read both quotes aloud.</a:t>
            </a:r>
          </a:p>
          <a:p>
            <a:r>
              <a:rPr sz="1200"/>
              <a:t>Old question: how do I write this function. That is implementation.</a:t>
            </a:r>
          </a:p>
          <a:p>
            <a:r>
              <a:rPr sz="1200"/>
              <a:t>New question: what do I want to be true when this is done. That is an outcome.</a:t>
            </a:r>
          </a:p>
          <a:p>
            <a:r>
              <a:rPr sz="1200"/>
              <a:t>For the confident engineers this is the uncomfortable one. They are good at "how", and "how" is the part being automated.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[6:00 · 2.5 min]  Core slide. Walk it left to right, once.</a:t>
            </a:r>
          </a:p>
          <a:p>
            <a:r>
              <a:rPr sz="1200"/>
              <a:t>Prompt, generate, run, observe, react. You say what you want, it writes, it executes, you look at what actually happened, you steer.</a:t>
            </a:r>
          </a:p>
          <a:p>
            <a:r>
              <a:rPr sz="1200"/>
              <a:t>The important point: your work is steps one, four and five. Two and three belong to the agent. Every time you grab the keyboard to do step two, you have broken the loop.</a:t>
            </a:r>
          </a:p>
          <a:p>
            <a:r>
              <a:rPr sz="1200"/>
              <a:t>Second point: small turns. Do not ask for the whole app and then disappear into your phone.</a:t>
            </a:r>
          </a:p>
          <a:p>
            <a:r>
              <a:rPr sz="1200"/>
              <a:t>Ask the room: "Which step do people get wrong most?" Answer: they skip OBSERVE. They accept the output without looking at the running app.</a:t>
            </a:r>
          </a:p>
          <a:p>
            <a:r>
              <a:rPr sz="1200"/>
              <a:t>If it helps, say it plainly: this is the loop a good tech lead already runs with a junior. You have done this before, just never this fast.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[8:30 · 1.5 min]  Vocabulary for the juniors, a precise model for the seniors.</a:t>
            </a:r>
          </a:p>
          <a:p>
            <a:r>
              <a:rPr sz="1200"/>
              <a:t>Context window: everything it can see right now. Your prompt, the files, the conversation, every command's output. Finite, and it fills. Nearly every "it went stupid" moment is really "the context is full or polluted".</a:t>
            </a:r>
          </a:p>
          <a:p>
            <a:r>
              <a:rPr sz="1200"/>
              <a:t>Tools: it does not just emit text. It reads and writes files, runs the shell, runs tests, uses git, searches, calls MCP servers. Tools are what make it an agent rather than a chatbot.</a:t>
            </a:r>
          </a:p>
          <a:p>
            <a:r>
              <a:rPr sz="1200"/>
              <a:t>The loop: pick a tool, run it, read the result, decide, repeat. The same loop as the last slide with the machinery visible.</a:t>
            </a:r>
          </a:p>
          <a:p>
            <a:r>
              <a:rPr sz="1200"/>
              <a:t>Permissions: what it may do without asking. Flag it and move on; two slides from now is entirely about that dial.</a:t>
            </a:r>
          </a:p>
          <a:p>
            <a:r>
              <a:rPr sz="1200"/>
              <a:t>Say it: not autocomplete. It reasons, it acts through tools, it checks its own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[10:00 · 1.5 min]  Slow down. Emotional anchor of the session. Say it plainly and let it sit: "Resist the keyboard."</a:t>
            </a:r>
          </a:p>
          <a:p>
            <a:r>
              <a:rPr sz="1200"/>
              <a:t>Every workshop, somebody opens the file and hand-edits the moment the agent stumbles. It feels productive. It is the exact habit we are here to break.</a:t>
            </a:r>
          </a:p>
          <a:p>
            <a:r>
              <a:rPr sz="1200"/>
              <a:t>Reframe the twitch: the urge to fix it means you know what is wrong. So say what is wrong, in a prompt. You are still using your expertise, in words instead of keystrokes.</a:t>
            </a:r>
          </a:p>
          <a:p>
            <a:r>
              <a:rPr sz="1200"/>
              <a:t>Read both audience lines. Rusty: this is easier for you, you do not recall the syntax anyway. Confident: this one is for you.</a:t>
            </a:r>
          </a:p>
          <a:p>
            <a:r>
              <a:rPr sz="1200"/>
              <a:t>Set the lab expectation now: facilitators will not help for the first three minutes of any block. Same principle.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[11:30 · 2.5 min]  Read the left box in a tedious voice. Let them feel how exhausting it is.</a:t>
            </a:r>
          </a:p>
          <a:p>
            <a:r>
              <a:rPr sz="1200"/>
              <a:t>That is hand-coding through a straw. You did all the thinking and you carry the risk of being wrong.</a:t>
            </a:r>
          </a:p>
          <a:p>
            <a:r>
              <a:rPr sz="1200"/>
              <a:t>Right box: two changes. An outcome (the streak grows, missing a day resets it) plus a constraint (show me a plan first). You never named a file and never said how.</a:t>
            </a:r>
          </a:p>
          <a:p>
            <a:r>
              <a:rPr sz="1200"/>
              <a:t>The tell that you have got it right: the same prompt works verbatim in Claude Code or Codex. Implementation-free prompts are portable.</a:t>
            </a:r>
          </a:p>
          <a:p>
            <a:r>
              <a:rPr sz="1200"/>
              <a:t>For the seniors, who will resist this: you often do know the best implementation. Bank it for OBSERVE and REACT. Do not type it.</a:t>
            </a:r>
          </a:p>
          <a:p>
            <a:r>
              <a:rPr sz="1200"/>
              <a:t>This is the habit they take back to work on Monday, so give it the full two and a half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[14:00 · 2.5 min]  Lead with what changed, because half the room learned the old way.</a:t>
            </a:r>
          </a:p>
          <a:p>
            <a:r>
              <a:rPr sz="1200"/>
              <a:t>A year ago, plan mode was about mechanics. You forced a plan because otherwise it charged in and made a mess, and you read for structural mistakes. 2025 models genuinely planned clumsily.</a:t>
            </a:r>
          </a:p>
          <a:p>
            <a:r>
              <a:rPr sz="1200"/>
              <a:t>That is mostly over. Modern agents decompose and sequence well. If you are still checking whether it put the loop in the right file, you are auditing a problem it rarely has.</a:t>
            </a:r>
          </a:p>
          <a:p>
            <a:r>
              <a:rPr sz="1200"/>
              <a:t>The risk flipped. The dangerous plan today is not messy. It is clean, confident, and aimed at slightly the wrong target, which is worse, because a tidy plan does not trip your alarm.</a:t>
            </a:r>
          </a:p>
          <a:p>
            <a:r>
              <a:rPr sz="1200"/>
              <a:t>So the review moved up a level: read for intent and scope. Did it get the real goal? Is it about to touch more than it should? What did it assume that I never said?</a:t>
            </a:r>
          </a:p>
          <a:p>
            <a:r>
              <a:rPr sz="1200"/>
              <a:t>Keys: in Claude Code, Shift+Tab cycles into plan mode, so it is often two presses, and there is a /plan command as well. In Codex, /plan.</a:t>
            </a:r>
          </a:p>
          <a:p>
            <a:r>
              <a:rPr sz="1200"/>
              <a:t>Rusty engineers, good news: "is this even the right problem" is exactly your strength, and it is now the part that matters most.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[16:30 · 2 min]  New in v2, and the one place today touches real risk. Do not cut this slide.</a:t>
            </a:r>
          </a:p>
          <a:p>
            <a:r>
              <a:rPr sz="1200"/>
              <a:t>Both tools ship an approvals dial. Claude Code: Shift+Tab cycles the mode, from asking every time, through accepting edits, to plan mode. Codex: /permissions, with read-only, workspace-write and danger-full-access underneath.</a:t>
            </a:r>
          </a:p>
          <a:p>
            <a:r>
              <a:rPr sz="1200"/>
              <a:t>Left box: auto-accept everywhere is genuinely faster, right up until it is not. The failure is not that the agent did something insane. It is that you pre-approved a whole class of action and then were not in the room when it ran.</a:t>
            </a:r>
          </a:p>
          <a:p>
            <a:r>
              <a:rPr sz="1200"/>
              <a:t>Right box: match the dial to the blast radius. Ask-every-time while the task is new. Auto-accept only inside a sandbox, or a repo you could delete without needing a conversation about it.</a:t>
            </a:r>
          </a:p>
          <a:p>
            <a:r>
              <a:rPr sz="1200"/>
              <a:t>Say this for the room going back to an employer's laptop on Monday: never auto-run destructive shell in a repository that matters. Not because the tool is reckless, but because you cannot un-run it.</a:t>
            </a:r>
          </a:p>
          <a:p>
            <a:r>
              <a:rPr sz="1200"/>
              <a:t>The line: permissions are a design decision, not a settings screen you skip.</a:t>
            </a:r>
          </a:p>
          <a:p>
            <a:r>
              <a:rPr sz="1200"/>
              <a:t>If asked about MCP servers or network access: same principle. You decide what it can reach, and every server you add costs context too.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[18:30 · 2 min]  Four verbs, not a list of commands to memorise. See, load, trim, reset.</a:t>
            </a:r>
          </a:p>
          <a:p>
            <a:r>
              <a:rPr sz="1200"/>
              <a:t>SEE. /context in Claude Code, /status in Codex. What is it holding right now, and how full is the window. When answers drift, check this before you re-explain anything.</a:t>
            </a:r>
          </a:p>
          <a:p>
            <a:r>
              <a:rPr sz="1200"/>
              <a:t>LOAD. @path. This is the half people skip. It is not a file-picker convenience, it is you deciding what goes into the window instead of letting the agent search and guess. The cheapest fix for a vague answer is usually loading the right file, not writing a longer prompt. Identical in both tools.</a:t>
            </a:r>
          </a:p>
          <a:p>
            <a:r>
              <a:rPr sz="1200"/>
              <a:t>TRIM. /compact. Summarises the conversation and drops the stale detail, keeping the thread but reclaiming the space.</a:t>
            </a:r>
          </a:p>
          <a:p>
            <a:r>
              <a:rPr sz="1200"/>
              <a:t>RESET. /clear in Claude Code, /new in Codex. New task means new window. Most people never reset, then blame the model.</a:t>
            </a:r>
          </a:p>
          <a:p>
            <a:r>
              <a:rPr sz="1200"/>
              <a:t>Say out loud: ending a confused session is a senior habit, not an admission of defeat.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[20:30 · 1.5 min]  The diagnostic for the cockpit you just showed them. Three states, each with a move attached.</a:t>
            </a:r>
          </a:p>
          <a:p>
            <a:r>
              <a:rPr sz="1200"/>
              <a:t>Too little: it was never told enough, so it guesses. Wrong file, invented convention, confident nonsense. This failure looks like stupidity and is actually starvation. The move is LOAD.</a:t>
            </a:r>
          </a:p>
          <a:p>
            <a:r>
              <a:rPr sz="1200"/>
              <a:t>Just right: one task, only the files that task touches, nothing left over from an hour ago. The move is HOLD. This is where you want them living all morning.</a:t>
            </a:r>
          </a:p>
          <a:p>
            <a:r>
              <a:rPr sz="1200"/>
              <a:t>Too much: the window is full, it is slow, and old threads bleed into new answers. The move is TRIM, then RESET if that is not enough.</a:t>
            </a:r>
          </a:p>
          <a:p>
            <a:r>
              <a:rPr sz="1200"/>
              <a:t>Tie it back hard: when an answer goes vague or off topic, it is a context problem about nine times in ten. Check the gauge before you argue with the model.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[22:00 · 1.5 min]  The recovery loop, and the second most common place people grab the keyboard.</a:t>
            </a:r>
          </a:p>
          <a:p>
            <a:r>
              <a:rPr sz="1200"/>
              <a:t>Left: hand-debugging. You open the file, read the trace, start editing. Two things just went wrong. You are typing again, and the agent now has no idea what you changed, so its next answer is based on a file that no longer exists as it remembers it.</a:t>
            </a:r>
          </a:p>
          <a:p>
            <a:r>
              <a:rPr sz="1200"/>
              <a:t>Right: report symptoms. Paste the exact error text. Describe the screen in one line: "streak shows 3, I ticked it, still 3." Say what you saw, never what to change.</a:t>
            </a:r>
          </a:p>
          <a:p>
            <a:r>
              <a:rPr sz="1200"/>
              <a:t>The reason this works is not politeness. The agent reads a stack trace faster than you do, and it can read the logs, the file and the diff at the same time. Your advantage is knowing what wrong looks like on screen.</a:t>
            </a:r>
          </a:p>
          <a:p>
            <a:r>
              <a:rPr sz="1200"/>
              <a:t>Set expectations: something will break for most of the room in Block B. That is scheduled, not bad luck.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[23:30 · 1 min]  Short slide. git is your undo, and the agent can drive it.</a:t>
            </a:r>
          </a:p>
          <a:p>
            <a:r>
              <a:rPr sz="1200"/>
              <a:t>Say "commit this with a sensible message" and watch it stage, write the message and commit. Nobody needs to remember the flags.</a:t>
            </a:r>
          </a:p>
          <a:p>
            <a:r>
              <a:rPr sz="1200"/>
              <a:t>Two nets, and they will use both today. Small commits are yours: a bad turn is one revert away, no drama. The checkpoint is the room's: the reference repo holds a working app at the end of every section.</a:t>
            </a:r>
          </a:p>
          <a:p>
            <a:r>
              <a:rPr sz="1200"/>
              <a:t>Say it again here, because repetition is the whole point: using the net is expected, not failure.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[24:30 · 1.5 min]  Zoom out. This is the slide for anyone who has been away, and for the sceptic at the back.</a:t>
            </a:r>
          </a:p>
          <a:p>
            <a:r>
              <a:rPr sz="1200"/>
              <a:t>Planning: from "make it plan, then check the steps" to "it plans fine, check that it understood the right problem". Anchor to the earlier slide, do not re-teach it.</a:t>
            </a:r>
          </a:p>
          <a:p>
            <a:r>
              <a:rPr sz="1200"/>
              <a:t>Context: a year ago windows were small and you pruned constantly. Now they are repo-scale and memory persists, which is exactly what turned context engineering into a discipline rather than an afterthought.</a:t>
            </a:r>
          </a:p>
          <a:p>
            <a:r>
              <a:rPr sz="1200"/>
              <a:t>Agents: a year ago it was you and one chat. Now both tools run teams. That is Section 3 this afternoon, so plant it and move.</a:t>
            </a:r>
          </a:p>
          <a:p>
            <a:r>
              <a:rPr sz="1200"/>
              <a:t>The close, and it is the through-line of the whole day: the models got better at the mechanics, so the human skill moved up the stack. Intent, context, verification. Which is also precisely why a returning engineer is not behind.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[26:00 · 1 min]  Leave this up while they open terminals. Read briskly; they have heard all five.</a:t>
            </a:r>
          </a:p>
          <a:p>
            <a:r>
              <a:rPr sz="1200"/>
              <a:t>Resist the keyboard. Prompt by outcome. Plan review, not plan writing. Report symptoms. Commit small and use the net.</a:t>
            </a:r>
          </a:p>
          <a:p>
            <a:r>
              <a:rPr sz="1200"/>
              <a:t>All five are on the handout, so nobody needs to copy them down.</a:t>
            </a:r>
          </a:p>
          <a:p>
            <a:r>
              <a:rPr sz="1200"/>
              <a:t>Then set the lab up in three sentences: empty folder, one prompt, and read the plan before you approve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[27:00 · 30 sec]  One line, then start the timer.</a:t>
            </a:r>
            <a:endParaRPr lang="en-US" dirty="0"/>
          </a:p>
          <a:p>
            <a:r>
              <a:rPr sz="1200"/>
              <a:t>Say: "This morning you learn to fly the loop. You are not behind. The typing got automated; the judgement did not."</a:t>
            </a:r>
          </a:p>
          <a:p>
            <a:r>
              <a:rPr sz="1200"/>
              <a:t>Block A: empty folder, launch the agent, one prompt, and it must show you a plan before it writes anything. Fifteen minutes.</a:t>
            </a:r>
          </a:p>
          <a:p>
            <a:r>
              <a:rPr sz="1200"/>
              <a:t>Facilitators: circulate, and do not help for the first three minutes. Watch for the person who approves the plan in two seconds, and ask them what it said.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155"/>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5B21B6"/>
          </a:solidFill>
          <a:ln/>
        </p:spPr>
        <p:txBody>
          <a:bodyPr/>
          <a:lstStyle/>
          <a:p>
            <a:endParaRPr lang="en-AU"/>
          </a:p>
        </p:txBody>
      </p:sp>
      <p:sp>
        <p:nvSpPr>
          <p:cNvPr id="3" name="Shape 1"/>
          <p:cNvSpPr/>
          <p:nvPr/>
        </p:nvSpPr>
        <p:spPr>
          <a:xfrm>
            <a:off x="6400800" y="0"/>
            <a:ext cx="128016" cy="5143500"/>
          </a:xfrm>
          <a:prstGeom prst="rect">
            <a:avLst/>
          </a:prstGeom>
          <a:solidFill>
            <a:srgbClr val="7C3AED"/>
          </a:solidFill>
          <a:ln/>
        </p:spPr>
        <p:txBody>
          <a:bodyPr/>
          <a:lstStyle/>
          <a:p>
            <a:endParaRPr lang="en-AU"/>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234440"/>
            <a:ext cx="82296" cy="2148840"/>
          </a:xfrm>
          <a:prstGeom prst="rect">
            <a:avLst/>
          </a:prstGeom>
          <a:solidFill>
            <a:srgbClr val="F59E0B"/>
          </a:solidFill>
          <a:ln/>
        </p:spPr>
        <p:txBody>
          <a:bodyPr/>
          <a:lstStyle/>
          <a:p>
            <a:endParaRPr lang="en-AU"/>
          </a:p>
        </p:txBody>
      </p:sp>
      <p:pic>
        <p:nvPicPr>
          <p:cNvPr id="6" name="Image 1" descr="logo_main.png"/>
          <p:cNvPicPr>
            <a:picLocks noChangeAspect="1"/>
          </p:cNvPicPr>
          <p:nvPr/>
        </p:nvPicPr>
        <p:blipFill>
          <a:blip r:embed="rId4"/>
          <a:stretch>
            <a:fillRect/>
          </a:stretch>
        </p:blipFill>
        <p:spPr>
          <a:xfrm>
            <a:off x="457200" y="384048"/>
            <a:ext cx="2148840" cy="484632"/>
          </a:xfrm>
          <a:prstGeom prst="rect">
            <a:avLst/>
          </a:prstGeom>
        </p:spPr>
      </p:pic>
      <p:sp>
        <p:nvSpPr>
          <p:cNvPr id="7" name="Text 3"/>
          <p:cNvSpPr/>
          <p:nvPr/>
        </p:nvSpPr>
        <p:spPr>
          <a:xfrm>
            <a:off x="457200" y="4709160"/>
            <a:ext cx="5669280" cy="274320"/>
          </a:xfrm>
          <a:prstGeom prst="rect">
            <a:avLst/>
          </a:prstGeom>
          <a:noFill/>
          <a:ln/>
        </p:spPr>
        <p:txBody>
          <a:bodyPr wrap="square" rtlCol="0" anchor="ctr"/>
          <a:lstStyle/>
          <a:p>
            <a:pPr marL="0" indent="0">
              <a:buNone/>
            </a:pPr>
            <a:r>
              <a:rPr lang="en-US" sz="900" dirty="0">
                <a:solidFill>
                  <a:srgbClr val="C4B5E8"/>
                </a:solidFill>
                <a:latin typeface="Calibri" pitchFamily="34" charset="0"/>
                <a:ea typeface="Calibri" pitchFamily="34" charset="-122"/>
                <a:cs typeface="Calibri" pitchFamily="34" charset="-120"/>
              </a:rPr>
              <a:t>Tech Council of Australia  |  techcouncil.com.au</a:t>
            </a:r>
            <a:endParaRPr lang="en-US" sz="900" dirty="0"/>
          </a:p>
        </p:txBody>
      </p:sp>
      <p:sp>
        <p:nvSpPr>
          <p:cNvPr id="8" name="Text 4"/>
          <p:cNvSpPr/>
          <p:nvPr/>
        </p:nvSpPr>
        <p:spPr>
          <a:xfrm>
            <a:off x="635508" y="1325880"/>
            <a:ext cx="5669280" cy="27432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SECTION 01  ·  THE COCKPIT</a:t>
            </a:r>
            <a:endParaRPr lang="en-US" sz="1200" dirty="0"/>
          </a:p>
        </p:txBody>
      </p:sp>
      <p:sp>
        <p:nvSpPr>
          <p:cNvPr id="9" name="Text 5"/>
          <p:cNvSpPr/>
          <p:nvPr/>
        </p:nvSpPr>
        <p:spPr>
          <a:xfrm>
            <a:off x="658368" y="1600200"/>
            <a:ext cx="5577840" cy="1051560"/>
          </a:xfrm>
          <a:prstGeom prst="rect">
            <a:avLst/>
          </a:prstGeom>
          <a:noFill/>
          <a:ln/>
        </p:spPr>
        <p:txBody>
          <a:bodyPr wrap="square" rtlCol="0" anchor="ctr"/>
          <a:lstStyle/>
          <a:p>
            <a:pPr marL="0" indent="0">
              <a:buNone/>
            </a:pPr>
            <a:r>
              <a:rPr lang="en-US" sz="4600" b="1" dirty="0">
                <a:solidFill>
                  <a:srgbClr val="FFFFFF"/>
                </a:solidFill>
                <a:latin typeface="Arial Black" pitchFamily="34" charset="0"/>
                <a:ea typeface="Arial Black" pitchFamily="34" charset="-122"/>
                <a:cs typeface="Arial Black" pitchFamily="34" charset="-120"/>
              </a:rPr>
              <a:t>Vibe Coding</a:t>
            </a:r>
            <a:endParaRPr lang="en-US" sz="4600" dirty="0"/>
          </a:p>
        </p:txBody>
      </p:sp>
      <p:sp>
        <p:nvSpPr>
          <p:cNvPr id="10" name="Text 6"/>
          <p:cNvSpPr/>
          <p:nvPr/>
        </p:nvSpPr>
        <p:spPr>
          <a:xfrm>
            <a:off x="676656" y="2697480"/>
            <a:ext cx="5486400" cy="502920"/>
          </a:xfrm>
          <a:prstGeom prst="rect">
            <a:avLst/>
          </a:prstGeom>
          <a:noFill/>
          <a:ln/>
        </p:spPr>
        <p:txBody>
          <a:bodyPr wrap="square" rtlCol="0" anchor="ctr"/>
          <a:lstStyle/>
          <a:p>
            <a:pPr marL="0" indent="0">
              <a:buNone/>
            </a:pPr>
            <a:r>
              <a:rPr lang="en-US" sz="1500" i="1" dirty="0">
                <a:solidFill>
                  <a:srgbClr val="DDD6FE"/>
                </a:solidFill>
                <a:latin typeface="Calibri" pitchFamily="34" charset="0"/>
                <a:ea typeface="Calibri" pitchFamily="34" charset="-122"/>
                <a:cs typeface="Calibri" pitchFamily="34" charset="-120"/>
              </a:rPr>
              <a:t>How to fly the agent instead of typing the code.</a:t>
            </a:r>
            <a:endParaRPr lang="en-US" sz="1500" dirty="0"/>
          </a:p>
        </p:txBody>
      </p:sp>
      <p:sp>
        <p:nvSpPr>
          <p:cNvPr id="11" name="Shape 7"/>
          <p:cNvSpPr/>
          <p:nvPr/>
        </p:nvSpPr>
        <p:spPr>
          <a:xfrm>
            <a:off x="676656" y="3429000"/>
            <a:ext cx="4160520" cy="384048"/>
          </a:xfrm>
          <a:prstGeom prst="roundRect">
            <a:avLst>
              <a:gd name="adj" fmla="val 14286"/>
            </a:avLst>
          </a:prstGeom>
          <a:solidFill>
            <a:srgbClr val="7C3AED"/>
          </a:solidFill>
          <a:ln/>
        </p:spPr>
        <p:txBody>
          <a:bodyPr/>
          <a:lstStyle/>
          <a:p>
            <a:endParaRPr lang="en-AU"/>
          </a:p>
        </p:txBody>
      </p:sp>
      <p:sp>
        <p:nvSpPr>
          <p:cNvPr id="12" name="Text 8"/>
          <p:cNvSpPr/>
          <p:nvPr/>
        </p:nvSpPr>
        <p:spPr>
          <a:xfrm>
            <a:off x="676656" y="3429000"/>
            <a:ext cx="4160520" cy="384048"/>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25 MINUTES   ·   ONE LOOP   ·   TWO TOOLS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Context 1 - Two Voices">
    <p:bg>
      <p:bgPr>
        <a:solidFill>
          <a:srgbClr val="F5F3FF"/>
        </a:solidFill>
        <a:effectLst/>
      </p:bgPr>
    </p:bg>
    <p:spTree>
      <p:nvGrpSpPr>
        <p:cNvPr id="1" name=""/>
        <p:cNvGrpSpPr/>
        <p:nvPr/>
      </p:nvGrpSpPr>
      <p:grpSpPr>
        <a:xfrm>
          <a:off x="0" y="0"/>
          <a:ext cx="0" cy="0"/>
          <a:chOff x="0" y="0"/>
          <a:chExt cx="0" cy="0"/>
        </a:xfrm>
      </p:grpSpPr>
      <p:sp>
        <p:nvSpPr>
          <p:cNvPr id="2" name="Text 2"/>
          <p:cNvSpPr/>
          <p:nvPr/>
        </p:nvSpPr>
        <p:spPr>
          <a:xfrm>
            <a:off x="457200" y="292608"/>
            <a:ext cx="8229600" cy="566928"/>
          </a:xfrm>
          <a:prstGeom prst="rect">
            <a:avLst/>
          </a:prstGeom>
          <a:noFill/>
          <a:ln/>
        </p:spPr>
        <p:txBody>
          <a:bodyPr wrap="square" lIns="0" rIns="0" rtlCol="0" anchor="ctr"/>
          <a:lstStyle/>
          <a:p>
            <a:pPr marL="0" indent="0" algn="l">
              <a:buNone/>
            </a:pPr>
            <a:r>
              <a:rPr lang="en-US" sz="1900" b="1" kern="0" spc="100" dirty="0">
                <a:solidFill>
                  <a:srgbClr val="2D1155"/>
                </a:solidFill>
                <a:latin typeface="Arial Black" pitchFamily="34" charset="0"/>
                <a:ea typeface="Arial Black" pitchFamily="34" charset="-122"/>
                <a:cs typeface="Arial Black" pitchFamily="34" charset="-120"/>
              </a:rPr>
              <a:t>ONE BOX, TWO VOICES</a:t>
            </a:r>
            <a:endParaRPr lang="en-US" sz="1200" dirty="0"/>
          </a:p>
        </p:txBody>
      </p:sp>
      <p:sp>
        <p:nvSpPr>
          <p:cNvPr id="3" name="Text 3"/>
          <p:cNvSpPr/>
          <p:nvPr/>
        </p:nvSpPr>
        <p:spPr>
          <a:xfrm>
            <a:off x="475488" y="896112"/>
            <a:ext cx="8229600" cy="329184"/>
          </a:xfrm>
          <a:prstGeom prst="rect">
            <a:avLst/>
          </a:prstGeom>
          <a:noFill/>
          <a:ln/>
        </p:spPr>
        <p:txBody>
          <a:bodyPr wrap="square" lIns="0" rIns="0" rtlCol="0" anchor="ctr"/>
          <a:lstStyle/>
          <a:p>
            <a:pPr marL="0" indent="0" algn="l">
              <a:buNone/>
            </a:pPr>
            <a:r>
              <a:rPr lang="en-US" sz="1300" i="1" dirty="0">
                <a:solidFill>
                  <a:srgbClr val="6E6389"/>
                </a:solidFill>
                <a:latin typeface="Calibri" pitchFamily="34" charset="0"/>
                <a:ea typeface="Calibri" pitchFamily="34" charset="-122"/>
                <a:cs typeface="Calibri" pitchFamily="34" charset="-120"/>
              </a:rPr>
              <a:t>ChatGPT’s real invention wasn’t a smarter model. It was splitting the prompt in two.</a:t>
            </a:r>
            <a:endParaRPr lang="en-US" sz="1200" dirty="0"/>
          </a:p>
        </p:txBody>
      </p:sp>
      <p:pic>
        <p:nvPicPr>
          <p:cNvPr id="4" name="Image 0" descr="logo_icon.jpeg"/>
          <p:cNvPicPr>
            <a:picLocks noChangeAspect="1"/>
          </p:cNvPicPr>
          <p:nvPr/>
        </p:nvPicPr>
        <p:blipFill>
          <a:blip r:embed="rId3"/>
          <a:stretch>
            <a:fillRect/>
          </a:stretch>
        </p:blipFill>
        <p:spPr>
          <a:xfrm>
            <a:off x="8364931" y="4526280"/>
            <a:ext cx="411480" cy="411480"/>
          </a:xfrm>
          <a:prstGeom prst="ellipse">
            <a:avLst/>
          </a:prstGeom>
        </p:spPr>
      </p:pic>
      <p:sp>
        <p:nvSpPr>
          <p:cNvPr id="5" name="Text 5"/>
          <p:cNvSpPr/>
          <p:nvPr/>
        </p:nvSpPr>
        <p:spPr>
          <a:xfrm>
            <a:off x="457200" y="1389888"/>
            <a:ext cx="3200400" cy="219456"/>
          </a:xfrm>
          <a:prstGeom prst="rect">
            <a:avLst/>
          </a:prstGeom>
          <a:noFill/>
          <a:ln/>
        </p:spPr>
        <p:txBody>
          <a:bodyPr wrap="square" lIns="0" rIns="0" rtlCol="0" anchor="ctr"/>
          <a:lstStyle/>
          <a:p>
            <a:pPr marL="0" indent="0" algn="l">
              <a:buNone/>
            </a:pPr>
            <a:r>
              <a:rPr lang="en-US" sz="900" b="1" spc="120" dirty="0">
                <a:solidFill>
                  <a:srgbClr val="6E6389"/>
                </a:solidFill>
                <a:latin typeface="Calibri" pitchFamily="34" charset="0"/>
                <a:ea typeface="Calibri" pitchFamily="34" charset="-122"/>
                <a:cs typeface="Calibri" pitchFamily="34" charset="-120"/>
              </a:rPr>
              <a:t>WHAT YOU TYPE</a:t>
            </a:r>
            <a:endParaRPr lang="en-US" sz="1200" dirty="0"/>
          </a:p>
        </p:txBody>
      </p:sp>
      <p:sp>
        <p:nvSpPr>
          <p:cNvPr id="6" name="Shape 6"/>
          <p:cNvSpPr/>
          <p:nvPr/>
        </p:nvSpPr>
        <p:spPr>
          <a:xfrm>
            <a:off x="457200" y="1700784"/>
            <a:ext cx="3200400" cy="960120"/>
          </a:xfrm>
          <a:prstGeom prst="roundRect">
            <a:avLst>
              <a:gd name="adj" fmla="val 8000"/>
            </a:avLst>
          </a:prstGeom>
          <a:solidFill>
            <a:srgbClr val="FFFFFF"/>
          </a:solidFill>
          <a:ln w="12700">
            <a:solidFill>
              <a:srgbClr val="DDD6FE"/>
            </a:solidFill>
          </a:ln>
        </p:spPr>
        <p:txBody>
          <a:bodyPr/>
          <a:lstStyle/>
          <a:p>
            <a:endParaRPr lang="en-AU"/>
          </a:p>
        </p:txBody>
      </p:sp>
      <p:sp>
        <p:nvSpPr>
          <p:cNvPr id="7" name="Text 7"/>
          <p:cNvSpPr/>
          <p:nvPr/>
        </p:nvSpPr>
        <p:spPr>
          <a:xfrm>
            <a:off x="658368" y="1700784"/>
            <a:ext cx="2377440" cy="960120"/>
          </a:xfrm>
          <a:prstGeom prst="rect">
            <a:avLst/>
          </a:prstGeom>
          <a:noFill/>
          <a:ln/>
        </p:spPr>
        <p:txBody>
          <a:bodyPr wrap="square" lIns="0" rIns="0" rtlCol="0" anchor="ctr"/>
          <a:lstStyle/>
          <a:p>
            <a:pPr marL="0" indent="0" algn="l">
              <a:buNone/>
            </a:pPr>
            <a:r>
              <a:rPr lang="en-US" sz="1150" dirty="0">
                <a:solidFill>
                  <a:srgbClr val="2D1155"/>
                </a:solidFill>
                <a:latin typeface="Courier New" pitchFamily="34" charset="0"/>
                <a:ea typeface="Courier New" pitchFamily="34" charset="-122"/>
                <a:cs typeface="Courier New" pitchFamily="34" charset="-120"/>
              </a:rPr>
              <a:t>Fix the login bug.</a:t>
            </a:r>
            <a:endParaRPr lang="en-US" sz="1200" dirty="0"/>
          </a:p>
        </p:txBody>
      </p:sp>
      <p:sp>
        <p:nvSpPr>
          <p:cNvPr id="8" name="Shape 8"/>
          <p:cNvSpPr/>
          <p:nvPr/>
        </p:nvSpPr>
        <p:spPr>
          <a:xfrm>
            <a:off x="3090672" y="1975104"/>
            <a:ext cx="384048" cy="384048"/>
          </a:xfrm>
          <a:prstGeom prst="roundRect">
            <a:avLst>
              <a:gd name="adj" fmla="val 50000"/>
            </a:avLst>
          </a:prstGeom>
          <a:solidFill>
            <a:srgbClr val="7C3AED"/>
          </a:solidFill>
          <a:ln/>
        </p:spPr>
        <p:txBody>
          <a:bodyPr/>
          <a:lstStyle/>
          <a:p>
            <a:endParaRPr lang="en-AU"/>
          </a:p>
        </p:txBody>
      </p:sp>
      <p:sp>
        <p:nvSpPr>
          <p:cNvPr id="9" name="Text 9"/>
          <p:cNvSpPr/>
          <p:nvPr/>
        </p:nvSpPr>
        <p:spPr>
          <a:xfrm>
            <a:off x="3090672" y="1975104"/>
            <a:ext cx="384048" cy="384048"/>
          </a:xfrm>
          <a:prstGeom prst="rect">
            <a:avLst/>
          </a:prstGeom>
          <a:noFill/>
          <a:ln/>
        </p:spPr>
        <p:txBody>
          <a:bodyPr wrap="square" lIns="0" r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10"/>
          <p:cNvSpPr/>
          <p:nvPr/>
        </p:nvSpPr>
        <p:spPr>
          <a:xfrm>
            <a:off x="457200" y="2816352"/>
            <a:ext cx="3200400" cy="914400"/>
          </a:xfrm>
          <a:prstGeom prst="rect">
            <a:avLst/>
          </a:prstGeom>
          <a:noFill/>
          <a:ln/>
        </p:spPr>
        <p:txBody>
          <a:bodyPr wrap="square" lIns="0" rIns="0" rtlCol="0" anchor="t"/>
          <a:lstStyle/>
          <a:p>
            <a:pPr marL="0" indent="0" algn="l">
              <a:spcAft>
                <a:spcPts val="300"/>
              </a:spcAft>
              <a:buNone/>
            </a:pPr>
            <a:r>
              <a:rPr lang="en-US" sz="1100" b="1" dirty="0">
                <a:solidFill>
                  <a:srgbClr val="2D1155"/>
                </a:solidFill>
                <a:latin typeface="Calibri" pitchFamily="34" charset="0"/>
                <a:ea typeface="Calibri" pitchFamily="34" charset="-122"/>
                <a:cs typeface="Calibri" pitchFamily="34" charset="-120"/>
              </a:rPr>
              <a:t>Four words. One box.</a:t>
            </a:r>
            <a:endParaRPr lang="en-US" sz="1000" dirty="0"/>
          </a:p>
          <a:p>
            <a:pPr marL="0" indent="0" algn="l">
              <a:spcAft>
                <a:spcPts val="300"/>
              </a:spcAft>
              <a:buNone/>
            </a:pPr>
            <a:r>
              <a:rPr lang="en-US" sz="1050" dirty="0">
                <a:solidFill>
                  <a:srgbClr val="6E6389"/>
                </a:solidFill>
                <a:latin typeface="Calibri" pitchFamily="34" charset="0"/>
                <a:ea typeface="Calibri" pitchFamily="34" charset="-122"/>
                <a:cs typeface="Calibri" pitchFamily="34" charset="-120"/>
              </a:rPr>
              <a:t>This is the only part of the prompt you ever see.</a:t>
            </a:r>
            <a:endParaRPr lang="en-US" sz="1000" dirty="0"/>
          </a:p>
        </p:txBody>
      </p:sp>
      <p:sp>
        <p:nvSpPr>
          <p:cNvPr id="11" name="Text 11"/>
          <p:cNvSpPr/>
          <p:nvPr/>
        </p:nvSpPr>
        <p:spPr>
          <a:xfrm>
            <a:off x="3767328" y="1700784"/>
            <a:ext cx="502920" cy="960120"/>
          </a:xfrm>
          <a:prstGeom prst="rect">
            <a:avLst/>
          </a:prstGeom>
          <a:noFill/>
          <a:ln/>
        </p:spPr>
        <p:txBody>
          <a:bodyPr wrap="square" lIns="0" rIns="0" rtlCol="0" anchor="ctr"/>
          <a:lstStyle/>
          <a:p>
            <a:pPr marL="0" indent="0" algn="ctr">
              <a:buNone/>
            </a:pPr>
            <a:r>
              <a:rPr lang="en-US" sz="2800" b="1" dirty="0">
                <a:solidFill>
                  <a:srgbClr val="7C3AED"/>
                </a:solidFill>
                <a:latin typeface="Calibri" pitchFamily="34" charset="0"/>
                <a:ea typeface="Calibri" pitchFamily="34" charset="-122"/>
                <a:cs typeface="Calibri" pitchFamily="34" charset="-120"/>
              </a:rPr>
              <a:t>›</a:t>
            </a:r>
            <a:endParaRPr lang="en-US" sz="1200" dirty="0"/>
          </a:p>
        </p:txBody>
      </p:sp>
      <p:sp>
        <p:nvSpPr>
          <p:cNvPr id="12" name="Text 12"/>
          <p:cNvSpPr/>
          <p:nvPr/>
        </p:nvSpPr>
        <p:spPr>
          <a:xfrm>
            <a:off x="3630168" y="2697480"/>
            <a:ext cx="777240" cy="731520"/>
          </a:xfrm>
          <a:prstGeom prst="rect">
            <a:avLst/>
          </a:prstGeom>
          <a:noFill/>
          <a:ln/>
        </p:spPr>
        <p:txBody>
          <a:bodyPr wrap="square" lIns="0" rIns="0" rtlCol="0" anchor="t"/>
          <a:lstStyle/>
          <a:p>
            <a:pPr marL="0" indent="0" algn="ctr">
              <a:spcAft>
                <a:spcPts val="0"/>
              </a:spcAft>
              <a:buNone/>
            </a:pPr>
            <a:r>
              <a:rPr lang="en-US" sz="850" i="1" dirty="0">
                <a:solidFill>
                  <a:srgbClr val="6E6389"/>
                </a:solidFill>
                <a:latin typeface="Calibri" pitchFamily="34" charset="0"/>
                <a:ea typeface="Calibri" pitchFamily="34" charset="-122"/>
                <a:cs typeface="Calibri" pitchFamily="34" charset="-120"/>
              </a:rPr>
              <a:t>the app</a:t>
            </a:r>
            <a:endParaRPr lang="en-US" sz="1000" dirty="0"/>
          </a:p>
          <a:p>
            <a:pPr marL="0" indent="0" algn="ctr">
              <a:spcAft>
                <a:spcPts val="0"/>
              </a:spcAft>
              <a:buNone/>
            </a:pPr>
            <a:r>
              <a:rPr lang="en-US" sz="850" b="1" i="1" dirty="0">
                <a:solidFill>
                  <a:srgbClr val="7C3AED"/>
                </a:solidFill>
                <a:latin typeface="Calibri" pitchFamily="34" charset="0"/>
                <a:ea typeface="Calibri" pitchFamily="34" charset="-122"/>
                <a:cs typeface="Calibri" pitchFamily="34" charset="-120"/>
              </a:rPr>
              <a:t>prepends</a:t>
            </a:r>
            <a:endParaRPr lang="en-US" sz="1000" dirty="0"/>
          </a:p>
        </p:txBody>
      </p:sp>
      <p:sp>
        <p:nvSpPr>
          <p:cNvPr id="13" name="Text 13"/>
          <p:cNvSpPr/>
          <p:nvPr/>
        </p:nvSpPr>
        <p:spPr>
          <a:xfrm>
            <a:off x="4434840" y="1389888"/>
            <a:ext cx="4160520" cy="219456"/>
          </a:xfrm>
          <a:prstGeom prst="rect">
            <a:avLst/>
          </a:prstGeom>
          <a:noFill/>
          <a:ln/>
        </p:spPr>
        <p:txBody>
          <a:bodyPr wrap="square" lIns="0" rIns="0" rtlCol="0" anchor="ctr"/>
          <a:lstStyle/>
          <a:p>
            <a:pPr marL="0" indent="0" algn="l">
              <a:buNone/>
            </a:pPr>
            <a:r>
              <a:rPr lang="en-US" sz="900" b="1" spc="120" dirty="0">
                <a:solidFill>
                  <a:srgbClr val="F59E0B"/>
                </a:solidFill>
                <a:latin typeface="Calibri" pitchFamily="34" charset="0"/>
                <a:ea typeface="Calibri" pitchFamily="34" charset="-122"/>
                <a:cs typeface="Calibri" pitchFamily="34" charset="-120"/>
              </a:rPr>
              <a:t>WHAT THE MODEL ACTUALLY READS</a:t>
            </a:r>
            <a:endParaRPr lang="en-US" sz="1200" dirty="0"/>
          </a:p>
        </p:txBody>
      </p:sp>
      <p:sp>
        <p:nvSpPr>
          <p:cNvPr id="14" name="Shape 14"/>
          <p:cNvSpPr/>
          <p:nvPr/>
        </p:nvSpPr>
        <p:spPr>
          <a:xfrm>
            <a:off x="4434840" y="1700784"/>
            <a:ext cx="4160520" cy="2148840"/>
          </a:xfrm>
          <a:prstGeom prst="roundRect">
            <a:avLst>
              <a:gd name="adj" fmla="val 6000"/>
            </a:avLst>
          </a:prstGeom>
          <a:solidFill>
            <a:srgbClr val="2D1155"/>
          </a:solidFill>
          <a:ln/>
        </p:spPr>
        <p:txBody>
          <a:bodyPr/>
          <a:lstStyle/>
          <a:p>
            <a:endParaRPr lang="en-AU"/>
          </a:p>
        </p:txBody>
      </p:sp>
      <p:sp>
        <p:nvSpPr>
          <p:cNvPr id="15" name="Shape 15"/>
          <p:cNvSpPr/>
          <p:nvPr/>
        </p:nvSpPr>
        <p:spPr>
          <a:xfrm>
            <a:off x="4617720" y="1865376"/>
            <a:ext cx="3794760" cy="914400"/>
          </a:xfrm>
          <a:prstGeom prst="roundRect">
            <a:avLst>
              <a:gd name="adj" fmla="val 7000"/>
            </a:avLst>
          </a:prstGeom>
          <a:solidFill>
            <a:srgbClr val="5B21B6"/>
          </a:solidFill>
          <a:ln/>
        </p:spPr>
        <p:txBody>
          <a:bodyPr/>
          <a:lstStyle/>
          <a:p>
            <a:endParaRPr lang="en-AU"/>
          </a:p>
        </p:txBody>
      </p:sp>
      <p:sp>
        <p:nvSpPr>
          <p:cNvPr id="16" name="Text 16"/>
          <p:cNvSpPr/>
          <p:nvPr/>
        </p:nvSpPr>
        <p:spPr>
          <a:xfrm>
            <a:off x="4745736" y="1920240"/>
            <a:ext cx="3538728" cy="219456"/>
          </a:xfrm>
          <a:prstGeom prst="rect">
            <a:avLst/>
          </a:prstGeom>
          <a:noFill/>
          <a:ln/>
        </p:spPr>
        <p:txBody>
          <a:bodyPr wrap="square" lIns="0" rIns="0" rtlCol="0" anchor="ctr"/>
          <a:lstStyle/>
          <a:p>
            <a:pPr marL="0" indent="0" algn="l">
              <a:buNone/>
            </a:pPr>
            <a:r>
              <a:rPr lang="en-US" sz="800" b="1" spc="60" dirty="0">
                <a:solidFill>
                  <a:srgbClr val="F59E0B"/>
                </a:solidFill>
                <a:latin typeface="Calibri" pitchFamily="34" charset="0"/>
                <a:ea typeface="Calibri" pitchFamily="34" charset="-122"/>
                <a:cs typeface="Calibri" pitchFamily="34" charset="-120"/>
              </a:rPr>
              <a:t>SYSTEM PROMPT  ·  you never see this</a:t>
            </a:r>
            <a:endParaRPr lang="en-US" sz="1200" dirty="0"/>
          </a:p>
        </p:txBody>
      </p:sp>
      <p:sp>
        <p:nvSpPr>
          <p:cNvPr id="17" name="Text 17"/>
          <p:cNvSpPr/>
          <p:nvPr/>
        </p:nvSpPr>
        <p:spPr>
          <a:xfrm>
            <a:off x="4745736" y="2176272"/>
            <a:ext cx="3538728" cy="566928"/>
          </a:xfrm>
          <a:prstGeom prst="rect">
            <a:avLst/>
          </a:prstGeom>
          <a:noFill/>
          <a:ln/>
        </p:spPr>
        <p:txBody>
          <a:bodyPr wrap="square" lIns="0" rIns="0" rtlCol="0" anchor="t"/>
          <a:lstStyle/>
          <a:p>
            <a:pPr marL="0" indent="0" algn="l">
              <a:spcAft>
                <a:spcPts val="100"/>
              </a:spcAft>
              <a:buNone/>
            </a:pPr>
            <a:r>
              <a:rPr lang="en-US" sz="900" dirty="0">
                <a:solidFill>
                  <a:srgbClr val="DDD6FE"/>
                </a:solidFill>
                <a:latin typeface="Courier New" pitchFamily="34" charset="0"/>
                <a:ea typeface="Courier New" pitchFamily="34" charset="-122"/>
                <a:cs typeface="Courier New" pitchFamily="34" charset="-120"/>
              </a:rPr>
              <a:t>You are a helpful coding assistant.</a:t>
            </a:r>
            <a:endParaRPr lang="en-US" sz="1000" dirty="0"/>
          </a:p>
          <a:p>
            <a:pPr marL="0" indent="0" algn="l">
              <a:spcAft>
                <a:spcPts val="100"/>
              </a:spcAft>
              <a:buNone/>
            </a:pPr>
            <a:r>
              <a:rPr lang="en-US" sz="900" dirty="0">
                <a:solidFill>
                  <a:srgbClr val="DDD6FE"/>
                </a:solidFill>
                <a:latin typeface="Courier New" pitchFamily="34" charset="0"/>
                <a:ea typeface="Courier New" pitchFamily="34" charset="-122"/>
                <a:cs typeface="Courier New" pitchFamily="34" charset="-120"/>
              </a:rPr>
              <a:t>You have these tools: read, write, bash…</a:t>
            </a:r>
            <a:endParaRPr lang="en-US" sz="1000" dirty="0"/>
          </a:p>
        </p:txBody>
      </p:sp>
      <p:sp>
        <p:nvSpPr>
          <p:cNvPr id="18" name="Shape 18"/>
          <p:cNvSpPr/>
          <p:nvPr/>
        </p:nvSpPr>
        <p:spPr>
          <a:xfrm>
            <a:off x="4617720" y="2889504"/>
            <a:ext cx="3794760" cy="777240"/>
          </a:xfrm>
          <a:prstGeom prst="roundRect">
            <a:avLst>
              <a:gd name="adj" fmla="val 8000"/>
            </a:avLst>
          </a:prstGeom>
          <a:solidFill>
            <a:srgbClr val="FFFFFF"/>
          </a:solidFill>
          <a:ln/>
        </p:spPr>
        <p:txBody>
          <a:bodyPr/>
          <a:lstStyle/>
          <a:p>
            <a:endParaRPr lang="en-AU"/>
          </a:p>
        </p:txBody>
      </p:sp>
      <p:sp>
        <p:nvSpPr>
          <p:cNvPr id="19" name="Text 19"/>
          <p:cNvSpPr/>
          <p:nvPr/>
        </p:nvSpPr>
        <p:spPr>
          <a:xfrm>
            <a:off x="4745736" y="2944368"/>
            <a:ext cx="3538728" cy="219456"/>
          </a:xfrm>
          <a:prstGeom prst="rect">
            <a:avLst/>
          </a:prstGeom>
          <a:noFill/>
          <a:ln/>
        </p:spPr>
        <p:txBody>
          <a:bodyPr wrap="square" lIns="0" rIns="0" rtlCol="0" anchor="ctr"/>
          <a:lstStyle/>
          <a:p>
            <a:pPr marL="0" indent="0" algn="l">
              <a:buNone/>
            </a:pPr>
            <a:r>
              <a:rPr lang="en-US" sz="800" b="1" spc="60" dirty="0">
                <a:solidFill>
                  <a:srgbClr val="7C3AED"/>
                </a:solidFill>
                <a:latin typeface="Calibri" pitchFamily="34" charset="0"/>
                <a:ea typeface="Calibri" pitchFamily="34" charset="-122"/>
                <a:cs typeface="Calibri" pitchFamily="34" charset="-120"/>
              </a:rPr>
              <a:t>USER PROMPT  ·  the bit you typed</a:t>
            </a:r>
            <a:endParaRPr lang="en-US" sz="1200" dirty="0"/>
          </a:p>
        </p:txBody>
      </p:sp>
      <p:sp>
        <p:nvSpPr>
          <p:cNvPr id="20" name="Text 20"/>
          <p:cNvSpPr/>
          <p:nvPr/>
        </p:nvSpPr>
        <p:spPr>
          <a:xfrm>
            <a:off x="4745736" y="3200400"/>
            <a:ext cx="3538728" cy="365760"/>
          </a:xfrm>
          <a:prstGeom prst="rect">
            <a:avLst/>
          </a:prstGeom>
          <a:noFill/>
          <a:ln/>
        </p:spPr>
        <p:txBody>
          <a:bodyPr wrap="square" lIns="0" rIns="0" rtlCol="0" anchor="ctr"/>
          <a:lstStyle/>
          <a:p>
            <a:pPr marL="0" indent="0" algn="l">
              <a:buNone/>
            </a:pPr>
            <a:r>
              <a:rPr lang="en-US" sz="900" dirty="0">
                <a:solidFill>
                  <a:srgbClr val="2D1155"/>
                </a:solidFill>
                <a:latin typeface="Courier New" pitchFamily="34" charset="0"/>
                <a:ea typeface="Courier New" pitchFamily="34" charset="-122"/>
                <a:cs typeface="Courier New" pitchFamily="34" charset="-120"/>
              </a:rPr>
              <a:t>Fix the login bug.</a:t>
            </a:r>
            <a:endParaRPr lang="en-US" sz="1200" dirty="0"/>
          </a:p>
        </p:txBody>
      </p:sp>
      <p:sp>
        <p:nvSpPr>
          <p:cNvPr id="21" name="Shape 21"/>
          <p:cNvSpPr/>
          <p:nvPr/>
        </p:nvSpPr>
        <p:spPr>
          <a:xfrm>
            <a:off x="457200" y="4096512"/>
            <a:ext cx="7772400" cy="420624"/>
          </a:xfrm>
          <a:prstGeom prst="roundRect">
            <a:avLst>
              <a:gd name="adj" fmla="val 12000"/>
            </a:avLst>
          </a:prstGeom>
          <a:solidFill>
            <a:srgbClr val="2D1155"/>
          </a:solidFill>
          <a:ln/>
        </p:spPr>
        <p:txBody>
          <a:bodyPr/>
          <a:lstStyle/>
          <a:p>
            <a:endParaRPr lang="en-AU"/>
          </a:p>
        </p:txBody>
      </p:sp>
      <p:sp>
        <p:nvSpPr>
          <p:cNvPr id="22" name="Text 22"/>
          <p:cNvSpPr/>
          <p:nvPr/>
        </p:nvSpPr>
        <p:spPr>
          <a:xfrm>
            <a:off x="685800" y="4096512"/>
            <a:ext cx="7315200" cy="420624"/>
          </a:xfrm>
          <a:prstGeom prst="rect">
            <a:avLst/>
          </a:prstGeom>
          <a:noFill/>
          <a:ln/>
        </p:spPr>
        <p:txBody>
          <a:bodyPr wrap="square" lIns="0" rIns="0" rtlCol="0" anchor="ctr"/>
          <a:lstStyle/>
          <a:p>
            <a:pPr marL="0" indent="0" algn="ctr">
              <a:buNone/>
            </a:pPr>
            <a:r>
              <a:rPr lang="en-US" sz="1150" dirty="0">
                <a:solidFill>
                  <a:srgbClr val="DDD6FE"/>
                </a:solidFill>
                <a:latin typeface="Calibri" pitchFamily="34" charset="0"/>
                <a:ea typeface="Calibri" pitchFamily="34" charset="-122"/>
                <a:cs typeface="Calibri" pitchFamily="34" charset="-120"/>
              </a:rPr>
              <a:t>One stream of text. The model cannot tell your words from the builder’s — </a:t>
            </a:r>
            <a:r>
              <a:rPr lang="en-US" sz="1150" b="1" dirty="0">
                <a:solidFill>
                  <a:srgbClr val="F59E0B"/>
                </a:solidFill>
                <a:latin typeface="Calibri" pitchFamily="34" charset="0"/>
                <a:ea typeface="Calibri" pitchFamily="34" charset="-122"/>
                <a:cs typeface="Calibri" pitchFamily="34" charset="-120"/>
              </a:rPr>
              <a:t>it just reads the box, top to bottom.</a:t>
            </a:r>
            <a:endParaRPr lang="en-US" sz="1200"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Context 2 - The Stack">
    <p:bg>
      <p:bgPr>
        <a:solidFill>
          <a:srgbClr val="F5F3FF"/>
        </a:solidFill>
        <a:effectLst/>
      </p:bgPr>
    </p:bg>
    <p:spTree>
      <p:nvGrpSpPr>
        <p:cNvPr id="1" name=""/>
        <p:cNvGrpSpPr/>
        <p:nvPr/>
      </p:nvGrpSpPr>
      <p:grpSpPr>
        <a:xfrm>
          <a:off x="0" y="0"/>
          <a:ext cx="0" cy="0"/>
          <a:chOff x="0" y="0"/>
          <a:chExt cx="0" cy="0"/>
        </a:xfrm>
      </p:grpSpPr>
      <p:sp>
        <p:nvSpPr>
          <p:cNvPr id="2" name="Text 2"/>
          <p:cNvSpPr/>
          <p:nvPr/>
        </p:nvSpPr>
        <p:spPr>
          <a:xfrm>
            <a:off x="457200" y="292608"/>
            <a:ext cx="8229600" cy="566928"/>
          </a:xfrm>
          <a:prstGeom prst="rect">
            <a:avLst/>
          </a:prstGeom>
          <a:noFill/>
          <a:ln/>
        </p:spPr>
        <p:txBody>
          <a:bodyPr wrap="square" lIns="0" rIns="0" rtlCol="0" anchor="ctr"/>
          <a:lstStyle/>
          <a:p>
            <a:pPr marL="0" indent="0" algn="l">
              <a:buNone/>
            </a:pPr>
            <a:r>
              <a:rPr lang="en-US" sz="1900" b="1" kern="0" spc="100" dirty="0">
                <a:solidFill>
                  <a:srgbClr val="2D1155"/>
                </a:solidFill>
                <a:latin typeface="Arial Black" pitchFamily="34" charset="0"/>
                <a:ea typeface="Arial Black" pitchFamily="34" charset="-122"/>
                <a:cs typeface="Arial Black" pitchFamily="34" charset="-120"/>
              </a:rPr>
              <a:t>CONTEXT ENGINEERING</a:t>
            </a:r>
            <a:endParaRPr lang="en-US" sz="1200" dirty="0"/>
          </a:p>
        </p:txBody>
      </p:sp>
      <p:sp>
        <p:nvSpPr>
          <p:cNvPr id="3" name="Text 3"/>
          <p:cNvSpPr/>
          <p:nvPr/>
        </p:nvSpPr>
        <p:spPr>
          <a:xfrm>
            <a:off x="475488" y="896112"/>
            <a:ext cx="8229600" cy="329184"/>
          </a:xfrm>
          <a:prstGeom prst="rect">
            <a:avLst/>
          </a:prstGeom>
          <a:noFill/>
          <a:ln/>
        </p:spPr>
        <p:txBody>
          <a:bodyPr wrap="square" lIns="0" rIns="0" rtlCol="0" anchor="ctr"/>
          <a:lstStyle/>
          <a:p>
            <a:pPr marL="0" indent="0" algn="l">
              <a:buNone/>
            </a:pPr>
            <a:r>
              <a:rPr lang="en-US" sz="1300" i="1" dirty="0">
                <a:solidFill>
                  <a:srgbClr val="6E6389"/>
                </a:solidFill>
                <a:latin typeface="Calibri" pitchFamily="34" charset="0"/>
                <a:ea typeface="Calibri" pitchFamily="34" charset="-122"/>
                <a:cs typeface="Calibri" pitchFamily="34" charset="-120"/>
              </a:rPr>
              <a:t>The system prompt isn’t one thing. It’s a stack, reassembled on every single call.</a:t>
            </a:r>
            <a:endParaRPr lang="en-US" sz="1200" dirty="0"/>
          </a:p>
        </p:txBody>
      </p:sp>
      <p:pic>
        <p:nvPicPr>
          <p:cNvPr id="4" name="Image 0" descr="logo_icon.jpeg"/>
          <p:cNvPicPr>
            <a:picLocks noChangeAspect="1"/>
          </p:cNvPicPr>
          <p:nvPr/>
        </p:nvPicPr>
        <p:blipFill>
          <a:blip r:embed="rId3"/>
          <a:stretch>
            <a:fillRect/>
          </a:stretch>
        </p:blipFill>
        <p:spPr>
          <a:xfrm>
            <a:off x="8364931" y="4526280"/>
            <a:ext cx="411480" cy="411480"/>
          </a:xfrm>
          <a:prstGeom prst="ellipse">
            <a:avLst/>
          </a:prstGeom>
        </p:spPr>
      </p:pic>
      <p:sp>
        <p:nvSpPr>
          <p:cNvPr id="5" name="Shape 5"/>
          <p:cNvSpPr/>
          <p:nvPr/>
        </p:nvSpPr>
        <p:spPr>
          <a:xfrm>
            <a:off x="457200" y="1371600"/>
            <a:ext cx="5257800" cy="2560320"/>
          </a:xfrm>
          <a:prstGeom prst="roundRect">
            <a:avLst>
              <a:gd name="adj" fmla="val 3200"/>
            </a:avLst>
          </a:prstGeom>
          <a:solidFill>
            <a:srgbClr val="FFFFFF"/>
          </a:solidFill>
          <a:ln w="19050">
            <a:solidFill>
              <a:srgbClr val="F59E0B"/>
            </a:solidFill>
          </a:ln>
        </p:spPr>
        <p:txBody>
          <a:bodyPr/>
          <a:lstStyle/>
          <a:p>
            <a:endParaRPr lang="en-AU"/>
          </a:p>
        </p:txBody>
      </p:sp>
      <p:sp>
        <p:nvSpPr>
          <p:cNvPr id="6" name="Text 6"/>
          <p:cNvSpPr/>
          <p:nvPr/>
        </p:nvSpPr>
        <p:spPr>
          <a:xfrm>
            <a:off x="658368" y="1463040"/>
            <a:ext cx="4855464" cy="256032"/>
          </a:xfrm>
          <a:prstGeom prst="rect">
            <a:avLst/>
          </a:prstGeom>
          <a:noFill/>
          <a:ln/>
        </p:spPr>
        <p:txBody>
          <a:bodyPr wrap="square" lIns="0" rIns="0" rtlCol="0" anchor="ctr"/>
          <a:lstStyle/>
          <a:p>
            <a:pPr marL="0" indent="0" algn="l">
              <a:buNone/>
            </a:pPr>
            <a:r>
              <a:rPr lang="en-US" sz="950" b="1" spc="100" dirty="0">
                <a:solidFill>
                  <a:srgbClr val="F59E0B"/>
                </a:solidFill>
                <a:latin typeface="Arial Black" pitchFamily="34" charset="0"/>
                <a:ea typeface="Arial Black" pitchFamily="34" charset="-122"/>
                <a:cs typeface="Arial Black" pitchFamily="34" charset="-120"/>
              </a:rPr>
              <a:t>THE CONTEXT WINDOW</a:t>
            </a:r>
            <a:endParaRPr lang="en-US" sz="1200" dirty="0"/>
          </a:p>
        </p:txBody>
      </p:sp>
      <p:sp>
        <p:nvSpPr>
          <p:cNvPr id="7" name="Text 7"/>
          <p:cNvSpPr/>
          <p:nvPr/>
        </p:nvSpPr>
        <p:spPr>
          <a:xfrm>
            <a:off x="658368" y="1463040"/>
            <a:ext cx="4855464" cy="256032"/>
          </a:xfrm>
          <a:prstGeom prst="rect">
            <a:avLst/>
          </a:prstGeom>
          <a:noFill/>
          <a:ln/>
        </p:spPr>
        <p:txBody>
          <a:bodyPr wrap="square" lIns="0" rIns="0" rtlCol="0" anchor="ctr"/>
          <a:lstStyle/>
          <a:p>
            <a:pPr marL="0" indent="0" algn="r">
              <a:buNone/>
            </a:pPr>
            <a:r>
              <a:rPr lang="en-US" sz="850" i="1" dirty="0">
                <a:solidFill>
                  <a:srgbClr val="6E6389"/>
                </a:solidFill>
                <a:latin typeface="Calibri" pitchFamily="34" charset="0"/>
                <a:ea typeface="Calibri" pitchFamily="34" charset="-122"/>
                <a:cs typeface="Calibri" pitchFamily="34" charset="-120"/>
              </a:rPr>
              <a:t>finite</a:t>
            </a:r>
            <a:endParaRPr lang="en-US" sz="1200" dirty="0"/>
          </a:p>
        </p:txBody>
      </p:sp>
      <p:sp>
        <p:nvSpPr>
          <p:cNvPr id="8" name="Shape 8"/>
          <p:cNvSpPr/>
          <p:nvPr/>
        </p:nvSpPr>
        <p:spPr>
          <a:xfrm>
            <a:off x="658368" y="1773936"/>
            <a:ext cx="4855464" cy="301752"/>
          </a:xfrm>
          <a:prstGeom prst="roundRect">
            <a:avLst>
              <a:gd name="adj" fmla="val 14000"/>
            </a:avLst>
          </a:prstGeom>
          <a:solidFill>
            <a:srgbClr val="2D1155"/>
          </a:solidFill>
          <a:ln/>
        </p:spPr>
        <p:txBody>
          <a:bodyPr/>
          <a:lstStyle/>
          <a:p>
            <a:endParaRPr lang="en-AU"/>
          </a:p>
        </p:txBody>
      </p:sp>
      <p:sp>
        <p:nvSpPr>
          <p:cNvPr id="9" name="Text 9"/>
          <p:cNvSpPr/>
          <p:nvPr/>
        </p:nvSpPr>
        <p:spPr>
          <a:xfrm>
            <a:off x="822960" y="1773936"/>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Persona, rules, guardrails</a:t>
            </a:r>
            <a:endParaRPr lang="en-US" sz="1200" dirty="0"/>
          </a:p>
        </p:txBody>
      </p:sp>
      <p:sp>
        <p:nvSpPr>
          <p:cNvPr id="10" name="Text 10"/>
          <p:cNvSpPr/>
          <p:nvPr/>
        </p:nvSpPr>
        <p:spPr>
          <a:xfrm>
            <a:off x="822960" y="1773936"/>
            <a:ext cx="4526280" cy="301752"/>
          </a:xfrm>
          <a:prstGeom prst="rect">
            <a:avLst/>
          </a:prstGeom>
          <a:noFill/>
          <a:ln/>
        </p:spPr>
        <p:txBody>
          <a:bodyPr wrap="square" lIns="0" rIns="0" rtlCol="0" anchor="ctr"/>
          <a:lstStyle/>
          <a:p>
            <a:pPr marL="0" indent="0" algn="r">
              <a:buNone/>
            </a:pPr>
            <a:r>
              <a:rPr lang="en-US" sz="900" i="1" dirty="0">
                <a:solidFill>
                  <a:srgbClr val="C4B5E8"/>
                </a:solidFill>
                <a:latin typeface="Calibri" pitchFamily="34" charset="0"/>
                <a:ea typeface="Calibri" pitchFamily="34" charset="-122"/>
                <a:cs typeface="Calibri" pitchFamily="34" charset="-120"/>
              </a:rPr>
              <a:t>set once by the builder</a:t>
            </a:r>
            <a:endParaRPr lang="en-US" sz="1200" dirty="0"/>
          </a:p>
        </p:txBody>
      </p:sp>
      <p:sp>
        <p:nvSpPr>
          <p:cNvPr id="11" name="Shape 11"/>
          <p:cNvSpPr/>
          <p:nvPr/>
        </p:nvSpPr>
        <p:spPr>
          <a:xfrm>
            <a:off x="658368" y="2121408"/>
            <a:ext cx="4855464" cy="301752"/>
          </a:xfrm>
          <a:prstGeom prst="roundRect">
            <a:avLst>
              <a:gd name="adj" fmla="val 14000"/>
            </a:avLst>
          </a:prstGeom>
          <a:solidFill>
            <a:srgbClr val="2D1155"/>
          </a:solidFill>
          <a:ln/>
        </p:spPr>
        <p:txBody>
          <a:bodyPr/>
          <a:lstStyle/>
          <a:p>
            <a:endParaRPr lang="en-AU"/>
          </a:p>
        </p:txBody>
      </p:sp>
      <p:sp>
        <p:nvSpPr>
          <p:cNvPr id="12" name="Text 12"/>
          <p:cNvSpPr/>
          <p:nvPr/>
        </p:nvSpPr>
        <p:spPr>
          <a:xfrm>
            <a:off x="822960" y="2121408"/>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Memory files</a:t>
            </a:r>
            <a:endParaRPr lang="en-US" sz="1200" dirty="0"/>
          </a:p>
        </p:txBody>
      </p:sp>
      <p:sp>
        <p:nvSpPr>
          <p:cNvPr id="13" name="Text 13"/>
          <p:cNvSpPr/>
          <p:nvPr/>
        </p:nvSpPr>
        <p:spPr>
          <a:xfrm>
            <a:off x="822960" y="2121408"/>
            <a:ext cx="4526280" cy="301752"/>
          </a:xfrm>
          <a:prstGeom prst="rect">
            <a:avLst/>
          </a:prstGeom>
          <a:noFill/>
          <a:ln/>
        </p:spPr>
        <p:txBody>
          <a:bodyPr wrap="square" lIns="0" rIns="0" rtlCol="0" anchor="ctr"/>
          <a:lstStyle/>
          <a:p>
            <a:pPr marL="0" indent="0" algn="r">
              <a:buNone/>
            </a:pPr>
            <a:r>
              <a:rPr lang="en-US" sz="900" i="1" dirty="0">
                <a:solidFill>
                  <a:srgbClr val="C4B5E8"/>
                </a:solidFill>
                <a:latin typeface="Calibri" pitchFamily="34" charset="0"/>
                <a:ea typeface="Calibri" pitchFamily="34" charset="-122"/>
                <a:cs typeface="Calibri" pitchFamily="34" charset="-120"/>
              </a:rPr>
              <a:t>CLAUDE.md / AGENTS.md</a:t>
            </a:r>
            <a:endParaRPr lang="en-US" sz="1200" dirty="0"/>
          </a:p>
        </p:txBody>
      </p:sp>
      <p:sp>
        <p:nvSpPr>
          <p:cNvPr id="14" name="Shape 14"/>
          <p:cNvSpPr/>
          <p:nvPr/>
        </p:nvSpPr>
        <p:spPr>
          <a:xfrm>
            <a:off x="658368" y="2468880"/>
            <a:ext cx="4855464" cy="301752"/>
          </a:xfrm>
          <a:prstGeom prst="roundRect">
            <a:avLst>
              <a:gd name="adj" fmla="val 14000"/>
            </a:avLst>
          </a:prstGeom>
          <a:solidFill>
            <a:srgbClr val="5B21B6"/>
          </a:solidFill>
          <a:ln/>
        </p:spPr>
        <p:txBody>
          <a:bodyPr/>
          <a:lstStyle/>
          <a:p>
            <a:endParaRPr lang="en-AU"/>
          </a:p>
        </p:txBody>
      </p:sp>
      <p:sp>
        <p:nvSpPr>
          <p:cNvPr id="15" name="Text 15"/>
          <p:cNvSpPr/>
          <p:nvPr/>
        </p:nvSpPr>
        <p:spPr>
          <a:xfrm>
            <a:off x="822960" y="2468880"/>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Retrieved documents</a:t>
            </a:r>
            <a:endParaRPr lang="en-US" sz="1200" dirty="0"/>
          </a:p>
        </p:txBody>
      </p:sp>
      <p:sp>
        <p:nvSpPr>
          <p:cNvPr id="16" name="Text 16"/>
          <p:cNvSpPr/>
          <p:nvPr/>
        </p:nvSpPr>
        <p:spPr>
          <a:xfrm>
            <a:off x="822960" y="2468880"/>
            <a:ext cx="4526280" cy="301752"/>
          </a:xfrm>
          <a:prstGeom prst="rect">
            <a:avLst/>
          </a:prstGeom>
          <a:noFill/>
          <a:ln/>
        </p:spPr>
        <p:txBody>
          <a:bodyPr wrap="square" lIns="0" rIns="0" rtlCol="0" anchor="ctr"/>
          <a:lstStyle/>
          <a:p>
            <a:pPr marL="0" indent="0" algn="r">
              <a:buNone/>
            </a:pPr>
            <a:r>
              <a:rPr lang="en-US" sz="950" b="1" dirty="0">
                <a:solidFill>
                  <a:srgbClr val="F59E0B"/>
                </a:solidFill>
                <a:latin typeface="Courier New" pitchFamily="34" charset="0"/>
                <a:ea typeface="Courier New" pitchFamily="34" charset="-122"/>
                <a:cs typeface="Courier New" pitchFamily="34" charset="-120"/>
              </a:rPr>
              <a:t>= RAG</a:t>
            </a:r>
            <a:endParaRPr lang="en-US" sz="1200" dirty="0"/>
          </a:p>
        </p:txBody>
      </p:sp>
      <p:sp>
        <p:nvSpPr>
          <p:cNvPr id="17" name="Shape 17"/>
          <p:cNvSpPr/>
          <p:nvPr/>
        </p:nvSpPr>
        <p:spPr>
          <a:xfrm>
            <a:off x="658368" y="2816352"/>
            <a:ext cx="4855464" cy="301752"/>
          </a:xfrm>
          <a:prstGeom prst="roundRect">
            <a:avLst>
              <a:gd name="adj" fmla="val 14000"/>
            </a:avLst>
          </a:prstGeom>
          <a:solidFill>
            <a:srgbClr val="5B21B6"/>
          </a:solidFill>
          <a:ln/>
        </p:spPr>
        <p:txBody>
          <a:bodyPr/>
          <a:lstStyle/>
          <a:p>
            <a:endParaRPr lang="en-AU"/>
          </a:p>
        </p:txBody>
      </p:sp>
      <p:sp>
        <p:nvSpPr>
          <p:cNvPr id="18" name="Text 18"/>
          <p:cNvSpPr/>
          <p:nvPr/>
        </p:nvSpPr>
        <p:spPr>
          <a:xfrm>
            <a:off x="822960" y="2816352"/>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Live tool + server results</a:t>
            </a:r>
            <a:endParaRPr lang="en-US" sz="1200" dirty="0"/>
          </a:p>
        </p:txBody>
      </p:sp>
      <p:sp>
        <p:nvSpPr>
          <p:cNvPr id="19" name="Text 19"/>
          <p:cNvSpPr/>
          <p:nvPr/>
        </p:nvSpPr>
        <p:spPr>
          <a:xfrm>
            <a:off x="822960" y="2816352"/>
            <a:ext cx="4526280" cy="301752"/>
          </a:xfrm>
          <a:prstGeom prst="rect">
            <a:avLst/>
          </a:prstGeom>
          <a:noFill/>
          <a:ln/>
        </p:spPr>
        <p:txBody>
          <a:bodyPr wrap="square" lIns="0" rIns="0" rtlCol="0" anchor="ctr"/>
          <a:lstStyle/>
          <a:p>
            <a:pPr marL="0" indent="0" algn="r">
              <a:buNone/>
            </a:pPr>
            <a:r>
              <a:rPr lang="en-US" sz="950" b="1" dirty="0">
                <a:solidFill>
                  <a:srgbClr val="F59E0B"/>
                </a:solidFill>
                <a:latin typeface="Courier New" pitchFamily="34" charset="0"/>
                <a:ea typeface="Courier New" pitchFamily="34" charset="-122"/>
                <a:cs typeface="Courier New" pitchFamily="34" charset="-120"/>
              </a:rPr>
              <a:t>= MCP</a:t>
            </a:r>
            <a:endParaRPr lang="en-US" sz="1200" dirty="0"/>
          </a:p>
        </p:txBody>
      </p:sp>
      <p:sp>
        <p:nvSpPr>
          <p:cNvPr id="20" name="Shape 20"/>
          <p:cNvSpPr/>
          <p:nvPr/>
        </p:nvSpPr>
        <p:spPr>
          <a:xfrm>
            <a:off x="658368" y="3163824"/>
            <a:ext cx="4855464" cy="301752"/>
          </a:xfrm>
          <a:prstGeom prst="roundRect">
            <a:avLst>
              <a:gd name="adj" fmla="val 14000"/>
            </a:avLst>
          </a:prstGeom>
          <a:solidFill>
            <a:srgbClr val="2D1155"/>
          </a:solidFill>
          <a:ln/>
        </p:spPr>
        <p:txBody>
          <a:bodyPr/>
          <a:lstStyle/>
          <a:p>
            <a:endParaRPr lang="en-AU"/>
          </a:p>
        </p:txBody>
      </p:sp>
      <p:sp>
        <p:nvSpPr>
          <p:cNvPr id="21" name="Text 21"/>
          <p:cNvSpPr/>
          <p:nvPr/>
        </p:nvSpPr>
        <p:spPr>
          <a:xfrm>
            <a:off x="822960" y="3163824"/>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Everything said so far</a:t>
            </a:r>
            <a:endParaRPr lang="en-US" sz="1200" dirty="0"/>
          </a:p>
        </p:txBody>
      </p:sp>
      <p:sp>
        <p:nvSpPr>
          <p:cNvPr id="22" name="Text 22"/>
          <p:cNvSpPr/>
          <p:nvPr/>
        </p:nvSpPr>
        <p:spPr>
          <a:xfrm>
            <a:off x="822960" y="3163824"/>
            <a:ext cx="4526280" cy="301752"/>
          </a:xfrm>
          <a:prstGeom prst="rect">
            <a:avLst/>
          </a:prstGeom>
          <a:noFill/>
          <a:ln/>
        </p:spPr>
        <p:txBody>
          <a:bodyPr wrap="square" lIns="0" rIns="0" rtlCol="0" anchor="ctr"/>
          <a:lstStyle/>
          <a:p>
            <a:pPr marL="0" indent="0" algn="r">
              <a:buNone/>
            </a:pPr>
            <a:r>
              <a:rPr lang="en-US" sz="900" i="1" dirty="0">
                <a:solidFill>
                  <a:srgbClr val="C4B5E8"/>
                </a:solidFill>
                <a:latin typeface="Calibri" pitchFamily="34" charset="0"/>
                <a:ea typeface="Calibri" pitchFamily="34" charset="-122"/>
                <a:cs typeface="Calibri" pitchFamily="34" charset="-120"/>
              </a:rPr>
              <a:t>conversation history</a:t>
            </a:r>
            <a:endParaRPr lang="en-US" sz="1200" dirty="0"/>
          </a:p>
        </p:txBody>
      </p:sp>
      <p:sp>
        <p:nvSpPr>
          <p:cNvPr id="23" name="Shape 23"/>
          <p:cNvSpPr/>
          <p:nvPr/>
        </p:nvSpPr>
        <p:spPr>
          <a:xfrm>
            <a:off x="658368" y="3511296"/>
            <a:ext cx="4855464" cy="301752"/>
          </a:xfrm>
          <a:prstGeom prst="roundRect">
            <a:avLst>
              <a:gd name="adj" fmla="val 14000"/>
            </a:avLst>
          </a:prstGeom>
          <a:solidFill>
            <a:srgbClr val="F59E0B"/>
          </a:solidFill>
          <a:ln/>
        </p:spPr>
        <p:txBody>
          <a:bodyPr/>
          <a:lstStyle/>
          <a:p>
            <a:endParaRPr lang="en-AU"/>
          </a:p>
        </p:txBody>
      </p:sp>
      <p:sp>
        <p:nvSpPr>
          <p:cNvPr id="24" name="Text 24"/>
          <p:cNvSpPr/>
          <p:nvPr/>
        </p:nvSpPr>
        <p:spPr>
          <a:xfrm>
            <a:off x="822960" y="3511296"/>
            <a:ext cx="4526280" cy="301752"/>
          </a:xfrm>
          <a:prstGeom prst="rect">
            <a:avLst/>
          </a:prstGeom>
          <a:noFill/>
          <a:ln/>
        </p:spPr>
        <p:txBody>
          <a:bodyPr wrap="square" lIns="0" rIns="0" rtlCol="0" anchor="ctr"/>
          <a:lstStyle/>
          <a:p>
            <a:pPr marL="0" indent="0" algn="l">
              <a:buNone/>
            </a:pPr>
            <a:r>
              <a:rPr lang="en-US" sz="1000" b="1" dirty="0">
                <a:solidFill>
                  <a:srgbClr val="2D1155"/>
                </a:solidFill>
                <a:latin typeface="Calibri" pitchFamily="34" charset="0"/>
                <a:ea typeface="Calibri" pitchFamily="34" charset="-122"/>
                <a:cs typeface="Calibri" pitchFamily="34" charset="-120"/>
              </a:rPr>
              <a:t>YOUR PROMPT</a:t>
            </a:r>
            <a:endParaRPr lang="en-US" sz="1200" dirty="0"/>
          </a:p>
        </p:txBody>
      </p:sp>
      <p:sp>
        <p:nvSpPr>
          <p:cNvPr id="25" name="Text 25"/>
          <p:cNvSpPr/>
          <p:nvPr/>
        </p:nvSpPr>
        <p:spPr>
          <a:xfrm>
            <a:off x="822960" y="3511296"/>
            <a:ext cx="4526280" cy="301752"/>
          </a:xfrm>
          <a:prstGeom prst="rect">
            <a:avLst/>
          </a:prstGeom>
          <a:noFill/>
          <a:ln/>
        </p:spPr>
        <p:txBody>
          <a:bodyPr wrap="square" lIns="0" rIns="0" rtlCol="0" anchor="ctr"/>
          <a:lstStyle/>
          <a:p>
            <a:pPr marL="0" indent="0" algn="r">
              <a:buNone/>
            </a:pPr>
            <a:r>
              <a:rPr lang="en-US" sz="900" i="1" dirty="0">
                <a:solidFill>
                  <a:srgbClr val="2D1155"/>
                </a:solidFill>
                <a:latin typeface="Calibri" pitchFamily="34" charset="0"/>
                <a:ea typeface="Calibri" pitchFamily="34" charset="-122"/>
                <a:cs typeface="Calibri" pitchFamily="34" charset="-120"/>
              </a:rPr>
              <a:t>the only bit you type</a:t>
            </a:r>
            <a:endParaRPr lang="en-US" sz="1200" dirty="0"/>
          </a:p>
        </p:txBody>
      </p:sp>
      <p:sp>
        <p:nvSpPr>
          <p:cNvPr id="26" name="Shape 26"/>
          <p:cNvSpPr/>
          <p:nvPr/>
        </p:nvSpPr>
        <p:spPr>
          <a:xfrm>
            <a:off x="5943600" y="1371600"/>
            <a:ext cx="2651760" cy="2560320"/>
          </a:xfrm>
          <a:prstGeom prst="roundRect">
            <a:avLst>
              <a:gd name="adj" fmla="val 6000"/>
            </a:avLst>
          </a:prstGeom>
          <a:solidFill>
            <a:srgbClr val="2D1155"/>
          </a:solidFill>
          <a:ln/>
        </p:spPr>
        <p:txBody>
          <a:bodyPr/>
          <a:lstStyle/>
          <a:p>
            <a:endParaRPr lang="en-AU"/>
          </a:p>
        </p:txBody>
      </p:sp>
      <p:sp>
        <p:nvSpPr>
          <p:cNvPr id="27" name="Text 27"/>
          <p:cNvSpPr/>
          <p:nvPr/>
        </p:nvSpPr>
        <p:spPr>
          <a:xfrm>
            <a:off x="6163056" y="1517904"/>
            <a:ext cx="2212848" cy="548640"/>
          </a:xfrm>
          <a:prstGeom prst="rect">
            <a:avLst/>
          </a:prstGeom>
          <a:noFill/>
          <a:ln/>
        </p:spPr>
        <p:txBody>
          <a:bodyPr wrap="square" lIns="0" rIns="0" rtlCol="0" anchor="ctr"/>
          <a:lstStyle/>
          <a:p>
            <a:pPr marL="0" indent="0" algn="l">
              <a:buNone/>
            </a:pPr>
            <a:r>
              <a:rPr lang="en-US" sz="1250" b="1" dirty="0">
                <a:solidFill>
                  <a:srgbClr val="F59E0B"/>
                </a:solidFill>
                <a:latin typeface="Arial Black" pitchFamily="34" charset="0"/>
                <a:ea typeface="Arial Black" pitchFamily="34" charset="-122"/>
                <a:cs typeface="Arial Black" pitchFamily="34" charset="-120"/>
              </a:rPr>
              <a:t>The whole job:</a:t>
            </a:r>
            <a:endParaRPr lang="en-US" sz="1200" dirty="0"/>
          </a:p>
        </p:txBody>
      </p:sp>
      <p:sp>
        <p:nvSpPr>
          <p:cNvPr id="28" name="Text 28"/>
          <p:cNvSpPr/>
          <p:nvPr/>
        </p:nvSpPr>
        <p:spPr>
          <a:xfrm>
            <a:off x="6163056" y="2121408"/>
            <a:ext cx="2212848" cy="1371600"/>
          </a:xfrm>
          <a:prstGeom prst="rect">
            <a:avLst/>
          </a:prstGeom>
          <a:noFill/>
          <a:ln/>
        </p:spPr>
        <p:txBody>
          <a:bodyPr wrap="square" lIns="0" rIns="0" rtlCol="0" anchor="t"/>
          <a:lstStyle/>
          <a:p>
            <a:pPr marL="0" indent="0" algn="l">
              <a:spcAft>
                <a:spcPts val="500"/>
              </a:spcAft>
              <a:buNone/>
            </a:pPr>
            <a:r>
              <a:rPr lang="en-US" sz="1050" b="1" dirty="0">
                <a:solidFill>
                  <a:srgbClr val="FFFFFF"/>
                </a:solidFill>
                <a:latin typeface="Calibri" pitchFamily="34" charset="0"/>
                <a:ea typeface="Calibri" pitchFamily="34" charset="-122"/>
                <a:cs typeface="Calibri" pitchFamily="34" charset="-120"/>
              </a:rPr>
              <a:t>What goes in each layer.</a:t>
            </a:r>
            <a:endParaRPr lang="en-US" sz="1000" dirty="0"/>
          </a:p>
          <a:p>
            <a:pPr marL="0" indent="0" algn="l">
              <a:spcAft>
                <a:spcPts val="500"/>
              </a:spcAft>
              <a:buNone/>
            </a:pPr>
            <a:r>
              <a:rPr lang="en-US" sz="1050" b="1" dirty="0">
                <a:solidFill>
                  <a:srgbClr val="FFFFFF"/>
                </a:solidFill>
                <a:latin typeface="Calibri" pitchFamily="34" charset="0"/>
                <a:ea typeface="Calibri" pitchFamily="34" charset="-122"/>
                <a:cs typeface="Calibri" pitchFamily="34" charset="-120"/>
              </a:rPr>
              <a:t>In what order.</a:t>
            </a:r>
            <a:endParaRPr lang="en-US" sz="1000" dirty="0"/>
          </a:p>
          <a:p>
            <a:pPr marL="0" indent="0" algn="l">
              <a:spcAft>
                <a:spcPts val="500"/>
              </a:spcAft>
              <a:buNone/>
            </a:pPr>
            <a:r>
              <a:rPr lang="en-US" sz="1050" b="1" dirty="0">
                <a:solidFill>
                  <a:srgbClr val="FFFFFF"/>
                </a:solidFill>
                <a:latin typeface="Calibri" pitchFamily="34" charset="0"/>
                <a:ea typeface="Calibri" pitchFamily="34" charset="-122"/>
                <a:cs typeface="Calibri" pitchFamily="34" charset="-120"/>
              </a:rPr>
              <a:t>And what stays out.</a:t>
            </a:r>
            <a:endParaRPr lang="en-US" sz="1000" dirty="0"/>
          </a:p>
        </p:txBody>
      </p:sp>
      <p:sp>
        <p:nvSpPr>
          <p:cNvPr id="29" name="Shape 29"/>
          <p:cNvSpPr/>
          <p:nvPr/>
        </p:nvSpPr>
        <p:spPr>
          <a:xfrm>
            <a:off x="6163056" y="2852928"/>
            <a:ext cx="2212848" cy="365760"/>
          </a:xfrm>
          <a:prstGeom prst="roundRect">
            <a:avLst>
              <a:gd name="adj" fmla="val 14000"/>
            </a:avLst>
          </a:prstGeom>
          <a:solidFill>
            <a:srgbClr val="5B21B6"/>
          </a:solidFill>
          <a:ln/>
        </p:spPr>
        <p:txBody>
          <a:bodyPr/>
          <a:lstStyle/>
          <a:p>
            <a:endParaRPr lang="en-AU"/>
          </a:p>
        </p:txBody>
      </p:sp>
      <p:sp>
        <p:nvSpPr>
          <p:cNvPr id="30" name="Text 30"/>
          <p:cNvSpPr/>
          <p:nvPr/>
        </p:nvSpPr>
        <p:spPr>
          <a:xfrm>
            <a:off x="6309360" y="2852928"/>
            <a:ext cx="1920240" cy="365760"/>
          </a:xfrm>
          <a:prstGeom prst="rect">
            <a:avLst/>
          </a:prstGeom>
          <a:noFill/>
          <a:ln/>
        </p:spPr>
        <p:txBody>
          <a:bodyPr wrap="square" lIns="0" rIns="0" rtlCol="0" anchor="ctr"/>
          <a:lstStyle/>
          <a:p>
            <a:pPr marL="0" indent="0" algn="l">
              <a:buNone/>
            </a:pPr>
            <a:r>
              <a:rPr lang="en-US" sz="1000" b="1" dirty="0">
                <a:solidFill>
                  <a:srgbClr val="F59E0B"/>
                </a:solidFill>
                <a:latin typeface="Courier New" pitchFamily="34" charset="0"/>
                <a:ea typeface="Courier New" pitchFamily="34" charset="-122"/>
                <a:cs typeface="Courier New" pitchFamily="34" charset="-120"/>
              </a:rPr>
              <a:t>/context</a:t>
            </a:r>
            <a:endParaRPr lang="en-US" sz="1200" dirty="0"/>
          </a:p>
        </p:txBody>
      </p:sp>
      <p:sp>
        <p:nvSpPr>
          <p:cNvPr id="31" name="Text 31"/>
          <p:cNvSpPr/>
          <p:nvPr/>
        </p:nvSpPr>
        <p:spPr>
          <a:xfrm>
            <a:off x="6309360" y="2852928"/>
            <a:ext cx="1920240" cy="365760"/>
          </a:xfrm>
          <a:prstGeom prst="rect">
            <a:avLst/>
          </a:prstGeom>
          <a:noFill/>
          <a:ln/>
        </p:spPr>
        <p:txBody>
          <a:bodyPr wrap="square" lIns="0" rIns="0" rtlCol="0" anchor="ctr"/>
          <a:lstStyle/>
          <a:p>
            <a:pPr marL="0" indent="0" algn="r">
              <a:buNone/>
            </a:pPr>
            <a:r>
              <a:rPr lang="en-US" sz="850" i="1" dirty="0">
                <a:solidFill>
                  <a:srgbClr val="DDD6FE"/>
                </a:solidFill>
                <a:latin typeface="Calibri" pitchFamily="34" charset="0"/>
                <a:ea typeface="Calibri" pitchFamily="34" charset="-122"/>
                <a:cs typeface="Calibri" pitchFamily="34" charset="-120"/>
              </a:rPr>
              <a:t>see the stack</a:t>
            </a:r>
            <a:endParaRPr lang="en-US" sz="1200" dirty="0"/>
          </a:p>
        </p:txBody>
      </p:sp>
      <p:sp>
        <p:nvSpPr>
          <p:cNvPr id="32" name="Text 32"/>
          <p:cNvSpPr/>
          <p:nvPr/>
        </p:nvSpPr>
        <p:spPr>
          <a:xfrm>
            <a:off x="6163056" y="3328416"/>
            <a:ext cx="2212848" cy="548640"/>
          </a:xfrm>
          <a:prstGeom prst="rect">
            <a:avLst/>
          </a:prstGeom>
          <a:noFill/>
          <a:ln/>
        </p:spPr>
        <p:txBody>
          <a:bodyPr wrap="square" lIns="0" rIns="0" rtlCol="0" anchor="t"/>
          <a:lstStyle/>
          <a:p>
            <a:pPr marL="0" indent="0" algn="l">
              <a:spcAft>
                <a:spcPts val="0"/>
              </a:spcAft>
              <a:buNone/>
            </a:pPr>
            <a:r>
              <a:rPr lang="en-US" sz="950" i="1" dirty="0">
                <a:solidFill>
                  <a:srgbClr val="C4B5E8"/>
                </a:solidFill>
                <a:latin typeface="Calibri" pitchFamily="34" charset="0"/>
                <a:ea typeface="Calibri" pitchFamily="34" charset="-122"/>
                <a:cs typeface="Calibri" pitchFamily="34" charset="-120"/>
              </a:rPr>
              <a:t>Every layer costs space. Fill the window and the model starts guessing.</a:t>
            </a:r>
            <a:endParaRPr lang="en-US" sz="1000" dirty="0"/>
          </a:p>
        </p:txBody>
      </p:sp>
      <p:sp>
        <p:nvSpPr>
          <p:cNvPr id="33" name="Shape 33"/>
          <p:cNvSpPr/>
          <p:nvPr/>
        </p:nvSpPr>
        <p:spPr>
          <a:xfrm>
            <a:off x="457200" y="4096512"/>
            <a:ext cx="7772400" cy="420624"/>
          </a:xfrm>
          <a:prstGeom prst="roundRect">
            <a:avLst>
              <a:gd name="adj" fmla="val 12000"/>
            </a:avLst>
          </a:prstGeom>
          <a:solidFill>
            <a:srgbClr val="2D1155"/>
          </a:solidFill>
          <a:ln/>
        </p:spPr>
        <p:txBody>
          <a:bodyPr/>
          <a:lstStyle/>
          <a:p>
            <a:endParaRPr lang="en-AU"/>
          </a:p>
        </p:txBody>
      </p:sp>
      <p:sp>
        <p:nvSpPr>
          <p:cNvPr id="34" name="Text 34"/>
          <p:cNvSpPr/>
          <p:nvPr/>
        </p:nvSpPr>
        <p:spPr>
          <a:xfrm>
            <a:off x="685800" y="4096512"/>
            <a:ext cx="7315200" cy="420624"/>
          </a:xfrm>
          <a:prstGeom prst="rect">
            <a:avLst/>
          </a:prstGeom>
          <a:noFill/>
          <a:ln/>
        </p:spPr>
        <p:txBody>
          <a:bodyPr wrap="square" lIns="0" rIns="0" rtlCol="0" anchor="ctr"/>
          <a:lstStyle/>
          <a:p>
            <a:pPr marL="0" indent="0" algn="ctr">
              <a:buNone/>
            </a:pPr>
            <a:r>
              <a:rPr lang="en-US" sz="1150" dirty="0">
                <a:solidFill>
                  <a:srgbClr val="DDD6FE"/>
                </a:solidFill>
                <a:latin typeface="Calibri" pitchFamily="34" charset="0"/>
                <a:ea typeface="Calibri" pitchFamily="34" charset="-122"/>
                <a:cs typeface="Calibri" pitchFamily="34" charset="-120"/>
              </a:rPr>
              <a:t>RAG, MCP, memory, tools — none of them talk to the model. </a:t>
            </a:r>
            <a:r>
              <a:rPr lang="en-US" sz="1150" b="1" dirty="0">
                <a:solidFill>
                  <a:srgbClr val="F59E0B"/>
                </a:solidFill>
                <a:latin typeface="Calibri" pitchFamily="34" charset="0"/>
                <a:ea typeface="Calibri" pitchFamily="34" charset="-122"/>
                <a:cs typeface="Calibri" pitchFamily="34" charset="-120"/>
              </a:rPr>
              <a:t>They just write a better system prompt.</a:t>
            </a:r>
            <a:endParaRPr lang="en-US" sz="1200" dirty="0"/>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THE DAY IS A LADDER</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Not three workshops. Each rung removes a different crutch.</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81328"/>
            <a:ext cx="8229600" cy="932688"/>
          </a:xfrm>
          <a:prstGeom prst="roundRect">
            <a:avLst>
              <a:gd name="adj" fmla="val 7843"/>
            </a:avLst>
          </a:prstGeom>
          <a:solidFill>
            <a:srgbClr val="2D1155"/>
          </a:solidFill>
          <a:ln w="19050">
            <a:solidFill>
              <a:srgbClr val="F59E0B"/>
            </a:solidFill>
            <a:prstDash val="solid"/>
          </a:ln>
        </p:spPr>
        <p:txBody>
          <a:bodyPr/>
          <a:lstStyle/>
          <a:p>
            <a:endParaRPr lang="en-AU"/>
          </a:p>
        </p:txBody>
      </p:sp>
      <p:sp>
        <p:nvSpPr>
          <p:cNvPr id="6" name="Text 3"/>
          <p:cNvSpPr/>
          <p:nvPr/>
        </p:nvSpPr>
        <p:spPr>
          <a:xfrm>
            <a:off x="640080" y="1481328"/>
            <a:ext cx="914400" cy="932688"/>
          </a:xfrm>
          <a:prstGeom prst="rect">
            <a:avLst/>
          </a:prstGeom>
          <a:noFill/>
          <a:ln/>
        </p:spPr>
        <p:txBody>
          <a:bodyPr wrap="square" rtlCol="0" anchor="ctr"/>
          <a:lstStyle/>
          <a:p>
            <a:pPr marL="0" indent="0" algn="ctr">
              <a:buNone/>
            </a:pPr>
            <a:r>
              <a:rPr lang="en-US" sz="3000" b="1" dirty="0">
                <a:solidFill>
                  <a:srgbClr val="F59E0B"/>
                </a:solidFill>
                <a:latin typeface="Arial Black" pitchFamily="34" charset="0"/>
                <a:ea typeface="Arial Black" pitchFamily="34" charset="-122"/>
                <a:cs typeface="Arial Black" pitchFamily="34" charset="-120"/>
              </a:rPr>
              <a:t>01</a:t>
            </a:r>
            <a:endParaRPr lang="en-US" sz="3000" dirty="0"/>
          </a:p>
        </p:txBody>
      </p:sp>
      <p:sp>
        <p:nvSpPr>
          <p:cNvPr id="7" name="Text 4"/>
          <p:cNvSpPr/>
          <p:nvPr/>
        </p:nvSpPr>
        <p:spPr>
          <a:xfrm>
            <a:off x="1691640" y="1609344"/>
            <a:ext cx="4754880" cy="384048"/>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Vibe Coding</a:t>
            </a:r>
            <a:endParaRPr lang="en-US" sz="1500" dirty="0"/>
          </a:p>
        </p:txBody>
      </p:sp>
      <p:sp>
        <p:nvSpPr>
          <p:cNvPr id="8" name="Text 5"/>
          <p:cNvSpPr/>
          <p:nvPr/>
        </p:nvSpPr>
        <p:spPr>
          <a:xfrm>
            <a:off x="1691640" y="1993392"/>
            <a:ext cx="6035040" cy="347472"/>
          </a:xfrm>
          <a:prstGeom prst="rect">
            <a:avLst/>
          </a:prstGeom>
          <a:noFill/>
          <a:ln/>
        </p:spPr>
        <p:txBody>
          <a:bodyPr wrap="square" rtlCol="0" anchor="ctr"/>
          <a:lstStyle/>
          <a:p>
            <a:pPr marL="0" indent="0">
              <a:buNone/>
            </a:pPr>
            <a:r>
              <a:rPr lang="en-US" sz="1200" dirty="0">
                <a:solidFill>
                  <a:srgbClr val="DDD6FE"/>
                </a:solidFill>
                <a:latin typeface="Calibri" pitchFamily="34" charset="0"/>
                <a:ea typeface="Calibri" pitchFamily="34" charset="-122"/>
                <a:cs typeface="Calibri" pitchFamily="34" charset="-120"/>
              </a:rPr>
              <a:t>Use the tool. Make it work, don't care how.</a:t>
            </a:r>
            <a:endParaRPr lang="en-US" sz="1200" dirty="0"/>
          </a:p>
        </p:txBody>
      </p:sp>
      <p:sp>
        <p:nvSpPr>
          <p:cNvPr id="9" name="Shape 6"/>
          <p:cNvSpPr/>
          <p:nvPr/>
        </p:nvSpPr>
        <p:spPr>
          <a:xfrm>
            <a:off x="7086600" y="1792224"/>
            <a:ext cx="1417320" cy="310896"/>
          </a:xfrm>
          <a:prstGeom prst="roundRect">
            <a:avLst>
              <a:gd name="adj" fmla="val 17647"/>
            </a:avLst>
          </a:prstGeom>
          <a:solidFill>
            <a:srgbClr val="F59E0B"/>
          </a:solidFill>
          <a:ln/>
        </p:spPr>
        <p:txBody>
          <a:bodyPr/>
          <a:lstStyle/>
          <a:p>
            <a:endParaRPr lang="en-AU"/>
          </a:p>
        </p:txBody>
      </p:sp>
      <p:sp>
        <p:nvSpPr>
          <p:cNvPr id="10" name="Text 7"/>
          <p:cNvSpPr/>
          <p:nvPr/>
        </p:nvSpPr>
        <p:spPr>
          <a:xfrm>
            <a:off x="7086600" y="1792224"/>
            <a:ext cx="1417320" cy="310896"/>
          </a:xfrm>
          <a:prstGeom prst="rect">
            <a:avLst/>
          </a:prstGeom>
          <a:noFill/>
          <a:ln/>
        </p:spPr>
        <p:txBody>
          <a:bodyPr wrap="square" rtlCol="0" anchor="ctr"/>
          <a:lstStyle/>
          <a:p>
            <a:pPr marL="0" indent="0" algn="ctr">
              <a:buNone/>
            </a:pPr>
            <a:r>
              <a:rPr lang="en-US" sz="900" b="1" kern="0" spc="100" dirty="0">
                <a:solidFill>
                  <a:srgbClr val="2D1155"/>
                </a:solidFill>
                <a:latin typeface="Calibri" pitchFamily="34" charset="0"/>
                <a:ea typeface="Calibri" pitchFamily="34" charset="-122"/>
                <a:cs typeface="Calibri" pitchFamily="34" charset="-120"/>
              </a:rPr>
              <a:t>YOU ARE HERE</a:t>
            </a:r>
            <a:endParaRPr lang="en-US" sz="900" dirty="0"/>
          </a:p>
        </p:txBody>
      </p:sp>
      <p:sp>
        <p:nvSpPr>
          <p:cNvPr id="11" name="Shape 8"/>
          <p:cNvSpPr/>
          <p:nvPr/>
        </p:nvSpPr>
        <p:spPr>
          <a:xfrm>
            <a:off x="457200" y="2523744"/>
            <a:ext cx="8229600" cy="932688"/>
          </a:xfrm>
          <a:prstGeom prst="roundRect">
            <a:avLst>
              <a:gd name="adj" fmla="val 7843"/>
            </a:avLst>
          </a:prstGeom>
          <a:solidFill>
            <a:srgbClr val="FFFFFF"/>
          </a:solidFill>
          <a:ln w="12700">
            <a:solidFill>
              <a:srgbClr val="DDD6FE"/>
            </a:solidFill>
            <a:prstDash val="solid"/>
          </a:ln>
        </p:spPr>
        <p:txBody>
          <a:bodyPr/>
          <a:lstStyle/>
          <a:p>
            <a:endParaRPr lang="en-AU"/>
          </a:p>
        </p:txBody>
      </p:sp>
      <p:sp>
        <p:nvSpPr>
          <p:cNvPr id="12" name="Text 9"/>
          <p:cNvSpPr/>
          <p:nvPr/>
        </p:nvSpPr>
        <p:spPr>
          <a:xfrm>
            <a:off x="640080" y="2523744"/>
            <a:ext cx="914400" cy="932688"/>
          </a:xfrm>
          <a:prstGeom prst="rect">
            <a:avLst/>
          </a:prstGeom>
          <a:noFill/>
          <a:ln/>
        </p:spPr>
        <p:txBody>
          <a:bodyPr wrap="square" rtlCol="0" anchor="ctr"/>
          <a:lstStyle/>
          <a:p>
            <a:pPr marL="0" indent="0" algn="ctr">
              <a:buNone/>
            </a:pPr>
            <a:r>
              <a:rPr lang="en-US" sz="3000" b="1" dirty="0">
                <a:solidFill>
                  <a:srgbClr val="DDD6FE"/>
                </a:solidFill>
                <a:latin typeface="Arial Black" pitchFamily="34" charset="0"/>
                <a:ea typeface="Arial Black" pitchFamily="34" charset="-122"/>
                <a:cs typeface="Arial Black" pitchFamily="34" charset="-120"/>
              </a:rPr>
              <a:t>02</a:t>
            </a:r>
            <a:endParaRPr lang="en-US" sz="3000" dirty="0"/>
          </a:p>
        </p:txBody>
      </p:sp>
      <p:sp>
        <p:nvSpPr>
          <p:cNvPr id="13" name="Text 10"/>
          <p:cNvSpPr/>
          <p:nvPr/>
        </p:nvSpPr>
        <p:spPr>
          <a:xfrm>
            <a:off x="1691640" y="2651760"/>
            <a:ext cx="4754880" cy="384048"/>
          </a:xfrm>
          <a:prstGeom prst="rect">
            <a:avLst/>
          </a:prstGeom>
          <a:noFill/>
          <a:ln/>
        </p:spPr>
        <p:txBody>
          <a:bodyPr wrap="square" rtlCol="0" anchor="ctr"/>
          <a:lstStyle/>
          <a:p>
            <a:pPr marL="0" indent="0">
              <a:buNone/>
            </a:pPr>
            <a:r>
              <a:rPr lang="en-US" sz="1500" b="1" dirty="0">
                <a:solidFill>
                  <a:srgbClr val="2D1155"/>
                </a:solidFill>
                <a:latin typeface="Arial Black" pitchFamily="34" charset="0"/>
                <a:ea typeface="Arial Black" pitchFamily="34" charset="-122"/>
                <a:cs typeface="Arial Black" pitchFamily="34" charset="-120"/>
              </a:rPr>
              <a:t>Vibe Engineering</a:t>
            </a:r>
            <a:endParaRPr lang="en-US" sz="1500" dirty="0"/>
          </a:p>
        </p:txBody>
      </p:sp>
      <p:sp>
        <p:nvSpPr>
          <p:cNvPr id="14" name="Text 11"/>
          <p:cNvSpPr/>
          <p:nvPr/>
        </p:nvSpPr>
        <p:spPr>
          <a:xfrm>
            <a:off x="1691640" y="3035808"/>
            <a:ext cx="6035040" cy="347472"/>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Make it repeatable. Stop repeating yourself.</a:t>
            </a:r>
            <a:endParaRPr lang="en-US" sz="1200" dirty="0"/>
          </a:p>
        </p:txBody>
      </p:sp>
      <p:sp>
        <p:nvSpPr>
          <p:cNvPr id="15" name="Shape 12"/>
          <p:cNvSpPr/>
          <p:nvPr/>
        </p:nvSpPr>
        <p:spPr>
          <a:xfrm>
            <a:off x="457200" y="3566160"/>
            <a:ext cx="8229600" cy="932688"/>
          </a:xfrm>
          <a:prstGeom prst="roundRect">
            <a:avLst>
              <a:gd name="adj" fmla="val 7843"/>
            </a:avLst>
          </a:prstGeom>
          <a:solidFill>
            <a:srgbClr val="FFFFFF"/>
          </a:solidFill>
          <a:ln w="12700">
            <a:solidFill>
              <a:srgbClr val="DDD6FE"/>
            </a:solidFill>
            <a:prstDash val="solid"/>
          </a:ln>
        </p:spPr>
        <p:txBody>
          <a:bodyPr/>
          <a:lstStyle/>
          <a:p>
            <a:endParaRPr lang="en-AU"/>
          </a:p>
        </p:txBody>
      </p:sp>
      <p:sp>
        <p:nvSpPr>
          <p:cNvPr id="16" name="Text 13"/>
          <p:cNvSpPr/>
          <p:nvPr/>
        </p:nvSpPr>
        <p:spPr>
          <a:xfrm>
            <a:off x="640080" y="3566160"/>
            <a:ext cx="914400" cy="932688"/>
          </a:xfrm>
          <a:prstGeom prst="rect">
            <a:avLst/>
          </a:prstGeom>
          <a:noFill/>
          <a:ln/>
        </p:spPr>
        <p:txBody>
          <a:bodyPr wrap="square" rtlCol="0" anchor="ctr"/>
          <a:lstStyle/>
          <a:p>
            <a:pPr marL="0" indent="0" algn="ctr">
              <a:buNone/>
            </a:pPr>
            <a:r>
              <a:rPr lang="en-US" sz="3000" b="1" dirty="0">
                <a:solidFill>
                  <a:srgbClr val="DDD6FE"/>
                </a:solidFill>
                <a:latin typeface="Arial Black" pitchFamily="34" charset="0"/>
                <a:ea typeface="Arial Black" pitchFamily="34" charset="-122"/>
                <a:cs typeface="Arial Black" pitchFamily="34" charset="-120"/>
              </a:rPr>
              <a:t>03</a:t>
            </a:r>
            <a:endParaRPr lang="en-US" sz="3000" dirty="0"/>
          </a:p>
        </p:txBody>
      </p:sp>
      <p:sp>
        <p:nvSpPr>
          <p:cNvPr id="17" name="Text 14"/>
          <p:cNvSpPr/>
          <p:nvPr/>
        </p:nvSpPr>
        <p:spPr>
          <a:xfrm>
            <a:off x="1691640" y="3694176"/>
            <a:ext cx="4754880" cy="384048"/>
          </a:xfrm>
          <a:prstGeom prst="rect">
            <a:avLst/>
          </a:prstGeom>
          <a:noFill/>
          <a:ln/>
        </p:spPr>
        <p:txBody>
          <a:bodyPr wrap="square" rtlCol="0" anchor="ctr"/>
          <a:lstStyle/>
          <a:p>
            <a:pPr marL="0" indent="0">
              <a:buNone/>
            </a:pPr>
            <a:r>
              <a:rPr lang="en-US" sz="1500" b="1" dirty="0">
                <a:solidFill>
                  <a:srgbClr val="2D1155"/>
                </a:solidFill>
                <a:latin typeface="Arial Black" pitchFamily="34" charset="0"/>
                <a:ea typeface="Arial Black" pitchFamily="34" charset="-122"/>
                <a:cs typeface="Arial Black" pitchFamily="34" charset="-120"/>
              </a:rPr>
              <a:t>Agentic Engineering</a:t>
            </a:r>
            <a:endParaRPr lang="en-US" sz="1500" dirty="0"/>
          </a:p>
        </p:txBody>
      </p:sp>
      <p:sp>
        <p:nvSpPr>
          <p:cNvPr id="18" name="Text 15"/>
          <p:cNvSpPr/>
          <p:nvPr/>
        </p:nvSpPr>
        <p:spPr>
          <a:xfrm>
            <a:off x="1691640" y="4078224"/>
            <a:ext cx="6035040" cy="347472"/>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Stop trusting the agent. Engineer around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WHAT VIBE CODING IS</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one-line definition.</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Text 2"/>
          <p:cNvSpPr/>
          <p:nvPr/>
        </p:nvSpPr>
        <p:spPr>
          <a:xfrm>
            <a:off x="457200" y="1417320"/>
            <a:ext cx="8229600" cy="640080"/>
          </a:xfrm>
          <a:prstGeom prst="rect">
            <a:avLst/>
          </a:prstGeom>
          <a:noFill/>
          <a:ln/>
        </p:spPr>
        <p:txBody>
          <a:bodyPr wrap="square" rtlCol="0" anchor="ctr"/>
          <a:lstStyle/>
          <a:p>
            <a:pPr marL="0" indent="0">
              <a:buNone/>
            </a:pPr>
            <a:r>
              <a:rPr lang="en-US" sz="2600" b="1" dirty="0">
                <a:solidFill>
                  <a:srgbClr val="2D1155"/>
                </a:solidFill>
                <a:latin typeface="Arial Black" pitchFamily="34" charset="0"/>
                <a:ea typeface="Arial Black" pitchFamily="34" charset="-122"/>
                <a:cs typeface="Arial Black" pitchFamily="34" charset="-120"/>
              </a:rPr>
              <a:t>Vibe coding is </a:t>
            </a:r>
            <a:r>
              <a:rPr lang="en-US" sz="2600" b="1" dirty="0">
                <a:solidFill>
                  <a:srgbClr val="7C3AED"/>
                </a:solidFill>
                <a:latin typeface="Arial Black" pitchFamily="34" charset="0"/>
                <a:ea typeface="Arial Black" pitchFamily="34" charset="-122"/>
                <a:cs typeface="Arial Black" pitchFamily="34" charset="-120"/>
              </a:rPr>
              <a:t>using the tool.</a:t>
            </a:r>
            <a:endParaRPr lang="en-US" sz="2600" dirty="0"/>
          </a:p>
        </p:txBody>
      </p:sp>
      <p:sp>
        <p:nvSpPr>
          <p:cNvPr id="6" name="Text 3"/>
          <p:cNvSpPr/>
          <p:nvPr/>
        </p:nvSpPr>
        <p:spPr>
          <a:xfrm>
            <a:off x="475488" y="2057400"/>
            <a:ext cx="8046720" cy="457200"/>
          </a:xfrm>
          <a:prstGeom prst="rect">
            <a:avLst/>
          </a:prstGeom>
          <a:noFill/>
          <a:ln/>
        </p:spPr>
        <p:txBody>
          <a:bodyPr wrap="square" rtlCol="0" anchor="ctr"/>
          <a:lstStyle/>
          <a:p>
            <a:pPr marL="0" indent="0">
              <a:buNone/>
            </a:pPr>
            <a:r>
              <a:rPr lang="en-US" sz="1400" dirty="0">
                <a:solidFill>
                  <a:srgbClr val="6E6389"/>
                </a:solidFill>
                <a:latin typeface="Calibri" pitchFamily="34" charset="0"/>
                <a:ea typeface="Calibri" pitchFamily="34" charset="-122"/>
                <a:cs typeface="Calibri" pitchFamily="34" charset="-120"/>
              </a:rPr>
              <a:t>You describe the outcome. The agent writes, runs, and fixes the code. You watch, react, and steer.</a:t>
            </a:r>
            <a:endParaRPr lang="en-US" sz="1400" dirty="0"/>
          </a:p>
        </p:txBody>
      </p:sp>
      <p:sp>
        <p:nvSpPr>
          <p:cNvPr id="7" name="Shape 4"/>
          <p:cNvSpPr/>
          <p:nvPr/>
        </p:nvSpPr>
        <p:spPr>
          <a:xfrm>
            <a:off x="457200" y="2697480"/>
            <a:ext cx="8229600" cy="1783080"/>
          </a:xfrm>
          <a:prstGeom prst="roundRect">
            <a:avLst>
              <a:gd name="adj" fmla="val 4615"/>
            </a:avLst>
          </a:prstGeom>
          <a:solidFill>
            <a:srgbClr val="2D1155"/>
          </a:solidFill>
          <a:ln/>
        </p:spPr>
        <p:txBody>
          <a:bodyPr/>
          <a:lstStyle/>
          <a:p>
            <a:endParaRPr lang="en-AU"/>
          </a:p>
        </p:txBody>
      </p:sp>
      <p:sp>
        <p:nvSpPr>
          <p:cNvPr id="8" name="Text 5"/>
          <p:cNvSpPr/>
          <p:nvPr/>
        </p:nvSpPr>
        <p:spPr>
          <a:xfrm>
            <a:off x="731520" y="2880360"/>
            <a:ext cx="7315200" cy="292608"/>
          </a:xfrm>
          <a:prstGeom prst="rect">
            <a:avLst/>
          </a:prstGeom>
          <a:noFill/>
          <a:ln/>
        </p:spPr>
        <p:txBody>
          <a:bodyPr wrap="square" rtlCol="0" anchor="ctr"/>
          <a:lstStyle/>
          <a:p>
            <a:pPr marL="0" indent="0">
              <a:buNone/>
            </a:pPr>
            <a:r>
              <a:rPr lang="en-US" sz="1100" b="1" kern="0" spc="200" dirty="0">
                <a:solidFill>
                  <a:srgbClr val="F59E0B"/>
                </a:solidFill>
                <a:latin typeface="Calibri" pitchFamily="34" charset="0"/>
                <a:ea typeface="Calibri" pitchFamily="34" charset="-122"/>
                <a:cs typeface="Calibri" pitchFamily="34" charset="-120"/>
              </a:rPr>
              <a:t>THE MINDSET SHIFT</a:t>
            </a:r>
            <a:endParaRPr lang="en-US" sz="1100" dirty="0"/>
          </a:p>
        </p:txBody>
      </p:sp>
      <p:sp>
        <p:nvSpPr>
          <p:cNvPr id="9" name="Text 6"/>
          <p:cNvSpPr/>
          <p:nvPr/>
        </p:nvSpPr>
        <p:spPr>
          <a:xfrm>
            <a:off x="731520" y="3246120"/>
            <a:ext cx="7680960" cy="457200"/>
          </a:xfrm>
          <a:prstGeom prst="rect">
            <a:avLst/>
          </a:prstGeom>
          <a:noFill/>
          <a:ln/>
        </p:spPr>
        <p:txBody>
          <a:bodyPr wrap="square" rtlCol="0" anchor="ctr"/>
          <a:lstStyle/>
          <a:p>
            <a:pPr marL="0" indent="0">
              <a:buNone/>
            </a:pPr>
            <a:r>
              <a:rPr lang="en-US" sz="1800" b="1" dirty="0">
                <a:solidFill>
                  <a:srgbClr val="C4B5E8"/>
                </a:solidFill>
                <a:latin typeface="Calibri" pitchFamily="34" charset="0"/>
                <a:ea typeface="Calibri" pitchFamily="34" charset="-122"/>
                <a:cs typeface="Calibri" pitchFamily="34" charset="-120"/>
              </a:rPr>
              <a:t>FROM   </a:t>
            </a:r>
            <a:r>
              <a:rPr lang="en-US" sz="1800" i="1" dirty="0">
                <a:solidFill>
                  <a:srgbClr val="FFFFFF"/>
                </a:solidFill>
                <a:latin typeface="Calibri" pitchFamily="34" charset="0"/>
                <a:ea typeface="Calibri" pitchFamily="34" charset="-122"/>
                <a:cs typeface="Calibri" pitchFamily="34" charset="-120"/>
              </a:rPr>
              <a:t>“How do I write this function?”</a:t>
            </a:r>
            <a:endParaRPr lang="en-US" sz="1800" dirty="0"/>
          </a:p>
        </p:txBody>
      </p:sp>
      <p:sp>
        <p:nvSpPr>
          <p:cNvPr id="10" name="Text 7"/>
          <p:cNvSpPr/>
          <p:nvPr/>
        </p:nvSpPr>
        <p:spPr>
          <a:xfrm>
            <a:off x="731520" y="3840480"/>
            <a:ext cx="7680960" cy="457200"/>
          </a:xfrm>
          <a:prstGeom prst="rect">
            <a:avLst/>
          </a:prstGeom>
          <a:noFill/>
          <a:ln/>
        </p:spPr>
        <p:txBody>
          <a:bodyPr wrap="square" rtlCol="0" anchor="ctr"/>
          <a:lstStyle/>
          <a:p>
            <a:pPr marL="0" indent="0">
              <a:buNone/>
            </a:pPr>
            <a:r>
              <a:rPr lang="en-US" sz="1800" b="1" dirty="0">
                <a:solidFill>
                  <a:srgbClr val="F59E0B"/>
                </a:solidFill>
                <a:latin typeface="Calibri" pitchFamily="34" charset="0"/>
                <a:ea typeface="Calibri" pitchFamily="34" charset="-122"/>
                <a:cs typeface="Calibri" pitchFamily="34" charset="-120"/>
              </a:rPr>
              <a:t>TO   </a:t>
            </a:r>
            <a:r>
              <a:rPr lang="en-US" sz="1800" i="1" dirty="0">
                <a:solidFill>
                  <a:srgbClr val="FFFFFF"/>
                </a:solidFill>
                <a:latin typeface="Calibri" pitchFamily="34" charset="0"/>
                <a:ea typeface="Calibri" pitchFamily="34" charset="-122"/>
                <a:cs typeface="Calibri" pitchFamily="34" charset="-120"/>
              </a:rPr>
              <a:t>“What do I want to be true when this is done?”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THE AGENTIC LOOP</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mental model that matters most.</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600200"/>
            <a:ext cx="1517904" cy="1417320"/>
          </a:xfrm>
          <a:prstGeom prst="roundRect">
            <a:avLst>
              <a:gd name="adj" fmla="val 5161"/>
            </a:avLst>
          </a:prstGeom>
          <a:solidFill>
            <a:srgbClr val="2D1155"/>
          </a:solidFill>
          <a:ln/>
        </p:spPr>
        <p:txBody>
          <a:bodyPr/>
          <a:lstStyle/>
          <a:p>
            <a:endParaRPr lang="en-AU"/>
          </a:p>
        </p:txBody>
      </p:sp>
      <p:sp>
        <p:nvSpPr>
          <p:cNvPr id="6" name="Text 3"/>
          <p:cNvSpPr/>
          <p:nvPr/>
        </p:nvSpPr>
        <p:spPr>
          <a:xfrm>
            <a:off x="457200" y="1700784"/>
            <a:ext cx="1517904" cy="384048"/>
          </a:xfrm>
          <a:prstGeom prst="rect">
            <a:avLst/>
          </a:prstGeom>
          <a:noFill/>
          <a:ln/>
        </p:spPr>
        <p:txBody>
          <a:bodyPr wrap="square" rtlCol="0" anchor="ctr"/>
          <a:lstStyle/>
          <a:p>
            <a:pPr marL="0" indent="0" algn="ctr">
              <a:buNone/>
            </a:pPr>
            <a:r>
              <a:rPr lang="en-US" sz="2000" b="1" dirty="0">
                <a:solidFill>
                  <a:srgbClr val="F59E0B"/>
                </a:solidFill>
                <a:latin typeface="Arial Black" pitchFamily="34" charset="0"/>
                <a:ea typeface="Arial Black" pitchFamily="34" charset="-122"/>
                <a:cs typeface="Arial Black" pitchFamily="34" charset="-120"/>
              </a:rPr>
              <a:t>1</a:t>
            </a:r>
            <a:endParaRPr lang="en-US" sz="2000" dirty="0"/>
          </a:p>
        </p:txBody>
      </p:sp>
      <p:sp>
        <p:nvSpPr>
          <p:cNvPr id="7" name="Text 4"/>
          <p:cNvSpPr/>
          <p:nvPr/>
        </p:nvSpPr>
        <p:spPr>
          <a:xfrm>
            <a:off x="457200"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PROMPT</a:t>
            </a:r>
            <a:endParaRPr lang="en-US" sz="1200" dirty="0"/>
          </a:p>
        </p:txBody>
      </p:sp>
      <p:sp>
        <p:nvSpPr>
          <p:cNvPr id="8" name="Text 5"/>
          <p:cNvSpPr/>
          <p:nvPr/>
        </p:nvSpPr>
        <p:spPr>
          <a:xfrm>
            <a:off x="457200"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State the outcome</a:t>
            </a:r>
            <a:endParaRPr lang="en-US" sz="1000" dirty="0"/>
          </a:p>
        </p:txBody>
      </p:sp>
      <p:sp>
        <p:nvSpPr>
          <p:cNvPr id="9" name="Text 6"/>
          <p:cNvSpPr/>
          <p:nvPr/>
        </p:nvSpPr>
        <p:spPr>
          <a:xfrm>
            <a:off x="1956816" y="1874520"/>
            <a:ext cx="164592" cy="914400"/>
          </a:xfrm>
          <a:prstGeom prst="rect">
            <a:avLst/>
          </a:prstGeom>
          <a:noFill/>
          <a:ln/>
        </p:spPr>
        <p:txBody>
          <a:bodyPr wrap="square"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139696" y="1600200"/>
            <a:ext cx="1517904" cy="1417320"/>
          </a:xfrm>
          <a:prstGeom prst="roundRect">
            <a:avLst>
              <a:gd name="adj" fmla="val 5161"/>
            </a:avLst>
          </a:prstGeom>
          <a:solidFill>
            <a:srgbClr val="2D1155"/>
          </a:solidFill>
          <a:ln/>
        </p:spPr>
        <p:txBody>
          <a:bodyPr/>
          <a:lstStyle/>
          <a:p>
            <a:endParaRPr lang="en-AU"/>
          </a:p>
        </p:txBody>
      </p:sp>
      <p:sp>
        <p:nvSpPr>
          <p:cNvPr id="11" name="Text 8"/>
          <p:cNvSpPr/>
          <p:nvPr/>
        </p:nvSpPr>
        <p:spPr>
          <a:xfrm>
            <a:off x="2139696" y="1700784"/>
            <a:ext cx="1517904" cy="384048"/>
          </a:xfrm>
          <a:prstGeom prst="rect">
            <a:avLst/>
          </a:prstGeom>
          <a:noFill/>
          <a:ln/>
        </p:spPr>
        <p:txBody>
          <a:bodyPr wrap="square" rtlCol="0" anchor="ctr"/>
          <a:lstStyle/>
          <a:p>
            <a:pPr marL="0" indent="0" algn="ctr">
              <a:buNone/>
            </a:pPr>
            <a:r>
              <a:rPr lang="en-US" sz="2000" b="1" dirty="0">
                <a:solidFill>
                  <a:srgbClr val="7C3AED"/>
                </a:solidFill>
                <a:latin typeface="Arial Black" pitchFamily="34" charset="0"/>
                <a:ea typeface="Arial Black" pitchFamily="34" charset="-122"/>
                <a:cs typeface="Arial Black" pitchFamily="34" charset="-120"/>
              </a:rPr>
              <a:t>2</a:t>
            </a:r>
            <a:endParaRPr lang="en-US" sz="2000" dirty="0"/>
          </a:p>
        </p:txBody>
      </p:sp>
      <p:sp>
        <p:nvSpPr>
          <p:cNvPr id="12" name="Text 9"/>
          <p:cNvSpPr/>
          <p:nvPr/>
        </p:nvSpPr>
        <p:spPr>
          <a:xfrm>
            <a:off x="2139696"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GENERATE</a:t>
            </a:r>
            <a:endParaRPr lang="en-US" sz="1200" dirty="0"/>
          </a:p>
        </p:txBody>
      </p:sp>
      <p:sp>
        <p:nvSpPr>
          <p:cNvPr id="13" name="Text 10"/>
          <p:cNvSpPr/>
          <p:nvPr/>
        </p:nvSpPr>
        <p:spPr>
          <a:xfrm>
            <a:off x="2139696"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Agent writes code</a:t>
            </a:r>
            <a:endParaRPr lang="en-US" sz="1000" dirty="0"/>
          </a:p>
        </p:txBody>
      </p:sp>
      <p:sp>
        <p:nvSpPr>
          <p:cNvPr id="14" name="Text 11"/>
          <p:cNvSpPr/>
          <p:nvPr/>
        </p:nvSpPr>
        <p:spPr>
          <a:xfrm>
            <a:off x="3639312" y="1874520"/>
            <a:ext cx="164592" cy="914400"/>
          </a:xfrm>
          <a:prstGeom prst="rect">
            <a:avLst/>
          </a:prstGeom>
          <a:noFill/>
          <a:ln/>
        </p:spPr>
        <p:txBody>
          <a:bodyPr wrap="square"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3822192" y="1600200"/>
            <a:ext cx="1517904" cy="1417320"/>
          </a:xfrm>
          <a:prstGeom prst="roundRect">
            <a:avLst>
              <a:gd name="adj" fmla="val 5161"/>
            </a:avLst>
          </a:prstGeom>
          <a:solidFill>
            <a:srgbClr val="2D1155"/>
          </a:solidFill>
          <a:ln/>
        </p:spPr>
        <p:txBody>
          <a:bodyPr/>
          <a:lstStyle/>
          <a:p>
            <a:endParaRPr lang="en-AU"/>
          </a:p>
        </p:txBody>
      </p:sp>
      <p:sp>
        <p:nvSpPr>
          <p:cNvPr id="16" name="Text 13"/>
          <p:cNvSpPr/>
          <p:nvPr/>
        </p:nvSpPr>
        <p:spPr>
          <a:xfrm>
            <a:off x="3822192" y="1700784"/>
            <a:ext cx="1517904" cy="384048"/>
          </a:xfrm>
          <a:prstGeom prst="rect">
            <a:avLst/>
          </a:prstGeom>
          <a:noFill/>
          <a:ln/>
        </p:spPr>
        <p:txBody>
          <a:bodyPr wrap="square" rtlCol="0" anchor="ctr"/>
          <a:lstStyle/>
          <a:p>
            <a:pPr marL="0" indent="0" algn="ctr">
              <a:buNone/>
            </a:pPr>
            <a:r>
              <a:rPr lang="en-US" sz="2000" b="1" dirty="0">
                <a:solidFill>
                  <a:srgbClr val="7C3AED"/>
                </a:solidFill>
                <a:latin typeface="Arial Black" pitchFamily="34" charset="0"/>
                <a:ea typeface="Arial Black" pitchFamily="34" charset="-122"/>
                <a:cs typeface="Arial Black" pitchFamily="34" charset="-120"/>
              </a:rPr>
              <a:t>3</a:t>
            </a:r>
            <a:endParaRPr lang="en-US" sz="2000" dirty="0"/>
          </a:p>
        </p:txBody>
      </p:sp>
      <p:sp>
        <p:nvSpPr>
          <p:cNvPr id="17" name="Text 14"/>
          <p:cNvSpPr/>
          <p:nvPr/>
        </p:nvSpPr>
        <p:spPr>
          <a:xfrm>
            <a:off x="3822192"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RUN</a:t>
            </a:r>
            <a:endParaRPr lang="en-US" sz="1200" dirty="0"/>
          </a:p>
        </p:txBody>
      </p:sp>
      <p:sp>
        <p:nvSpPr>
          <p:cNvPr id="18" name="Text 15"/>
          <p:cNvSpPr/>
          <p:nvPr/>
        </p:nvSpPr>
        <p:spPr>
          <a:xfrm>
            <a:off x="3822192"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Agent executes it</a:t>
            </a:r>
            <a:endParaRPr lang="en-US" sz="1000" dirty="0"/>
          </a:p>
        </p:txBody>
      </p:sp>
      <p:sp>
        <p:nvSpPr>
          <p:cNvPr id="19" name="Text 16"/>
          <p:cNvSpPr/>
          <p:nvPr/>
        </p:nvSpPr>
        <p:spPr>
          <a:xfrm>
            <a:off x="5321808" y="1874520"/>
            <a:ext cx="164592" cy="914400"/>
          </a:xfrm>
          <a:prstGeom prst="rect">
            <a:avLst/>
          </a:prstGeom>
          <a:noFill/>
          <a:ln/>
        </p:spPr>
        <p:txBody>
          <a:bodyPr wrap="square"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20" name="Shape 17"/>
          <p:cNvSpPr/>
          <p:nvPr/>
        </p:nvSpPr>
        <p:spPr>
          <a:xfrm>
            <a:off x="5504688" y="1600200"/>
            <a:ext cx="1517904" cy="1417320"/>
          </a:xfrm>
          <a:prstGeom prst="roundRect">
            <a:avLst>
              <a:gd name="adj" fmla="val 5161"/>
            </a:avLst>
          </a:prstGeom>
          <a:solidFill>
            <a:srgbClr val="2D1155"/>
          </a:solidFill>
          <a:ln/>
        </p:spPr>
        <p:txBody>
          <a:bodyPr/>
          <a:lstStyle/>
          <a:p>
            <a:endParaRPr lang="en-AU"/>
          </a:p>
        </p:txBody>
      </p:sp>
      <p:sp>
        <p:nvSpPr>
          <p:cNvPr id="21" name="Text 18"/>
          <p:cNvSpPr/>
          <p:nvPr/>
        </p:nvSpPr>
        <p:spPr>
          <a:xfrm>
            <a:off x="5504688" y="1700784"/>
            <a:ext cx="1517904" cy="384048"/>
          </a:xfrm>
          <a:prstGeom prst="rect">
            <a:avLst/>
          </a:prstGeom>
          <a:noFill/>
          <a:ln/>
        </p:spPr>
        <p:txBody>
          <a:bodyPr wrap="square" rtlCol="0" anchor="ctr"/>
          <a:lstStyle/>
          <a:p>
            <a:pPr marL="0" indent="0" algn="ctr">
              <a:buNone/>
            </a:pPr>
            <a:r>
              <a:rPr lang="en-US" sz="2000" b="1" dirty="0">
                <a:solidFill>
                  <a:srgbClr val="F59E0B"/>
                </a:solidFill>
                <a:latin typeface="Arial Black" pitchFamily="34" charset="0"/>
                <a:ea typeface="Arial Black" pitchFamily="34" charset="-122"/>
                <a:cs typeface="Arial Black" pitchFamily="34" charset="-120"/>
              </a:rPr>
              <a:t>4</a:t>
            </a:r>
            <a:endParaRPr lang="en-US" sz="2000" dirty="0"/>
          </a:p>
        </p:txBody>
      </p:sp>
      <p:sp>
        <p:nvSpPr>
          <p:cNvPr id="22" name="Text 19"/>
          <p:cNvSpPr/>
          <p:nvPr/>
        </p:nvSpPr>
        <p:spPr>
          <a:xfrm>
            <a:off x="5504688"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OBSERVE</a:t>
            </a:r>
            <a:endParaRPr lang="en-US" sz="1200" dirty="0"/>
          </a:p>
        </p:txBody>
      </p:sp>
      <p:sp>
        <p:nvSpPr>
          <p:cNvPr id="23" name="Text 20"/>
          <p:cNvSpPr/>
          <p:nvPr/>
        </p:nvSpPr>
        <p:spPr>
          <a:xfrm>
            <a:off x="5504688"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You look at reality</a:t>
            </a:r>
            <a:endParaRPr lang="en-US" sz="1000" dirty="0"/>
          </a:p>
        </p:txBody>
      </p:sp>
      <p:sp>
        <p:nvSpPr>
          <p:cNvPr id="24" name="Text 21"/>
          <p:cNvSpPr/>
          <p:nvPr/>
        </p:nvSpPr>
        <p:spPr>
          <a:xfrm>
            <a:off x="7004304" y="1874520"/>
            <a:ext cx="164592" cy="914400"/>
          </a:xfrm>
          <a:prstGeom prst="rect">
            <a:avLst/>
          </a:prstGeom>
          <a:noFill/>
          <a:ln/>
        </p:spPr>
        <p:txBody>
          <a:bodyPr wrap="square"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25" name="Shape 22"/>
          <p:cNvSpPr/>
          <p:nvPr/>
        </p:nvSpPr>
        <p:spPr>
          <a:xfrm>
            <a:off x="7187184" y="1600200"/>
            <a:ext cx="1517904" cy="1417320"/>
          </a:xfrm>
          <a:prstGeom prst="roundRect">
            <a:avLst>
              <a:gd name="adj" fmla="val 5161"/>
            </a:avLst>
          </a:prstGeom>
          <a:solidFill>
            <a:srgbClr val="2D1155"/>
          </a:solidFill>
          <a:ln/>
        </p:spPr>
        <p:txBody>
          <a:bodyPr/>
          <a:lstStyle/>
          <a:p>
            <a:endParaRPr lang="en-AU"/>
          </a:p>
        </p:txBody>
      </p:sp>
      <p:sp>
        <p:nvSpPr>
          <p:cNvPr id="26" name="Text 23"/>
          <p:cNvSpPr/>
          <p:nvPr/>
        </p:nvSpPr>
        <p:spPr>
          <a:xfrm>
            <a:off x="7187184" y="1700784"/>
            <a:ext cx="1517904" cy="384048"/>
          </a:xfrm>
          <a:prstGeom prst="rect">
            <a:avLst/>
          </a:prstGeom>
          <a:noFill/>
          <a:ln/>
        </p:spPr>
        <p:txBody>
          <a:bodyPr wrap="square" rtlCol="0" anchor="ctr"/>
          <a:lstStyle/>
          <a:p>
            <a:pPr marL="0" indent="0" algn="ctr">
              <a:buNone/>
            </a:pPr>
            <a:r>
              <a:rPr lang="en-US" sz="2000" b="1" dirty="0">
                <a:solidFill>
                  <a:srgbClr val="F59E0B"/>
                </a:solidFill>
                <a:latin typeface="Arial Black" pitchFamily="34" charset="0"/>
                <a:ea typeface="Arial Black" pitchFamily="34" charset="-122"/>
                <a:cs typeface="Arial Black" pitchFamily="34" charset="-120"/>
              </a:rPr>
              <a:t>5</a:t>
            </a:r>
            <a:endParaRPr lang="en-US" sz="2000" dirty="0"/>
          </a:p>
        </p:txBody>
      </p:sp>
      <p:sp>
        <p:nvSpPr>
          <p:cNvPr id="27" name="Text 24"/>
          <p:cNvSpPr/>
          <p:nvPr/>
        </p:nvSpPr>
        <p:spPr>
          <a:xfrm>
            <a:off x="7187184"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REACT</a:t>
            </a:r>
            <a:endParaRPr lang="en-US" sz="1200" dirty="0"/>
          </a:p>
        </p:txBody>
      </p:sp>
      <p:sp>
        <p:nvSpPr>
          <p:cNvPr id="28" name="Text 25"/>
          <p:cNvSpPr/>
          <p:nvPr/>
        </p:nvSpPr>
        <p:spPr>
          <a:xfrm>
            <a:off x="7187184"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You steer, repeat</a:t>
            </a:r>
            <a:endParaRPr lang="en-US" sz="1000" dirty="0"/>
          </a:p>
        </p:txBody>
      </p:sp>
      <p:sp>
        <p:nvSpPr>
          <p:cNvPr id="29" name="Shape 26"/>
          <p:cNvSpPr/>
          <p:nvPr/>
        </p:nvSpPr>
        <p:spPr>
          <a:xfrm>
            <a:off x="457200" y="3246120"/>
            <a:ext cx="8229600" cy="1234440"/>
          </a:xfrm>
          <a:prstGeom prst="roundRect">
            <a:avLst>
              <a:gd name="adj" fmla="val 5926"/>
            </a:avLst>
          </a:prstGeom>
          <a:solidFill>
            <a:srgbClr val="DDD6FE"/>
          </a:solidFill>
          <a:ln/>
        </p:spPr>
        <p:txBody>
          <a:bodyPr/>
          <a:lstStyle/>
          <a:p>
            <a:endParaRPr lang="en-AU"/>
          </a:p>
        </p:txBody>
      </p:sp>
      <p:sp>
        <p:nvSpPr>
          <p:cNvPr id="30" name="Text 27"/>
          <p:cNvSpPr/>
          <p:nvPr/>
        </p:nvSpPr>
        <p:spPr>
          <a:xfrm>
            <a:off x="731520" y="3383280"/>
            <a:ext cx="7680960" cy="914400"/>
          </a:xfrm>
          <a:prstGeom prst="rect">
            <a:avLst/>
          </a:prstGeom>
          <a:noFill/>
          <a:ln/>
        </p:spPr>
        <p:txBody>
          <a:bodyPr wrap="square" rtlCol="0" anchor="ctr"/>
          <a:lstStyle/>
          <a:p>
            <a:pPr marL="0" indent="0">
              <a:buNone/>
            </a:pPr>
            <a:r>
              <a:rPr lang="en-US" sz="1400" b="1" dirty="0">
                <a:solidFill>
                  <a:srgbClr val="2D1155"/>
                </a:solidFill>
                <a:latin typeface="Calibri" pitchFamily="34" charset="0"/>
                <a:ea typeface="Calibri" pitchFamily="34" charset="-122"/>
                <a:cs typeface="Calibri" pitchFamily="34" charset="-120"/>
              </a:rPr>
              <a:t>Your job lives in steps 1, 4 and 5.  </a:t>
            </a:r>
            <a:r>
              <a:rPr lang="en-US" sz="1400" dirty="0">
                <a:solidFill>
                  <a:srgbClr val="2D1155"/>
                </a:solidFill>
                <a:latin typeface="Calibri" pitchFamily="34" charset="0"/>
                <a:ea typeface="Calibri" pitchFamily="34" charset="-122"/>
                <a:cs typeface="Calibri" pitchFamily="34" charset="-120"/>
              </a:rPr>
              <a:t>The agent owns 2 and 3. The faster you spin this loop, the more you ship — so keep each turn small.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1900" b="1" kern="0" spc="100" dirty="0">
                <a:solidFill>
                  <a:srgbClr val="2D1155"/>
                </a:solidFill>
                <a:latin typeface="Arial Black" pitchFamily="34" charset="0"/>
                <a:ea typeface="Arial Black" pitchFamily="34" charset="-122"/>
                <a:cs typeface="Arial Black" pitchFamily="34" charset="-120"/>
              </a:rPr>
              <a:t>WHAT THE AGENT ACTUALLY IS</a:t>
            </a:r>
            <a:endParaRPr lang="en-US" sz="19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Under the hood.</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3931920" cy="1444752"/>
          </a:xfrm>
          <a:prstGeom prst="roundRect">
            <a:avLst>
              <a:gd name="adj" fmla="val 5063"/>
            </a:avLst>
          </a:prstGeom>
          <a:solidFill>
            <a:srgbClr val="2D1155"/>
          </a:solidFill>
          <a:ln/>
        </p:spPr>
        <p:txBody>
          <a:bodyPr/>
          <a:lstStyle/>
          <a:p>
            <a:endParaRPr lang="en-AU"/>
          </a:p>
        </p:txBody>
      </p:sp>
      <p:sp>
        <p:nvSpPr>
          <p:cNvPr id="6" name="Shape 3"/>
          <p:cNvSpPr/>
          <p:nvPr/>
        </p:nvSpPr>
        <p:spPr>
          <a:xfrm>
            <a:off x="694944" y="1700784"/>
            <a:ext cx="457200" cy="457200"/>
          </a:xfrm>
          <a:prstGeom prst="ellipse">
            <a:avLst/>
          </a:prstGeom>
          <a:solidFill>
            <a:srgbClr val="7C3AED"/>
          </a:solidFill>
          <a:ln/>
        </p:spPr>
        <p:txBody>
          <a:bodyPr/>
          <a:lstStyle/>
          <a:p>
            <a:endParaRPr lang="en-AU"/>
          </a:p>
        </p:txBody>
      </p:sp>
      <p:sp>
        <p:nvSpPr>
          <p:cNvPr id="7" name="Text 4"/>
          <p:cNvSpPr/>
          <p:nvPr/>
        </p:nvSpPr>
        <p:spPr>
          <a:xfrm>
            <a:off x="694944" y="1700784"/>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a:t>
            </a:r>
            <a:endParaRPr lang="en-US" sz="1200" dirty="0"/>
          </a:p>
        </p:txBody>
      </p:sp>
      <p:sp>
        <p:nvSpPr>
          <p:cNvPr id="8" name="Text 5"/>
          <p:cNvSpPr/>
          <p:nvPr/>
        </p:nvSpPr>
        <p:spPr>
          <a:xfrm>
            <a:off x="1298448" y="1682496"/>
            <a:ext cx="2926080" cy="457200"/>
          </a:xfrm>
          <a:prstGeom prst="rect">
            <a:avLst/>
          </a:prstGeom>
          <a:noFill/>
          <a:ln/>
        </p:spPr>
        <p:txBody>
          <a:bodyPr wrap="square" rtlCol="0" anchor="ctr"/>
          <a:lstStyle/>
          <a:p>
            <a:pPr marL="0" indent="0">
              <a:buNone/>
            </a:pPr>
            <a:r>
              <a:rPr lang="en-US" sz="1400" b="1" dirty="0">
                <a:solidFill>
                  <a:srgbClr val="7C3AED"/>
                </a:solidFill>
                <a:latin typeface="Arial Black" pitchFamily="34" charset="0"/>
                <a:ea typeface="Arial Black" pitchFamily="34" charset="-122"/>
                <a:cs typeface="Arial Black" pitchFamily="34" charset="-120"/>
              </a:rPr>
              <a:t>Context window</a:t>
            </a:r>
            <a:endParaRPr lang="en-US" sz="1400" dirty="0"/>
          </a:p>
        </p:txBody>
      </p:sp>
      <p:sp>
        <p:nvSpPr>
          <p:cNvPr id="9" name="Text 6"/>
          <p:cNvSpPr/>
          <p:nvPr/>
        </p:nvSpPr>
        <p:spPr>
          <a:xfrm>
            <a:off x="713232" y="2212848"/>
            <a:ext cx="3520440" cy="603504"/>
          </a:xfrm>
          <a:prstGeom prst="rect">
            <a:avLst/>
          </a:prstGeom>
          <a:noFill/>
          <a:ln/>
        </p:spPr>
        <p:txBody>
          <a:bodyPr wrap="square" rtlCol="0" anchor="t"/>
          <a:lstStyle/>
          <a:p>
            <a:pPr marL="0" indent="0">
              <a:buNone/>
            </a:pPr>
            <a:r>
              <a:rPr lang="en-US" sz="1100" dirty="0">
                <a:solidFill>
                  <a:srgbClr val="DDD6FE"/>
                </a:solidFill>
                <a:latin typeface="Calibri" pitchFamily="34" charset="0"/>
                <a:ea typeface="Calibri" pitchFamily="34" charset="-122"/>
                <a:cs typeface="Calibri" pitchFamily="34" charset="-120"/>
              </a:rPr>
              <a:t>Everything it can see now: your prompt, files, past turns, tool output. Finite — and it fills up.</a:t>
            </a:r>
            <a:endParaRPr lang="en-US" sz="1100" dirty="0"/>
          </a:p>
        </p:txBody>
      </p:sp>
      <p:sp>
        <p:nvSpPr>
          <p:cNvPr id="10" name="Shape 7"/>
          <p:cNvSpPr/>
          <p:nvPr/>
        </p:nvSpPr>
        <p:spPr>
          <a:xfrm>
            <a:off x="4754880" y="1463040"/>
            <a:ext cx="3931920" cy="1444752"/>
          </a:xfrm>
          <a:prstGeom prst="roundRect">
            <a:avLst>
              <a:gd name="adj" fmla="val 5063"/>
            </a:avLst>
          </a:prstGeom>
          <a:solidFill>
            <a:srgbClr val="2D1155"/>
          </a:solidFill>
          <a:ln/>
        </p:spPr>
        <p:txBody>
          <a:bodyPr/>
          <a:lstStyle/>
          <a:p>
            <a:endParaRPr lang="en-AU"/>
          </a:p>
        </p:txBody>
      </p:sp>
      <p:sp>
        <p:nvSpPr>
          <p:cNvPr id="11" name="Shape 8"/>
          <p:cNvSpPr/>
          <p:nvPr/>
        </p:nvSpPr>
        <p:spPr>
          <a:xfrm>
            <a:off x="4992624" y="1700784"/>
            <a:ext cx="457200" cy="457200"/>
          </a:xfrm>
          <a:prstGeom prst="ellipse">
            <a:avLst/>
          </a:prstGeom>
          <a:solidFill>
            <a:srgbClr val="F59E0B"/>
          </a:solidFill>
          <a:ln/>
        </p:spPr>
        <p:txBody>
          <a:bodyPr/>
          <a:lstStyle/>
          <a:p>
            <a:endParaRPr lang="en-AU"/>
          </a:p>
        </p:txBody>
      </p:sp>
      <p:sp>
        <p:nvSpPr>
          <p:cNvPr id="12" name="Text 9"/>
          <p:cNvSpPr/>
          <p:nvPr/>
        </p:nvSpPr>
        <p:spPr>
          <a:xfrm>
            <a:off x="4992624" y="1700784"/>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2</a:t>
            </a:r>
            <a:endParaRPr lang="en-US" sz="1200" dirty="0"/>
          </a:p>
        </p:txBody>
      </p:sp>
      <p:sp>
        <p:nvSpPr>
          <p:cNvPr id="13" name="Text 10"/>
          <p:cNvSpPr/>
          <p:nvPr/>
        </p:nvSpPr>
        <p:spPr>
          <a:xfrm>
            <a:off x="5596128" y="1682496"/>
            <a:ext cx="2926080" cy="457200"/>
          </a:xfrm>
          <a:prstGeom prst="rect">
            <a:avLst/>
          </a:prstGeom>
          <a:noFill/>
          <a:ln/>
        </p:spPr>
        <p:txBody>
          <a:bodyPr wrap="square" rtlCol="0" anchor="ctr"/>
          <a:lstStyle/>
          <a:p>
            <a:pPr marL="0" indent="0">
              <a:buNone/>
            </a:pPr>
            <a:r>
              <a:rPr lang="en-US" sz="1400" b="1" dirty="0">
                <a:solidFill>
                  <a:srgbClr val="F59E0B"/>
                </a:solidFill>
                <a:latin typeface="Arial Black" pitchFamily="34" charset="0"/>
                <a:ea typeface="Arial Black" pitchFamily="34" charset="-122"/>
                <a:cs typeface="Arial Black" pitchFamily="34" charset="-120"/>
              </a:rPr>
              <a:t>Tools</a:t>
            </a:r>
            <a:endParaRPr lang="en-US" sz="1400" dirty="0"/>
          </a:p>
        </p:txBody>
      </p:sp>
      <p:sp>
        <p:nvSpPr>
          <p:cNvPr id="14" name="Text 11"/>
          <p:cNvSpPr/>
          <p:nvPr/>
        </p:nvSpPr>
        <p:spPr>
          <a:xfrm>
            <a:off x="5010912" y="2212848"/>
            <a:ext cx="3520440" cy="603504"/>
          </a:xfrm>
          <a:prstGeom prst="rect">
            <a:avLst/>
          </a:prstGeom>
          <a:noFill/>
          <a:ln/>
        </p:spPr>
        <p:txBody>
          <a:bodyPr wrap="square" rtlCol="0" anchor="t"/>
          <a:lstStyle/>
          <a:p>
            <a:pPr marL="0" indent="0">
              <a:buNone/>
            </a:pPr>
            <a:r>
              <a:rPr lang="en-US" sz="1100" dirty="0">
                <a:solidFill>
                  <a:srgbClr val="DDD6FE"/>
                </a:solidFill>
                <a:latin typeface="Calibri" pitchFamily="34" charset="0"/>
                <a:ea typeface="Calibri" pitchFamily="34" charset="-122"/>
                <a:cs typeface="Calibri" pitchFamily="34" charset="-120"/>
              </a:rPr>
              <a:t>How it acts: read/write files, run the shell, run tests, git, search, MCP servers.</a:t>
            </a:r>
            <a:endParaRPr lang="en-US" sz="1100" dirty="0"/>
          </a:p>
        </p:txBody>
      </p:sp>
      <p:sp>
        <p:nvSpPr>
          <p:cNvPr id="15" name="Shape 12"/>
          <p:cNvSpPr/>
          <p:nvPr/>
        </p:nvSpPr>
        <p:spPr>
          <a:xfrm>
            <a:off x="457200" y="3035808"/>
            <a:ext cx="3931920" cy="1444752"/>
          </a:xfrm>
          <a:prstGeom prst="roundRect">
            <a:avLst>
              <a:gd name="adj" fmla="val 5063"/>
            </a:avLst>
          </a:prstGeom>
          <a:solidFill>
            <a:srgbClr val="2D1155"/>
          </a:solidFill>
          <a:ln/>
        </p:spPr>
        <p:txBody>
          <a:bodyPr/>
          <a:lstStyle/>
          <a:p>
            <a:endParaRPr lang="en-AU"/>
          </a:p>
        </p:txBody>
      </p:sp>
      <p:sp>
        <p:nvSpPr>
          <p:cNvPr id="16" name="Shape 13"/>
          <p:cNvSpPr/>
          <p:nvPr/>
        </p:nvSpPr>
        <p:spPr>
          <a:xfrm>
            <a:off x="694944" y="3273552"/>
            <a:ext cx="457200" cy="457200"/>
          </a:xfrm>
          <a:prstGeom prst="ellipse">
            <a:avLst/>
          </a:prstGeom>
          <a:solidFill>
            <a:srgbClr val="7C3AED"/>
          </a:solidFill>
          <a:ln/>
        </p:spPr>
        <p:txBody>
          <a:bodyPr/>
          <a:lstStyle/>
          <a:p>
            <a:endParaRPr lang="en-AU"/>
          </a:p>
        </p:txBody>
      </p:sp>
      <p:sp>
        <p:nvSpPr>
          <p:cNvPr id="17" name="Text 14"/>
          <p:cNvSpPr/>
          <p:nvPr/>
        </p:nvSpPr>
        <p:spPr>
          <a:xfrm>
            <a:off x="694944" y="3273552"/>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3</a:t>
            </a:r>
            <a:endParaRPr lang="en-US" sz="1200" dirty="0"/>
          </a:p>
        </p:txBody>
      </p:sp>
      <p:sp>
        <p:nvSpPr>
          <p:cNvPr id="18" name="Text 15"/>
          <p:cNvSpPr/>
          <p:nvPr/>
        </p:nvSpPr>
        <p:spPr>
          <a:xfrm>
            <a:off x="1298448" y="3255264"/>
            <a:ext cx="2926080" cy="457200"/>
          </a:xfrm>
          <a:prstGeom prst="rect">
            <a:avLst/>
          </a:prstGeom>
          <a:noFill/>
          <a:ln/>
        </p:spPr>
        <p:txBody>
          <a:bodyPr wrap="square" rtlCol="0" anchor="ctr"/>
          <a:lstStyle/>
          <a:p>
            <a:pPr marL="0" indent="0">
              <a:buNone/>
            </a:pPr>
            <a:r>
              <a:rPr lang="en-US" sz="1400" b="1" dirty="0">
                <a:solidFill>
                  <a:srgbClr val="7C3AED"/>
                </a:solidFill>
                <a:latin typeface="Arial Black" pitchFamily="34" charset="0"/>
                <a:ea typeface="Arial Black" pitchFamily="34" charset="-122"/>
                <a:cs typeface="Arial Black" pitchFamily="34" charset="-120"/>
              </a:rPr>
              <a:t>The loop</a:t>
            </a:r>
            <a:endParaRPr lang="en-US" sz="1400" dirty="0"/>
          </a:p>
        </p:txBody>
      </p:sp>
      <p:sp>
        <p:nvSpPr>
          <p:cNvPr id="19" name="Text 16"/>
          <p:cNvSpPr/>
          <p:nvPr/>
        </p:nvSpPr>
        <p:spPr>
          <a:xfrm>
            <a:off x="713232" y="3785616"/>
            <a:ext cx="3520440" cy="603504"/>
          </a:xfrm>
          <a:prstGeom prst="rect">
            <a:avLst/>
          </a:prstGeom>
          <a:noFill/>
          <a:ln/>
        </p:spPr>
        <p:txBody>
          <a:bodyPr wrap="square" rtlCol="0" anchor="t"/>
          <a:lstStyle/>
          <a:p>
            <a:pPr marL="0" indent="0">
              <a:buNone/>
            </a:pPr>
            <a:r>
              <a:rPr lang="en-US" sz="1100" dirty="0">
                <a:solidFill>
                  <a:srgbClr val="DDD6FE"/>
                </a:solidFill>
                <a:latin typeface="Calibri" pitchFamily="34" charset="0"/>
                <a:ea typeface="Calibri" pitchFamily="34" charset="-122"/>
                <a:cs typeface="Calibri" pitchFamily="34" charset="-120"/>
              </a:rPr>
              <a:t>Call a tool, read the result, decide the next move, repeat — until the goal is met.</a:t>
            </a:r>
            <a:endParaRPr lang="en-US" sz="1100" dirty="0"/>
          </a:p>
        </p:txBody>
      </p:sp>
      <p:sp>
        <p:nvSpPr>
          <p:cNvPr id="20" name="Shape 17"/>
          <p:cNvSpPr/>
          <p:nvPr/>
        </p:nvSpPr>
        <p:spPr>
          <a:xfrm>
            <a:off x="4754880" y="3035808"/>
            <a:ext cx="3931920" cy="1444752"/>
          </a:xfrm>
          <a:prstGeom prst="roundRect">
            <a:avLst>
              <a:gd name="adj" fmla="val 5063"/>
            </a:avLst>
          </a:prstGeom>
          <a:solidFill>
            <a:srgbClr val="2D1155"/>
          </a:solidFill>
          <a:ln/>
        </p:spPr>
        <p:txBody>
          <a:bodyPr/>
          <a:lstStyle/>
          <a:p>
            <a:endParaRPr lang="en-AU"/>
          </a:p>
        </p:txBody>
      </p:sp>
      <p:sp>
        <p:nvSpPr>
          <p:cNvPr id="21" name="Shape 18"/>
          <p:cNvSpPr/>
          <p:nvPr/>
        </p:nvSpPr>
        <p:spPr>
          <a:xfrm>
            <a:off x="4992624" y="3273552"/>
            <a:ext cx="457200" cy="457200"/>
          </a:xfrm>
          <a:prstGeom prst="ellipse">
            <a:avLst/>
          </a:prstGeom>
          <a:solidFill>
            <a:srgbClr val="F59E0B"/>
          </a:solidFill>
          <a:ln/>
        </p:spPr>
        <p:txBody>
          <a:bodyPr/>
          <a:lstStyle/>
          <a:p>
            <a:endParaRPr lang="en-AU"/>
          </a:p>
        </p:txBody>
      </p:sp>
      <p:sp>
        <p:nvSpPr>
          <p:cNvPr id="22" name="Text 19"/>
          <p:cNvSpPr/>
          <p:nvPr/>
        </p:nvSpPr>
        <p:spPr>
          <a:xfrm>
            <a:off x="4992624" y="3273552"/>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4</a:t>
            </a:r>
            <a:endParaRPr lang="en-US" sz="1200" dirty="0"/>
          </a:p>
        </p:txBody>
      </p:sp>
      <p:sp>
        <p:nvSpPr>
          <p:cNvPr id="23" name="Text 20"/>
          <p:cNvSpPr/>
          <p:nvPr/>
        </p:nvSpPr>
        <p:spPr>
          <a:xfrm>
            <a:off x="5596128" y="3255264"/>
            <a:ext cx="2926080" cy="457200"/>
          </a:xfrm>
          <a:prstGeom prst="rect">
            <a:avLst/>
          </a:prstGeom>
          <a:noFill/>
          <a:ln/>
        </p:spPr>
        <p:txBody>
          <a:bodyPr wrap="square" rtlCol="0" anchor="ctr"/>
          <a:lstStyle/>
          <a:p>
            <a:pPr marL="0" indent="0">
              <a:buNone/>
            </a:pPr>
            <a:r>
              <a:rPr lang="en-US" sz="1400" b="1" dirty="0">
                <a:solidFill>
                  <a:srgbClr val="F59E0B"/>
                </a:solidFill>
                <a:latin typeface="Arial Black" pitchFamily="34" charset="0"/>
                <a:ea typeface="Arial Black" pitchFamily="34" charset="-122"/>
                <a:cs typeface="Arial Black" pitchFamily="34" charset="-120"/>
              </a:rPr>
              <a:t>Permissions</a:t>
            </a:r>
            <a:endParaRPr lang="en-US" sz="1400" dirty="0"/>
          </a:p>
        </p:txBody>
      </p:sp>
      <p:sp>
        <p:nvSpPr>
          <p:cNvPr id="24" name="Text 21"/>
          <p:cNvSpPr/>
          <p:nvPr/>
        </p:nvSpPr>
        <p:spPr>
          <a:xfrm>
            <a:off x="5010912" y="3785616"/>
            <a:ext cx="3520440" cy="603504"/>
          </a:xfrm>
          <a:prstGeom prst="rect">
            <a:avLst/>
          </a:prstGeom>
          <a:noFill/>
          <a:ln/>
        </p:spPr>
        <p:txBody>
          <a:bodyPr wrap="square" rtlCol="0" anchor="t"/>
          <a:lstStyle/>
          <a:p>
            <a:pPr marL="0" indent="0">
              <a:buNone/>
            </a:pPr>
            <a:r>
              <a:rPr lang="en-US" sz="1100" dirty="0">
                <a:solidFill>
                  <a:srgbClr val="DDD6FE"/>
                </a:solidFill>
                <a:latin typeface="Calibri" pitchFamily="34" charset="0"/>
                <a:ea typeface="Calibri" pitchFamily="34" charset="-122"/>
                <a:cs typeface="Calibri" pitchFamily="34" charset="-120"/>
              </a:rPr>
              <a:t>What it may do without asking. You set the guardrails; it works inside them.</a:t>
            </a:r>
            <a:endParaRPr lang="en-US" sz="1100" dirty="0"/>
          </a:p>
        </p:txBody>
      </p:sp>
      <p:sp>
        <p:nvSpPr>
          <p:cNvPr id="25" name="Text 22"/>
          <p:cNvSpPr/>
          <p:nvPr/>
        </p:nvSpPr>
        <p:spPr>
          <a:xfrm>
            <a:off x="457200" y="4590288"/>
            <a:ext cx="7772400" cy="365760"/>
          </a:xfrm>
          <a:prstGeom prst="rect">
            <a:avLst/>
          </a:prstGeom>
          <a:noFill/>
          <a:ln/>
        </p:spPr>
        <p:txBody>
          <a:bodyPr wrap="square" rtlCol="0" anchor="ctr"/>
          <a:lstStyle/>
          <a:p>
            <a:pPr marL="0" indent="0">
              <a:buNone/>
            </a:pPr>
            <a:r>
              <a:rPr lang="en-US" sz="1200" b="1" i="1" dirty="0">
                <a:solidFill>
                  <a:srgbClr val="7C3AED"/>
                </a:solidFill>
                <a:latin typeface="Calibri" pitchFamily="34" charset="0"/>
                <a:ea typeface="Calibri" pitchFamily="34" charset="-122"/>
                <a:cs typeface="Calibri" pitchFamily="34" charset="-120"/>
              </a:rPr>
              <a:t>Not autocomplete.  </a:t>
            </a:r>
            <a:r>
              <a:rPr lang="en-US" sz="1200" i="1" dirty="0">
                <a:solidFill>
                  <a:srgbClr val="6E6389"/>
                </a:solidFill>
                <a:latin typeface="Calibri" pitchFamily="34" charset="0"/>
                <a:ea typeface="Calibri" pitchFamily="34" charset="-122"/>
                <a:cs typeface="Calibri" pitchFamily="34" charset="-120"/>
              </a:rPr>
              <a:t>A program that reasons, acts through tools, and checks its own results in a loop.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2D1155"/>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5B21B6"/>
          </a:solidFill>
          <a:ln/>
        </p:spPr>
        <p:txBody>
          <a:bodyPr/>
          <a:lstStyle/>
          <a:p>
            <a:endParaRPr lang="en-AU"/>
          </a:p>
        </p:txBody>
      </p:sp>
      <p:sp>
        <p:nvSpPr>
          <p:cNvPr id="3" name="Shape 1"/>
          <p:cNvSpPr/>
          <p:nvPr/>
        </p:nvSpPr>
        <p:spPr>
          <a:xfrm>
            <a:off x="6400800" y="0"/>
            <a:ext cx="128016" cy="5143500"/>
          </a:xfrm>
          <a:prstGeom prst="rect">
            <a:avLst/>
          </a:prstGeom>
          <a:solidFill>
            <a:srgbClr val="7C3AED"/>
          </a:solidFill>
          <a:ln/>
        </p:spPr>
        <p:txBody>
          <a:bodyPr/>
          <a:lstStyle/>
          <a:p>
            <a:endParaRPr lang="en-AU"/>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234440"/>
            <a:ext cx="82296" cy="2148840"/>
          </a:xfrm>
          <a:prstGeom prst="rect">
            <a:avLst/>
          </a:prstGeom>
          <a:solidFill>
            <a:srgbClr val="F59E0B"/>
          </a:solidFill>
          <a:ln/>
        </p:spPr>
        <p:txBody>
          <a:bodyPr/>
          <a:lstStyle/>
          <a:p>
            <a:endParaRPr lang="en-AU"/>
          </a:p>
        </p:txBody>
      </p:sp>
      <p:sp>
        <p:nvSpPr>
          <p:cNvPr id="6" name="Text 3"/>
          <p:cNvSpPr/>
          <p:nvPr/>
        </p:nvSpPr>
        <p:spPr>
          <a:xfrm>
            <a:off x="457200" y="4709160"/>
            <a:ext cx="5669280" cy="274320"/>
          </a:xfrm>
          <a:prstGeom prst="rect">
            <a:avLst/>
          </a:prstGeom>
          <a:noFill/>
          <a:ln/>
        </p:spPr>
        <p:txBody>
          <a:bodyPr wrap="square" rtlCol="0" anchor="ctr"/>
          <a:lstStyle/>
          <a:p>
            <a:pPr marL="0" indent="0">
              <a:buNone/>
            </a:pPr>
            <a:r>
              <a:rPr lang="en-US" sz="900" dirty="0">
                <a:solidFill>
                  <a:srgbClr val="C4B5E8"/>
                </a:solidFill>
                <a:latin typeface="Calibri" pitchFamily="34" charset="0"/>
                <a:ea typeface="Calibri" pitchFamily="34" charset="-122"/>
                <a:cs typeface="Calibri" pitchFamily="34" charset="-120"/>
              </a:rPr>
              <a:t>Tech Council of Australia  |  techcouncil.com.au</a:t>
            </a:r>
            <a:endParaRPr lang="en-US" sz="900" dirty="0"/>
          </a:p>
        </p:txBody>
      </p:sp>
      <p:sp>
        <p:nvSpPr>
          <p:cNvPr id="7" name="Text 4"/>
          <p:cNvSpPr/>
          <p:nvPr/>
        </p:nvSpPr>
        <p:spPr>
          <a:xfrm>
            <a:off x="676656" y="1188720"/>
            <a:ext cx="5486400" cy="274320"/>
          </a:xfrm>
          <a:prstGeom prst="rect">
            <a:avLst/>
          </a:prstGeom>
          <a:noFill/>
          <a:ln/>
        </p:spPr>
        <p:txBody>
          <a:bodyPr wrap="square"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THE ONE RULE FOR THIS MORNING</a:t>
            </a:r>
            <a:endParaRPr lang="en-US" sz="1100" dirty="0"/>
          </a:p>
        </p:txBody>
      </p:sp>
      <p:sp>
        <p:nvSpPr>
          <p:cNvPr id="8" name="Text 5"/>
          <p:cNvSpPr/>
          <p:nvPr/>
        </p:nvSpPr>
        <p:spPr>
          <a:xfrm>
            <a:off x="658368" y="1691640"/>
            <a:ext cx="5669280" cy="822960"/>
          </a:xfrm>
          <a:prstGeom prst="rect">
            <a:avLst/>
          </a:prstGeom>
          <a:noFill/>
          <a:ln/>
        </p:spPr>
        <p:txBody>
          <a:bodyPr wrap="square"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Resist the keyboard.</a:t>
            </a:r>
            <a:endParaRPr lang="en-US" sz="4000" dirty="0"/>
          </a:p>
        </p:txBody>
      </p:sp>
      <p:sp>
        <p:nvSpPr>
          <p:cNvPr id="9" name="Text 6"/>
          <p:cNvSpPr/>
          <p:nvPr/>
        </p:nvSpPr>
        <p:spPr>
          <a:xfrm>
            <a:off x="676656" y="2697480"/>
            <a:ext cx="5486400" cy="1005840"/>
          </a:xfrm>
          <a:prstGeom prst="rect">
            <a:avLst/>
          </a:prstGeom>
          <a:noFill/>
          <a:ln/>
        </p:spPr>
        <p:txBody>
          <a:bodyPr wrap="square" rtlCol="0" anchor="ctr"/>
          <a:lstStyle/>
          <a:p>
            <a:pPr marL="0" indent="0">
              <a:buNone/>
            </a:pPr>
            <a:r>
              <a:rPr lang="en-US" sz="1400" i="1" dirty="0">
                <a:solidFill>
                  <a:srgbClr val="DDD6FE"/>
                </a:solidFill>
                <a:latin typeface="Calibri" pitchFamily="34" charset="0"/>
                <a:ea typeface="Calibri" pitchFamily="34" charset="-122"/>
                <a:cs typeface="Calibri" pitchFamily="34" charset="-120"/>
              </a:rPr>
              <a:t>The instinct to “just fix it myself” is exactly what we're retraining. When your hands twitch toward the code, that's the moment to type a better prompt instead.</a:t>
            </a:r>
            <a:endParaRPr lang="en-US" sz="1400" dirty="0"/>
          </a:p>
        </p:txBody>
      </p:sp>
      <p:sp>
        <p:nvSpPr>
          <p:cNvPr id="10" name="Text 7"/>
          <p:cNvSpPr/>
          <p:nvPr/>
        </p:nvSpPr>
        <p:spPr>
          <a:xfrm>
            <a:off x="676656" y="3794760"/>
            <a:ext cx="548640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Rusty: </a:t>
            </a:r>
            <a:r>
              <a:rPr lang="en-US" sz="1100" dirty="0">
                <a:solidFill>
                  <a:srgbClr val="C4B5E8"/>
                </a:solidFill>
                <a:latin typeface="Calibri" pitchFamily="34" charset="0"/>
                <a:ea typeface="Calibri" pitchFamily="34" charset="-122"/>
                <a:cs typeface="Calibri" pitchFamily="34" charset="-120"/>
              </a:rPr>
              <a:t>easier — you don't recall the syntax anyway.</a:t>
            </a:r>
            <a:endParaRPr lang="en-US" sz="1100" dirty="0"/>
          </a:p>
        </p:txBody>
      </p:sp>
      <p:sp>
        <p:nvSpPr>
          <p:cNvPr id="11" name="Text 8"/>
          <p:cNvSpPr/>
          <p:nvPr/>
        </p:nvSpPr>
        <p:spPr>
          <a:xfrm>
            <a:off x="676656" y="4069080"/>
            <a:ext cx="548640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Confident: </a:t>
            </a:r>
            <a:r>
              <a:rPr lang="en-US" sz="1100" dirty="0">
                <a:solidFill>
                  <a:srgbClr val="C4B5E8"/>
                </a:solidFill>
                <a:latin typeface="Calibri" pitchFamily="34" charset="0"/>
                <a:ea typeface="Calibri" pitchFamily="34" charset="-122"/>
                <a:cs typeface="Calibri" pitchFamily="34" charset="-120"/>
              </a:rPr>
              <a:t>this one's for you.</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PROMPT BY OUTCOME</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#1 — not by step-by-step instructions.</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3931920" cy="3200400"/>
          </a:xfrm>
          <a:prstGeom prst="roundRect">
            <a:avLst>
              <a:gd name="adj" fmla="val 2571"/>
            </a:avLst>
          </a:prstGeom>
          <a:solidFill>
            <a:srgbClr val="FFFFFF"/>
          </a:solidFill>
          <a:ln w="12700">
            <a:solidFill>
              <a:srgbClr val="DDD6FE"/>
            </a:solidFill>
            <a:prstDash val="solid"/>
          </a:ln>
        </p:spPr>
        <p:txBody>
          <a:bodyPr/>
          <a:lstStyle/>
          <a:p>
            <a:endParaRPr lang="en-AU"/>
          </a:p>
        </p:txBody>
      </p:sp>
      <p:sp>
        <p:nvSpPr>
          <p:cNvPr id="6" name="Shape 3"/>
          <p:cNvSpPr/>
          <p:nvPr/>
        </p:nvSpPr>
        <p:spPr>
          <a:xfrm>
            <a:off x="694944" y="1691640"/>
            <a:ext cx="457200" cy="457200"/>
          </a:xfrm>
          <a:prstGeom prst="ellipse">
            <a:avLst/>
          </a:prstGeom>
          <a:solidFill>
            <a:srgbClr val="6E6389"/>
          </a:solidFill>
          <a:ln/>
        </p:spPr>
        <p:txBody>
          <a:bodyPr/>
          <a:lstStyle/>
          <a:p>
            <a:endParaRPr lang="en-AU"/>
          </a:p>
        </p:txBody>
      </p:sp>
      <p:sp>
        <p:nvSpPr>
          <p:cNvPr id="7" name="Text 4"/>
          <p:cNvSpPr/>
          <p:nvPr/>
        </p:nvSpPr>
        <p:spPr>
          <a:xfrm>
            <a:off x="694944" y="1691640"/>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a:t>
            </a:r>
            <a:endParaRPr lang="en-US" sz="1200" dirty="0"/>
          </a:p>
        </p:txBody>
      </p:sp>
      <p:sp>
        <p:nvSpPr>
          <p:cNvPr id="8" name="Text 5"/>
          <p:cNvSpPr/>
          <p:nvPr/>
        </p:nvSpPr>
        <p:spPr>
          <a:xfrm>
            <a:off x="1280160" y="1673352"/>
            <a:ext cx="2926080" cy="457200"/>
          </a:xfrm>
          <a:prstGeom prst="rect">
            <a:avLst/>
          </a:prstGeom>
          <a:noFill/>
          <a:ln/>
        </p:spPr>
        <p:txBody>
          <a:bodyPr wrap="square" rtlCol="0" anchor="ctr"/>
          <a:lstStyle/>
          <a:p>
            <a:pPr marL="0" indent="0">
              <a:buNone/>
            </a:pPr>
            <a:r>
              <a:rPr lang="en-US" sz="1400" b="1" dirty="0">
                <a:solidFill>
                  <a:srgbClr val="6E6389"/>
                </a:solidFill>
                <a:latin typeface="Arial Black" pitchFamily="34" charset="0"/>
                <a:ea typeface="Arial Black" pitchFamily="34" charset="-122"/>
                <a:cs typeface="Arial Black" pitchFamily="34" charset="-120"/>
              </a:rPr>
              <a:t>Micromanaging</a:t>
            </a:r>
            <a:endParaRPr lang="en-US" sz="1400" dirty="0"/>
          </a:p>
        </p:txBody>
      </p:sp>
      <p:sp>
        <p:nvSpPr>
          <p:cNvPr id="9" name="Shape 6"/>
          <p:cNvSpPr/>
          <p:nvPr/>
        </p:nvSpPr>
        <p:spPr>
          <a:xfrm>
            <a:off x="713232" y="2286000"/>
            <a:ext cx="3429000" cy="1417320"/>
          </a:xfrm>
          <a:prstGeom prst="roundRect">
            <a:avLst>
              <a:gd name="adj" fmla="val 3226"/>
            </a:avLst>
          </a:prstGeom>
          <a:solidFill>
            <a:srgbClr val="F5F3FF"/>
          </a:solidFill>
          <a:ln/>
        </p:spPr>
        <p:txBody>
          <a:bodyPr/>
          <a:lstStyle/>
          <a:p>
            <a:endParaRPr lang="en-AU"/>
          </a:p>
        </p:txBody>
      </p:sp>
      <p:sp>
        <p:nvSpPr>
          <p:cNvPr id="10" name="Text 7"/>
          <p:cNvSpPr/>
          <p:nvPr/>
        </p:nvSpPr>
        <p:spPr>
          <a:xfrm>
            <a:off x="859536" y="2395728"/>
            <a:ext cx="3154680" cy="1207008"/>
          </a:xfrm>
          <a:prstGeom prst="rect">
            <a:avLst/>
          </a:prstGeom>
          <a:noFill/>
          <a:ln/>
        </p:spPr>
        <p:txBody>
          <a:bodyPr wrap="square" rtlCol="0" anchor="t"/>
          <a:lstStyle/>
          <a:p>
            <a:pPr marL="0" indent="0">
              <a:buNone/>
            </a:pPr>
            <a:r>
              <a:rPr lang="en-US" sz="1050" dirty="0">
                <a:solidFill>
                  <a:srgbClr val="6E6389"/>
                </a:solidFill>
                <a:latin typeface="Courier New" pitchFamily="34" charset="0"/>
                <a:ea typeface="Courier New" pitchFamily="34" charset="-122"/>
                <a:cs typeface="Courier New" pitchFamily="34" charset="-120"/>
              </a:rPr>
              <a:t>“Open streak.js, add a variable count, loop the dates array, increment it if...”</a:t>
            </a:r>
            <a:endParaRPr lang="en-US" sz="1050" dirty="0"/>
          </a:p>
        </p:txBody>
      </p:sp>
      <p:sp>
        <p:nvSpPr>
          <p:cNvPr id="11" name="Text 8"/>
          <p:cNvSpPr/>
          <p:nvPr/>
        </p:nvSpPr>
        <p:spPr>
          <a:xfrm>
            <a:off x="713232" y="3840480"/>
            <a:ext cx="3474720" cy="685800"/>
          </a:xfrm>
          <a:prstGeom prst="rect">
            <a:avLst/>
          </a:prstGeom>
          <a:noFill/>
          <a:ln/>
        </p:spPr>
        <p:txBody>
          <a:bodyPr wrap="square" rtlCol="0" anchor="t"/>
          <a:lstStyle/>
          <a:p>
            <a:pPr marL="0" indent="0">
              <a:buNone/>
            </a:pPr>
            <a:r>
              <a:rPr lang="en-US" sz="1050" i="1" dirty="0">
                <a:solidFill>
                  <a:srgbClr val="6E6389"/>
                </a:solidFill>
                <a:latin typeface="Calibri" pitchFamily="34" charset="0"/>
                <a:ea typeface="Calibri" pitchFamily="34" charset="-122"/>
                <a:cs typeface="Calibri" pitchFamily="34" charset="-120"/>
              </a:rPr>
              <a:t>You're typing code with extra steps. And you have to be right.</a:t>
            </a:r>
            <a:endParaRPr lang="en-US" sz="1050" dirty="0"/>
          </a:p>
        </p:txBody>
      </p:sp>
      <p:sp>
        <p:nvSpPr>
          <p:cNvPr id="12" name="Shape 9"/>
          <p:cNvSpPr/>
          <p:nvPr/>
        </p:nvSpPr>
        <p:spPr>
          <a:xfrm>
            <a:off x="4754880" y="1463040"/>
            <a:ext cx="3931920" cy="3200400"/>
          </a:xfrm>
          <a:prstGeom prst="roundRect">
            <a:avLst>
              <a:gd name="adj" fmla="val 2571"/>
            </a:avLst>
          </a:prstGeom>
          <a:solidFill>
            <a:srgbClr val="FFFFFF"/>
          </a:solidFill>
          <a:ln w="19050">
            <a:solidFill>
              <a:srgbClr val="F59E0B"/>
            </a:solidFill>
            <a:prstDash val="solid"/>
          </a:ln>
        </p:spPr>
        <p:txBody>
          <a:bodyPr/>
          <a:lstStyle/>
          <a:p>
            <a:endParaRPr lang="en-AU"/>
          </a:p>
        </p:txBody>
      </p:sp>
      <p:sp>
        <p:nvSpPr>
          <p:cNvPr id="13" name="Shape 10"/>
          <p:cNvSpPr/>
          <p:nvPr/>
        </p:nvSpPr>
        <p:spPr>
          <a:xfrm>
            <a:off x="4992624" y="1691640"/>
            <a:ext cx="457200" cy="457200"/>
          </a:xfrm>
          <a:prstGeom prst="ellipse">
            <a:avLst/>
          </a:prstGeom>
          <a:solidFill>
            <a:srgbClr val="F59E0B"/>
          </a:solidFill>
          <a:ln/>
        </p:spPr>
        <p:txBody>
          <a:bodyPr/>
          <a:lstStyle/>
          <a:p>
            <a:endParaRPr lang="en-AU"/>
          </a:p>
        </p:txBody>
      </p:sp>
      <p:sp>
        <p:nvSpPr>
          <p:cNvPr id="14" name="Text 11"/>
          <p:cNvSpPr/>
          <p:nvPr/>
        </p:nvSpPr>
        <p:spPr>
          <a:xfrm>
            <a:off x="4992624" y="1691640"/>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a:t>
            </a:r>
            <a:endParaRPr lang="en-US" sz="1200" dirty="0"/>
          </a:p>
        </p:txBody>
      </p:sp>
      <p:sp>
        <p:nvSpPr>
          <p:cNvPr id="15" name="Text 12"/>
          <p:cNvSpPr/>
          <p:nvPr/>
        </p:nvSpPr>
        <p:spPr>
          <a:xfrm>
            <a:off x="5577840" y="1673352"/>
            <a:ext cx="2926080" cy="457200"/>
          </a:xfrm>
          <a:prstGeom prst="rect">
            <a:avLst/>
          </a:prstGeom>
          <a:noFill/>
          <a:ln/>
        </p:spPr>
        <p:txBody>
          <a:bodyPr wrap="square" rtlCol="0" anchor="ctr"/>
          <a:lstStyle/>
          <a:p>
            <a:pPr marL="0" indent="0">
              <a:buNone/>
            </a:pPr>
            <a:r>
              <a:rPr lang="en-US" sz="1400" b="1" dirty="0">
                <a:solidFill>
                  <a:srgbClr val="2D1155"/>
                </a:solidFill>
                <a:latin typeface="Arial Black" pitchFamily="34" charset="0"/>
                <a:ea typeface="Arial Black" pitchFamily="34" charset="-122"/>
                <a:cs typeface="Arial Black" pitchFamily="34" charset="-120"/>
              </a:rPr>
              <a:t>Outcome + constraint</a:t>
            </a:r>
            <a:endParaRPr lang="en-US" sz="1400" dirty="0"/>
          </a:p>
        </p:txBody>
      </p:sp>
      <p:sp>
        <p:nvSpPr>
          <p:cNvPr id="16" name="Shape 13"/>
          <p:cNvSpPr/>
          <p:nvPr/>
        </p:nvSpPr>
        <p:spPr>
          <a:xfrm>
            <a:off x="5010912" y="2286000"/>
            <a:ext cx="3429000" cy="1417320"/>
          </a:xfrm>
          <a:prstGeom prst="roundRect">
            <a:avLst>
              <a:gd name="adj" fmla="val 3226"/>
            </a:avLst>
          </a:prstGeom>
          <a:solidFill>
            <a:srgbClr val="F5F3FF"/>
          </a:solidFill>
          <a:ln/>
        </p:spPr>
        <p:txBody>
          <a:bodyPr/>
          <a:lstStyle/>
          <a:p>
            <a:endParaRPr lang="en-AU"/>
          </a:p>
        </p:txBody>
      </p:sp>
      <p:sp>
        <p:nvSpPr>
          <p:cNvPr id="17" name="Text 14"/>
          <p:cNvSpPr/>
          <p:nvPr/>
        </p:nvSpPr>
        <p:spPr>
          <a:xfrm>
            <a:off x="5157216" y="2395728"/>
            <a:ext cx="3154680" cy="1207008"/>
          </a:xfrm>
          <a:prstGeom prst="rect">
            <a:avLst/>
          </a:prstGeom>
          <a:noFill/>
          <a:ln/>
        </p:spPr>
        <p:txBody>
          <a:bodyPr wrap="square" rtlCol="0" anchor="t"/>
          <a:lstStyle/>
          <a:p>
            <a:pPr marL="0" indent="0">
              <a:buNone/>
            </a:pPr>
            <a:r>
              <a:rPr lang="en-US" sz="1050" dirty="0">
                <a:solidFill>
                  <a:srgbClr val="5B21B6"/>
                </a:solidFill>
                <a:latin typeface="Courier New" pitchFamily="34" charset="0"/>
                <a:ea typeface="Courier New" pitchFamily="34" charset="-122"/>
                <a:cs typeface="Courier New" pitchFamily="34" charset="-120"/>
              </a:rPr>
              <a:t>“Ticking a habit grows its streak. Missing a day resets it to zero. Show me a plan first.”</a:t>
            </a:r>
            <a:endParaRPr lang="en-US" sz="1050" dirty="0"/>
          </a:p>
        </p:txBody>
      </p:sp>
      <p:sp>
        <p:nvSpPr>
          <p:cNvPr id="18" name="Text 15"/>
          <p:cNvSpPr/>
          <p:nvPr/>
        </p:nvSpPr>
        <p:spPr>
          <a:xfrm>
            <a:off x="5010912" y="3840480"/>
            <a:ext cx="3474720" cy="685800"/>
          </a:xfrm>
          <a:prstGeom prst="rect">
            <a:avLst/>
          </a:prstGeom>
          <a:noFill/>
          <a:ln/>
        </p:spPr>
        <p:txBody>
          <a:bodyPr wrap="square" rtlCol="0" anchor="t"/>
          <a:lstStyle/>
          <a:p>
            <a:pPr marL="0" indent="0">
              <a:buNone/>
            </a:pPr>
            <a:r>
              <a:rPr lang="en-US" sz="1050" i="1" dirty="0">
                <a:solidFill>
                  <a:srgbClr val="6E6389"/>
                </a:solidFill>
                <a:latin typeface="Calibri" pitchFamily="34" charset="0"/>
                <a:ea typeface="Calibri" pitchFamily="34" charset="-122"/>
                <a:cs typeface="Calibri" pitchFamily="34" charset="-120"/>
              </a:rPr>
              <a:t>You say WHAT and the rules. The agent picks HOW. No filename, no how.</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1900" b="1" kern="0" spc="100" dirty="0">
                <a:solidFill>
                  <a:srgbClr val="2D1155"/>
                </a:solidFill>
                <a:latin typeface="Arial Black" pitchFamily="34" charset="0"/>
                <a:ea typeface="Arial Black" pitchFamily="34" charset="-122"/>
                <a:cs typeface="Arial Black" pitchFamily="34" charset="-120"/>
              </a:rPr>
              <a:t>PLAN REVIEW, NOT PLAN WRITING</a:t>
            </a:r>
            <a:endParaRPr lang="en-US" sz="19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#2 — what changed this year.</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17320"/>
            <a:ext cx="3931920" cy="1097280"/>
          </a:xfrm>
          <a:prstGeom prst="roundRect">
            <a:avLst>
              <a:gd name="adj" fmla="val 6667"/>
            </a:avLst>
          </a:prstGeom>
          <a:solidFill>
            <a:srgbClr val="FFFFFF"/>
          </a:solidFill>
          <a:ln w="12700">
            <a:solidFill>
              <a:srgbClr val="DDD6FE"/>
            </a:solidFill>
            <a:prstDash val="solid"/>
          </a:ln>
        </p:spPr>
        <p:txBody>
          <a:bodyPr/>
          <a:lstStyle/>
          <a:p>
            <a:endParaRPr lang="en-AU"/>
          </a:p>
        </p:txBody>
      </p:sp>
      <p:sp>
        <p:nvSpPr>
          <p:cNvPr id="6" name="Text 3"/>
          <p:cNvSpPr/>
          <p:nvPr/>
        </p:nvSpPr>
        <p:spPr>
          <a:xfrm>
            <a:off x="658368" y="1536192"/>
            <a:ext cx="3566160" cy="274320"/>
          </a:xfrm>
          <a:prstGeom prst="rect">
            <a:avLst/>
          </a:prstGeom>
          <a:noFill/>
          <a:ln/>
        </p:spPr>
        <p:txBody>
          <a:bodyPr wrap="square" rtlCol="0" anchor="ctr"/>
          <a:lstStyle/>
          <a:p>
            <a:pPr marL="0" indent="0">
              <a:buNone/>
            </a:pPr>
            <a:r>
              <a:rPr lang="en-US" sz="1000" b="1" kern="0" spc="200" dirty="0">
                <a:solidFill>
                  <a:srgbClr val="6E6389"/>
                </a:solidFill>
                <a:latin typeface="Calibri" pitchFamily="34" charset="0"/>
                <a:ea typeface="Calibri" pitchFamily="34" charset="-122"/>
                <a:cs typeface="Calibri" pitchFamily="34" charset="-120"/>
              </a:rPr>
              <a:t>THEN · 2025</a:t>
            </a:r>
            <a:endParaRPr lang="en-US" sz="1000" dirty="0"/>
          </a:p>
        </p:txBody>
      </p:sp>
      <p:sp>
        <p:nvSpPr>
          <p:cNvPr id="7" name="Text 4"/>
          <p:cNvSpPr/>
          <p:nvPr/>
        </p:nvSpPr>
        <p:spPr>
          <a:xfrm>
            <a:off x="658368" y="1810512"/>
            <a:ext cx="3566160" cy="640080"/>
          </a:xfrm>
          <a:prstGeom prst="rect">
            <a:avLst/>
          </a:prstGeom>
          <a:noFill/>
          <a:ln/>
        </p:spPr>
        <p:txBody>
          <a:bodyPr wrap="square" rtlCol="0" anchor="t"/>
          <a:lstStyle/>
          <a:p>
            <a:pPr marL="0" indent="0">
              <a:buNone/>
            </a:pPr>
            <a:r>
              <a:rPr lang="en-US" sz="1150" dirty="0">
                <a:solidFill>
                  <a:srgbClr val="6E6389"/>
                </a:solidFill>
                <a:latin typeface="Calibri" pitchFamily="34" charset="0"/>
                <a:ea typeface="Calibri" pitchFamily="34" charset="-122"/>
                <a:cs typeface="Calibri" pitchFamily="34" charset="-120"/>
              </a:rPr>
              <a:t>Force a plan. Check the steps — right file, sane order. It often planned clumsily.</a:t>
            </a:r>
            <a:endParaRPr lang="en-US" sz="1150" dirty="0"/>
          </a:p>
        </p:txBody>
      </p:sp>
      <p:sp>
        <p:nvSpPr>
          <p:cNvPr id="8" name="Shape 5"/>
          <p:cNvSpPr/>
          <p:nvPr/>
        </p:nvSpPr>
        <p:spPr>
          <a:xfrm>
            <a:off x="4754880" y="1417320"/>
            <a:ext cx="3931920" cy="1097280"/>
          </a:xfrm>
          <a:prstGeom prst="roundRect">
            <a:avLst>
              <a:gd name="adj" fmla="val 6667"/>
            </a:avLst>
          </a:prstGeom>
          <a:solidFill>
            <a:srgbClr val="2D1155"/>
          </a:solidFill>
          <a:ln w="19050">
            <a:solidFill>
              <a:srgbClr val="F59E0B"/>
            </a:solidFill>
            <a:prstDash val="solid"/>
          </a:ln>
        </p:spPr>
        <p:txBody>
          <a:bodyPr/>
          <a:lstStyle/>
          <a:p>
            <a:endParaRPr lang="en-AU"/>
          </a:p>
        </p:txBody>
      </p:sp>
      <p:sp>
        <p:nvSpPr>
          <p:cNvPr id="9" name="Text 6"/>
          <p:cNvSpPr/>
          <p:nvPr/>
        </p:nvSpPr>
        <p:spPr>
          <a:xfrm>
            <a:off x="4956048" y="1536192"/>
            <a:ext cx="3566160" cy="274320"/>
          </a:xfrm>
          <a:prstGeom prst="rect">
            <a:avLst/>
          </a:prstGeom>
          <a:noFill/>
          <a:ln/>
        </p:spPr>
        <p:txBody>
          <a:bodyPr wrap="square"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NOW · 2026</a:t>
            </a:r>
            <a:endParaRPr lang="en-US" sz="1000" dirty="0"/>
          </a:p>
        </p:txBody>
      </p:sp>
      <p:sp>
        <p:nvSpPr>
          <p:cNvPr id="10" name="Text 7"/>
          <p:cNvSpPr/>
          <p:nvPr/>
        </p:nvSpPr>
        <p:spPr>
          <a:xfrm>
            <a:off x="4956048" y="1810512"/>
            <a:ext cx="3566160" cy="64008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Decomposition is solid. The risk flips: a clean, confident plan for slightly the wrong problem.</a:t>
            </a:r>
            <a:endParaRPr lang="en-US" sz="1150" dirty="0"/>
          </a:p>
        </p:txBody>
      </p:sp>
      <p:sp>
        <p:nvSpPr>
          <p:cNvPr id="11" name="Shape 8"/>
          <p:cNvSpPr/>
          <p:nvPr/>
        </p:nvSpPr>
        <p:spPr>
          <a:xfrm>
            <a:off x="457200" y="2697480"/>
            <a:ext cx="8229600" cy="1371600"/>
          </a:xfrm>
          <a:prstGeom prst="roundRect">
            <a:avLst>
              <a:gd name="adj" fmla="val 5333"/>
            </a:avLst>
          </a:prstGeom>
          <a:solidFill>
            <a:srgbClr val="DDD6FE"/>
          </a:solidFill>
          <a:ln/>
        </p:spPr>
        <p:txBody>
          <a:bodyPr/>
          <a:lstStyle/>
          <a:p>
            <a:endParaRPr lang="en-AU"/>
          </a:p>
        </p:txBody>
      </p:sp>
      <p:sp>
        <p:nvSpPr>
          <p:cNvPr id="12" name="Text 9"/>
          <p:cNvSpPr/>
          <p:nvPr/>
        </p:nvSpPr>
        <p:spPr>
          <a:xfrm>
            <a:off x="731520" y="2816352"/>
            <a:ext cx="7680960" cy="292608"/>
          </a:xfrm>
          <a:prstGeom prst="rect">
            <a:avLst/>
          </a:prstGeom>
          <a:noFill/>
          <a:ln/>
        </p:spPr>
        <p:txBody>
          <a:bodyPr wrap="square" rtlCol="0" anchor="ctr"/>
          <a:lstStyle/>
          <a:p>
            <a:pPr marL="0" indent="0">
              <a:buNone/>
            </a:pPr>
            <a:r>
              <a:rPr lang="en-US" sz="1250" b="1" dirty="0">
                <a:solidFill>
                  <a:srgbClr val="2D1155"/>
                </a:solidFill>
                <a:latin typeface="Calibri" pitchFamily="34" charset="0"/>
                <a:ea typeface="Calibri" pitchFamily="34" charset="-122"/>
                <a:cs typeface="Calibri" pitchFamily="34" charset="-120"/>
              </a:rPr>
              <a:t>So read for intent and scope, not mechanics:</a:t>
            </a:r>
            <a:endParaRPr lang="en-US" sz="1250" dirty="0"/>
          </a:p>
        </p:txBody>
      </p:sp>
      <p:sp>
        <p:nvSpPr>
          <p:cNvPr id="13" name="Text 10"/>
          <p:cNvSpPr/>
          <p:nvPr/>
        </p:nvSpPr>
        <p:spPr>
          <a:xfrm>
            <a:off x="731520" y="3127248"/>
            <a:ext cx="7680960" cy="896112"/>
          </a:xfrm>
          <a:prstGeom prst="rect">
            <a:avLst/>
          </a:prstGeom>
          <a:noFill/>
          <a:ln/>
        </p:spPr>
        <p:txBody>
          <a:bodyPr wrap="square" rtlCol="0" anchor="ctr"/>
          <a:lstStyle/>
          <a:p>
            <a:pPr marL="152400" indent="-152400">
              <a:spcAft>
                <a:spcPts val="200"/>
              </a:spcAft>
              <a:buSzPct val="100000"/>
              <a:buChar char="•"/>
            </a:pPr>
            <a:r>
              <a:rPr lang="en-US" sz="1200" dirty="0">
                <a:solidFill>
                  <a:srgbClr val="2D1155"/>
                </a:solidFill>
                <a:latin typeface="Calibri" pitchFamily="34" charset="0"/>
                <a:ea typeface="Calibri" pitchFamily="34" charset="-122"/>
                <a:cs typeface="Calibri" pitchFamily="34" charset="-120"/>
              </a:rPr>
              <a:t>Did it understand the real goal, or a plausible lookalike?</a:t>
            </a:r>
            <a:endParaRPr lang="en-US" sz="1200" dirty="0"/>
          </a:p>
          <a:p>
            <a:pPr marL="152400" indent="-152400">
              <a:spcAft>
                <a:spcPts val="200"/>
              </a:spcAft>
              <a:buSzPct val="100000"/>
              <a:buChar char="•"/>
            </a:pPr>
            <a:r>
              <a:rPr lang="en-US" sz="1200" dirty="0">
                <a:solidFill>
                  <a:srgbClr val="2D1155"/>
                </a:solidFill>
                <a:latin typeface="Calibri" pitchFamily="34" charset="0"/>
                <a:ea typeface="Calibri" pitchFamily="34" charset="-122"/>
                <a:cs typeface="Calibri" pitchFamily="34" charset="-120"/>
              </a:rPr>
              <a:t>Is it about to touch more than it should?</a:t>
            </a:r>
            <a:endParaRPr lang="en-US" sz="1200" dirty="0"/>
          </a:p>
          <a:p>
            <a:pPr marL="152400" indent="-152400">
              <a:spcAft>
                <a:spcPts val="200"/>
              </a:spcAft>
              <a:buSzPct val="100000"/>
              <a:buChar char="•"/>
            </a:pPr>
            <a:r>
              <a:rPr lang="en-US" sz="1200" dirty="0">
                <a:solidFill>
                  <a:srgbClr val="2D1155"/>
                </a:solidFill>
                <a:latin typeface="Calibri" pitchFamily="34" charset="0"/>
                <a:ea typeface="Calibri" pitchFamily="34" charset="-122"/>
                <a:cs typeface="Calibri" pitchFamily="34" charset="-120"/>
              </a:rPr>
              <a:t>What did it assume that you never said?</a:t>
            </a:r>
            <a:endParaRPr lang="en-US" sz="1200" dirty="0"/>
          </a:p>
        </p:txBody>
      </p:sp>
      <p:sp>
        <p:nvSpPr>
          <p:cNvPr id="14" name="Text 11"/>
          <p:cNvSpPr/>
          <p:nvPr/>
        </p:nvSpPr>
        <p:spPr>
          <a:xfrm>
            <a:off x="457200" y="4206240"/>
            <a:ext cx="8229600" cy="320040"/>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Turn it on —  Claude Code: Shift+Tab cycles to plan, or /plan     ·     Codex: /plan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PERMISSIONS ARE A DIAL</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setting nobody touches. Touch it.</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3931920" cy="3200400"/>
          </a:xfrm>
          <a:prstGeom prst="roundRect">
            <a:avLst>
              <a:gd name="adj" fmla="val 2571"/>
            </a:avLst>
          </a:prstGeom>
          <a:solidFill>
            <a:srgbClr val="FFFFFF"/>
          </a:solidFill>
          <a:ln w="12700">
            <a:solidFill>
              <a:srgbClr val="DDD6FE"/>
            </a:solidFill>
            <a:prstDash val="solid"/>
          </a:ln>
        </p:spPr>
        <p:txBody>
          <a:bodyPr/>
          <a:lstStyle/>
          <a:p>
            <a:endParaRPr lang="en-AU"/>
          </a:p>
        </p:txBody>
      </p:sp>
      <p:sp>
        <p:nvSpPr>
          <p:cNvPr id="6" name="Shape 3"/>
          <p:cNvSpPr/>
          <p:nvPr/>
        </p:nvSpPr>
        <p:spPr>
          <a:xfrm>
            <a:off x="694944" y="1691640"/>
            <a:ext cx="457200" cy="457200"/>
          </a:xfrm>
          <a:prstGeom prst="ellipse">
            <a:avLst/>
          </a:prstGeom>
          <a:solidFill>
            <a:srgbClr val="6E6389"/>
          </a:solidFill>
          <a:ln/>
        </p:spPr>
        <p:txBody>
          <a:bodyPr/>
          <a:lstStyle/>
          <a:p>
            <a:endParaRPr lang="en-AU"/>
          </a:p>
        </p:txBody>
      </p:sp>
      <p:sp>
        <p:nvSpPr>
          <p:cNvPr id="7" name="Text 4"/>
          <p:cNvSpPr/>
          <p:nvPr/>
        </p:nvSpPr>
        <p:spPr>
          <a:xfrm>
            <a:off x="694944" y="1691640"/>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a:t>
            </a:r>
            <a:endParaRPr lang="en-US" sz="1200" dirty="0"/>
          </a:p>
        </p:txBody>
      </p:sp>
      <p:sp>
        <p:nvSpPr>
          <p:cNvPr id="8" name="Text 5"/>
          <p:cNvSpPr/>
          <p:nvPr/>
        </p:nvSpPr>
        <p:spPr>
          <a:xfrm>
            <a:off x="1280160" y="1673352"/>
            <a:ext cx="2926080" cy="457200"/>
          </a:xfrm>
          <a:prstGeom prst="rect">
            <a:avLst/>
          </a:prstGeom>
          <a:noFill/>
          <a:ln/>
        </p:spPr>
        <p:txBody>
          <a:bodyPr wrap="square" rtlCol="0" anchor="ctr"/>
          <a:lstStyle/>
          <a:p>
            <a:pPr marL="0" indent="0">
              <a:buNone/>
            </a:pPr>
            <a:r>
              <a:rPr lang="en-US" sz="1400" b="1" dirty="0">
                <a:solidFill>
                  <a:srgbClr val="6E6389"/>
                </a:solidFill>
                <a:latin typeface="Arial Black" pitchFamily="34" charset="0"/>
                <a:ea typeface="Arial Black" pitchFamily="34" charset="-122"/>
                <a:cs typeface="Arial Black" pitchFamily="34" charset="-120"/>
              </a:rPr>
              <a:t>Auto-accept everything</a:t>
            </a:r>
            <a:endParaRPr lang="en-US" sz="1400" dirty="0"/>
          </a:p>
        </p:txBody>
      </p:sp>
      <p:sp>
        <p:nvSpPr>
          <p:cNvPr id="9" name="Shape 6"/>
          <p:cNvSpPr/>
          <p:nvPr/>
        </p:nvSpPr>
        <p:spPr>
          <a:xfrm>
            <a:off x="713232" y="2286000"/>
            <a:ext cx="3429000" cy="1417320"/>
          </a:xfrm>
          <a:prstGeom prst="roundRect">
            <a:avLst>
              <a:gd name="adj" fmla="val 3226"/>
            </a:avLst>
          </a:prstGeom>
          <a:solidFill>
            <a:srgbClr val="F5F3FF"/>
          </a:solidFill>
          <a:ln/>
        </p:spPr>
        <p:txBody>
          <a:bodyPr/>
          <a:lstStyle/>
          <a:p>
            <a:endParaRPr lang="en-AU"/>
          </a:p>
        </p:txBody>
      </p:sp>
      <p:sp>
        <p:nvSpPr>
          <p:cNvPr id="10" name="Text 7"/>
          <p:cNvSpPr/>
          <p:nvPr/>
        </p:nvSpPr>
        <p:spPr>
          <a:xfrm>
            <a:off x="859536" y="2395728"/>
            <a:ext cx="3154680" cy="1207008"/>
          </a:xfrm>
          <a:prstGeom prst="rect">
            <a:avLst/>
          </a:prstGeom>
          <a:noFill/>
          <a:ln/>
        </p:spPr>
        <p:txBody>
          <a:bodyPr wrap="square" rtlCol="0" anchor="t"/>
          <a:lstStyle/>
          <a:p>
            <a:pPr marL="0" indent="0">
              <a:buNone/>
            </a:pPr>
            <a:r>
              <a:rPr lang="en-US" sz="1050" dirty="0">
                <a:solidFill>
                  <a:srgbClr val="6E6389"/>
                </a:solidFill>
                <a:latin typeface="Courier New" pitchFamily="34" charset="0"/>
                <a:ea typeface="Courier New" pitchFamily="34" charset="-122"/>
                <a:cs typeface="Courier New" pitchFamily="34" charset="-120"/>
              </a:rPr>
              <a:t>“Yes to all, it's faster.”</a:t>
            </a:r>
            <a:br/>
            <a:r>
              <a:rPr lang="en-US" sz="1050" dirty="0">
                <a:solidFill>
                  <a:srgbClr val="6E6389"/>
                </a:solidFill>
                <a:latin typeface="Courier New" pitchFamily="34" charset="0"/>
                <a:ea typeface="Courier New" pitchFamily="34" charset="-122"/>
                <a:cs typeface="Courier New" pitchFamily="34" charset="-120"/>
              </a:rPr>
              <a:t>Then one shell command, in a</a:t>
            </a:r>
            <a:br/>
            <a:r>
              <a:rPr lang="en-US" sz="1050" dirty="0">
                <a:solidFill>
                  <a:srgbClr val="6E6389"/>
                </a:solidFill>
                <a:latin typeface="Courier New" pitchFamily="34" charset="0"/>
                <a:ea typeface="Courier New" pitchFamily="34" charset="-122"/>
                <a:cs typeface="Courier New" pitchFamily="34" charset="-120"/>
              </a:rPr>
              <a:t>repo that matters.</a:t>
            </a:r>
            <a:endParaRPr lang="en-US" sz="1050" dirty="0"/>
          </a:p>
        </p:txBody>
      </p:sp>
      <p:sp>
        <p:nvSpPr>
          <p:cNvPr id="11" name="Text 8"/>
          <p:cNvSpPr/>
          <p:nvPr/>
        </p:nvSpPr>
        <p:spPr>
          <a:xfrm>
            <a:off x="713232" y="3840480"/>
            <a:ext cx="3474720" cy="685800"/>
          </a:xfrm>
          <a:prstGeom prst="rect">
            <a:avLst/>
          </a:prstGeom>
          <a:noFill/>
          <a:ln/>
        </p:spPr>
        <p:txBody>
          <a:bodyPr wrap="square" rtlCol="0" anchor="t"/>
          <a:lstStyle/>
          <a:p>
            <a:pPr marL="0" indent="0">
              <a:buNone/>
            </a:pPr>
            <a:r>
              <a:rPr lang="en-US" sz="1050" i="1" dirty="0">
                <a:solidFill>
                  <a:srgbClr val="6E6389"/>
                </a:solidFill>
                <a:latin typeface="Calibri" pitchFamily="34" charset="0"/>
                <a:ea typeface="Calibri" pitchFamily="34" charset="-122"/>
                <a:cs typeface="Calibri" pitchFamily="34" charset="-120"/>
              </a:rPr>
              <a:t>You approved that in advance, and you weren't watching when it ran.</a:t>
            </a:r>
            <a:endParaRPr lang="en-US" sz="1050" dirty="0"/>
          </a:p>
        </p:txBody>
      </p:sp>
      <p:sp>
        <p:nvSpPr>
          <p:cNvPr id="12" name="Shape 9"/>
          <p:cNvSpPr/>
          <p:nvPr/>
        </p:nvSpPr>
        <p:spPr>
          <a:xfrm>
            <a:off x="4754880" y="1463040"/>
            <a:ext cx="3931920" cy="3200400"/>
          </a:xfrm>
          <a:prstGeom prst="roundRect">
            <a:avLst>
              <a:gd name="adj" fmla="val 2571"/>
            </a:avLst>
          </a:prstGeom>
          <a:solidFill>
            <a:srgbClr val="FFFFFF"/>
          </a:solidFill>
          <a:ln w="19050">
            <a:solidFill>
              <a:srgbClr val="F59E0B"/>
            </a:solidFill>
            <a:prstDash val="solid"/>
          </a:ln>
        </p:spPr>
        <p:txBody>
          <a:bodyPr/>
          <a:lstStyle/>
          <a:p>
            <a:endParaRPr lang="en-AU"/>
          </a:p>
        </p:txBody>
      </p:sp>
      <p:sp>
        <p:nvSpPr>
          <p:cNvPr id="13" name="Shape 10"/>
          <p:cNvSpPr/>
          <p:nvPr/>
        </p:nvSpPr>
        <p:spPr>
          <a:xfrm>
            <a:off x="4992624" y="1691640"/>
            <a:ext cx="457200" cy="457200"/>
          </a:xfrm>
          <a:prstGeom prst="ellipse">
            <a:avLst/>
          </a:prstGeom>
          <a:solidFill>
            <a:srgbClr val="F59E0B"/>
          </a:solidFill>
          <a:ln/>
        </p:spPr>
        <p:txBody>
          <a:bodyPr/>
          <a:lstStyle/>
          <a:p>
            <a:endParaRPr lang="en-AU"/>
          </a:p>
        </p:txBody>
      </p:sp>
      <p:sp>
        <p:nvSpPr>
          <p:cNvPr id="14" name="Text 11"/>
          <p:cNvSpPr/>
          <p:nvPr/>
        </p:nvSpPr>
        <p:spPr>
          <a:xfrm>
            <a:off x="4992624" y="1691640"/>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a:t>
            </a:r>
            <a:endParaRPr lang="en-US" sz="1200" dirty="0"/>
          </a:p>
        </p:txBody>
      </p:sp>
      <p:sp>
        <p:nvSpPr>
          <p:cNvPr id="15" name="Text 12"/>
          <p:cNvSpPr/>
          <p:nvPr/>
        </p:nvSpPr>
        <p:spPr>
          <a:xfrm>
            <a:off x="5577840" y="1673352"/>
            <a:ext cx="2926080" cy="457200"/>
          </a:xfrm>
          <a:prstGeom prst="rect">
            <a:avLst/>
          </a:prstGeom>
          <a:noFill/>
          <a:ln/>
        </p:spPr>
        <p:txBody>
          <a:bodyPr wrap="square" rtlCol="0" anchor="ctr"/>
          <a:lstStyle/>
          <a:p>
            <a:pPr marL="0" indent="0">
              <a:buNone/>
            </a:pPr>
            <a:r>
              <a:rPr lang="en-US" sz="1400" b="1" dirty="0">
                <a:solidFill>
                  <a:srgbClr val="2D1155"/>
                </a:solidFill>
                <a:latin typeface="Arial Black" pitchFamily="34" charset="0"/>
                <a:ea typeface="Arial Black" pitchFamily="34" charset="-122"/>
                <a:cs typeface="Arial Black" pitchFamily="34" charset="-120"/>
              </a:rPr>
              <a:t>Match the dial to the blast radius</a:t>
            </a:r>
            <a:endParaRPr lang="en-US" sz="1400" dirty="0"/>
          </a:p>
        </p:txBody>
      </p:sp>
      <p:sp>
        <p:nvSpPr>
          <p:cNvPr id="16" name="Shape 13"/>
          <p:cNvSpPr/>
          <p:nvPr/>
        </p:nvSpPr>
        <p:spPr>
          <a:xfrm>
            <a:off x="5010912" y="2286000"/>
            <a:ext cx="3429000" cy="1417320"/>
          </a:xfrm>
          <a:prstGeom prst="roundRect">
            <a:avLst>
              <a:gd name="adj" fmla="val 3226"/>
            </a:avLst>
          </a:prstGeom>
          <a:solidFill>
            <a:srgbClr val="F5F3FF"/>
          </a:solidFill>
          <a:ln/>
        </p:spPr>
        <p:txBody>
          <a:bodyPr/>
          <a:lstStyle/>
          <a:p>
            <a:endParaRPr lang="en-AU"/>
          </a:p>
        </p:txBody>
      </p:sp>
      <p:sp>
        <p:nvSpPr>
          <p:cNvPr id="17" name="Text 14"/>
          <p:cNvSpPr/>
          <p:nvPr/>
        </p:nvSpPr>
        <p:spPr>
          <a:xfrm>
            <a:off x="5157216" y="2395728"/>
            <a:ext cx="3154680" cy="1207008"/>
          </a:xfrm>
          <a:prstGeom prst="rect">
            <a:avLst/>
          </a:prstGeom>
          <a:noFill/>
          <a:ln/>
        </p:spPr>
        <p:txBody>
          <a:bodyPr wrap="square" rtlCol="0" anchor="t"/>
          <a:lstStyle/>
          <a:p>
            <a:pPr marL="0" indent="0">
              <a:buNone/>
            </a:pPr>
            <a:r>
              <a:rPr lang="en-US" sz="1050" dirty="0">
                <a:solidFill>
                  <a:srgbClr val="5B21B6"/>
                </a:solidFill>
                <a:latin typeface="Courier New" pitchFamily="34" charset="0"/>
                <a:ea typeface="Courier New" pitchFamily="34" charset="-122"/>
                <a:cs typeface="Courier New" pitchFamily="34" charset="-120"/>
              </a:rPr>
              <a:t>Ask-every-time while the task is new.</a:t>
            </a:r>
            <a:br/>
            <a:r>
              <a:rPr lang="en-US" sz="1050" dirty="0">
                <a:solidFill>
                  <a:srgbClr val="5B21B6"/>
                </a:solidFill>
                <a:latin typeface="Courier New" pitchFamily="34" charset="0"/>
                <a:ea typeface="Courier New" pitchFamily="34" charset="-122"/>
                <a:cs typeface="Courier New" pitchFamily="34" charset="-120"/>
              </a:rPr>
              <a:t>Auto-accept only in a sandbox, or a</a:t>
            </a:r>
            <a:br/>
            <a:r>
              <a:rPr lang="en-US" sz="1050" dirty="0">
                <a:solidFill>
                  <a:srgbClr val="5B21B6"/>
                </a:solidFill>
                <a:latin typeface="Courier New" pitchFamily="34" charset="0"/>
                <a:ea typeface="Courier New" pitchFamily="34" charset="-122"/>
                <a:cs typeface="Courier New" pitchFamily="34" charset="-120"/>
              </a:rPr>
              <a:t>repo you could afford to delete.</a:t>
            </a:r>
            <a:endParaRPr lang="en-US" sz="1050" dirty="0"/>
          </a:p>
        </p:txBody>
      </p:sp>
      <p:sp>
        <p:nvSpPr>
          <p:cNvPr id="18" name="Text 15"/>
          <p:cNvSpPr/>
          <p:nvPr/>
        </p:nvSpPr>
        <p:spPr>
          <a:xfrm>
            <a:off x="5010912" y="3840480"/>
            <a:ext cx="3474720" cy="685800"/>
          </a:xfrm>
          <a:prstGeom prst="rect">
            <a:avLst/>
          </a:prstGeom>
          <a:noFill/>
          <a:ln/>
        </p:spPr>
        <p:txBody>
          <a:bodyPr wrap="square" rtlCol="0" anchor="t"/>
          <a:lstStyle/>
          <a:p>
            <a:pPr marL="0" indent="0">
              <a:buNone/>
            </a:pPr>
            <a:r>
              <a:rPr lang="en-US" sz="1050" i="1" dirty="0">
                <a:solidFill>
                  <a:srgbClr val="6E6389"/>
                </a:solidFill>
                <a:latin typeface="Calibri" pitchFamily="34" charset="0"/>
                <a:ea typeface="Calibri" pitchFamily="34" charset="-122"/>
                <a:cs typeface="Calibri" pitchFamily="34" charset="-120"/>
              </a:rPr>
              <a:t>Claude Code: Shift+Tab cycles the mode.   Codex: /permissions.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700" b="1" kern="0" spc="100" dirty="0">
                <a:solidFill>
                  <a:srgbClr val="2D1155"/>
                </a:solidFill>
                <a:latin typeface="Arial Black" pitchFamily="34" charset="0"/>
                <a:ea typeface="Arial Black" pitchFamily="34" charset="-122"/>
                <a:cs typeface="Arial Black" pitchFamily="34" charset="-120"/>
              </a:rPr>
              <a:t>THE COCKPIT</a:t>
            </a:r>
            <a:endParaRPr lang="en-US" sz="27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#3 — four moves on the context window. That is the entire cockpit.</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Text 2"/>
          <p:cNvSpPr/>
          <p:nvPr/>
        </p:nvSpPr>
        <p:spPr>
          <a:xfrm>
            <a:off x="640080" y="1481328"/>
            <a:ext cx="2926080" cy="274320"/>
          </a:xfrm>
          <a:prstGeom prst="rect">
            <a:avLst/>
          </a:prstGeom>
          <a:noFill/>
          <a:ln/>
        </p:spPr>
        <p:txBody>
          <a:bodyPr wrap="square" rtlCol="0" anchor="ctr"/>
          <a:lstStyle/>
          <a:p>
            <a:pPr marL="0" indent="0">
              <a:buNone/>
            </a:pPr>
            <a:r>
              <a:rPr lang="en-US" sz="1000" b="1" dirty="0">
                <a:solidFill>
                  <a:srgbClr val="6E6389"/>
                </a:solidFill>
                <a:latin typeface="Calibri" pitchFamily="34" charset="0"/>
                <a:ea typeface="Calibri" pitchFamily="34" charset="-122"/>
                <a:cs typeface="Calibri" pitchFamily="34" charset="-120"/>
              </a:rPr>
              <a:t>THE MOVE</a:t>
            </a:r>
            <a:endParaRPr lang="en-US" sz="1000" dirty="0"/>
          </a:p>
        </p:txBody>
      </p:sp>
      <p:sp>
        <p:nvSpPr>
          <p:cNvPr id="6" name="Text 3"/>
          <p:cNvSpPr/>
          <p:nvPr/>
        </p:nvSpPr>
        <p:spPr>
          <a:xfrm>
            <a:off x="3749040" y="1481328"/>
            <a:ext cx="2468880" cy="274320"/>
          </a:xfrm>
          <a:prstGeom prst="rect">
            <a:avLst/>
          </a:prstGeom>
          <a:noFill/>
          <a:ln/>
        </p:spPr>
        <p:txBody>
          <a:bodyPr wrap="square" rtlCol="0" anchor="ctr"/>
          <a:lstStyle/>
          <a:p>
            <a:pPr marL="0" indent="0">
              <a:buNone/>
            </a:pPr>
            <a:r>
              <a:rPr lang="en-US" sz="1000" b="1" kern="0" spc="100" dirty="0">
                <a:solidFill>
                  <a:srgbClr val="F59E0B"/>
                </a:solidFill>
                <a:latin typeface="Calibri" pitchFamily="34" charset="0"/>
                <a:ea typeface="Calibri" pitchFamily="34" charset="-122"/>
                <a:cs typeface="Calibri" pitchFamily="34" charset="-120"/>
              </a:rPr>
              <a:t>CLAUDE CODE</a:t>
            </a:r>
            <a:endParaRPr lang="en-US" sz="1000" dirty="0"/>
          </a:p>
        </p:txBody>
      </p:sp>
      <p:sp>
        <p:nvSpPr>
          <p:cNvPr id="7" name="Text 4"/>
          <p:cNvSpPr/>
          <p:nvPr/>
        </p:nvSpPr>
        <p:spPr>
          <a:xfrm>
            <a:off x="6355080" y="1481328"/>
            <a:ext cx="2286000" cy="274320"/>
          </a:xfrm>
          <a:prstGeom prst="rect">
            <a:avLst/>
          </a:prstGeom>
          <a:noFill/>
          <a:ln/>
        </p:spPr>
        <p:txBody>
          <a:bodyPr wrap="square" rtlCol="0" anchor="ctr"/>
          <a:lstStyle/>
          <a:p>
            <a:pPr marL="0" indent="0">
              <a:buNone/>
            </a:pPr>
            <a:r>
              <a:rPr lang="en-US" sz="1000" b="1" kern="0" spc="100" dirty="0">
                <a:solidFill>
                  <a:srgbClr val="7C3AED"/>
                </a:solidFill>
                <a:latin typeface="Calibri" pitchFamily="34" charset="0"/>
                <a:ea typeface="Calibri" pitchFamily="34" charset="-122"/>
                <a:cs typeface="Calibri" pitchFamily="34" charset="-120"/>
              </a:rPr>
              <a:t>CODEX</a:t>
            </a:r>
            <a:endParaRPr lang="en-US" sz="1000" dirty="0"/>
          </a:p>
        </p:txBody>
      </p:sp>
      <p:sp>
        <p:nvSpPr>
          <p:cNvPr id="8" name="Shape 5"/>
          <p:cNvSpPr/>
          <p:nvPr/>
        </p:nvSpPr>
        <p:spPr>
          <a:xfrm>
            <a:off x="457200" y="1810512"/>
            <a:ext cx="8229600" cy="603504"/>
          </a:xfrm>
          <a:prstGeom prst="rect">
            <a:avLst/>
          </a:prstGeom>
          <a:solidFill>
            <a:srgbClr val="DDD6FE"/>
          </a:solidFill>
          <a:ln/>
        </p:spPr>
        <p:txBody>
          <a:bodyPr/>
          <a:lstStyle/>
          <a:p>
            <a:endParaRPr lang="en-AU"/>
          </a:p>
        </p:txBody>
      </p:sp>
      <p:sp>
        <p:nvSpPr>
          <p:cNvPr id="9" name="Text 6"/>
          <p:cNvSpPr/>
          <p:nvPr/>
        </p:nvSpPr>
        <p:spPr>
          <a:xfrm>
            <a:off x="640080" y="1810512"/>
            <a:ext cx="3017520" cy="603504"/>
          </a:xfrm>
          <a:prstGeom prst="rect">
            <a:avLst/>
          </a:prstGeom>
          <a:noFill/>
          <a:ln/>
        </p:spPr>
        <p:txBody>
          <a:bodyPr wrap="square"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SEE  </a:t>
            </a:r>
            <a:r>
              <a:rPr lang="en-US" sz="1250" dirty="0">
                <a:solidFill>
                  <a:srgbClr val="2D1155"/>
                </a:solidFill>
                <a:latin typeface="Calibri" pitchFamily="34" charset="0"/>
                <a:ea typeface="Calibri" pitchFamily="34" charset="-122"/>
                <a:cs typeface="Calibri" pitchFamily="34" charset="-120"/>
              </a:rPr>
              <a:t>what it is holding right now</a:t>
            </a:r>
            <a:endParaRPr lang="en-US" sz="1250" dirty="0"/>
          </a:p>
        </p:txBody>
      </p:sp>
      <p:sp>
        <p:nvSpPr>
          <p:cNvPr id="10" name="Text 7"/>
          <p:cNvSpPr/>
          <p:nvPr/>
        </p:nvSpPr>
        <p:spPr>
          <a:xfrm>
            <a:off x="3749040" y="1810512"/>
            <a:ext cx="2560320" cy="603504"/>
          </a:xfrm>
          <a:prstGeom prst="rect">
            <a:avLst/>
          </a:prstGeom>
          <a:noFill/>
          <a:ln/>
        </p:spPr>
        <p:txBody>
          <a:bodyPr wrap="square" rtlCol="0" anchor="ctr"/>
          <a:lstStyle/>
          <a:p>
            <a:pPr marL="0" indent="0">
              <a:buNone/>
            </a:pPr>
            <a:r>
              <a:rPr lang="en-US" sz="1300" b="1" dirty="0">
                <a:solidFill>
                  <a:srgbClr val="5B21B6"/>
                </a:solidFill>
                <a:latin typeface="Courier New" pitchFamily="34" charset="0"/>
                <a:ea typeface="Courier New" pitchFamily="34" charset="-122"/>
                <a:cs typeface="Courier New" pitchFamily="34" charset="-120"/>
              </a:rPr>
              <a:t>/context</a:t>
            </a:r>
            <a:endParaRPr lang="en-US" sz="1300" dirty="0"/>
          </a:p>
        </p:txBody>
      </p:sp>
      <p:sp>
        <p:nvSpPr>
          <p:cNvPr id="11" name="Text 8"/>
          <p:cNvSpPr/>
          <p:nvPr/>
        </p:nvSpPr>
        <p:spPr>
          <a:xfrm>
            <a:off x="6355080" y="1810512"/>
            <a:ext cx="2286000" cy="603504"/>
          </a:xfrm>
          <a:prstGeom prst="rect">
            <a:avLst/>
          </a:prstGeom>
          <a:noFill/>
          <a:ln/>
        </p:spPr>
        <p:txBody>
          <a:bodyPr wrap="square" rtlCol="0" anchor="ctr"/>
          <a:lstStyle/>
          <a:p>
            <a:pPr marL="0" indent="0">
              <a:buNone/>
            </a:pPr>
            <a:r>
              <a:rPr lang="en-US" sz="1300" b="1" dirty="0">
                <a:solidFill>
                  <a:srgbClr val="7C3AED"/>
                </a:solidFill>
                <a:latin typeface="Courier New" pitchFamily="34" charset="0"/>
                <a:ea typeface="Courier New" pitchFamily="34" charset="-122"/>
                <a:cs typeface="Courier New" pitchFamily="34" charset="-120"/>
              </a:rPr>
              <a:t>/status</a:t>
            </a:r>
            <a:endParaRPr lang="en-US" sz="1300" dirty="0"/>
          </a:p>
        </p:txBody>
      </p:sp>
      <p:sp>
        <p:nvSpPr>
          <p:cNvPr id="12" name="Shape 9"/>
          <p:cNvSpPr/>
          <p:nvPr/>
        </p:nvSpPr>
        <p:spPr>
          <a:xfrm>
            <a:off x="457200" y="2414016"/>
            <a:ext cx="8229600" cy="603504"/>
          </a:xfrm>
          <a:prstGeom prst="rect">
            <a:avLst/>
          </a:prstGeom>
          <a:solidFill>
            <a:srgbClr val="FFFFFF"/>
          </a:solidFill>
          <a:ln/>
        </p:spPr>
        <p:txBody>
          <a:bodyPr/>
          <a:lstStyle/>
          <a:p>
            <a:endParaRPr lang="en-AU"/>
          </a:p>
        </p:txBody>
      </p:sp>
      <p:sp>
        <p:nvSpPr>
          <p:cNvPr id="13" name="Text 10"/>
          <p:cNvSpPr/>
          <p:nvPr/>
        </p:nvSpPr>
        <p:spPr>
          <a:xfrm>
            <a:off x="640080" y="2414016"/>
            <a:ext cx="3017520" cy="603504"/>
          </a:xfrm>
          <a:prstGeom prst="rect">
            <a:avLst/>
          </a:prstGeom>
          <a:noFill/>
          <a:ln/>
        </p:spPr>
        <p:txBody>
          <a:bodyPr wrap="square"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LOAD  </a:t>
            </a:r>
            <a:r>
              <a:rPr lang="en-US" sz="1250" dirty="0">
                <a:solidFill>
                  <a:srgbClr val="2D1155"/>
                </a:solidFill>
                <a:latin typeface="Calibri" pitchFamily="34" charset="0"/>
                <a:ea typeface="Calibri" pitchFamily="34" charset="-122"/>
                <a:cs typeface="Calibri" pitchFamily="34" charset="-120"/>
              </a:rPr>
              <a:t>the exact files the task touches</a:t>
            </a:r>
            <a:endParaRPr lang="en-US" sz="1250" dirty="0"/>
          </a:p>
        </p:txBody>
      </p:sp>
      <p:sp>
        <p:nvSpPr>
          <p:cNvPr id="14" name="Text 11"/>
          <p:cNvSpPr/>
          <p:nvPr/>
        </p:nvSpPr>
        <p:spPr>
          <a:xfrm>
            <a:off x="3749040" y="2414016"/>
            <a:ext cx="2560320" cy="603504"/>
          </a:xfrm>
          <a:prstGeom prst="rect">
            <a:avLst/>
          </a:prstGeom>
          <a:noFill/>
          <a:ln/>
        </p:spPr>
        <p:txBody>
          <a:bodyPr wrap="square" rtlCol="0" anchor="ctr"/>
          <a:lstStyle/>
          <a:p>
            <a:pPr marL="0" indent="0">
              <a:buNone/>
            </a:pPr>
            <a:r>
              <a:rPr lang="en-US" sz="1300" b="1" dirty="0">
                <a:solidFill>
                  <a:srgbClr val="5B21B6"/>
                </a:solidFill>
                <a:latin typeface="Courier New" pitchFamily="34" charset="0"/>
                <a:ea typeface="Courier New" pitchFamily="34" charset="-122"/>
                <a:cs typeface="Courier New" pitchFamily="34" charset="-120"/>
              </a:rPr>
              <a:t>@path/to/file</a:t>
            </a:r>
            <a:endParaRPr lang="en-US" sz="1300" dirty="0"/>
          </a:p>
        </p:txBody>
      </p:sp>
      <p:sp>
        <p:nvSpPr>
          <p:cNvPr id="15" name="Text 12"/>
          <p:cNvSpPr/>
          <p:nvPr/>
        </p:nvSpPr>
        <p:spPr>
          <a:xfrm>
            <a:off x="6355080" y="2414016"/>
            <a:ext cx="2286000" cy="603504"/>
          </a:xfrm>
          <a:prstGeom prst="rect">
            <a:avLst/>
          </a:prstGeom>
          <a:noFill/>
          <a:ln/>
        </p:spPr>
        <p:txBody>
          <a:bodyPr wrap="square" rtlCol="0" anchor="ctr"/>
          <a:lstStyle/>
          <a:p>
            <a:pPr marL="0" indent="0">
              <a:buNone/>
            </a:pPr>
            <a:r>
              <a:rPr lang="en-US" sz="1300" b="1" dirty="0">
                <a:solidFill>
                  <a:srgbClr val="7C3AED"/>
                </a:solidFill>
                <a:latin typeface="Courier New" pitchFamily="34" charset="0"/>
                <a:ea typeface="Courier New" pitchFamily="34" charset="-122"/>
                <a:cs typeface="Courier New" pitchFamily="34" charset="-120"/>
              </a:rPr>
              <a:t>@path/to/file</a:t>
            </a:r>
            <a:endParaRPr lang="en-US" sz="1300" dirty="0"/>
          </a:p>
        </p:txBody>
      </p:sp>
      <p:sp>
        <p:nvSpPr>
          <p:cNvPr id="16" name="Shape 13"/>
          <p:cNvSpPr/>
          <p:nvPr/>
        </p:nvSpPr>
        <p:spPr>
          <a:xfrm>
            <a:off x="457200" y="3017520"/>
            <a:ext cx="8229600" cy="603504"/>
          </a:xfrm>
          <a:prstGeom prst="rect">
            <a:avLst/>
          </a:prstGeom>
          <a:solidFill>
            <a:srgbClr val="DDD6FE"/>
          </a:solidFill>
          <a:ln/>
        </p:spPr>
        <p:txBody>
          <a:bodyPr/>
          <a:lstStyle/>
          <a:p>
            <a:endParaRPr lang="en-AU"/>
          </a:p>
        </p:txBody>
      </p:sp>
      <p:sp>
        <p:nvSpPr>
          <p:cNvPr id="17" name="Text 14"/>
          <p:cNvSpPr/>
          <p:nvPr/>
        </p:nvSpPr>
        <p:spPr>
          <a:xfrm>
            <a:off x="640080" y="3017520"/>
            <a:ext cx="3017520" cy="603504"/>
          </a:xfrm>
          <a:prstGeom prst="rect">
            <a:avLst/>
          </a:prstGeom>
          <a:noFill/>
          <a:ln/>
        </p:spPr>
        <p:txBody>
          <a:bodyPr wrap="square"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TRIM  </a:t>
            </a:r>
            <a:r>
              <a:rPr lang="en-US" sz="1250" dirty="0">
                <a:solidFill>
                  <a:srgbClr val="2D1155"/>
                </a:solidFill>
                <a:latin typeface="Calibri" pitchFamily="34" charset="0"/>
                <a:ea typeface="Calibri" pitchFamily="34" charset="-122"/>
                <a:cs typeface="Calibri" pitchFamily="34" charset="-120"/>
              </a:rPr>
              <a:t>summarise away what is stale</a:t>
            </a:r>
            <a:endParaRPr lang="en-US" sz="1250" dirty="0"/>
          </a:p>
        </p:txBody>
      </p:sp>
      <p:sp>
        <p:nvSpPr>
          <p:cNvPr id="18" name="Text 15"/>
          <p:cNvSpPr/>
          <p:nvPr/>
        </p:nvSpPr>
        <p:spPr>
          <a:xfrm>
            <a:off x="3749040" y="3017520"/>
            <a:ext cx="2560320" cy="603504"/>
          </a:xfrm>
          <a:prstGeom prst="rect">
            <a:avLst/>
          </a:prstGeom>
          <a:noFill/>
          <a:ln/>
        </p:spPr>
        <p:txBody>
          <a:bodyPr wrap="square" rtlCol="0" anchor="ctr"/>
          <a:lstStyle/>
          <a:p>
            <a:pPr marL="0" indent="0">
              <a:buNone/>
            </a:pPr>
            <a:r>
              <a:rPr lang="en-US" sz="1300" b="1" dirty="0">
                <a:solidFill>
                  <a:srgbClr val="5B21B6"/>
                </a:solidFill>
                <a:latin typeface="Courier New" pitchFamily="34" charset="0"/>
                <a:ea typeface="Courier New" pitchFamily="34" charset="-122"/>
                <a:cs typeface="Courier New" pitchFamily="34" charset="-120"/>
              </a:rPr>
              <a:t>/compact</a:t>
            </a:r>
            <a:endParaRPr lang="en-US" sz="1300" dirty="0"/>
          </a:p>
        </p:txBody>
      </p:sp>
      <p:sp>
        <p:nvSpPr>
          <p:cNvPr id="19" name="Text 16"/>
          <p:cNvSpPr/>
          <p:nvPr/>
        </p:nvSpPr>
        <p:spPr>
          <a:xfrm>
            <a:off x="6355080" y="3017520"/>
            <a:ext cx="2286000" cy="603504"/>
          </a:xfrm>
          <a:prstGeom prst="rect">
            <a:avLst/>
          </a:prstGeom>
          <a:noFill/>
          <a:ln/>
        </p:spPr>
        <p:txBody>
          <a:bodyPr wrap="square" rtlCol="0" anchor="ctr"/>
          <a:lstStyle/>
          <a:p>
            <a:pPr marL="0" indent="0">
              <a:buNone/>
            </a:pPr>
            <a:r>
              <a:rPr lang="en-US" sz="1300" b="1" dirty="0">
                <a:solidFill>
                  <a:srgbClr val="7C3AED"/>
                </a:solidFill>
                <a:latin typeface="Courier New" pitchFamily="34" charset="0"/>
                <a:ea typeface="Courier New" pitchFamily="34" charset="-122"/>
                <a:cs typeface="Courier New" pitchFamily="34" charset="-120"/>
              </a:rPr>
              <a:t>/compact</a:t>
            </a:r>
            <a:endParaRPr lang="en-US" sz="1300" dirty="0"/>
          </a:p>
        </p:txBody>
      </p:sp>
      <p:sp>
        <p:nvSpPr>
          <p:cNvPr id="20" name="Shape 17"/>
          <p:cNvSpPr/>
          <p:nvPr/>
        </p:nvSpPr>
        <p:spPr>
          <a:xfrm>
            <a:off x="457200" y="3621024"/>
            <a:ext cx="8229600" cy="603504"/>
          </a:xfrm>
          <a:prstGeom prst="rect">
            <a:avLst/>
          </a:prstGeom>
          <a:solidFill>
            <a:srgbClr val="FFFFFF"/>
          </a:solidFill>
          <a:ln/>
        </p:spPr>
        <p:txBody>
          <a:bodyPr/>
          <a:lstStyle/>
          <a:p>
            <a:endParaRPr lang="en-AU"/>
          </a:p>
        </p:txBody>
      </p:sp>
      <p:sp>
        <p:nvSpPr>
          <p:cNvPr id="21" name="Text 18"/>
          <p:cNvSpPr/>
          <p:nvPr/>
        </p:nvSpPr>
        <p:spPr>
          <a:xfrm>
            <a:off x="640080" y="3621024"/>
            <a:ext cx="3017520" cy="603504"/>
          </a:xfrm>
          <a:prstGeom prst="rect">
            <a:avLst/>
          </a:prstGeom>
          <a:noFill/>
          <a:ln/>
        </p:spPr>
        <p:txBody>
          <a:bodyPr wrap="square"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RESET  </a:t>
            </a:r>
            <a:r>
              <a:rPr lang="en-US" sz="1250" dirty="0">
                <a:solidFill>
                  <a:srgbClr val="2D1155"/>
                </a:solidFill>
                <a:latin typeface="Calibri" pitchFamily="34" charset="0"/>
                <a:ea typeface="Calibri" pitchFamily="34" charset="-122"/>
                <a:cs typeface="Calibri" pitchFamily="34" charset="-120"/>
              </a:rPr>
              <a:t>new task, clean window</a:t>
            </a:r>
            <a:endParaRPr lang="en-US" sz="1250" dirty="0"/>
          </a:p>
        </p:txBody>
      </p:sp>
      <p:sp>
        <p:nvSpPr>
          <p:cNvPr id="22" name="Text 19"/>
          <p:cNvSpPr/>
          <p:nvPr/>
        </p:nvSpPr>
        <p:spPr>
          <a:xfrm>
            <a:off x="3749040" y="3621024"/>
            <a:ext cx="2560320" cy="603504"/>
          </a:xfrm>
          <a:prstGeom prst="rect">
            <a:avLst/>
          </a:prstGeom>
          <a:noFill/>
          <a:ln/>
        </p:spPr>
        <p:txBody>
          <a:bodyPr wrap="square" rtlCol="0" anchor="ctr"/>
          <a:lstStyle/>
          <a:p>
            <a:pPr marL="0" indent="0">
              <a:buNone/>
            </a:pPr>
            <a:r>
              <a:rPr lang="en-US" sz="1300" b="1" dirty="0">
                <a:solidFill>
                  <a:srgbClr val="5B21B6"/>
                </a:solidFill>
                <a:latin typeface="Courier New" pitchFamily="34" charset="0"/>
                <a:ea typeface="Courier New" pitchFamily="34" charset="-122"/>
                <a:cs typeface="Courier New" pitchFamily="34" charset="-120"/>
              </a:rPr>
              <a:t>/clear</a:t>
            </a:r>
            <a:endParaRPr lang="en-US" sz="1300" dirty="0"/>
          </a:p>
        </p:txBody>
      </p:sp>
      <p:sp>
        <p:nvSpPr>
          <p:cNvPr id="23" name="Text 20"/>
          <p:cNvSpPr/>
          <p:nvPr/>
        </p:nvSpPr>
        <p:spPr>
          <a:xfrm>
            <a:off x="6355080" y="3621024"/>
            <a:ext cx="2286000" cy="603504"/>
          </a:xfrm>
          <a:prstGeom prst="rect">
            <a:avLst/>
          </a:prstGeom>
          <a:noFill/>
          <a:ln/>
        </p:spPr>
        <p:txBody>
          <a:bodyPr wrap="square" rtlCol="0" anchor="ctr"/>
          <a:lstStyle/>
          <a:p>
            <a:pPr marL="0" indent="0">
              <a:buNone/>
            </a:pPr>
            <a:r>
              <a:rPr lang="en-US" sz="1300" b="1" dirty="0">
                <a:solidFill>
                  <a:srgbClr val="7C3AED"/>
                </a:solidFill>
                <a:latin typeface="Courier New" pitchFamily="34" charset="0"/>
                <a:ea typeface="Courier New" pitchFamily="34" charset="-122"/>
                <a:cs typeface="Courier New" pitchFamily="34" charset="-120"/>
              </a:rPr>
              <a:t>/new</a:t>
            </a:r>
            <a:endParaRPr lang="en-US" sz="1300" dirty="0"/>
          </a:p>
        </p:txBody>
      </p:sp>
      <p:sp>
        <p:nvSpPr>
          <p:cNvPr id="24" name="Text 21"/>
          <p:cNvSpPr/>
          <p:nvPr/>
        </p:nvSpPr>
        <p:spPr>
          <a:xfrm>
            <a:off x="457200" y="4370832"/>
            <a:ext cx="8229600" cy="320040"/>
          </a:xfrm>
          <a:prstGeom prst="rect">
            <a:avLst/>
          </a:prstGeom>
          <a:noFill/>
          <a:ln/>
        </p:spPr>
        <p:txBody>
          <a:bodyPr wrap="square" rtlCol="0" anchor="ctr"/>
          <a:lstStyle/>
          <a:p>
            <a:pPr marL="0" indent="0">
              <a:buNone/>
            </a:pPr>
            <a:r>
              <a:rPr lang="en-US" sz="1150" b="1" i="1" dirty="0">
                <a:solidFill>
                  <a:srgbClr val="7C3AED"/>
                </a:solidFill>
                <a:latin typeface="Calibri" pitchFamily="34" charset="0"/>
                <a:ea typeface="Calibri" pitchFamily="34" charset="-122"/>
                <a:cs typeface="Calibri" pitchFamily="34" charset="-120"/>
              </a:rPr>
              <a:t>See, load, trim, reset. </a:t>
            </a:r>
            <a:r>
              <a:rPr lang="en-US" sz="1150" i="1" dirty="0">
                <a:solidFill>
                  <a:srgbClr val="6E6389"/>
                </a:solidFill>
                <a:latin typeface="Calibri" pitchFamily="34" charset="0"/>
                <a:ea typeface="Calibri" pitchFamily="34" charset="-122"/>
                <a:cs typeface="Calibri" pitchFamily="34" charset="-120"/>
              </a:rPr>
              <a:t>Nothing to memorise — but every context problem you hit today is one of these four.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CONTEXT IS THE FUEL</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gauge tells you which of the four moves to reach for.</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508760"/>
            <a:ext cx="2679192" cy="2880360"/>
          </a:xfrm>
          <a:prstGeom prst="roundRect">
            <a:avLst>
              <a:gd name="adj" fmla="val 3072"/>
            </a:avLst>
          </a:prstGeom>
          <a:solidFill>
            <a:srgbClr val="FFFFFF"/>
          </a:solidFill>
          <a:ln w="12700">
            <a:solidFill>
              <a:srgbClr val="DDD6FE"/>
            </a:solidFill>
            <a:prstDash val="solid"/>
          </a:ln>
        </p:spPr>
        <p:txBody>
          <a:bodyPr/>
          <a:lstStyle/>
          <a:p>
            <a:endParaRPr lang="en-AU"/>
          </a:p>
        </p:txBody>
      </p:sp>
      <p:sp>
        <p:nvSpPr>
          <p:cNvPr id="6" name="Text 3"/>
          <p:cNvSpPr/>
          <p:nvPr/>
        </p:nvSpPr>
        <p:spPr>
          <a:xfrm>
            <a:off x="658368" y="1691640"/>
            <a:ext cx="2286000" cy="365760"/>
          </a:xfrm>
          <a:prstGeom prst="rect">
            <a:avLst/>
          </a:prstGeom>
          <a:noFill/>
          <a:ln/>
        </p:spPr>
        <p:txBody>
          <a:bodyPr wrap="square" rtlCol="0" anchor="ctr"/>
          <a:lstStyle/>
          <a:p>
            <a:pPr marL="0" indent="0">
              <a:buNone/>
            </a:pPr>
            <a:r>
              <a:rPr lang="en-US" sz="1500" b="1" dirty="0">
                <a:solidFill>
                  <a:srgbClr val="6E6389"/>
                </a:solidFill>
                <a:latin typeface="Arial Black" pitchFamily="34" charset="0"/>
                <a:ea typeface="Arial Black" pitchFamily="34" charset="-122"/>
                <a:cs typeface="Arial Black" pitchFamily="34" charset="-120"/>
              </a:rPr>
              <a:t>Too little</a:t>
            </a:r>
            <a:endParaRPr lang="en-US" sz="1500" dirty="0"/>
          </a:p>
        </p:txBody>
      </p:sp>
      <p:sp>
        <p:nvSpPr>
          <p:cNvPr id="7" name="Text 4"/>
          <p:cNvSpPr/>
          <p:nvPr/>
        </p:nvSpPr>
        <p:spPr>
          <a:xfrm>
            <a:off x="658368" y="2194560"/>
            <a:ext cx="2331720" cy="2103120"/>
          </a:xfrm>
          <a:prstGeom prst="rect">
            <a:avLst/>
          </a:prstGeom>
          <a:noFill/>
          <a:ln/>
        </p:spPr>
        <p:txBody>
          <a:bodyPr wrap="square" rtlCol="0" anchor="t"/>
          <a:lstStyle/>
          <a:p>
            <a:pPr marL="0" indent="0">
              <a:buNone/>
            </a:pPr>
            <a:r>
              <a:rPr lang="en-US" sz="1250" dirty="0">
                <a:solidFill>
                  <a:srgbClr val="2D1155"/>
                </a:solidFill>
                <a:latin typeface="Calibri" pitchFamily="34" charset="0"/>
                <a:ea typeface="Calibri" pitchFamily="34" charset="-122"/>
                <a:cs typeface="Calibri" pitchFamily="34" charset="-120"/>
              </a:rPr>
              <a:t>It was never told enough. So it guesses — wrong file, invented convention, confident nonsense.</a:t>
            </a:r>
            <a:endParaRPr lang="en-US" sz="1250" dirty="0"/>
          </a:p>
        </p:txBody>
      </p:sp>
      <p:sp>
        <p:nvSpPr>
          <p:cNvPr id="8" name="Shape 5"/>
          <p:cNvSpPr/>
          <p:nvPr/>
        </p:nvSpPr>
        <p:spPr>
          <a:xfrm>
            <a:off x="3227832" y="1508760"/>
            <a:ext cx="2679192" cy="2880360"/>
          </a:xfrm>
          <a:prstGeom prst="roundRect">
            <a:avLst>
              <a:gd name="adj" fmla="val 3072"/>
            </a:avLst>
          </a:prstGeom>
          <a:solidFill>
            <a:srgbClr val="2D1155"/>
          </a:solidFill>
          <a:ln w="19050">
            <a:solidFill>
              <a:srgbClr val="F59E0B"/>
            </a:solidFill>
            <a:prstDash val="solid"/>
          </a:ln>
        </p:spPr>
        <p:txBody>
          <a:bodyPr/>
          <a:lstStyle/>
          <a:p>
            <a:endParaRPr lang="en-AU"/>
          </a:p>
        </p:txBody>
      </p:sp>
      <p:sp>
        <p:nvSpPr>
          <p:cNvPr id="9" name="Text 6"/>
          <p:cNvSpPr/>
          <p:nvPr/>
        </p:nvSpPr>
        <p:spPr>
          <a:xfrm>
            <a:off x="3429000" y="1691640"/>
            <a:ext cx="2286000" cy="365760"/>
          </a:xfrm>
          <a:prstGeom prst="rect">
            <a:avLst/>
          </a:prstGeom>
          <a:noFill/>
          <a:ln/>
        </p:spPr>
        <p:txBody>
          <a:bodyPr wrap="square" rtlCol="0" anchor="ctr"/>
          <a:lstStyle/>
          <a:p>
            <a:pPr marL="0" indent="0">
              <a:buNone/>
            </a:pPr>
            <a:r>
              <a:rPr lang="en-US" sz="1500" b="1" dirty="0">
                <a:solidFill>
                  <a:srgbClr val="F59E0B"/>
                </a:solidFill>
                <a:latin typeface="Arial Black" pitchFamily="34" charset="0"/>
                <a:ea typeface="Arial Black" pitchFamily="34" charset="-122"/>
                <a:cs typeface="Arial Black" pitchFamily="34" charset="-120"/>
              </a:rPr>
              <a:t>Just right</a:t>
            </a:r>
            <a:endParaRPr lang="en-US" sz="1500" dirty="0"/>
          </a:p>
        </p:txBody>
      </p:sp>
      <p:sp>
        <p:nvSpPr>
          <p:cNvPr id="10" name="Text 7"/>
          <p:cNvSpPr/>
          <p:nvPr/>
        </p:nvSpPr>
        <p:spPr>
          <a:xfrm>
            <a:off x="3429000" y="2194560"/>
            <a:ext cx="2331720" cy="2103120"/>
          </a:xfrm>
          <a:prstGeom prst="rect">
            <a:avLst/>
          </a:prstGeom>
          <a:noFill/>
          <a:ln/>
        </p:spPr>
        <p:txBody>
          <a:bodyPr wrap="square" rtlCol="0" anchor="t"/>
          <a:lstStyle/>
          <a:p>
            <a:pPr marL="0" indent="0">
              <a:buNone/>
            </a:pPr>
            <a:r>
              <a:rPr lang="en-US" sz="1250" dirty="0">
                <a:solidFill>
                  <a:srgbClr val="FFFFFF"/>
                </a:solidFill>
                <a:latin typeface="Calibri" pitchFamily="34" charset="0"/>
                <a:ea typeface="Calibri" pitchFamily="34" charset="-122"/>
                <a:cs typeface="Calibri" pitchFamily="34" charset="-120"/>
              </a:rPr>
              <a:t>One task. Only what that task touches. Nothing left over from an hour ago.</a:t>
            </a:r>
            <a:endParaRPr lang="en-US" sz="1250" dirty="0"/>
          </a:p>
        </p:txBody>
      </p:sp>
      <p:sp>
        <p:nvSpPr>
          <p:cNvPr id="11" name="Shape 8"/>
          <p:cNvSpPr/>
          <p:nvPr/>
        </p:nvSpPr>
        <p:spPr>
          <a:xfrm>
            <a:off x="6007608" y="1508760"/>
            <a:ext cx="2679192" cy="2880360"/>
          </a:xfrm>
          <a:prstGeom prst="roundRect">
            <a:avLst>
              <a:gd name="adj" fmla="val 3072"/>
            </a:avLst>
          </a:prstGeom>
          <a:solidFill>
            <a:srgbClr val="FFFFFF"/>
          </a:solidFill>
          <a:ln w="12700">
            <a:solidFill>
              <a:srgbClr val="DDD6FE"/>
            </a:solidFill>
            <a:prstDash val="solid"/>
          </a:ln>
        </p:spPr>
        <p:txBody>
          <a:bodyPr/>
          <a:lstStyle/>
          <a:p>
            <a:endParaRPr lang="en-AU"/>
          </a:p>
        </p:txBody>
      </p:sp>
      <p:sp>
        <p:nvSpPr>
          <p:cNvPr id="12" name="Text 9"/>
          <p:cNvSpPr/>
          <p:nvPr/>
        </p:nvSpPr>
        <p:spPr>
          <a:xfrm>
            <a:off x="6208776" y="1691640"/>
            <a:ext cx="2286000" cy="365760"/>
          </a:xfrm>
          <a:prstGeom prst="rect">
            <a:avLst/>
          </a:prstGeom>
          <a:noFill/>
          <a:ln/>
        </p:spPr>
        <p:txBody>
          <a:bodyPr wrap="square" rtlCol="0" anchor="ctr"/>
          <a:lstStyle/>
          <a:p>
            <a:pPr marL="0" indent="0">
              <a:buNone/>
            </a:pPr>
            <a:r>
              <a:rPr lang="en-US" sz="1500" b="1" dirty="0">
                <a:solidFill>
                  <a:srgbClr val="7C3AED"/>
                </a:solidFill>
                <a:latin typeface="Arial Black" pitchFamily="34" charset="0"/>
                <a:ea typeface="Arial Black" pitchFamily="34" charset="-122"/>
                <a:cs typeface="Arial Black" pitchFamily="34" charset="-120"/>
              </a:rPr>
              <a:t>Too much</a:t>
            </a:r>
            <a:endParaRPr lang="en-US" sz="1500" dirty="0"/>
          </a:p>
        </p:txBody>
      </p:sp>
      <p:sp>
        <p:nvSpPr>
          <p:cNvPr id="13" name="Text 10"/>
          <p:cNvSpPr/>
          <p:nvPr/>
        </p:nvSpPr>
        <p:spPr>
          <a:xfrm>
            <a:off x="6208776" y="2194560"/>
            <a:ext cx="2331720" cy="2103120"/>
          </a:xfrm>
          <a:prstGeom prst="rect">
            <a:avLst/>
          </a:prstGeom>
          <a:noFill/>
          <a:ln/>
        </p:spPr>
        <p:txBody>
          <a:bodyPr wrap="square" rtlCol="0" anchor="t"/>
          <a:lstStyle/>
          <a:p>
            <a:pPr marL="0" indent="0">
              <a:buNone/>
            </a:pPr>
            <a:r>
              <a:rPr lang="en-US" sz="1250" dirty="0">
                <a:solidFill>
                  <a:srgbClr val="2D1155"/>
                </a:solidFill>
                <a:latin typeface="Calibri" pitchFamily="34" charset="0"/>
                <a:ea typeface="Calibri" pitchFamily="34" charset="-122"/>
                <a:cs typeface="Calibri" pitchFamily="34" charset="-120"/>
              </a:rPr>
              <a:t>Slow, and old threads leak into new answers. The window is full, so it starts forgetting.</a:t>
            </a:r>
            <a:endParaRPr lang="en-US" sz="1250" dirty="0"/>
          </a:p>
        </p:txBody>
      </p:sp>
      <p:sp>
        <p:nvSpPr>
          <p:cNvPr id="14" name="Text 14"/>
          <p:cNvSpPr/>
          <p:nvPr/>
        </p:nvSpPr>
        <p:spPr>
          <a:xfrm>
            <a:off x="658368" y="3803904"/>
            <a:ext cx="2240280" cy="384048"/>
          </a:xfrm>
          <a:prstGeom prst="rect">
            <a:avLst/>
          </a:prstGeom>
          <a:noFill/>
          <a:ln/>
        </p:spPr>
        <p:txBody>
          <a:bodyPr wrap="square" lIns="0" rIns="0" rtlCol="0" anchor="ctr"/>
          <a:lstStyle/>
          <a:p>
            <a:pPr marL="0" indent="0">
              <a:buNone/>
            </a:pPr>
            <a:r>
              <a:rPr lang="en-US" sz="1150" b="1" dirty="0">
                <a:solidFill>
                  <a:srgbClr val="7C3AED"/>
                </a:solidFill>
                <a:latin typeface="Calibri" pitchFamily="34" charset="0"/>
                <a:ea typeface="Calibri" pitchFamily="34" charset="-122"/>
                <a:cs typeface="Calibri" pitchFamily="34" charset="-120"/>
              </a:rPr>
              <a:t>→ LOAD </a:t>
            </a:r>
            <a:r>
              <a:rPr lang="en-US" sz="1100" i="1" dirty="0">
                <a:solidFill>
                  <a:srgbClr val="6E6389"/>
                </a:solidFill>
                <a:latin typeface="Calibri" pitchFamily="34" charset="0"/>
                <a:ea typeface="Calibri" pitchFamily="34" charset="-122"/>
                <a:cs typeface="Calibri" pitchFamily="34" charset="-120"/>
              </a:rPr>
              <a:t>more of the right thing</a:t>
            </a:r>
            <a:endParaRPr lang="en-US" sz="1150" dirty="0"/>
          </a:p>
        </p:txBody>
      </p:sp>
      <p:sp>
        <p:nvSpPr>
          <p:cNvPr id="15" name="Text 15"/>
          <p:cNvSpPr/>
          <p:nvPr/>
        </p:nvSpPr>
        <p:spPr>
          <a:xfrm>
            <a:off x="3429000" y="3803904"/>
            <a:ext cx="2240280" cy="384048"/>
          </a:xfrm>
          <a:prstGeom prst="rect">
            <a:avLst/>
          </a:prstGeom>
          <a:noFill/>
          <a:ln/>
        </p:spPr>
        <p:txBody>
          <a:bodyPr wrap="square" lIns="0" rIns="0"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 HOLD </a:t>
            </a:r>
            <a:r>
              <a:rPr lang="en-US" sz="1100" i="1" dirty="0">
                <a:solidFill>
                  <a:srgbClr val="DDD6FE"/>
                </a:solidFill>
                <a:latin typeface="Calibri" pitchFamily="34" charset="0"/>
                <a:ea typeface="Calibri" pitchFamily="34" charset="-122"/>
                <a:cs typeface="Calibri" pitchFamily="34" charset="-120"/>
              </a:rPr>
              <a:t>live here</a:t>
            </a:r>
            <a:endParaRPr lang="en-US" sz="1150" dirty="0"/>
          </a:p>
        </p:txBody>
      </p:sp>
      <p:sp>
        <p:nvSpPr>
          <p:cNvPr id="16" name="Text 16"/>
          <p:cNvSpPr/>
          <p:nvPr/>
        </p:nvSpPr>
        <p:spPr>
          <a:xfrm>
            <a:off x="6208776" y="3803904"/>
            <a:ext cx="2240280" cy="384048"/>
          </a:xfrm>
          <a:prstGeom prst="rect">
            <a:avLst/>
          </a:prstGeom>
          <a:noFill/>
          <a:ln/>
        </p:spPr>
        <p:txBody>
          <a:bodyPr wrap="square" lIns="0" rIns="0" rtlCol="0" anchor="ctr"/>
          <a:lstStyle/>
          <a:p>
            <a:pPr marL="0" indent="0">
              <a:buNone/>
            </a:pPr>
            <a:r>
              <a:rPr lang="en-US" sz="1150" b="1" dirty="0">
                <a:solidFill>
                  <a:srgbClr val="7C3AED"/>
                </a:solidFill>
                <a:latin typeface="Calibri" pitchFamily="34" charset="0"/>
                <a:ea typeface="Calibri" pitchFamily="34" charset="-122"/>
                <a:cs typeface="Calibri" pitchFamily="34" charset="-120"/>
              </a:rPr>
              <a:t>→ TRIM </a:t>
            </a:r>
            <a:r>
              <a:rPr lang="en-US" sz="1100" i="1" dirty="0">
                <a:solidFill>
                  <a:srgbClr val="6E6389"/>
                </a:solidFill>
                <a:latin typeface="Calibri" pitchFamily="34" charset="0"/>
                <a:ea typeface="Calibri" pitchFamily="34" charset="-122"/>
                <a:cs typeface="Calibri" pitchFamily="34" charset="-120"/>
              </a:rPr>
              <a:t>then RESET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WHEN IT BREAKS — IT WILL</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#4 — report symptoms, don't reach for the file.</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3931920" cy="3200400"/>
          </a:xfrm>
          <a:prstGeom prst="roundRect">
            <a:avLst>
              <a:gd name="adj" fmla="val 2571"/>
            </a:avLst>
          </a:prstGeom>
          <a:solidFill>
            <a:srgbClr val="FFFFFF"/>
          </a:solidFill>
          <a:ln w="12700">
            <a:solidFill>
              <a:srgbClr val="DDD6FE"/>
            </a:solidFill>
            <a:prstDash val="solid"/>
          </a:ln>
        </p:spPr>
        <p:txBody>
          <a:bodyPr/>
          <a:lstStyle/>
          <a:p>
            <a:endParaRPr lang="en-AU"/>
          </a:p>
        </p:txBody>
      </p:sp>
      <p:sp>
        <p:nvSpPr>
          <p:cNvPr id="6" name="Shape 3"/>
          <p:cNvSpPr/>
          <p:nvPr/>
        </p:nvSpPr>
        <p:spPr>
          <a:xfrm>
            <a:off x="694944" y="1691640"/>
            <a:ext cx="457200" cy="457200"/>
          </a:xfrm>
          <a:prstGeom prst="ellipse">
            <a:avLst/>
          </a:prstGeom>
          <a:solidFill>
            <a:srgbClr val="6E6389"/>
          </a:solidFill>
          <a:ln/>
        </p:spPr>
        <p:txBody>
          <a:bodyPr/>
          <a:lstStyle/>
          <a:p>
            <a:endParaRPr lang="en-AU"/>
          </a:p>
        </p:txBody>
      </p:sp>
      <p:sp>
        <p:nvSpPr>
          <p:cNvPr id="7" name="Text 4"/>
          <p:cNvSpPr/>
          <p:nvPr/>
        </p:nvSpPr>
        <p:spPr>
          <a:xfrm>
            <a:off x="694944" y="1691640"/>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a:t>
            </a:r>
            <a:endParaRPr lang="en-US" sz="1200" dirty="0"/>
          </a:p>
        </p:txBody>
      </p:sp>
      <p:sp>
        <p:nvSpPr>
          <p:cNvPr id="8" name="Text 5"/>
          <p:cNvSpPr/>
          <p:nvPr/>
        </p:nvSpPr>
        <p:spPr>
          <a:xfrm>
            <a:off x="1280160" y="1673352"/>
            <a:ext cx="2926080" cy="457200"/>
          </a:xfrm>
          <a:prstGeom prst="rect">
            <a:avLst/>
          </a:prstGeom>
          <a:noFill/>
          <a:ln/>
        </p:spPr>
        <p:txBody>
          <a:bodyPr wrap="square" rtlCol="0" anchor="ctr"/>
          <a:lstStyle/>
          <a:p>
            <a:pPr marL="0" indent="0">
              <a:buNone/>
            </a:pPr>
            <a:r>
              <a:rPr lang="en-US" sz="1400" b="1" dirty="0">
                <a:solidFill>
                  <a:srgbClr val="6E6389"/>
                </a:solidFill>
                <a:latin typeface="Arial Black" pitchFamily="34" charset="0"/>
                <a:ea typeface="Arial Black" pitchFamily="34" charset="-122"/>
                <a:cs typeface="Arial Black" pitchFamily="34" charset="-120"/>
              </a:rPr>
              <a:t>Hand-debugging</a:t>
            </a:r>
            <a:endParaRPr lang="en-US" sz="1400" dirty="0"/>
          </a:p>
        </p:txBody>
      </p:sp>
      <p:sp>
        <p:nvSpPr>
          <p:cNvPr id="9" name="Text 6"/>
          <p:cNvSpPr/>
          <p:nvPr/>
        </p:nvSpPr>
        <p:spPr>
          <a:xfrm>
            <a:off x="731520" y="2331720"/>
            <a:ext cx="3474720" cy="2194560"/>
          </a:xfrm>
          <a:prstGeom prst="rect">
            <a:avLst/>
          </a:prstGeom>
          <a:noFill/>
          <a:ln/>
        </p:spPr>
        <p:txBody>
          <a:bodyPr wrap="square" rtlCol="0" anchor="t"/>
          <a:lstStyle/>
          <a:p>
            <a:pPr marL="152400" indent="-152400">
              <a:spcAft>
                <a:spcPts val="800"/>
              </a:spcAft>
              <a:buSzPct val="100000"/>
              <a:buChar char="•"/>
            </a:pPr>
            <a:r>
              <a:rPr lang="en-US" sz="1200" dirty="0">
                <a:solidFill>
                  <a:srgbClr val="6E6389"/>
                </a:solidFill>
                <a:latin typeface="Calibri" pitchFamily="34" charset="0"/>
                <a:ea typeface="Calibri" pitchFamily="34" charset="-122"/>
                <a:cs typeface="Calibri" pitchFamily="34" charset="-120"/>
              </a:rPr>
              <a:t>Open the file, read the trace, start editing...</a:t>
            </a:r>
            <a:endParaRPr lang="en-US" sz="1200" dirty="0"/>
          </a:p>
          <a:p>
            <a:pPr marL="152400" indent="-152400">
              <a:spcAft>
                <a:spcPts val="800"/>
              </a:spcAft>
              <a:buSzPct val="100000"/>
              <a:buChar char="•"/>
            </a:pPr>
            <a:r>
              <a:rPr lang="en-US" sz="1200" dirty="0">
                <a:solidFill>
                  <a:srgbClr val="6E6389"/>
                </a:solidFill>
                <a:latin typeface="Calibri" pitchFamily="34" charset="0"/>
                <a:ea typeface="Calibri" pitchFamily="34" charset="-122"/>
                <a:cs typeface="Calibri" pitchFamily="34" charset="-120"/>
              </a:rPr>
              <a:t>You've grabbed the keyboard again.</a:t>
            </a:r>
            <a:endParaRPr lang="en-US" sz="1200" dirty="0"/>
          </a:p>
          <a:p>
            <a:pPr marL="152400" indent="-152400">
              <a:spcAft>
                <a:spcPts val="800"/>
              </a:spcAft>
              <a:buSzPct val="100000"/>
              <a:buChar char="•"/>
            </a:pPr>
            <a:r>
              <a:rPr lang="en-US" sz="1200" dirty="0">
                <a:solidFill>
                  <a:srgbClr val="6E6389"/>
                </a:solidFill>
                <a:latin typeface="Calibri" pitchFamily="34" charset="0"/>
                <a:ea typeface="Calibri" pitchFamily="34" charset="-122"/>
                <a:cs typeface="Calibri" pitchFamily="34" charset="-120"/>
              </a:rPr>
              <a:t>The agent has no idea what you just changed.</a:t>
            </a:r>
            <a:endParaRPr lang="en-US" sz="1200" dirty="0"/>
          </a:p>
        </p:txBody>
      </p:sp>
      <p:sp>
        <p:nvSpPr>
          <p:cNvPr id="10" name="Shape 7"/>
          <p:cNvSpPr/>
          <p:nvPr/>
        </p:nvSpPr>
        <p:spPr>
          <a:xfrm>
            <a:off x="4754880" y="1463040"/>
            <a:ext cx="3931920" cy="3200400"/>
          </a:xfrm>
          <a:prstGeom prst="roundRect">
            <a:avLst>
              <a:gd name="adj" fmla="val 2571"/>
            </a:avLst>
          </a:prstGeom>
          <a:solidFill>
            <a:srgbClr val="2D1155"/>
          </a:solidFill>
          <a:ln w="19050">
            <a:solidFill>
              <a:srgbClr val="F59E0B"/>
            </a:solidFill>
            <a:prstDash val="solid"/>
          </a:ln>
        </p:spPr>
        <p:txBody>
          <a:bodyPr/>
          <a:lstStyle/>
          <a:p>
            <a:endParaRPr lang="en-AU"/>
          </a:p>
        </p:txBody>
      </p:sp>
      <p:sp>
        <p:nvSpPr>
          <p:cNvPr id="11" name="Shape 8"/>
          <p:cNvSpPr/>
          <p:nvPr/>
        </p:nvSpPr>
        <p:spPr>
          <a:xfrm>
            <a:off x="4992624" y="1691640"/>
            <a:ext cx="457200" cy="457200"/>
          </a:xfrm>
          <a:prstGeom prst="ellipse">
            <a:avLst/>
          </a:prstGeom>
          <a:solidFill>
            <a:srgbClr val="F59E0B"/>
          </a:solidFill>
          <a:ln/>
        </p:spPr>
        <p:txBody>
          <a:bodyPr/>
          <a:lstStyle/>
          <a:p>
            <a:endParaRPr lang="en-AU"/>
          </a:p>
        </p:txBody>
      </p:sp>
      <p:sp>
        <p:nvSpPr>
          <p:cNvPr id="12" name="Text 9"/>
          <p:cNvSpPr/>
          <p:nvPr/>
        </p:nvSpPr>
        <p:spPr>
          <a:xfrm>
            <a:off x="4992624" y="1691640"/>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a:t>
            </a:r>
            <a:endParaRPr lang="en-US" sz="1200" dirty="0"/>
          </a:p>
        </p:txBody>
      </p:sp>
      <p:sp>
        <p:nvSpPr>
          <p:cNvPr id="13" name="Text 10"/>
          <p:cNvSpPr/>
          <p:nvPr/>
        </p:nvSpPr>
        <p:spPr>
          <a:xfrm>
            <a:off x="5577840" y="1673352"/>
            <a:ext cx="2926080" cy="457200"/>
          </a:xfrm>
          <a:prstGeom prst="rect">
            <a:avLst/>
          </a:prstGeom>
          <a:noFill/>
          <a:ln/>
        </p:spPr>
        <p:txBody>
          <a:bodyPr wrap="square" rtlCol="0" anchor="ctr"/>
          <a:lstStyle/>
          <a:p>
            <a:pPr marL="0" indent="0">
              <a:buNone/>
            </a:pPr>
            <a:r>
              <a:rPr lang="en-US" sz="1400" b="1" dirty="0">
                <a:solidFill>
                  <a:srgbClr val="F59E0B"/>
                </a:solidFill>
                <a:latin typeface="Arial Black" pitchFamily="34" charset="0"/>
                <a:ea typeface="Arial Black" pitchFamily="34" charset="-122"/>
                <a:cs typeface="Arial Black" pitchFamily="34" charset="-120"/>
              </a:rPr>
              <a:t>Report symptoms</a:t>
            </a:r>
            <a:endParaRPr lang="en-US" sz="1400" dirty="0"/>
          </a:p>
        </p:txBody>
      </p:sp>
      <p:sp>
        <p:nvSpPr>
          <p:cNvPr id="14" name="Text 11"/>
          <p:cNvSpPr/>
          <p:nvPr/>
        </p:nvSpPr>
        <p:spPr>
          <a:xfrm>
            <a:off x="5029200" y="2331720"/>
            <a:ext cx="3474720" cy="2194560"/>
          </a:xfrm>
          <a:prstGeom prst="rect">
            <a:avLst/>
          </a:prstGeom>
          <a:noFill/>
          <a:ln/>
        </p:spPr>
        <p:txBody>
          <a:bodyPr wrap="square" rtlCol="0" anchor="t"/>
          <a:lstStyle/>
          <a:p>
            <a:pPr marL="152400" indent="-1524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Paste the exact error text.</a:t>
            </a:r>
            <a:endParaRPr lang="en-US" sz="1200" dirty="0"/>
          </a:p>
          <a:p>
            <a:pPr marL="152400" indent="-1524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Describe the screen: “streak shows 3, I ticked it, still 3.”</a:t>
            </a:r>
            <a:endParaRPr lang="en-US" sz="1200" dirty="0"/>
          </a:p>
          <a:p>
            <a:pPr marL="152400" indent="-152400">
              <a:spcAft>
                <a:spcPts val="800"/>
              </a:spcAft>
              <a:buSzPct val="100000"/>
              <a:buChar char="•"/>
            </a:pPr>
            <a:r>
              <a:rPr lang="en-US" sz="1200" b="1" dirty="0">
                <a:solidFill>
                  <a:srgbClr val="F59E0B"/>
                </a:solidFill>
                <a:latin typeface="Calibri" pitchFamily="34" charset="0"/>
                <a:ea typeface="Calibri" pitchFamily="34" charset="-122"/>
                <a:cs typeface="Calibri" pitchFamily="34" charset="-120"/>
              </a:rPr>
              <a:t>Say what you saw, never what to change.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COMMIT SMALL, SHIP OFTEN</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#5 — git is your undo.</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8229600" cy="960120"/>
          </a:xfrm>
          <a:prstGeom prst="roundRect">
            <a:avLst>
              <a:gd name="adj" fmla="val 7619"/>
            </a:avLst>
          </a:prstGeom>
          <a:solidFill>
            <a:srgbClr val="2D1155"/>
          </a:solidFill>
          <a:ln/>
        </p:spPr>
        <p:txBody>
          <a:bodyPr/>
          <a:lstStyle/>
          <a:p>
            <a:endParaRPr lang="en-AU"/>
          </a:p>
        </p:txBody>
      </p:sp>
      <p:sp>
        <p:nvSpPr>
          <p:cNvPr id="6" name="Text 3"/>
          <p:cNvSpPr/>
          <p:nvPr/>
        </p:nvSpPr>
        <p:spPr>
          <a:xfrm>
            <a:off x="731520" y="1572768"/>
            <a:ext cx="7315200" cy="292608"/>
          </a:xfrm>
          <a:prstGeom prst="rect">
            <a:avLst/>
          </a:prstGeom>
          <a:noFill/>
          <a:ln/>
        </p:spPr>
        <p:txBody>
          <a:bodyPr wrap="square" rtlCol="0" anchor="ctr"/>
          <a:lstStyle/>
          <a:p>
            <a:pPr marL="0" indent="0">
              <a:buNone/>
            </a:pPr>
            <a:r>
              <a:rPr lang="en-US" sz="1200" dirty="0">
                <a:solidFill>
                  <a:srgbClr val="DDD6FE"/>
                </a:solidFill>
                <a:latin typeface="Calibri" pitchFamily="34" charset="0"/>
                <a:ea typeface="Calibri" pitchFamily="34" charset="-122"/>
                <a:cs typeface="Calibri" pitchFamily="34" charset="-120"/>
              </a:rPr>
              <a:t>Let the agent run git for you:</a:t>
            </a:r>
            <a:endParaRPr lang="en-US" sz="1200" dirty="0"/>
          </a:p>
        </p:txBody>
      </p:sp>
      <p:sp>
        <p:nvSpPr>
          <p:cNvPr id="7" name="Text 4"/>
          <p:cNvSpPr/>
          <p:nvPr/>
        </p:nvSpPr>
        <p:spPr>
          <a:xfrm>
            <a:off x="731520" y="1874520"/>
            <a:ext cx="7680960" cy="457200"/>
          </a:xfrm>
          <a:prstGeom prst="rect">
            <a:avLst/>
          </a:prstGeom>
          <a:noFill/>
          <a:ln/>
        </p:spPr>
        <p:txBody>
          <a:bodyPr wrap="square" rtlCol="0" anchor="ctr"/>
          <a:lstStyle/>
          <a:p>
            <a:pPr marL="0" indent="0">
              <a:buNone/>
            </a:pPr>
            <a:r>
              <a:rPr lang="en-US" sz="1700" dirty="0">
                <a:solidFill>
                  <a:srgbClr val="F59E0B"/>
                </a:solidFill>
                <a:latin typeface="Courier New" pitchFamily="34" charset="0"/>
                <a:ea typeface="Courier New" pitchFamily="34" charset="-122"/>
                <a:cs typeface="Courier New" pitchFamily="34" charset="-120"/>
              </a:rPr>
              <a:t>“Commit this with a sensible message.”</a:t>
            </a:r>
            <a:endParaRPr lang="en-US" sz="1700" dirty="0"/>
          </a:p>
        </p:txBody>
      </p:sp>
      <p:sp>
        <p:nvSpPr>
          <p:cNvPr id="8" name="Shape 5"/>
          <p:cNvSpPr/>
          <p:nvPr/>
        </p:nvSpPr>
        <p:spPr>
          <a:xfrm>
            <a:off x="457200" y="2606040"/>
            <a:ext cx="8229600" cy="1874520"/>
          </a:xfrm>
          <a:prstGeom prst="roundRect">
            <a:avLst>
              <a:gd name="adj" fmla="val 3902"/>
            </a:avLst>
          </a:prstGeom>
          <a:solidFill>
            <a:srgbClr val="DDD6FE"/>
          </a:solidFill>
          <a:ln/>
        </p:spPr>
        <p:txBody>
          <a:bodyPr/>
          <a:lstStyle/>
          <a:p>
            <a:endParaRPr lang="en-AU"/>
          </a:p>
        </p:txBody>
      </p:sp>
      <p:sp>
        <p:nvSpPr>
          <p:cNvPr id="9" name="Text 6"/>
          <p:cNvSpPr/>
          <p:nvPr/>
        </p:nvSpPr>
        <p:spPr>
          <a:xfrm>
            <a:off x="731520" y="2743200"/>
            <a:ext cx="7680960" cy="292608"/>
          </a:xfrm>
          <a:prstGeom prst="rect">
            <a:avLst/>
          </a:prstGeom>
          <a:noFill/>
          <a:ln/>
        </p:spPr>
        <p:txBody>
          <a:bodyPr wrap="square" rtlCol="0" anchor="ctr"/>
          <a:lstStyle/>
          <a:p>
            <a:pPr marL="0" indent="0">
              <a:buNone/>
            </a:pPr>
            <a:r>
              <a:rPr lang="en-US" sz="1100" b="1" kern="0" spc="100" dirty="0">
                <a:solidFill>
                  <a:srgbClr val="5B21B6"/>
                </a:solidFill>
                <a:latin typeface="Calibri" pitchFamily="34" charset="0"/>
                <a:ea typeface="Calibri" pitchFamily="34" charset="-122"/>
                <a:cs typeface="Calibri" pitchFamily="34" charset="-120"/>
              </a:rPr>
              <a:t>TWO NETS — YOU'LL USE BOTH TODAY</a:t>
            </a:r>
            <a:endParaRPr lang="en-US" sz="1100" dirty="0"/>
          </a:p>
        </p:txBody>
      </p:sp>
      <p:sp>
        <p:nvSpPr>
          <p:cNvPr id="10" name="Text 7"/>
          <p:cNvSpPr/>
          <p:nvPr/>
        </p:nvSpPr>
        <p:spPr>
          <a:xfrm>
            <a:off x="731520" y="3127248"/>
            <a:ext cx="7680960" cy="457200"/>
          </a:xfrm>
          <a:prstGeom prst="rect">
            <a:avLst/>
          </a:prstGeom>
          <a:noFill/>
          <a:ln/>
        </p:spPr>
        <p:txBody>
          <a:bodyPr wrap="square" rtlCol="0" anchor="ctr"/>
          <a:lstStyle/>
          <a:p>
            <a:pPr marL="0" indent="0">
              <a:buNone/>
            </a:pPr>
            <a:r>
              <a:rPr lang="en-US" sz="1400" b="1" dirty="0">
                <a:solidFill>
                  <a:srgbClr val="5B21B6"/>
                </a:solidFill>
                <a:latin typeface="Calibri" pitchFamily="34" charset="0"/>
                <a:ea typeface="Calibri" pitchFamily="34" charset="-122"/>
                <a:cs typeface="Calibri" pitchFamily="34" charset="-120"/>
              </a:rPr>
              <a:t>Small commits</a:t>
            </a:r>
            <a:r>
              <a:rPr lang="en-US" sz="1400" dirty="0">
                <a:solidFill>
                  <a:srgbClr val="2D1155"/>
                </a:solidFill>
                <a:latin typeface="Calibri" pitchFamily="34" charset="0"/>
                <a:ea typeface="Calibri" pitchFamily="34" charset="-122"/>
                <a:cs typeface="Calibri" pitchFamily="34" charset="-120"/>
              </a:rPr>
              <a:t> = your undo. A bad turn is one revert away, no drama.</a:t>
            </a:r>
            <a:endParaRPr lang="en-US" sz="1400" dirty="0"/>
          </a:p>
        </p:txBody>
      </p:sp>
      <p:sp>
        <p:nvSpPr>
          <p:cNvPr id="11" name="Text 8"/>
          <p:cNvSpPr/>
          <p:nvPr/>
        </p:nvSpPr>
        <p:spPr>
          <a:xfrm>
            <a:off x="731520" y="3675888"/>
            <a:ext cx="7680960" cy="685800"/>
          </a:xfrm>
          <a:prstGeom prst="rect">
            <a:avLst/>
          </a:prstGeom>
          <a:noFill/>
          <a:ln/>
        </p:spPr>
        <p:txBody>
          <a:bodyPr wrap="square" rtlCol="0" anchor="t"/>
          <a:lstStyle/>
          <a:p>
            <a:pPr marL="0" indent="0">
              <a:buNone/>
            </a:pPr>
            <a:r>
              <a:rPr lang="en-US" sz="1400" b="1" dirty="0">
                <a:solidFill>
                  <a:srgbClr val="5B21B6"/>
                </a:solidFill>
                <a:latin typeface="Calibri" pitchFamily="34" charset="0"/>
                <a:ea typeface="Calibri" pitchFamily="34" charset="-122"/>
                <a:cs typeface="Calibri" pitchFamily="34" charset="-120"/>
              </a:rPr>
              <a:t>Checkpoints = the room's safety net. Fall behind? Drop into the reference repo, which holds a working app at the end of every section. Using it is expected, not failure.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WHAT CHANGED IN A YEAR</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ground is moving.</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Text 2"/>
          <p:cNvSpPr/>
          <p:nvPr/>
        </p:nvSpPr>
        <p:spPr>
          <a:xfrm>
            <a:off x="2331720" y="1417320"/>
            <a:ext cx="3291840" cy="274320"/>
          </a:xfrm>
          <a:prstGeom prst="rect">
            <a:avLst/>
          </a:prstGeom>
          <a:noFill/>
          <a:ln/>
        </p:spPr>
        <p:txBody>
          <a:bodyPr wrap="square" rtlCol="0" anchor="ctr"/>
          <a:lstStyle/>
          <a:p>
            <a:pPr marL="0" indent="0">
              <a:buNone/>
            </a:pPr>
            <a:r>
              <a:rPr lang="en-US" sz="1000" b="1" kern="0" spc="100" dirty="0">
                <a:solidFill>
                  <a:srgbClr val="6E6389"/>
                </a:solidFill>
                <a:latin typeface="Calibri" pitchFamily="34" charset="0"/>
                <a:ea typeface="Calibri" pitchFamily="34" charset="-122"/>
                <a:cs typeface="Calibri" pitchFamily="34" charset="-120"/>
              </a:rPr>
              <a:t>THEN · A YEAR AGO</a:t>
            </a:r>
            <a:endParaRPr lang="en-US" sz="1000" dirty="0"/>
          </a:p>
        </p:txBody>
      </p:sp>
      <p:sp>
        <p:nvSpPr>
          <p:cNvPr id="6" name="Text 3"/>
          <p:cNvSpPr/>
          <p:nvPr/>
        </p:nvSpPr>
        <p:spPr>
          <a:xfrm>
            <a:off x="5943600" y="1417320"/>
            <a:ext cx="2743200" cy="274320"/>
          </a:xfrm>
          <a:prstGeom prst="rect">
            <a:avLst/>
          </a:prstGeom>
          <a:noFill/>
          <a:ln/>
        </p:spPr>
        <p:txBody>
          <a:bodyPr wrap="square" rtlCol="0" anchor="ctr"/>
          <a:lstStyle/>
          <a:p>
            <a:pPr marL="0" indent="0">
              <a:buNone/>
            </a:pPr>
            <a:r>
              <a:rPr lang="en-US" sz="1000" b="1" kern="0" spc="100" dirty="0">
                <a:solidFill>
                  <a:srgbClr val="F59E0B"/>
                </a:solidFill>
                <a:latin typeface="Calibri" pitchFamily="34" charset="0"/>
                <a:ea typeface="Calibri" pitchFamily="34" charset="-122"/>
                <a:cs typeface="Calibri" pitchFamily="34" charset="-120"/>
              </a:rPr>
              <a:t>NOW · 2026</a:t>
            </a:r>
            <a:endParaRPr lang="en-US" sz="1000" dirty="0"/>
          </a:p>
        </p:txBody>
      </p:sp>
      <p:sp>
        <p:nvSpPr>
          <p:cNvPr id="7" name="Shape 4"/>
          <p:cNvSpPr/>
          <p:nvPr/>
        </p:nvSpPr>
        <p:spPr>
          <a:xfrm>
            <a:off x="457200" y="1737360"/>
            <a:ext cx="8229600" cy="841248"/>
          </a:xfrm>
          <a:prstGeom prst="roundRect">
            <a:avLst>
              <a:gd name="adj" fmla="val 7609"/>
            </a:avLst>
          </a:prstGeom>
          <a:solidFill>
            <a:srgbClr val="FFFFFF"/>
          </a:solidFill>
          <a:ln w="12700">
            <a:solidFill>
              <a:srgbClr val="DDD6FE"/>
            </a:solidFill>
            <a:prstDash val="solid"/>
          </a:ln>
        </p:spPr>
        <p:txBody>
          <a:bodyPr/>
          <a:lstStyle/>
          <a:p>
            <a:endParaRPr lang="en-AU"/>
          </a:p>
        </p:txBody>
      </p:sp>
      <p:sp>
        <p:nvSpPr>
          <p:cNvPr id="8" name="Text 5"/>
          <p:cNvSpPr/>
          <p:nvPr/>
        </p:nvSpPr>
        <p:spPr>
          <a:xfrm>
            <a:off x="640080" y="1737360"/>
            <a:ext cx="1554480" cy="841248"/>
          </a:xfrm>
          <a:prstGeom prst="rect">
            <a:avLst/>
          </a:prstGeom>
          <a:noFill/>
          <a:ln/>
        </p:spPr>
        <p:txBody>
          <a:bodyPr wrap="square" rtlCol="0" anchor="ctr"/>
          <a:lstStyle/>
          <a:p>
            <a:pPr marL="0" indent="0">
              <a:buNone/>
            </a:pPr>
            <a:r>
              <a:rPr lang="en-US" sz="1200" b="1" dirty="0">
                <a:solidFill>
                  <a:srgbClr val="5B21B6"/>
                </a:solidFill>
                <a:latin typeface="Arial Black" pitchFamily="34" charset="0"/>
                <a:ea typeface="Arial Black" pitchFamily="34" charset="-122"/>
                <a:cs typeface="Arial Black" pitchFamily="34" charset="-120"/>
              </a:rPr>
              <a:t>PLANNING</a:t>
            </a:r>
            <a:endParaRPr lang="en-US" sz="1200" dirty="0"/>
          </a:p>
        </p:txBody>
      </p:sp>
      <p:sp>
        <p:nvSpPr>
          <p:cNvPr id="9" name="Text 6"/>
          <p:cNvSpPr/>
          <p:nvPr/>
        </p:nvSpPr>
        <p:spPr>
          <a:xfrm>
            <a:off x="2331720" y="1737360"/>
            <a:ext cx="3429000" cy="841248"/>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Coax a plan; check its mechanics.</a:t>
            </a:r>
            <a:endParaRPr lang="en-US" sz="1200" dirty="0"/>
          </a:p>
        </p:txBody>
      </p:sp>
      <p:sp>
        <p:nvSpPr>
          <p:cNvPr id="10" name="Text 7"/>
          <p:cNvSpPr/>
          <p:nvPr/>
        </p:nvSpPr>
        <p:spPr>
          <a:xfrm>
            <a:off x="5742432" y="1737360"/>
            <a:ext cx="274320" cy="841248"/>
          </a:xfrm>
          <a:prstGeom prst="rect">
            <a:avLst/>
          </a:prstGeom>
          <a:noFill/>
          <a:ln/>
        </p:spPr>
        <p:txBody>
          <a:bodyPr wrap="square" rtlCol="0" anchor="ctr"/>
          <a:lstStyle/>
          <a:p>
            <a:pPr marL="0" indent="0" algn="ctr">
              <a:buNone/>
            </a:pPr>
            <a:r>
              <a:rPr lang="en-US" sz="1800" b="1" dirty="0">
                <a:solidFill>
                  <a:srgbClr val="F59E0B"/>
                </a:solidFill>
                <a:latin typeface="Calibri" pitchFamily="34" charset="0"/>
                <a:ea typeface="Calibri" pitchFamily="34" charset="-122"/>
                <a:cs typeface="Calibri" pitchFamily="34" charset="-120"/>
              </a:rPr>
              <a:t>›</a:t>
            </a:r>
            <a:endParaRPr lang="en-US" sz="1800" dirty="0"/>
          </a:p>
        </p:txBody>
      </p:sp>
      <p:sp>
        <p:nvSpPr>
          <p:cNvPr id="11" name="Text 8"/>
          <p:cNvSpPr/>
          <p:nvPr/>
        </p:nvSpPr>
        <p:spPr>
          <a:xfrm>
            <a:off x="5943600" y="1737360"/>
            <a:ext cx="2606040" cy="841248"/>
          </a:xfrm>
          <a:prstGeom prst="rect">
            <a:avLst/>
          </a:prstGeom>
          <a:noFill/>
          <a:ln/>
        </p:spPr>
        <p:txBody>
          <a:bodyPr wrap="square" rtlCol="0" anchor="ctr"/>
          <a:lstStyle/>
          <a:p>
            <a:pPr marL="0" indent="0">
              <a:buNone/>
            </a:pPr>
            <a:r>
              <a:rPr lang="en-US" sz="1200" dirty="0">
                <a:solidFill>
                  <a:srgbClr val="2D1155"/>
                </a:solidFill>
                <a:latin typeface="Calibri" pitchFamily="34" charset="0"/>
                <a:ea typeface="Calibri" pitchFamily="34" charset="-122"/>
                <a:cs typeface="Calibri" pitchFamily="34" charset="-120"/>
              </a:rPr>
              <a:t>Agents plan well. You check intent &amp; scope.</a:t>
            </a:r>
            <a:endParaRPr lang="en-US" sz="1200" dirty="0"/>
          </a:p>
        </p:txBody>
      </p:sp>
      <p:sp>
        <p:nvSpPr>
          <p:cNvPr id="12" name="Shape 9"/>
          <p:cNvSpPr/>
          <p:nvPr/>
        </p:nvSpPr>
        <p:spPr>
          <a:xfrm>
            <a:off x="457200" y="2688336"/>
            <a:ext cx="8229600" cy="841248"/>
          </a:xfrm>
          <a:prstGeom prst="roundRect">
            <a:avLst>
              <a:gd name="adj" fmla="val 7609"/>
            </a:avLst>
          </a:prstGeom>
          <a:solidFill>
            <a:srgbClr val="FFFFFF"/>
          </a:solidFill>
          <a:ln w="12700">
            <a:solidFill>
              <a:srgbClr val="DDD6FE"/>
            </a:solidFill>
            <a:prstDash val="solid"/>
          </a:ln>
        </p:spPr>
        <p:txBody>
          <a:bodyPr/>
          <a:lstStyle/>
          <a:p>
            <a:endParaRPr lang="en-AU"/>
          </a:p>
        </p:txBody>
      </p:sp>
      <p:sp>
        <p:nvSpPr>
          <p:cNvPr id="13" name="Text 10"/>
          <p:cNvSpPr/>
          <p:nvPr/>
        </p:nvSpPr>
        <p:spPr>
          <a:xfrm>
            <a:off x="640080" y="2688336"/>
            <a:ext cx="1554480" cy="841248"/>
          </a:xfrm>
          <a:prstGeom prst="rect">
            <a:avLst/>
          </a:prstGeom>
          <a:noFill/>
          <a:ln/>
        </p:spPr>
        <p:txBody>
          <a:bodyPr wrap="square" rtlCol="0" anchor="ctr"/>
          <a:lstStyle/>
          <a:p>
            <a:pPr marL="0" indent="0">
              <a:buNone/>
            </a:pPr>
            <a:r>
              <a:rPr lang="en-US" sz="1200" b="1" dirty="0">
                <a:solidFill>
                  <a:srgbClr val="5B21B6"/>
                </a:solidFill>
                <a:latin typeface="Arial Black" pitchFamily="34" charset="0"/>
                <a:ea typeface="Arial Black" pitchFamily="34" charset="-122"/>
                <a:cs typeface="Arial Black" pitchFamily="34" charset="-120"/>
              </a:rPr>
              <a:t>CONTEXT</a:t>
            </a:r>
            <a:endParaRPr lang="en-US" sz="1200" dirty="0"/>
          </a:p>
        </p:txBody>
      </p:sp>
      <p:sp>
        <p:nvSpPr>
          <p:cNvPr id="14" name="Text 11"/>
          <p:cNvSpPr/>
          <p:nvPr/>
        </p:nvSpPr>
        <p:spPr>
          <a:xfrm>
            <a:off x="2331720" y="2688336"/>
            <a:ext cx="3429000" cy="841248"/>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Tiny windows; constant manual pruning.</a:t>
            </a:r>
            <a:endParaRPr lang="en-US" sz="1200" dirty="0"/>
          </a:p>
        </p:txBody>
      </p:sp>
      <p:sp>
        <p:nvSpPr>
          <p:cNvPr id="15" name="Text 12"/>
          <p:cNvSpPr/>
          <p:nvPr/>
        </p:nvSpPr>
        <p:spPr>
          <a:xfrm>
            <a:off x="5742432" y="2688336"/>
            <a:ext cx="274320" cy="841248"/>
          </a:xfrm>
          <a:prstGeom prst="rect">
            <a:avLst/>
          </a:prstGeom>
          <a:noFill/>
          <a:ln/>
        </p:spPr>
        <p:txBody>
          <a:bodyPr wrap="square" rtlCol="0" anchor="ctr"/>
          <a:lstStyle/>
          <a:p>
            <a:pPr marL="0" indent="0" algn="ctr">
              <a:buNone/>
            </a:pPr>
            <a:r>
              <a:rPr lang="en-US" sz="1800" b="1" dirty="0">
                <a:solidFill>
                  <a:srgbClr val="F59E0B"/>
                </a:solidFill>
                <a:latin typeface="Calibri" pitchFamily="34" charset="0"/>
                <a:ea typeface="Calibri" pitchFamily="34" charset="-122"/>
                <a:cs typeface="Calibri" pitchFamily="34" charset="-120"/>
              </a:rPr>
              <a:t>›</a:t>
            </a:r>
            <a:endParaRPr lang="en-US" sz="1800" dirty="0"/>
          </a:p>
        </p:txBody>
      </p:sp>
      <p:sp>
        <p:nvSpPr>
          <p:cNvPr id="16" name="Text 13"/>
          <p:cNvSpPr/>
          <p:nvPr/>
        </p:nvSpPr>
        <p:spPr>
          <a:xfrm>
            <a:off x="5943600" y="2688336"/>
            <a:ext cx="2606040" cy="841248"/>
          </a:xfrm>
          <a:prstGeom prst="rect">
            <a:avLst/>
          </a:prstGeom>
          <a:noFill/>
          <a:ln/>
        </p:spPr>
        <p:txBody>
          <a:bodyPr wrap="square" rtlCol="0" anchor="ctr"/>
          <a:lstStyle/>
          <a:p>
            <a:pPr marL="0" indent="0">
              <a:buNone/>
            </a:pPr>
            <a:r>
              <a:rPr lang="en-US" sz="1200" dirty="0">
                <a:solidFill>
                  <a:srgbClr val="2D1155"/>
                </a:solidFill>
                <a:latin typeface="Calibri" pitchFamily="34" charset="0"/>
                <a:ea typeface="Calibri" pitchFamily="34" charset="-122"/>
                <a:cs typeface="Calibri" pitchFamily="34" charset="-120"/>
              </a:rPr>
              <a:t>Repo-scale memory — but context engineering is now the skill.</a:t>
            </a:r>
            <a:endParaRPr lang="en-US" sz="1200" dirty="0"/>
          </a:p>
        </p:txBody>
      </p:sp>
      <p:sp>
        <p:nvSpPr>
          <p:cNvPr id="17" name="Shape 14"/>
          <p:cNvSpPr/>
          <p:nvPr/>
        </p:nvSpPr>
        <p:spPr>
          <a:xfrm>
            <a:off x="457200" y="3639312"/>
            <a:ext cx="8229600" cy="841248"/>
          </a:xfrm>
          <a:prstGeom prst="roundRect">
            <a:avLst>
              <a:gd name="adj" fmla="val 7609"/>
            </a:avLst>
          </a:prstGeom>
          <a:solidFill>
            <a:srgbClr val="FFFFFF"/>
          </a:solidFill>
          <a:ln w="12700">
            <a:solidFill>
              <a:srgbClr val="DDD6FE"/>
            </a:solidFill>
            <a:prstDash val="solid"/>
          </a:ln>
        </p:spPr>
        <p:txBody>
          <a:bodyPr/>
          <a:lstStyle/>
          <a:p>
            <a:endParaRPr lang="en-AU"/>
          </a:p>
        </p:txBody>
      </p:sp>
      <p:sp>
        <p:nvSpPr>
          <p:cNvPr id="18" name="Text 15"/>
          <p:cNvSpPr/>
          <p:nvPr/>
        </p:nvSpPr>
        <p:spPr>
          <a:xfrm>
            <a:off x="640080" y="3639312"/>
            <a:ext cx="1554480" cy="841248"/>
          </a:xfrm>
          <a:prstGeom prst="rect">
            <a:avLst/>
          </a:prstGeom>
          <a:noFill/>
          <a:ln/>
        </p:spPr>
        <p:txBody>
          <a:bodyPr wrap="square" rtlCol="0" anchor="ctr"/>
          <a:lstStyle/>
          <a:p>
            <a:pPr marL="0" indent="0">
              <a:buNone/>
            </a:pPr>
            <a:r>
              <a:rPr lang="en-US" sz="1200" b="1" dirty="0">
                <a:solidFill>
                  <a:srgbClr val="5B21B6"/>
                </a:solidFill>
                <a:latin typeface="Arial Black" pitchFamily="34" charset="0"/>
                <a:ea typeface="Arial Black" pitchFamily="34" charset="-122"/>
                <a:cs typeface="Arial Black" pitchFamily="34" charset="-120"/>
              </a:rPr>
              <a:t>AGENTS</a:t>
            </a:r>
            <a:endParaRPr lang="en-US" sz="1200" dirty="0"/>
          </a:p>
        </p:txBody>
      </p:sp>
      <p:sp>
        <p:nvSpPr>
          <p:cNvPr id="19" name="Text 16"/>
          <p:cNvSpPr/>
          <p:nvPr/>
        </p:nvSpPr>
        <p:spPr>
          <a:xfrm>
            <a:off x="2331720" y="3639312"/>
            <a:ext cx="3429000" cy="841248"/>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One agent, one chat.</a:t>
            </a:r>
            <a:endParaRPr lang="en-US" sz="1200" dirty="0"/>
          </a:p>
        </p:txBody>
      </p:sp>
      <p:sp>
        <p:nvSpPr>
          <p:cNvPr id="20" name="Text 17"/>
          <p:cNvSpPr/>
          <p:nvPr/>
        </p:nvSpPr>
        <p:spPr>
          <a:xfrm>
            <a:off x="5742432" y="3639312"/>
            <a:ext cx="274320" cy="841248"/>
          </a:xfrm>
          <a:prstGeom prst="rect">
            <a:avLst/>
          </a:prstGeom>
          <a:noFill/>
          <a:ln/>
        </p:spPr>
        <p:txBody>
          <a:bodyPr wrap="square" rtlCol="0" anchor="ctr"/>
          <a:lstStyle/>
          <a:p>
            <a:pPr marL="0" indent="0" algn="ctr">
              <a:buNone/>
            </a:pPr>
            <a:r>
              <a:rPr lang="en-US" sz="1800" b="1" dirty="0">
                <a:solidFill>
                  <a:srgbClr val="F59E0B"/>
                </a:solidFill>
                <a:latin typeface="Calibri" pitchFamily="34" charset="0"/>
                <a:ea typeface="Calibri" pitchFamily="34" charset="-122"/>
                <a:cs typeface="Calibri" pitchFamily="34" charset="-120"/>
              </a:rPr>
              <a:t>›</a:t>
            </a:r>
            <a:endParaRPr lang="en-US" sz="1800" dirty="0"/>
          </a:p>
        </p:txBody>
      </p:sp>
      <p:sp>
        <p:nvSpPr>
          <p:cNvPr id="21" name="Text 18"/>
          <p:cNvSpPr/>
          <p:nvPr/>
        </p:nvSpPr>
        <p:spPr>
          <a:xfrm>
            <a:off x="5943600" y="3639312"/>
            <a:ext cx="2606040" cy="841248"/>
          </a:xfrm>
          <a:prstGeom prst="rect">
            <a:avLst/>
          </a:prstGeom>
          <a:noFill/>
          <a:ln/>
        </p:spPr>
        <p:txBody>
          <a:bodyPr wrap="square" rtlCol="0" anchor="ctr"/>
          <a:lstStyle/>
          <a:p>
            <a:pPr marL="0" indent="0">
              <a:buNone/>
            </a:pPr>
            <a:r>
              <a:rPr lang="en-US" sz="1200" dirty="0">
                <a:solidFill>
                  <a:srgbClr val="2D1155"/>
                </a:solidFill>
                <a:latin typeface="Calibri" pitchFamily="34" charset="0"/>
                <a:ea typeface="Calibri" pitchFamily="34" charset="-122"/>
                <a:cs typeface="Calibri" pitchFamily="34" charset="-120"/>
              </a:rPr>
              <a:t>Parallel subagents &amp; agent teams. (That's this afternoon.)</a:t>
            </a:r>
            <a:endParaRPr lang="en-US" sz="1200" dirty="0"/>
          </a:p>
        </p:txBody>
      </p:sp>
      <p:sp>
        <p:nvSpPr>
          <p:cNvPr id="22" name="Text 19"/>
          <p:cNvSpPr/>
          <p:nvPr/>
        </p:nvSpPr>
        <p:spPr>
          <a:xfrm>
            <a:off x="457200" y="4590288"/>
            <a:ext cx="8229600" cy="365760"/>
          </a:xfrm>
          <a:prstGeom prst="rect">
            <a:avLst/>
          </a:prstGeom>
          <a:noFill/>
          <a:ln/>
        </p:spPr>
        <p:txBody>
          <a:bodyPr wrap="square" rtlCol="0" anchor="ctr"/>
          <a:lstStyle/>
          <a:p>
            <a:pPr marL="0" indent="0">
              <a:buNone/>
            </a:pPr>
            <a:r>
              <a:rPr lang="en-US" sz="1250" i="1" dirty="0">
                <a:solidFill>
                  <a:srgbClr val="6E6389"/>
                </a:solidFill>
                <a:latin typeface="Calibri" pitchFamily="34" charset="0"/>
                <a:ea typeface="Calibri" pitchFamily="34" charset="-122"/>
                <a:cs typeface="Calibri" pitchFamily="34" charset="-120"/>
              </a:rPr>
              <a:t>The models got better at the mechanics.  </a:t>
            </a:r>
            <a:r>
              <a:rPr lang="en-US" sz="1250" b="1" i="1" dirty="0">
                <a:solidFill>
                  <a:srgbClr val="5B21B6"/>
                </a:solidFill>
                <a:latin typeface="Calibri" pitchFamily="34" charset="0"/>
                <a:ea typeface="Calibri" pitchFamily="34" charset="-122"/>
                <a:cs typeface="Calibri" pitchFamily="34" charset="-120"/>
              </a:rPr>
              <a:t>The human skill moved up the stack — intent, context, verification.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FIVE GOLDEN RULES</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Carry these into the lab.</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502920" y="1463040"/>
            <a:ext cx="457200" cy="457200"/>
          </a:xfrm>
          <a:prstGeom prst="ellipse">
            <a:avLst/>
          </a:prstGeom>
          <a:solidFill>
            <a:srgbClr val="F59E0B"/>
          </a:solidFill>
          <a:ln/>
        </p:spPr>
        <p:txBody>
          <a:bodyPr/>
          <a:lstStyle/>
          <a:p>
            <a:endParaRPr lang="en-AU"/>
          </a:p>
        </p:txBody>
      </p:sp>
      <p:sp>
        <p:nvSpPr>
          <p:cNvPr id="6" name="Text 3"/>
          <p:cNvSpPr/>
          <p:nvPr/>
        </p:nvSpPr>
        <p:spPr>
          <a:xfrm>
            <a:off x="502920" y="1463040"/>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1</a:t>
            </a:r>
            <a:endParaRPr lang="en-US" sz="1200" dirty="0"/>
          </a:p>
        </p:txBody>
      </p:sp>
      <p:sp>
        <p:nvSpPr>
          <p:cNvPr id="7" name="Text 4"/>
          <p:cNvSpPr/>
          <p:nvPr/>
        </p:nvSpPr>
        <p:spPr>
          <a:xfrm>
            <a:off x="1143000" y="1426464"/>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Resist the keyboard.   </a:t>
            </a:r>
            <a:r>
              <a:rPr lang="en-US" sz="1450" dirty="0">
                <a:solidFill>
                  <a:srgbClr val="6E6389"/>
                </a:solidFill>
                <a:latin typeface="Calibri" pitchFamily="34" charset="0"/>
                <a:ea typeface="Calibri" pitchFamily="34" charset="-122"/>
                <a:cs typeface="Calibri" pitchFamily="34" charset="-120"/>
              </a:rPr>
              <a:t>Direct the loop; don't type the code.</a:t>
            </a:r>
            <a:endParaRPr lang="en-US" sz="1450" dirty="0"/>
          </a:p>
        </p:txBody>
      </p:sp>
      <p:sp>
        <p:nvSpPr>
          <p:cNvPr id="8" name="Shape 5"/>
          <p:cNvSpPr/>
          <p:nvPr/>
        </p:nvSpPr>
        <p:spPr>
          <a:xfrm>
            <a:off x="502920" y="2084832"/>
            <a:ext cx="457200" cy="457200"/>
          </a:xfrm>
          <a:prstGeom prst="ellipse">
            <a:avLst/>
          </a:prstGeom>
          <a:solidFill>
            <a:srgbClr val="2D1155"/>
          </a:solidFill>
          <a:ln/>
        </p:spPr>
        <p:txBody>
          <a:bodyPr/>
          <a:lstStyle/>
          <a:p>
            <a:endParaRPr lang="en-AU"/>
          </a:p>
        </p:txBody>
      </p:sp>
      <p:sp>
        <p:nvSpPr>
          <p:cNvPr id="9" name="Text 6"/>
          <p:cNvSpPr/>
          <p:nvPr/>
        </p:nvSpPr>
        <p:spPr>
          <a:xfrm>
            <a:off x="502920" y="2084832"/>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2</a:t>
            </a:r>
            <a:endParaRPr lang="en-US" sz="1200" dirty="0"/>
          </a:p>
        </p:txBody>
      </p:sp>
      <p:sp>
        <p:nvSpPr>
          <p:cNvPr id="10" name="Text 7"/>
          <p:cNvSpPr/>
          <p:nvPr/>
        </p:nvSpPr>
        <p:spPr>
          <a:xfrm>
            <a:off x="1143000" y="2048256"/>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Prompt by outcome.   </a:t>
            </a:r>
            <a:r>
              <a:rPr lang="en-US" sz="1450" dirty="0">
                <a:solidFill>
                  <a:srgbClr val="6E6389"/>
                </a:solidFill>
                <a:latin typeface="Calibri" pitchFamily="34" charset="0"/>
                <a:ea typeface="Calibri" pitchFamily="34" charset="-122"/>
                <a:cs typeface="Calibri" pitchFamily="34" charset="-120"/>
              </a:rPr>
              <a:t>Say what and the constraints, not how.</a:t>
            </a:r>
            <a:endParaRPr lang="en-US" sz="1450" dirty="0"/>
          </a:p>
        </p:txBody>
      </p:sp>
      <p:sp>
        <p:nvSpPr>
          <p:cNvPr id="11" name="Shape 8"/>
          <p:cNvSpPr/>
          <p:nvPr/>
        </p:nvSpPr>
        <p:spPr>
          <a:xfrm>
            <a:off x="502920" y="2706624"/>
            <a:ext cx="457200" cy="457200"/>
          </a:xfrm>
          <a:prstGeom prst="ellipse">
            <a:avLst/>
          </a:prstGeom>
          <a:solidFill>
            <a:srgbClr val="2D1155"/>
          </a:solidFill>
          <a:ln/>
        </p:spPr>
        <p:txBody>
          <a:bodyPr/>
          <a:lstStyle/>
          <a:p>
            <a:endParaRPr lang="en-AU"/>
          </a:p>
        </p:txBody>
      </p:sp>
      <p:sp>
        <p:nvSpPr>
          <p:cNvPr id="12" name="Text 9"/>
          <p:cNvSpPr/>
          <p:nvPr/>
        </p:nvSpPr>
        <p:spPr>
          <a:xfrm>
            <a:off x="502920" y="2706624"/>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3</a:t>
            </a:r>
            <a:endParaRPr lang="en-US" sz="1200" dirty="0"/>
          </a:p>
        </p:txBody>
      </p:sp>
      <p:sp>
        <p:nvSpPr>
          <p:cNvPr id="13" name="Text 10"/>
          <p:cNvSpPr/>
          <p:nvPr/>
        </p:nvSpPr>
        <p:spPr>
          <a:xfrm>
            <a:off x="1143000" y="2670048"/>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Plan review, not writing.   </a:t>
            </a:r>
            <a:r>
              <a:rPr lang="en-US" sz="1450" dirty="0">
                <a:solidFill>
                  <a:srgbClr val="6E6389"/>
                </a:solidFill>
                <a:latin typeface="Calibri" pitchFamily="34" charset="0"/>
                <a:ea typeface="Calibri" pitchFamily="34" charset="-122"/>
                <a:cs typeface="Calibri" pitchFamily="34" charset="-120"/>
              </a:rPr>
              <a:t>Read for intent and scope, not mechanics.</a:t>
            </a:r>
            <a:endParaRPr lang="en-US" sz="1450" dirty="0"/>
          </a:p>
        </p:txBody>
      </p:sp>
      <p:sp>
        <p:nvSpPr>
          <p:cNvPr id="14" name="Shape 11"/>
          <p:cNvSpPr/>
          <p:nvPr/>
        </p:nvSpPr>
        <p:spPr>
          <a:xfrm>
            <a:off x="502920" y="3328416"/>
            <a:ext cx="457200" cy="457200"/>
          </a:xfrm>
          <a:prstGeom prst="ellipse">
            <a:avLst/>
          </a:prstGeom>
          <a:solidFill>
            <a:srgbClr val="2D1155"/>
          </a:solidFill>
          <a:ln/>
        </p:spPr>
        <p:txBody>
          <a:bodyPr/>
          <a:lstStyle/>
          <a:p>
            <a:endParaRPr lang="en-AU"/>
          </a:p>
        </p:txBody>
      </p:sp>
      <p:sp>
        <p:nvSpPr>
          <p:cNvPr id="15" name="Text 12"/>
          <p:cNvSpPr/>
          <p:nvPr/>
        </p:nvSpPr>
        <p:spPr>
          <a:xfrm>
            <a:off x="502920" y="3328416"/>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4</a:t>
            </a:r>
            <a:endParaRPr lang="en-US" sz="1200" dirty="0"/>
          </a:p>
        </p:txBody>
      </p:sp>
      <p:sp>
        <p:nvSpPr>
          <p:cNvPr id="16" name="Text 13"/>
          <p:cNvSpPr/>
          <p:nvPr/>
        </p:nvSpPr>
        <p:spPr>
          <a:xfrm>
            <a:off x="1143000" y="3291840"/>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Recover by reporting symptoms.   </a:t>
            </a:r>
            <a:r>
              <a:rPr lang="en-US" sz="1450" dirty="0">
                <a:solidFill>
                  <a:srgbClr val="6E6389"/>
                </a:solidFill>
                <a:latin typeface="Calibri" pitchFamily="34" charset="0"/>
                <a:ea typeface="Calibri" pitchFamily="34" charset="-122"/>
                <a:cs typeface="Calibri" pitchFamily="34" charset="-120"/>
              </a:rPr>
              <a:t>Paste the error, describe the screen.</a:t>
            </a:r>
            <a:endParaRPr lang="en-US" sz="1450" dirty="0"/>
          </a:p>
        </p:txBody>
      </p:sp>
      <p:sp>
        <p:nvSpPr>
          <p:cNvPr id="17" name="Shape 14"/>
          <p:cNvSpPr/>
          <p:nvPr/>
        </p:nvSpPr>
        <p:spPr>
          <a:xfrm>
            <a:off x="502920" y="3950208"/>
            <a:ext cx="457200" cy="457200"/>
          </a:xfrm>
          <a:prstGeom prst="ellipse">
            <a:avLst/>
          </a:prstGeom>
          <a:solidFill>
            <a:srgbClr val="2D1155"/>
          </a:solidFill>
          <a:ln/>
        </p:spPr>
        <p:txBody>
          <a:bodyPr/>
          <a:lstStyle/>
          <a:p>
            <a:endParaRPr lang="en-AU"/>
          </a:p>
        </p:txBody>
      </p:sp>
      <p:sp>
        <p:nvSpPr>
          <p:cNvPr id="18" name="Text 15"/>
          <p:cNvSpPr/>
          <p:nvPr/>
        </p:nvSpPr>
        <p:spPr>
          <a:xfrm>
            <a:off x="502920" y="3950208"/>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5</a:t>
            </a:r>
            <a:endParaRPr lang="en-US" sz="1200" dirty="0"/>
          </a:p>
        </p:txBody>
      </p:sp>
      <p:sp>
        <p:nvSpPr>
          <p:cNvPr id="19" name="Text 16"/>
          <p:cNvSpPr/>
          <p:nvPr/>
        </p:nvSpPr>
        <p:spPr>
          <a:xfrm>
            <a:off x="1143000" y="3913632"/>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Commit small; use checkpoints.   </a:t>
            </a:r>
            <a:r>
              <a:rPr lang="en-US" sz="1450" dirty="0">
                <a:solidFill>
                  <a:srgbClr val="6E6389"/>
                </a:solidFill>
                <a:latin typeface="Calibri" pitchFamily="34" charset="0"/>
                <a:ea typeface="Calibri" pitchFamily="34" charset="-122"/>
                <a:cs typeface="Calibri" pitchFamily="34" charset="-120"/>
              </a:rPr>
              <a:t>Git is your undo. The net is expected.</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2D1155"/>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5B21B6"/>
          </a:solidFill>
          <a:ln/>
        </p:spPr>
        <p:txBody>
          <a:bodyPr/>
          <a:lstStyle/>
          <a:p>
            <a:endParaRPr lang="en-AU"/>
          </a:p>
        </p:txBody>
      </p:sp>
      <p:sp>
        <p:nvSpPr>
          <p:cNvPr id="3" name="Shape 1"/>
          <p:cNvSpPr/>
          <p:nvPr/>
        </p:nvSpPr>
        <p:spPr>
          <a:xfrm>
            <a:off x="6400800" y="0"/>
            <a:ext cx="128016" cy="5143500"/>
          </a:xfrm>
          <a:prstGeom prst="rect">
            <a:avLst/>
          </a:prstGeom>
          <a:solidFill>
            <a:srgbClr val="7C3AED"/>
          </a:solidFill>
          <a:ln/>
        </p:spPr>
        <p:txBody>
          <a:bodyPr/>
          <a:lstStyle/>
          <a:p>
            <a:endParaRPr lang="en-AU"/>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234440"/>
            <a:ext cx="82296" cy="2148840"/>
          </a:xfrm>
          <a:prstGeom prst="rect">
            <a:avLst/>
          </a:prstGeom>
          <a:solidFill>
            <a:srgbClr val="F59E0B"/>
          </a:solidFill>
          <a:ln/>
        </p:spPr>
        <p:txBody>
          <a:bodyPr/>
          <a:lstStyle/>
          <a:p>
            <a:endParaRPr lang="en-AU"/>
          </a:p>
        </p:txBody>
      </p:sp>
      <p:pic>
        <p:nvPicPr>
          <p:cNvPr id="6" name="Image 1" descr="logo_main.png"/>
          <p:cNvPicPr>
            <a:picLocks noChangeAspect="1"/>
          </p:cNvPicPr>
          <p:nvPr/>
        </p:nvPicPr>
        <p:blipFill>
          <a:blip r:embed="rId4"/>
          <a:stretch>
            <a:fillRect/>
          </a:stretch>
        </p:blipFill>
        <p:spPr>
          <a:xfrm>
            <a:off x="457200" y="384048"/>
            <a:ext cx="2148840" cy="484632"/>
          </a:xfrm>
          <a:prstGeom prst="rect">
            <a:avLst/>
          </a:prstGeom>
        </p:spPr>
      </p:pic>
      <p:sp>
        <p:nvSpPr>
          <p:cNvPr id="7" name="Text 3"/>
          <p:cNvSpPr/>
          <p:nvPr/>
        </p:nvSpPr>
        <p:spPr>
          <a:xfrm>
            <a:off x="457200" y="4709160"/>
            <a:ext cx="5669280" cy="274320"/>
          </a:xfrm>
          <a:prstGeom prst="rect">
            <a:avLst/>
          </a:prstGeom>
          <a:noFill/>
          <a:ln/>
        </p:spPr>
        <p:txBody>
          <a:bodyPr wrap="square" rtlCol="0" anchor="ctr"/>
          <a:lstStyle/>
          <a:p>
            <a:pPr marL="0" indent="0">
              <a:buNone/>
            </a:pPr>
            <a:r>
              <a:rPr lang="en-US" sz="900" dirty="0">
                <a:solidFill>
                  <a:srgbClr val="C4B5E8"/>
                </a:solidFill>
                <a:latin typeface="Calibri" pitchFamily="34" charset="0"/>
                <a:ea typeface="Calibri" pitchFamily="34" charset="-122"/>
                <a:cs typeface="Calibri" pitchFamily="34" charset="-120"/>
              </a:rPr>
              <a:t>Tech Council of Australia  |  techcouncil.com.au</a:t>
            </a:r>
            <a:endParaRPr lang="en-US" sz="900" dirty="0"/>
          </a:p>
        </p:txBody>
      </p:sp>
      <p:sp>
        <p:nvSpPr>
          <p:cNvPr id="8" name="Text 4"/>
          <p:cNvSpPr/>
          <p:nvPr/>
        </p:nvSpPr>
        <p:spPr>
          <a:xfrm>
            <a:off x="658368" y="1371600"/>
            <a:ext cx="5486400" cy="274320"/>
          </a:xfrm>
          <a:prstGeom prst="rect">
            <a:avLst/>
          </a:prstGeom>
          <a:noFill/>
          <a:ln/>
        </p:spPr>
        <p:txBody>
          <a:bodyPr wrap="square"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BY 4PM YOU'LL HARDEN THIS WITH A TEAM OF AGENTS</a:t>
            </a:r>
            <a:endParaRPr lang="en-US" sz="1000" dirty="0"/>
          </a:p>
        </p:txBody>
      </p:sp>
      <p:sp>
        <p:nvSpPr>
          <p:cNvPr id="9" name="Text 5"/>
          <p:cNvSpPr/>
          <p:nvPr/>
        </p:nvSpPr>
        <p:spPr>
          <a:xfrm>
            <a:off x="658368" y="1691640"/>
            <a:ext cx="5577840" cy="914400"/>
          </a:xfrm>
          <a:prstGeom prst="rect">
            <a:avLst/>
          </a:prstGeom>
          <a:noFill/>
          <a:ln/>
        </p:spPr>
        <p:txBody>
          <a:bodyPr wrap="square" rtlCol="0" anchor="ctr"/>
          <a:lstStyle/>
          <a:p>
            <a:pPr marL="0" indent="0">
              <a:buNone/>
            </a:pPr>
            <a:r>
              <a:rPr lang="en-US" sz="4600" b="1" dirty="0">
                <a:solidFill>
                  <a:srgbClr val="FFFFFF"/>
                </a:solidFill>
                <a:latin typeface="Arial Black" pitchFamily="34" charset="0"/>
                <a:ea typeface="Arial Black" pitchFamily="34" charset="-122"/>
                <a:cs typeface="Arial Black" pitchFamily="34" charset="-120"/>
              </a:rPr>
              <a:t>Let's build.</a:t>
            </a:r>
            <a:endParaRPr lang="en-US" sz="4600" dirty="0"/>
          </a:p>
        </p:txBody>
      </p:sp>
      <p:sp>
        <p:nvSpPr>
          <p:cNvPr id="10" name="Text 6"/>
          <p:cNvSpPr/>
          <p:nvPr/>
        </p:nvSpPr>
        <p:spPr>
          <a:xfrm>
            <a:off x="676656" y="2880360"/>
            <a:ext cx="5486400" cy="822960"/>
          </a:xfrm>
          <a:prstGeom prst="rect">
            <a:avLst/>
          </a:prstGeom>
          <a:noFill/>
          <a:ln/>
        </p:spPr>
        <p:txBody>
          <a:bodyPr wrap="square" rtlCol="0" anchor="ctr"/>
          <a:lstStyle/>
          <a:p>
            <a:pPr marL="0" indent="0">
              <a:buNone/>
            </a:pPr>
            <a:r>
              <a:rPr lang="en-US" sz="1400" i="1" dirty="0">
                <a:solidFill>
                  <a:srgbClr val="DDD6FE"/>
                </a:solidFill>
                <a:latin typeface="Calibri" pitchFamily="34" charset="0"/>
                <a:ea typeface="Calibri" pitchFamily="34" charset="-122"/>
                <a:cs typeface="Calibri" pitchFamily="34" charset="-120"/>
              </a:rPr>
              <a:t>This morning you learn to fly the loop. You're not behind — the typing got automated; the judgement didn't.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4366</Words>
  <Application>Microsoft Macintosh PowerPoint</Application>
  <PresentationFormat>On-screen Show (16:9)</PresentationFormat>
  <Paragraphs>333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Paul Keen</cp:lastModifiedBy>
  <cp:revision>6</cp:revision>
  <dcterms:created xsi:type="dcterms:W3CDTF">2026-07-22T10:56:37Z</dcterms:created>
  <dcterms:modified xsi:type="dcterms:W3CDTF">2026-07-31T03:44:44Z</dcterms:modified>
</cp:coreProperties>
</file>