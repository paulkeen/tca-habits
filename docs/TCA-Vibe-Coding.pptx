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74" r:id="rId3"/>
    <p:sldId id="275"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266"/>
    <p:restoredTop sz="68348"/>
  </p:normalViewPr>
  <p:slideViewPr>
    <p:cSldViewPr snapToGrid="0" snapToObjects="1">
      <p:cViewPr varScale="1">
        <p:scale>
          <a:sx n="179" d="100"/>
          <a:sy n="179" d="100"/>
        </p:scale>
        <p:origin x="2744" y="176"/>
      </p:cViewPr>
      <p:guideLst/>
    </p:cSldViewPr>
  </p:slideViewPr>
  <p:notesTextViewPr>
    <p:cViewPr>
      <p:scale>
        <a:sx n="140" d="100"/>
        <a:sy n="14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91805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(0:30). "This is Vibe Coding - the first rung of a three-rung day, and it's the fun one."
One line for the whole session: today you learn to FLY the agent, not type the code. The keyboard is the thing we're taking away.
Two tools on every slide - Claude Code and Codex. Pick whichever you installed; the ideas are identical, only the keystrokes differ.
Quick, energetic. Don't linger.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REVEAL (1:30). Ask first: "Who here thinks a prompt is the thing you type?" Let them nod, then show the right-hand side.
ChatGPT's breakthrough wasn't a smarter model - GPT-3 could already do this. It was the interface trick: split one text stream into two authored halves. The builder writes one half, you write the other, and the model reads them stapled together as a single block.
Land the bottom line hard: the model has no idea which words came from whom. There is no privileged channel. It is one box, read top to bottom. Every safety, persona and tool behaviour you have ever seen is just text someone put above your line.
Don't take questions on jailbreaks or prompt injection here - say "that's exactly why this matters" and move on. Next slide opens the box up.</a:t>
            </a:r>
          </a:p>
        </p:txBody>
      </p:sp>
      <p:sp>
        <p:nvSpPr>
          <p:cNvPr id="4" name="Slide Number Placeholder 3"/>
          <p:cNvSpPr>
            <a:spLocks noGrp="1"/>
          </p:cNvSpPr>
          <p:nvPr>
            <p:ph type="sldNum" sz="quarter" idx="10"/>
          </p:nvPr>
        </p:nvSpPr>
        <p:spPr/>
        <p:txBody>
          <a:bodyPr/>
          <a:lstStyle/>
          <a:p>
            <a:fld id="{F2809971-C818-43DD-B517-2093CF415FE7}" type="slidenum">
              <a:rPr lang="en-US"/>
              <a:t>2</a:t>
            </a:fld>
            <a:endParaRPr lang="en-US"/>
          </a:p>
        </p:txBody>
      </p:sp>
    </p:spTree>
    <p:extLst>
      <p:ext uri="{BB962C8B-B14F-4D97-AF65-F5344CB8AC3E}">
        <p14:creationId xmlns:p14="http://schemas.microsoft.com/office/powerpoint/2010/main" val="15001425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ENGINEERING (2:00 - core slide). Point at the stack, bottom to top. The only bar they control by typing is the amber one. Everything above it was assembled for them, before they hit enter.
Now do the demystifying: walk the two violet bars. RAG is not a technology the model knows about - it's a search that runs first and pastes results into the stack. MCP is not the model reaching out - it's a tool call whose output gets pasted into the stack. Memory files are the same move, pasted from disk.
The money line: every fancy acronym is an automated way to write a better system prompt. That's it. If they remember one thing from this slide, that's the one.
Then the constraint on the right - the window is finite. This is the hook into /context later this morning, and into 'CONTEXT IS THE FUEL'. Most agent failures they'll hit today are context problems, not intelligence problems.
Ask the room: "So what's the skill?" (Answer: deciding what goes in, in what order, and what stays out.) That's the whole discipline, and it's why we're not teaching you to type code.</a:t>
            </a:r>
          </a:p>
        </p:txBody>
      </p:sp>
      <p:sp>
        <p:nvSpPr>
          <p:cNvPr id="4" name="Slide Number Placeholder 3"/>
          <p:cNvSpPr>
            <a:spLocks noGrp="1"/>
          </p:cNvSpPr>
          <p:nvPr>
            <p:ph type="sldNum" sz="quarter" idx="10"/>
          </p:nvPr>
        </p:nvSpPr>
        <p:spPr/>
        <p:txBody>
          <a:bodyPr/>
          <a:lstStyle/>
          <a:p>
            <a:fld id="{A7ED5826-E960-41A7-9F26-56D1AFDE46B4}" type="slidenum">
              <a:rPr lang="en-US"/>
              <a:t>3</a:t>
            </a:fld>
            <a:endParaRPr lang="en-US"/>
          </a:p>
        </p:txBody>
      </p:sp>
    </p:spTree>
    <p:extLst>
      <p:ext uri="{BB962C8B-B14F-4D97-AF65-F5344CB8AC3E}">
        <p14:creationId xmlns:p14="http://schemas.microsoft.com/office/powerpoint/2010/main" val="1500150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LADDER (1:15). Each rung removes a different crutch. Rung 1 (now): lean fully on the agent, ugly is fine. Rung 2: make it behave the same tomorrow. Rung 3: stop trusting it, build harnesses.
The point of the day is the change in your RELATIONSHIP to the code, not the app. This morning: "you drive, I direct." Don't over-explain 2 and 3.</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(1:15). Vibe coding = using the tool. That's the whole definition today.
The mindset shift is the money line. Read both quotes aloud. Old question = implementation. New question = outcome. All day we push from "how" to "what". For the confident engineers this is the uncomfortable one - you're good at "how".</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LOOP (2:45 - core slide). Walk left to right. 1 PROMPT you say what you want. 2 GENERATE it writes. 3 RUN it executes/tests. 4 OBSERVE you look at what actually happened. 5 REACT you respond, go again.
Most important point: your work is 1, 4, 5 - prompt, observe, react. Steps 2 and 3 belong to the agent. Every time you grab the keyboard to do step 2, you break the loop.
Second point: small turns. Don't ask for the whole app and disappear. Small loop, look, react.
Ask the room: "Which step do people get wrong most?" (Answer: they skip OBSERVE - accept output without looking.)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ANATOMY (2:00 - technical grounding). Vocabulary for the juniors, precise model for the seniors.
CONTEXT WINDOW - the agent's short-term memory: your prompt, open files, the conversation, every command's output. Finite, and it fills up. Nearly every "it went stupid" moment is really "context is full or polluted." Remember this two slides on.
TOOLS - it doesn't just emit text. It calls tools: read/write a file, run the shell, run tests, git, search, MCP servers. Tools make it an agent, not a chatbot.
THE LOOP - pick a tool, run it, READ the result, decide, repeat. Same loop as before, machinery visible.
PERMISSIONS - what it may do without asking. Both tools have approval modes: ask-every-time, ask-for-risky, or full-auto in a sandbox. The most important safety dial; most people never touch it.
Say it: not autocomplete - it reasons, acts through tools, checks its own results.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RULE (1:45). Slow down - emotional anchor of the session. Say it plainly, let it sit: "Resist the keyboard."
Every workshop someone opens the file and hand-edits the moment the agent stumbles. It feels productive; it's the habit we're breaking. The struggle of NOT touching it is the lesson.
Reframe the twitch: the urge to fix it means you know what's wrong - so say what's wrong in a prompt. You still use your expertise, just in words not keystrokes.
Lab note: we don't help for the first three minutes of any block. Same principle.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SKILL #1 (2:30). Read the left box in a tedious voice - feel how exhausting it is. That's hand-coding through a straw: you did the thinking AND you carry the risk of being wrong.
Right box: two changes - OUTCOME (streak grows, miss resets) plus a CONSTRAINT ("show me a plan first"). You never named a file or said "how". The agent can choose a better implementation than you'd type.
The tell you're doing it right: the same prompt works verbatim in Claude Code or Codex. Implementation-free prompts are portable.
Seniors: you often DO know the best implementation - bank it for OBSERVE and REACT, don't type it. This is the habit they take back to work Monday.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SKILL #2 (2:30). Lead with the "what changed" - half the room learned the old way.
A year ago, plan mode was about MECHANICS: you forced a plan because left alone it charged in and made a mess, and you read for dumb structural mistakes. 2025 models genuinely planned clumsily.
That's mostly over. Modern agents decompose and sequence well. If you're still checking whether it put the loop in the right file, you're auditing a problem it rarely has.
The risk FLIPPED. The dangerous plan today isn't messy - it's clean, confident, and aimed at slightly the wrong target. A tidy plan for the wrong problem is more dangerous than an obviously bad one - it doesn't trip your alarm.
So the review moved UP: read for INTENT and SCOPE. Did it get the real goal? Touching more than it should? What did it assume that I never said?
Confident engineers: a good-looking plan lulls you. Rusty: good news - "is this even the right problem" is exactly your strength, and it's what matters most now. Keys unchanged.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SKILL #3 (2:30). "The cockpit" - not the whole plane, just the dials a pilot actually watches. Lean on the top three (context); move fast on the rest.
/context (Claude) or /status (Codex): shows what it's holding in its head right now. Context is finite. When answers drift, check this first.
@path: pins an exact file so it stops guessing which file you mean. Keeps context lean. Identical in both tools.
/compact: summarise and trim a bloated conversation. /clear or fresh session: wipe the slate for an unrelated task so old context doesn't leak.
Reassurance: you don't memorise this, you just reach for the dials when it goes vague. That's the difference between flying the tool and being flown by it.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(2:00). Metaphor: context is fuel, with a gauge. Three states.
Too little: not told enough, so it guesses - wrong file, invented convention, confident nonsense. Fix by pinning with @ and stating the goal.
Just right: the files that matter are pinned, the task is in view, nothing extra. Live here.
Too much: long rambling session, old unrelated stuff still in the window, slow and leaking into answers. Fix with /compact, or /clear and start fresh.
Tie back: the cockpit commands keep the gauge in the green. When an answer goes vague or off-topic, 90% of the time it's context, not intelligence.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SKILL #3 (2:30). "The cockpit" - not the whole plane, just the dials a pilot actually watches. Frame it as four verbs, not a list of commands to memorise: SEE, LOAD, TRIM, RESET. Those four are the entire discipline of managing the window.
SEE - /context (Claude) or /status (Codex). Shows what it is holding right now, and how full the window is. When answers drift, check this first, before you re-explain anything.
LOAD - @path. This is the half people skip. It is not a file-picker convenience: it is you deciding what goes in the window instead of letting the agent search and guess. Cheapest fix for a vague answer is usually loading the right file, not writing a longer prompt. Identical in both tools.
TRIM - /compact. Summarises the conversation so far and drops the stale detail, keeping the thread but reclaiming space. RESET - /clear, or a fresh session in Codex. Use it whenever you change task, so nothing leaks across.
The rule of thumb to say out loud: new task means new window. Most people never reset, then blame the model.
Reassurance: you do not memorise this, you reach for a dial when it goes vague. That is the difference between flying the tool and being flown by it.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(2:00). Context is fuel and there is a gauge. Three states, and each one has a move attached - this slide is the diagnostic for the cockpit you just showed them.
Too little: it was never told enough, so it fills the gap by guessing - wrong file, invented convention, confident nonsense. The move is LOAD. Point out that this failure looks like stupidity and is actually starvation.
Just right: one task, only the files that task touches, nothing left over. The move is HOLD - stay here. This is the state you are trying to keep them in all morning.
Too much: the window is full, it is slow, and unrelated old threads bleed into new answers. The move is TRIM, then RESET if that is not enough.
Tie back hard: when an answer goes vague or off-topic, it is a context problem about 90% of the time, not an intelligence problem. Check the gauge before you argue with the model.</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CHANGED (2:30). Zoom out - the VP-in-the-room slide, and for anyone who's been away: here's how the ground shifted.
PLANNING - just covered: from "make it plan, check the steps" to "it plans fine, check it understood the right problem." Anchor, don't re-teach.
CONTEXT - a year ago windows were small and you pruned constantly to stop it forgetting. Now windows are repo-scale and memory persists. But that made context ENGINEERING the discipline, not an afterthought. Most agent failures in the field now trace to context drift and stale memory, not the model being dim. (If asked for a number: industry write-ups put the majority of enterprise agent failures on context, not capability - directional, not gospel.)
AGENTS - a year ago it was you and one chat. Now both tools run teams: Codex spins up parallel subagents; Claude Code runs Agent Teams sharing a task list and messaging each other. That's your Section 3 this afternoon - plant it.
Close line - the through-thread of the whole day: the mechanical part got automated, so the human skill moved UP - intent, context, verification. Same reason the returning engineer isn't behind.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TAKEAWAYS (1:30). Mirror of slide 2, now as outcomes.
Rusty: the win is confidence. You'll feel the loop, the tools stop being scary, and you'll rediscover that your judgement is the valuable part.
Confident: the win is restraint. You'll feel the tension of directing, catch your keyboard reflex, and - the surprise - get further by doing less.
Lab reflection prompts: "Where did you reach for the keyboard, and what happened when you didn't?" "Where did you accept output without reading it - what risk did you take?"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GOLDEN RULES (1:30). Leave this up while they open terminals. Read briskly - they've heard them all.
1 Resist the keyboard. 2 Prompt by outcome. 3 Plan review not writing. 4 Report symptoms. 5 Commit small, use checkpoints.
Then bridge to the close.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D1155"/>
        </a:solidFill>
        <a:effectLst/>
      </p:bgPr>
    </p:bg>
    <p:spTree>
      <p:nvGrpSpPr>
        <p:cNvPr id="1" name=""/>
        <p:cNvGrpSpPr/>
        <p:nvPr/>
      </p:nvGrpSpPr>
      <p:grpSpPr>
        <a:xfrm>
          <a:off x="0" y="0"/>
          <a:ext cx="0" cy="0"/>
          <a:chOff x="0" y="0"/>
          <a:chExt cx="0" cy="0"/>
        </a:xfrm>
      </p:grpSpPr>
      <p:sp>
        <p:nvSpPr>
          <p:cNvPr id="2" name="Shape 0"/>
          <p:cNvSpPr/>
          <p:nvPr/>
        </p:nvSpPr>
        <p:spPr>
          <a:xfrm>
            <a:off x="6400800" y="0"/>
            <a:ext cx="2743200" cy="5143500"/>
          </a:xfrm>
          <a:prstGeom prst="rect">
            <a:avLst/>
          </a:prstGeom>
          <a:solidFill>
            <a:srgbClr val="5B21B6"/>
          </a:solidFill>
          <a:ln/>
        </p:spPr>
        <p:txBody>
          <a:bodyPr/>
          <a:lstStyle/>
          <a:p>
            <a:endParaRPr lang="en-AU"/>
          </a:p>
        </p:txBody>
      </p:sp>
      <p:sp>
        <p:nvSpPr>
          <p:cNvPr id="3" name="Shape 1"/>
          <p:cNvSpPr/>
          <p:nvPr/>
        </p:nvSpPr>
        <p:spPr>
          <a:xfrm>
            <a:off x="6400800" y="0"/>
            <a:ext cx="128016" cy="5143500"/>
          </a:xfrm>
          <a:prstGeom prst="rect">
            <a:avLst/>
          </a:prstGeom>
          <a:solidFill>
            <a:srgbClr val="7C3AED"/>
          </a:solidFill>
          <a:ln/>
        </p:spPr>
        <p:txBody>
          <a:bodyPr/>
          <a:lstStyle/>
          <a:p>
            <a:endParaRPr lang="en-AU"/>
          </a:p>
        </p:txBody>
      </p:sp>
      <p:pic>
        <p:nvPicPr>
          <p:cNvPr id="4" name="Image 0" descr="logo_icon.jpeg"/>
          <p:cNvPicPr>
            <a:picLocks noChangeAspect="1"/>
          </p:cNvPicPr>
          <p:nvPr/>
        </p:nvPicPr>
        <p:blipFill>
          <a:blip r:embed="rId3"/>
          <a:stretch>
            <a:fillRect/>
          </a:stretch>
        </p:blipFill>
        <p:spPr>
          <a:xfrm>
            <a:off x="8366760" y="4526280"/>
            <a:ext cx="411480" cy="411480"/>
          </a:xfrm>
          <a:prstGeom prst="ellipse">
            <a:avLst/>
          </a:prstGeom>
        </p:spPr>
      </p:pic>
      <p:sp>
        <p:nvSpPr>
          <p:cNvPr id="5" name="Shape 2"/>
          <p:cNvSpPr/>
          <p:nvPr/>
        </p:nvSpPr>
        <p:spPr>
          <a:xfrm>
            <a:off x="457200" y="1234440"/>
            <a:ext cx="82296" cy="2148840"/>
          </a:xfrm>
          <a:prstGeom prst="rect">
            <a:avLst/>
          </a:prstGeom>
          <a:solidFill>
            <a:srgbClr val="F59E0B"/>
          </a:solidFill>
          <a:ln/>
        </p:spPr>
        <p:txBody>
          <a:bodyPr/>
          <a:lstStyle/>
          <a:p>
            <a:endParaRPr lang="en-AU"/>
          </a:p>
        </p:txBody>
      </p:sp>
      <p:pic>
        <p:nvPicPr>
          <p:cNvPr id="6" name="Image 1" descr="logo_main.png"/>
          <p:cNvPicPr>
            <a:picLocks noChangeAspect="1"/>
          </p:cNvPicPr>
          <p:nvPr/>
        </p:nvPicPr>
        <p:blipFill>
          <a:blip r:embed="rId4"/>
          <a:stretch>
            <a:fillRect/>
          </a:stretch>
        </p:blipFill>
        <p:spPr>
          <a:xfrm>
            <a:off x="457200" y="384048"/>
            <a:ext cx="2148840" cy="484632"/>
          </a:xfrm>
          <a:prstGeom prst="rect">
            <a:avLst/>
          </a:prstGeom>
        </p:spPr>
      </p:pic>
      <p:sp>
        <p:nvSpPr>
          <p:cNvPr id="7" name="Text 3"/>
          <p:cNvSpPr/>
          <p:nvPr/>
        </p:nvSpPr>
        <p:spPr>
          <a:xfrm>
            <a:off x="457200" y="4709160"/>
            <a:ext cx="5669280" cy="274320"/>
          </a:xfrm>
          <a:prstGeom prst="rect">
            <a:avLst/>
          </a:prstGeom>
          <a:noFill/>
          <a:ln/>
        </p:spPr>
        <p:txBody>
          <a:bodyPr wrap="square" rtlCol="0" anchor="ctr"/>
          <a:lstStyle/>
          <a:p>
            <a:pPr marL="0" indent="0">
              <a:buNone/>
            </a:pPr>
            <a:r>
              <a:rPr lang="en-US" sz="900" dirty="0">
                <a:solidFill>
                  <a:srgbClr val="C4B5E8"/>
                </a:solidFill>
                <a:latin typeface="Calibri" pitchFamily="34" charset="0"/>
                <a:ea typeface="Calibri" pitchFamily="34" charset="-122"/>
                <a:cs typeface="Calibri" pitchFamily="34" charset="-120"/>
              </a:rPr>
              <a:t>Tech Council of Australia  |  techcouncil.com.au</a:t>
            </a:r>
            <a:endParaRPr lang="en-US" sz="900" dirty="0"/>
          </a:p>
        </p:txBody>
      </p:sp>
      <p:sp>
        <p:nvSpPr>
          <p:cNvPr id="8" name="Text 4"/>
          <p:cNvSpPr/>
          <p:nvPr/>
        </p:nvSpPr>
        <p:spPr>
          <a:xfrm>
            <a:off x="635508" y="1325880"/>
            <a:ext cx="5669280" cy="274320"/>
          </a:xfrm>
          <a:prstGeom prst="rect">
            <a:avLst/>
          </a:prstGeom>
          <a:noFill/>
          <a:ln/>
        </p:spPr>
        <p:txBody>
          <a:bodyPr wrap="square" rtlCol="0" anchor="ctr"/>
          <a:lstStyle/>
          <a:p>
            <a:pPr marL="0" indent="0">
              <a:buNone/>
            </a:pPr>
            <a:r>
              <a:rPr lang="en-US" sz="1200" b="1" kern="0" spc="300" dirty="0">
                <a:solidFill>
                  <a:srgbClr val="F59E0B"/>
                </a:solidFill>
                <a:latin typeface="Calibri" pitchFamily="34" charset="0"/>
                <a:ea typeface="Calibri" pitchFamily="34" charset="-122"/>
                <a:cs typeface="Calibri" pitchFamily="34" charset="-120"/>
              </a:rPr>
              <a:t>SECTION 01  ·  THE COCKPIT</a:t>
            </a:r>
            <a:endParaRPr lang="en-US" sz="1200" dirty="0"/>
          </a:p>
        </p:txBody>
      </p:sp>
      <p:sp>
        <p:nvSpPr>
          <p:cNvPr id="9" name="Text 5"/>
          <p:cNvSpPr/>
          <p:nvPr/>
        </p:nvSpPr>
        <p:spPr>
          <a:xfrm>
            <a:off x="658368" y="1600200"/>
            <a:ext cx="5577840" cy="1051560"/>
          </a:xfrm>
          <a:prstGeom prst="rect">
            <a:avLst/>
          </a:prstGeom>
          <a:noFill/>
          <a:ln/>
        </p:spPr>
        <p:txBody>
          <a:bodyPr wrap="square" rtlCol="0" anchor="ctr"/>
          <a:lstStyle/>
          <a:p>
            <a:pPr marL="0" indent="0">
              <a:buNone/>
            </a:pPr>
            <a:r>
              <a:rPr lang="en-US" sz="4600" b="1" dirty="0">
                <a:solidFill>
                  <a:srgbClr val="FFFFFF"/>
                </a:solidFill>
                <a:latin typeface="Arial Black" pitchFamily="34" charset="0"/>
                <a:ea typeface="Arial Black" pitchFamily="34" charset="-122"/>
                <a:cs typeface="Arial Black" pitchFamily="34" charset="-120"/>
              </a:rPr>
              <a:t>Vibe Coding</a:t>
            </a:r>
            <a:endParaRPr lang="en-US" sz="4600" dirty="0"/>
          </a:p>
        </p:txBody>
      </p:sp>
      <p:sp>
        <p:nvSpPr>
          <p:cNvPr id="10" name="Text 6"/>
          <p:cNvSpPr/>
          <p:nvPr/>
        </p:nvSpPr>
        <p:spPr>
          <a:xfrm>
            <a:off x="676656" y="2697480"/>
            <a:ext cx="5486400" cy="502920"/>
          </a:xfrm>
          <a:prstGeom prst="rect">
            <a:avLst/>
          </a:prstGeom>
          <a:noFill/>
          <a:ln/>
        </p:spPr>
        <p:txBody>
          <a:bodyPr wrap="square" rtlCol="0" anchor="ctr"/>
          <a:lstStyle/>
          <a:p>
            <a:pPr marL="0" indent="0">
              <a:buNone/>
            </a:pPr>
            <a:r>
              <a:rPr lang="en-US" sz="1500" i="1" dirty="0">
                <a:solidFill>
                  <a:srgbClr val="DDD6FE"/>
                </a:solidFill>
                <a:latin typeface="Calibri" pitchFamily="34" charset="0"/>
                <a:ea typeface="Calibri" pitchFamily="34" charset="-122"/>
                <a:cs typeface="Calibri" pitchFamily="34" charset="-120"/>
              </a:rPr>
              <a:t>How to fly the agent instead of typing the code.</a:t>
            </a:r>
            <a:endParaRPr lang="en-US" sz="1500" dirty="0"/>
          </a:p>
        </p:txBody>
      </p:sp>
      <p:sp>
        <p:nvSpPr>
          <p:cNvPr id="11" name="Shape 7"/>
          <p:cNvSpPr/>
          <p:nvPr/>
        </p:nvSpPr>
        <p:spPr>
          <a:xfrm>
            <a:off x="676656" y="3429000"/>
            <a:ext cx="4160520" cy="384048"/>
          </a:xfrm>
          <a:prstGeom prst="roundRect">
            <a:avLst>
              <a:gd name="adj" fmla="val 14286"/>
            </a:avLst>
          </a:prstGeom>
          <a:solidFill>
            <a:srgbClr val="7C3AED"/>
          </a:solidFill>
          <a:ln/>
        </p:spPr>
        <p:txBody>
          <a:bodyPr/>
          <a:lstStyle/>
          <a:p>
            <a:endParaRPr lang="en-AU"/>
          </a:p>
        </p:txBody>
      </p:sp>
      <p:sp>
        <p:nvSpPr>
          <p:cNvPr id="12" name="Text 8"/>
          <p:cNvSpPr/>
          <p:nvPr/>
        </p:nvSpPr>
        <p:spPr>
          <a:xfrm>
            <a:off x="676656" y="3429000"/>
            <a:ext cx="4160520" cy="384048"/>
          </a:xfrm>
          <a:prstGeom prst="rect">
            <a:avLst/>
          </a:prstGeom>
          <a:noFill/>
          <a:ln/>
        </p:spPr>
        <p:txBody>
          <a:bodyPr wrap="square" rtlCol="0" anchor="ctr"/>
          <a:lstStyle/>
          <a:p>
            <a:pPr marL="0" indent="0" algn="ctr">
              <a:buNone/>
            </a:pPr>
            <a:r>
              <a:rPr lang="en-US" sz="900" b="1" kern="0" spc="100" dirty="0">
                <a:solidFill>
                  <a:srgbClr val="FFFFFF"/>
                </a:solidFill>
                <a:latin typeface="Calibri" pitchFamily="34" charset="0"/>
                <a:ea typeface="Calibri" pitchFamily="34" charset="-122"/>
                <a:cs typeface="Calibri" pitchFamily="34" charset="-120"/>
              </a:rPr>
              <a:t>25 MINUTES   ·   ONE LOOP   ·   TWO TOOLS</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Context 1 - Two Voices">
    <p:bg>
      <p:bgPr>
        <a:solidFill>
          <a:srgbClr val="F5F3FF"/>
        </a:solidFill>
        <a:effectLst/>
      </p:bgPr>
    </p:bg>
    <p:spTree>
      <p:nvGrpSpPr>
        <p:cNvPr id="1" name=""/>
        <p:cNvGrpSpPr/>
        <p:nvPr/>
      </p:nvGrpSpPr>
      <p:grpSpPr>
        <a:xfrm>
          <a:off x="0" y="0"/>
          <a:ext cx="0" cy="0"/>
          <a:chOff x="0" y="0"/>
          <a:chExt cx="0" cy="0"/>
        </a:xfrm>
      </p:grpSpPr>
      <p:sp>
        <p:nvSpPr>
          <p:cNvPr id="2" name="Text 2"/>
          <p:cNvSpPr/>
          <p:nvPr/>
        </p:nvSpPr>
        <p:spPr>
          <a:xfrm>
            <a:off x="457200" y="292608"/>
            <a:ext cx="8229600" cy="566928"/>
          </a:xfrm>
          <a:prstGeom prst="rect">
            <a:avLst/>
          </a:prstGeom>
          <a:noFill/>
          <a:ln/>
        </p:spPr>
        <p:txBody>
          <a:bodyPr wrap="square" lIns="0" rIns="0" rtlCol="0" anchor="ctr"/>
          <a:lstStyle/>
          <a:p>
            <a:pPr marL="0" indent="0" algn="l">
              <a:buNone/>
            </a:pPr>
            <a:r>
              <a:rPr lang="en-US" sz="1900" b="1" kern="0" spc="100" dirty="0">
                <a:solidFill>
                  <a:srgbClr val="2D1155"/>
                </a:solidFill>
                <a:latin typeface="Arial Black" pitchFamily="34" charset="0"/>
                <a:ea typeface="Arial Black" pitchFamily="34" charset="-122"/>
                <a:cs typeface="Arial Black" pitchFamily="34" charset="-120"/>
              </a:rPr>
              <a:t>ONE BOX, TWO VOICES</a:t>
            </a:r>
            <a:endParaRPr lang="en-US" sz="1200" dirty="0"/>
          </a:p>
        </p:txBody>
      </p:sp>
      <p:sp>
        <p:nvSpPr>
          <p:cNvPr id="3" name="Text 3"/>
          <p:cNvSpPr/>
          <p:nvPr/>
        </p:nvSpPr>
        <p:spPr>
          <a:xfrm>
            <a:off x="475488" y="896112"/>
            <a:ext cx="8229600" cy="329184"/>
          </a:xfrm>
          <a:prstGeom prst="rect">
            <a:avLst/>
          </a:prstGeom>
          <a:noFill/>
          <a:ln/>
        </p:spPr>
        <p:txBody>
          <a:bodyPr wrap="square" lIns="0" rIns="0" rtlCol="0" anchor="ctr"/>
          <a:lstStyle/>
          <a:p>
            <a:pPr marL="0" indent="0" algn="l">
              <a:buNone/>
            </a:pPr>
            <a:r>
              <a:rPr lang="en-US" sz="1300" i="1" dirty="0">
                <a:solidFill>
                  <a:srgbClr val="6E6389"/>
                </a:solidFill>
                <a:latin typeface="Calibri" pitchFamily="34" charset="0"/>
                <a:ea typeface="Calibri" pitchFamily="34" charset="-122"/>
                <a:cs typeface="Calibri" pitchFamily="34" charset="-120"/>
              </a:rPr>
              <a:t>ChatGPT’s real invention wasn’t a smarter model. It was splitting the prompt in two.</a:t>
            </a:r>
            <a:endParaRPr lang="en-US" sz="1200" dirty="0"/>
          </a:p>
        </p:txBody>
      </p:sp>
      <p:pic>
        <p:nvPicPr>
          <p:cNvPr id="4" name="Image 0" descr="logo_icon.jpeg"/>
          <p:cNvPicPr>
            <a:picLocks noChangeAspect="1"/>
          </p:cNvPicPr>
          <p:nvPr/>
        </p:nvPicPr>
        <p:blipFill>
          <a:blip r:embed="rId3"/>
          <a:stretch>
            <a:fillRect/>
          </a:stretch>
        </p:blipFill>
        <p:spPr>
          <a:xfrm>
            <a:off x="8364931" y="4526280"/>
            <a:ext cx="411480" cy="411480"/>
          </a:xfrm>
          <a:prstGeom prst="ellipse">
            <a:avLst/>
          </a:prstGeom>
        </p:spPr>
      </p:pic>
      <p:sp>
        <p:nvSpPr>
          <p:cNvPr id="5" name="Text 5"/>
          <p:cNvSpPr/>
          <p:nvPr/>
        </p:nvSpPr>
        <p:spPr>
          <a:xfrm>
            <a:off x="457200" y="1389888"/>
            <a:ext cx="3200400" cy="219456"/>
          </a:xfrm>
          <a:prstGeom prst="rect">
            <a:avLst/>
          </a:prstGeom>
          <a:noFill/>
          <a:ln/>
        </p:spPr>
        <p:txBody>
          <a:bodyPr wrap="square" lIns="0" rIns="0" rtlCol="0" anchor="ctr"/>
          <a:lstStyle/>
          <a:p>
            <a:pPr marL="0" indent="0" algn="l">
              <a:buNone/>
            </a:pPr>
            <a:r>
              <a:rPr lang="en-US" sz="900" b="1" spc="120" dirty="0">
                <a:solidFill>
                  <a:srgbClr val="6E6389"/>
                </a:solidFill>
                <a:latin typeface="Calibri" pitchFamily="34" charset="0"/>
                <a:ea typeface="Calibri" pitchFamily="34" charset="-122"/>
                <a:cs typeface="Calibri" pitchFamily="34" charset="-120"/>
              </a:rPr>
              <a:t>WHAT YOU TYPE</a:t>
            </a:r>
            <a:endParaRPr lang="en-US" sz="1200" dirty="0"/>
          </a:p>
        </p:txBody>
      </p:sp>
      <p:sp>
        <p:nvSpPr>
          <p:cNvPr id="6" name="Shape 6"/>
          <p:cNvSpPr/>
          <p:nvPr/>
        </p:nvSpPr>
        <p:spPr>
          <a:xfrm>
            <a:off x="457200" y="1700784"/>
            <a:ext cx="3200400" cy="960120"/>
          </a:xfrm>
          <a:prstGeom prst="roundRect">
            <a:avLst>
              <a:gd name="adj" fmla="val 8000"/>
            </a:avLst>
          </a:prstGeom>
          <a:solidFill>
            <a:srgbClr val="FFFFFF"/>
          </a:solidFill>
          <a:ln w="12700">
            <a:solidFill>
              <a:srgbClr val="DDD6FE"/>
            </a:solidFill>
          </a:ln>
        </p:spPr>
        <p:txBody>
          <a:bodyPr/>
          <a:lstStyle/>
          <a:p>
            <a:endParaRPr lang="en-AU"/>
          </a:p>
        </p:txBody>
      </p:sp>
      <p:sp>
        <p:nvSpPr>
          <p:cNvPr id="7" name="Text 7"/>
          <p:cNvSpPr/>
          <p:nvPr/>
        </p:nvSpPr>
        <p:spPr>
          <a:xfrm>
            <a:off x="658368" y="1700784"/>
            <a:ext cx="2377440" cy="960120"/>
          </a:xfrm>
          <a:prstGeom prst="rect">
            <a:avLst/>
          </a:prstGeom>
          <a:noFill/>
          <a:ln/>
        </p:spPr>
        <p:txBody>
          <a:bodyPr wrap="square" lIns="0" rIns="0" rtlCol="0" anchor="ctr"/>
          <a:lstStyle/>
          <a:p>
            <a:pPr marL="0" indent="0" algn="l">
              <a:buNone/>
            </a:pPr>
            <a:r>
              <a:rPr lang="en-US" sz="1150" dirty="0">
                <a:solidFill>
                  <a:srgbClr val="2D1155"/>
                </a:solidFill>
                <a:latin typeface="Courier New" pitchFamily="34" charset="0"/>
                <a:ea typeface="Courier New" pitchFamily="34" charset="-122"/>
                <a:cs typeface="Courier New" pitchFamily="34" charset="-120"/>
              </a:rPr>
              <a:t>Fix the login bug.</a:t>
            </a:r>
            <a:endParaRPr lang="en-US" sz="1200" dirty="0"/>
          </a:p>
        </p:txBody>
      </p:sp>
      <p:sp>
        <p:nvSpPr>
          <p:cNvPr id="8" name="Shape 8"/>
          <p:cNvSpPr/>
          <p:nvPr/>
        </p:nvSpPr>
        <p:spPr>
          <a:xfrm>
            <a:off x="3090672" y="1975104"/>
            <a:ext cx="384048" cy="384048"/>
          </a:xfrm>
          <a:prstGeom prst="roundRect">
            <a:avLst>
              <a:gd name="adj" fmla="val 50000"/>
            </a:avLst>
          </a:prstGeom>
          <a:solidFill>
            <a:srgbClr val="7C3AED"/>
          </a:solidFill>
          <a:ln/>
        </p:spPr>
        <p:txBody>
          <a:bodyPr/>
          <a:lstStyle/>
          <a:p>
            <a:endParaRPr lang="en-AU"/>
          </a:p>
        </p:txBody>
      </p:sp>
      <p:sp>
        <p:nvSpPr>
          <p:cNvPr id="9" name="Text 9"/>
          <p:cNvSpPr/>
          <p:nvPr/>
        </p:nvSpPr>
        <p:spPr>
          <a:xfrm>
            <a:off x="3090672" y="1975104"/>
            <a:ext cx="384048" cy="384048"/>
          </a:xfrm>
          <a:prstGeom prst="rect">
            <a:avLst/>
          </a:prstGeom>
          <a:noFill/>
          <a:ln/>
        </p:spPr>
        <p:txBody>
          <a:bodyPr wrap="square" lIns="0" r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200" dirty="0"/>
          </a:p>
        </p:txBody>
      </p:sp>
      <p:sp>
        <p:nvSpPr>
          <p:cNvPr id="10" name="Text 10"/>
          <p:cNvSpPr/>
          <p:nvPr/>
        </p:nvSpPr>
        <p:spPr>
          <a:xfrm>
            <a:off x="457200" y="2816352"/>
            <a:ext cx="3200400" cy="914400"/>
          </a:xfrm>
          <a:prstGeom prst="rect">
            <a:avLst/>
          </a:prstGeom>
          <a:noFill/>
          <a:ln/>
        </p:spPr>
        <p:txBody>
          <a:bodyPr wrap="square" lIns="0" rIns="0" rtlCol="0" anchor="t"/>
          <a:lstStyle/>
          <a:p>
            <a:pPr marL="0" indent="0" algn="l">
              <a:spcAft>
                <a:spcPts val="300"/>
              </a:spcAft>
              <a:buNone/>
            </a:pPr>
            <a:r>
              <a:rPr lang="en-US" sz="1100" b="1" dirty="0">
                <a:solidFill>
                  <a:srgbClr val="2D1155"/>
                </a:solidFill>
                <a:latin typeface="Calibri" pitchFamily="34" charset="0"/>
                <a:ea typeface="Calibri" pitchFamily="34" charset="-122"/>
                <a:cs typeface="Calibri" pitchFamily="34" charset="-120"/>
              </a:rPr>
              <a:t>Four words. One box.</a:t>
            </a:r>
            <a:endParaRPr lang="en-US" sz="1000" dirty="0"/>
          </a:p>
          <a:p>
            <a:pPr marL="0" indent="0" algn="l">
              <a:spcAft>
                <a:spcPts val="300"/>
              </a:spcAft>
              <a:buNone/>
            </a:pPr>
            <a:r>
              <a:rPr lang="en-US" sz="1050" dirty="0">
                <a:solidFill>
                  <a:srgbClr val="6E6389"/>
                </a:solidFill>
                <a:latin typeface="Calibri" pitchFamily="34" charset="0"/>
                <a:ea typeface="Calibri" pitchFamily="34" charset="-122"/>
                <a:cs typeface="Calibri" pitchFamily="34" charset="-120"/>
              </a:rPr>
              <a:t>This is the only part of the prompt you ever see.</a:t>
            </a:r>
            <a:endParaRPr lang="en-US" sz="1000" dirty="0"/>
          </a:p>
        </p:txBody>
      </p:sp>
      <p:sp>
        <p:nvSpPr>
          <p:cNvPr id="11" name="Text 11"/>
          <p:cNvSpPr/>
          <p:nvPr/>
        </p:nvSpPr>
        <p:spPr>
          <a:xfrm>
            <a:off x="3767328" y="1700784"/>
            <a:ext cx="502920" cy="960120"/>
          </a:xfrm>
          <a:prstGeom prst="rect">
            <a:avLst/>
          </a:prstGeom>
          <a:noFill/>
          <a:ln/>
        </p:spPr>
        <p:txBody>
          <a:bodyPr wrap="square" lIns="0" rIns="0" rtlCol="0" anchor="ctr"/>
          <a:lstStyle/>
          <a:p>
            <a:pPr marL="0" indent="0" algn="ctr">
              <a:buNone/>
            </a:pPr>
            <a:r>
              <a:rPr lang="en-US" sz="2800" b="1" dirty="0">
                <a:solidFill>
                  <a:srgbClr val="7C3AED"/>
                </a:solidFill>
                <a:latin typeface="Calibri" pitchFamily="34" charset="0"/>
                <a:ea typeface="Calibri" pitchFamily="34" charset="-122"/>
                <a:cs typeface="Calibri" pitchFamily="34" charset="-120"/>
              </a:rPr>
              <a:t>›</a:t>
            </a:r>
            <a:endParaRPr lang="en-US" sz="1200" dirty="0"/>
          </a:p>
        </p:txBody>
      </p:sp>
      <p:sp>
        <p:nvSpPr>
          <p:cNvPr id="12" name="Text 12"/>
          <p:cNvSpPr/>
          <p:nvPr/>
        </p:nvSpPr>
        <p:spPr>
          <a:xfrm>
            <a:off x="3630168" y="2697480"/>
            <a:ext cx="777240" cy="731520"/>
          </a:xfrm>
          <a:prstGeom prst="rect">
            <a:avLst/>
          </a:prstGeom>
          <a:noFill/>
          <a:ln/>
        </p:spPr>
        <p:txBody>
          <a:bodyPr wrap="square" lIns="0" rIns="0" rtlCol="0" anchor="t"/>
          <a:lstStyle/>
          <a:p>
            <a:pPr marL="0" indent="0" algn="ctr">
              <a:spcAft>
                <a:spcPts val="0"/>
              </a:spcAft>
              <a:buNone/>
            </a:pPr>
            <a:r>
              <a:rPr lang="en-US" sz="850" i="1" dirty="0">
                <a:solidFill>
                  <a:srgbClr val="6E6389"/>
                </a:solidFill>
                <a:latin typeface="Calibri" pitchFamily="34" charset="0"/>
                <a:ea typeface="Calibri" pitchFamily="34" charset="-122"/>
                <a:cs typeface="Calibri" pitchFamily="34" charset="-120"/>
              </a:rPr>
              <a:t>the app</a:t>
            </a:r>
            <a:endParaRPr lang="en-US" sz="1000" dirty="0"/>
          </a:p>
          <a:p>
            <a:pPr marL="0" indent="0" algn="ctr">
              <a:spcAft>
                <a:spcPts val="0"/>
              </a:spcAft>
              <a:buNone/>
            </a:pPr>
            <a:r>
              <a:rPr lang="en-US" sz="850" b="1" i="1" dirty="0">
                <a:solidFill>
                  <a:srgbClr val="7C3AED"/>
                </a:solidFill>
                <a:latin typeface="Calibri" pitchFamily="34" charset="0"/>
                <a:ea typeface="Calibri" pitchFamily="34" charset="-122"/>
                <a:cs typeface="Calibri" pitchFamily="34" charset="-120"/>
              </a:rPr>
              <a:t>prepends</a:t>
            </a:r>
            <a:endParaRPr lang="en-US" sz="1000" dirty="0"/>
          </a:p>
        </p:txBody>
      </p:sp>
      <p:sp>
        <p:nvSpPr>
          <p:cNvPr id="13" name="Text 13"/>
          <p:cNvSpPr/>
          <p:nvPr/>
        </p:nvSpPr>
        <p:spPr>
          <a:xfrm>
            <a:off x="4434840" y="1389888"/>
            <a:ext cx="4160520" cy="219456"/>
          </a:xfrm>
          <a:prstGeom prst="rect">
            <a:avLst/>
          </a:prstGeom>
          <a:noFill/>
          <a:ln/>
        </p:spPr>
        <p:txBody>
          <a:bodyPr wrap="square" lIns="0" rIns="0" rtlCol="0" anchor="ctr"/>
          <a:lstStyle/>
          <a:p>
            <a:pPr marL="0" indent="0" algn="l">
              <a:buNone/>
            </a:pPr>
            <a:r>
              <a:rPr lang="en-US" sz="900" b="1" spc="120" dirty="0">
                <a:solidFill>
                  <a:srgbClr val="F59E0B"/>
                </a:solidFill>
                <a:latin typeface="Calibri" pitchFamily="34" charset="0"/>
                <a:ea typeface="Calibri" pitchFamily="34" charset="-122"/>
                <a:cs typeface="Calibri" pitchFamily="34" charset="-120"/>
              </a:rPr>
              <a:t>WHAT THE MODEL ACTUALLY READS</a:t>
            </a:r>
            <a:endParaRPr lang="en-US" sz="1200" dirty="0"/>
          </a:p>
        </p:txBody>
      </p:sp>
      <p:sp>
        <p:nvSpPr>
          <p:cNvPr id="14" name="Shape 14"/>
          <p:cNvSpPr/>
          <p:nvPr/>
        </p:nvSpPr>
        <p:spPr>
          <a:xfrm>
            <a:off x="4434840" y="1700784"/>
            <a:ext cx="4160520" cy="2148840"/>
          </a:xfrm>
          <a:prstGeom prst="roundRect">
            <a:avLst>
              <a:gd name="adj" fmla="val 6000"/>
            </a:avLst>
          </a:prstGeom>
          <a:solidFill>
            <a:srgbClr val="2D1155"/>
          </a:solidFill>
          <a:ln/>
        </p:spPr>
        <p:txBody>
          <a:bodyPr/>
          <a:lstStyle/>
          <a:p>
            <a:endParaRPr lang="en-AU"/>
          </a:p>
        </p:txBody>
      </p:sp>
      <p:sp>
        <p:nvSpPr>
          <p:cNvPr id="15" name="Shape 15"/>
          <p:cNvSpPr/>
          <p:nvPr/>
        </p:nvSpPr>
        <p:spPr>
          <a:xfrm>
            <a:off x="4617720" y="1865376"/>
            <a:ext cx="3794760" cy="914400"/>
          </a:xfrm>
          <a:prstGeom prst="roundRect">
            <a:avLst>
              <a:gd name="adj" fmla="val 7000"/>
            </a:avLst>
          </a:prstGeom>
          <a:solidFill>
            <a:srgbClr val="5B21B6"/>
          </a:solidFill>
          <a:ln/>
        </p:spPr>
        <p:txBody>
          <a:bodyPr/>
          <a:lstStyle/>
          <a:p>
            <a:endParaRPr lang="en-AU"/>
          </a:p>
        </p:txBody>
      </p:sp>
      <p:sp>
        <p:nvSpPr>
          <p:cNvPr id="16" name="Text 16"/>
          <p:cNvSpPr/>
          <p:nvPr/>
        </p:nvSpPr>
        <p:spPr>
          <a:xfrm>
            <a:off x="4745736" y="1920240"/>
            <a:ext cx="3538728" cy="219456"/>
          </a:xfrm>
          <a:prstGeom prst="rect">
            <a:avLst/>
          </a:prstGeom>
          <a:noFill/>
          <a:ln/>
        </p:spPr>
        <p:txBody>
          <a:bodyPr wrap="square" lIns="0" rIns="0" rtlCol="0" anchor="ctr"/>
          <a:lstStyle/>
          <a:p>
            <a:pPr marL="0" indent="0" algn="l">
              <a:buNone/>
            </a:pPr>
            <a:r>
              <a:rPr lang="en-US" sz="800" b="1" spc="60" dirty="0">
                <a:solidFill>
                  <a:srgbClr val="F59E0B"/>
                </a:solidFill>
                <a:latin typeface="Calibri" pitchFamily="34" charset="0"/>
                <a:ea typeface="Calibri" pitchFamily="34" charset="-122"/>
                <a:cs typeface="Calibri" pitchFamily="34" charset="-120"/>
              </a:rPr>
              <a:t>SYSTEM PROMPT  ·  you never see this</a:t>
            </a:r>
            <a:endParaRPr lang="en-US" sz="1200" dirty="0"/>
          </a:p>
        </p:txBody>
      </p:sp>
      <p:sp>
        <p:nvSpPr>
          <p:cNvPr id="17" name="Text 17"/>
          <p:cNvSpPr/>
          <p:nvPr/>
        </p:nvSpPr>
        <p:spPr>
          <a:xfrm>
            <a:off x="4745736" y="2176272"/>
            <a:ext cx="3538728" cy="566928"/>
          </a:xfrm>
          <a:prstGeom prst="rect">
            <a:avLst/>
          </a:prstGeom>
          <a:noFill/>
          <a:ln/>
        </p:spPr>
        <p:txBody>
          <a:bodyPr wrap="square" lIns="0" rIns="0" rtlCol="0" anchor="t"/>
          <a:lstStyle/>
          <a:p>
            <a:pPr marL="0" indent="0" algn="l">
              <a:spcAft>
                <a:spcPts val="100"/>
              </a:spcAft>
              <a:buNone/>
            </a:pPr>
            <a:r>
              <a:rPr lang="en-US" sz="900" dirty="0">
                <a:solidFill>
                  <a:srgbClr val="DDD6FE"/>
                </a:solidFill>
                <a:latin typeface="Courier New" pitchFamily="34" charset="0"/>
                <a:ea typeface="Courier New" pitchFamily="34" charset="-122"/>
                <a:cs typeface="Courier New" pitchFamily="34" charset="-120"/>
              </a:rPr>
              <a:t>You are a helpful coding assistant.</a:t>
            </a:r>
            <a:endParaRPr lang="en-US" sz="1000" dirty="0"/>
          </a:p>
          <a:p>
            <a:pPr marL="0" indent="0" algn="l">
              <a:spcAft>
                <a:spcPts val="100"/>
              </a:spcAft>
              <a:buNone/>
            </a:pPr>
            <a:r>
              <a:rPr lang="en-US" sz="900" dirty="0">
                <a:solidFill>
                  <a:srgbClr val="DDD6FE"/>
                </a:solidFill>
                <a:latin typeface="Courier New" pitchFamily="34" charset="0"/>
                <a:ea typeface="Courier New" pitchFamily="34" charset="-122"/>
                <a:cs typeface="Courier New" pitchFamily="34" charset="-120"/>
              </a:rPr>
              <a:t>You have these tools: read, write, bash…</a:t>
            </a:r>
            <a:endParaRPr lang="en-US" sz="1000" dirty="0"/>
          </a:p>
        </p:txBody>
      </p:sp>
      <p:sp>
        <p:nvSpPr>
          <p:cNvPr id="18" name="Shape 18"/>
          <p:cNvSpPr/>
          <p:nvPr/>
        </p:nvSpPr>
        <p:spPr>
          <a:xfrm>
            <a:off x="4617720" y="2889504"/>
            <a:ext cx="3794760" cy="777240"/>
          </a:xfrm>
          <a:prstGeom prst="roundRect">
            <a:avLst>
              <a:gd name="adj" fmla="val 8000"/>
            </a:avLst>
          </a:prstGeom>
          <a:solidFill>
            <a:srgbClr val="FFFFFF"/>
          </a:solidFill>
          <a:ln/>
        </p:spPr>
        <p:txBody>
          <a:bodyPr/>
          <a:lstStyle/>
          <a:p>
            <a:endParaRPr lang="en-AU"/>
          </a:p>
        </p:txBody>
      </p:sp>
      <p:sp>
        <p:nvSpPr>
          <p:cNvPr id="19" name="Text 19"/>
          <p:cNvSpPr/>
          <p:nvPr/>
        </p:nvSpPr>
        <p:spPr>
          <a:xfrm>
            <a:off x="4745736" y="2944368"/>
            <a:ext cx="3538728" cy="219456"/>
          </a:xfrm>
          <a:prstGeom prst="rect">
            <a:avLst/>
          </a:prstGeom>
          <a:noFill/>
          <a:ln/>
        </p:spPr>
        <p:txBody>
          <a:bodyPr wrap="square" lIns="0" rIns="0" rtlCol="0" anchor="ctr"/>
          <a:lstStyle/>
          <a:p>
            <a:pPr marL="0" indent="0" algn="l">
              <a:buNone/>
            </a:pPr>
            <a:r>
              <a:rPr lang="en-US" sz="800" b="1" spc="60" dirty="0">
                <a:solidFill>
                  <a:srgbClr val="7C3AED"/>
                </a:solidFill>
                <a:latin typeface="Calibri" pitchFamily="34" charset="0"/>
                <a:ea typeface="Calibri" pitchFamily="34" charset="-122"/>
                <a:cs typeface="Calibri" pitchFamily="34" charset="-120"/>
              </a:rPr>
              <a:t>USER PROMPT  ·  the bit you typed</a:t>
            </a:r>
            <a:endParaRPr lang="en-US" sz="1200" dirty="0"/>
          </a:p>
        </p:txBody>
      </p:sp>
      <p:sp>
        <p:nvSpPr>
          <p:cNvPr id="20" name="Text 20"/>
          <p:cNvSpPr/>
          <p:nvPr/>
        </p:nvSpPr>
        <p:spPr>
          <a:xfrm>
            <a:off x="4745736" y="3200400"/>
            <a:ext cx="3538728" cy="365760"/>
          </a:xfrm>
          <a:prstGeom prst="rect">
            <a:avLst/>
          </a:prstGeom>
          <a:noFill/>
          <a:ln/>
        </p:spPr>
        <p:txBody>
          <a:bodyPr wrap="square" lIns="0" rIns="0" rtlCol="0" anchor="ctr"/>
          <a:lstStyle/>
          <a:p>
            <a:pPr marL="0" indent="0" algn="l">
              <a:buNone/>
            </a:pPr>
            <a:r>
              <a:rPr lang="en-US" sz="900" dirty="0">
                <a:solidFill>
                  <a:srgbClr val="2D1155"/>
                </a:solidFill>
                <a:latin typeface="Courier New" pitchFamily="34" charset="0"/>
                <a:ea typeface="Courier New" pitchFamily="34" charset="-122"/>
                <a:cs typeface="Courier New" pitchFamily="34" charset="-120"/>
              </a:rPr>
              <a:t>Fix the login bug.</a:t>
            </a:r>
            <a:endParaRPr lang="en-US" sz="1200" dirty="0"/>
          </a:p>
        </p:txBody>
      </p:sp>
      <p:sp>
        <p:nvSpPr>
          <p:cNvPr id="21" name="Shape 21"/>
          <p:cNvSpPr/>
          <p:nvPr/>
        </p:nvSpPr>
        <p:spPr>
          <a:xfrm>
            <a:off x="457200" y="4096512"/>
            <a:ext cx="7772400" cy="420624"/>
          </a:xfrm>
          <a:prstGeom prst="roundRect">
            <a:avLst>
              <a:gd name="adj" fmla="val 12000"/>
            </a:avLst>
          </a:prstGeom>
          <a:solidFill>
            <a:srgbClr val="2D1155"/>
          </a:solidFill>
          <a:ln/>
        </p:spPr>
        <p:txBody>
          <a:bodyPr/>
          <a:lstStyle/>
          <a:p>
            <a:endParaRPr lang="en-AU"/>
          </a:p>
        </p:txBody>
      </p:sp>
      <p:sp>
        <p:nvSpPr>
          <p:cNvPr id="22" name="Text 22"/>
          <p:cNvSpPr/>
          <p:nvPr/>
        </p:nvSpPr>
        <p:spPr>
          <a:xfrm>
            <a:off x="685800" y="4096512"/>
            <a:ext cx="7315200" cy="420624"/>
          </a:xfrm>
          <a:prstGeom prst="rect">
            <a:avLst/>
          </a:prstGeom>
          <a:noFill/>
          <a:ln/>
        </p:spPr>
        <p:txBody>
          <a:bodyPr wrap="square" lIns="0" rIns="0" rtlCol="0" anchor="ctr"/>
          <a:lstStyle/>
          <a:p>
            <a:pPr marL="0" indent="0" algn="ctr">
              <a:buNone/>
            </a:pPr>
            <a:r>
              <a:rPr lang="en-US" sz="1150" dirty="0">
                <a:solidFill>
                  <a:srgbClr val="DDD6FE"/>
                </a:solidFill>
                <a:latin typeface="Calibri" pitchFamily="34" charset="0"/>
                <a:ea typeface="Calibri" pitchFamily="34" charset="-122"/>
                <a:cs typeface="Calibri" pitchFamily="34" charset="-120"/>
              </a:rPr>
              <a:t>One stream of text. The model cannot tell your words from the builder’s — </a:t>
            </a:r>
            <a:r>
              <a:rPr lang="en-US" sz="1150" b="1" dirty="0">
                <a:solidFill>
                  <a:srgbClr val="F59E0B"/>
                </a:solidFill>
                <a:latin typeface="Calibri" pitchFamily="34" charset="0"/>
                <a:ea typeface="Calibri" pitchFamily="34" charset="-122"/>
                <a:cs typeface="Calibri" pitchFamily="34" charset="-120"/>
              </a:rPr>
              <a:t>it just reads the box, top to bottom.</a:t>
            </a:r>
            <a:endParaRPr lang="en-US" sz="1200" dirty="0"/>
          </a:p>
        </p:txBody>
      </p:sp>
    </p:spTree>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name="Context 2 - The Stack">
    <p:bg>
      <p:bgPr>
        <a:solidFill>
          <a:srgbClr val="F5F3FF"/>
        </a:solidFill>
        <a:effectLst/>
      </p:bgPr>
    </p:bg>
    <p:spTree>
      <p:nvGrpSpPr>
        <p:cNvPr id="1" name=""/>
        <p:cNvGrpSpPr/>
        <p:nvPr/>
      </p:nvGrpSpPr>
      <p:grpSpPr>
        <a:xfrm>
          <a:off x="0" y="0"/>
          <a:ext cx="0" cy="0"/>
          <a:chOff x="0" y="0"/>
          <a:chExt cx="0" cy="0"/>
        </a:xfrm>
      </p:grpSpPr>
      <p:sp>
        <p:nvSpPr>
          <p:cNvPr id="2" name="Text 2"/>
          <p:cNvSpPr/>
          <p:nvPr/>
        </p:nvSpPr>
        <p:spPr>
          <a:xfrm>
            <a:off x="457200" y="292608"/>
            <a:ext cx="8229600" cy="566928"/>
          </a:xfrm>
          <a:prstGeom prst="rect">
            <a:avLst/>
          </a:prstGeom>
          <a:noFill/>
          <a:ln/>
        </p:spPr>
        <p:txBody>
          <a:bodyPr wrap="square" lIns="0" rIns="0" rtlCol="0" anchor="ctr"/>
          <a:lstStyle/>
          <a:p>
            <a:pPr marL="0" indent="0" algn="l">
              <a:buNone/>
            </a:pPr>
            <a:r>
              <a:rPr lang="en-US" sz="1900" b="1" kern="0" spc="100" dirty="0">
                <a:solidFill>
                  <a:srgbClr val="2D1155"/>
                </a:solidFill>
                <a:latin typeface="Arial Black" pitchFamily="34" charset="0"/>
                <a:ea typeface="Arial Black" pitchFamily="34" charset="-122"/>
                <a:cs typeface="Arial Black" pitchFamily="34" charset="-120"/>
              </a:rPr>
              <a:t>CONTEXT ENGINEERING</a:t>
            </a:r>
            <a:endParaRPr lang="en-US" sz="1200" dirty="0"/>
          </a:p>
        </p:txBody>
      </p:sp>
      <p:sp>
        <p:nvSpPr>
          <p:cNvPr id="3" name="Text 3"/>
          <p:cNvSpPr/>
          <p:nvPr/>
        </p:nvSpPr>
        <p:spPr>
          <a:xfrm>
            <a:off x="475488" y="896112"/>
            <a:ext cx="8229600" cy="329184"/>
          </a:xfrm>
          <a:prstGeom prst="rect">
            <a:avLst/>
          </a:prstGeom>
          <a:noFill/>
          <a:ln/>
        </p:spPr>
        <p:txBody>
          <a:bodyPr wrap="square" lIns="0" rIns="0" rtlCol="0" anchor="ctr"/>
          <a:lstStyle/>
          <a:p>
            <a:pPr marL="0" indent="0" algn="l">
              <a:buNone/>
            </a:pPr>
            <a:r>
              <a:rPr lang="en-US" sz="1300" i="1" dirty="0">
                <a:solidFill>
                  <a:srgbClr val="6E6389"/>
                </a:solidFill>
                <a:latin typeface="Calibri" pitchFamily="34" charset="0"/>
                <a:ea typeface="Calibri" pitchFamily="34" charset="-122"/>
                <a:cs typeface="Calibri" pitchFamily="34" charset="-120"/>
              </a:rPr>
              <a:t>The system prompt isn’t one thing. It’s a stack, reassembled on every single call.</a:t>
            </a:r>
            <a:endParaRPr lang="en-US" sz="1200" dirty="0"/>
          </a:p>
        </p:txBody>
      </p:sp>
      <p:pic>
        <p:nvPicPr>
          <p:cNvPr id="4" name="Image 0" descr="logo_icon.jpeg"/>
          <p:cNvPicPr>
            <a:picLocks noChangeAspect="1"/>
          </p:cNvPicPr>
          <p:nvPr/>
        </p:nvPicPr>
        <p:blipFill>
          <a:blip r:embed="rId3"/>
          <a:stretch>
            <a:fillRect/>
          </a:stretch>
        </p:blipFill>
        <p:spPr>
          <a:xfrm>
            <a:off x="8364931" y="4526280"/>
            <a:ext cx="411480" cy="411480"/>
          </a:xfrm>
          <a:prstGeom prst="ellipse">
            <a:avLst/>
          </a:prstGeom>
        </p:spPr>
      </p:pic>
      <p:sp>
        <p:nvSpPr>
          <p:cNvPr id="5" name="Shape 5"/>
          <p:cNvSpPr/>
          <p:nvPr/>
        </p:nvSpPr>
        <p:spPr>
          <a:xfrm>
            <a:off x="457200" y="1371600"/>
            <a:ext cx="5257800" cy="2560320"/>
          </a:xfrm>
          <a:prstGeom prst="roundRect">
            <a:avLst>
              <a:gd name="adj" fmla="val 3200"/>
            </a:avLst>
          </a:prstGeom>
          <a:solidFill>
            <a:srgbClr val="FFFFFF"/>
          </a:solidFill>
          <a:ln w="19050">
            <a:solidFill>
              <a:srgbClr val="F59E0B"/>
            </a:solidFill>
          </a:ln>
        </p:spPr>
        <p:txBody>
          <a:bodyPr/>
          <a:lstStyle/>
          <a:p>
            <a:endParaRPr lang="en-AU"/>
          </a:p>
        </p:txBody>
      </p:sp>
      <p:sp>
        <p:nvSpPr>
          <p:cNvPr id="6" name="Text 6"/>
          <p:cNvSpPr/>
          <p:nvPr/>
        </p:nvSpPr>
        <p:spPr>
          <a:xfrm>
            <a:off x="658368" y="1463040"/>
            <a:ext cx="4855464" cy="256032"/>
          </a:xfrm>
          <a:prstGeom prst="rect">
            <a:avLst/>
          </a:prstGeom>
          <a:noFill/>
          <a:ln/>
        </p:spPr>
        <p:txBody>
          <a:bodyPr wrap="square" lIns="0" rIns="0" rtlCol="0" anchor="ctr"/>
          <a:lstStyle/>
          <a:p>
            <a:pPr marL="0" indent="0" algn="l">
              <a:buNone/>
            </a:pPr>
            <a:r>
              <a:rPr lang="en-US" sz="950" b="1" spc="100" dirty="0">
                <a:solidFill>
                  <a:srgbClr val="F59E0B"/>
                </a:solidFill>
                <a:latin typeface="Arial Black" pitchFamily="34" charset="0"/>
                <a:ea typeface="Arial Black" pitchFamily="34" charset="-122"/>
                <a:cs typeface="Arial Black" pitchFamily="34" charset="-120"/>
              </a:rPr>
              <a:t>THE CONTEXT WINDOW</a:t>
            </a:r>
            <a:endParaRPr lang="en-US" sz="1200" dirty="0"/>
          </a:p>
        </p:txBody>
      </p:sp>
      <p:sp>
        <p:nvSpPr>
          <p:cNvPr id="7" name="Text 7"/>
          <p:cNvSpPr/>
          <p:nvPr/>
        </p:nvSpPr>
        <p:spPr>
          <a:xfrm>
            <a:off x="658368" y="1463040"/>
            <a:ext cx="4855464" cy="256032"/>
          </a:xfrm>
          <a:prstGeom prst="rect">
            <a:avLst/>
          </a:prstGeom>
          <a:noFill/>
          <a:ln/>
        </p:spPr>
        <p:txBody>
          <a:bodyPr wrap="square" lIns="0" rIns="0" rtlCol="0" anchor="ctr"/>
          <a:lstStyle/>
          <a:p>
            <a:pPr marL="0" indent="0" algn="r">
              <a:buNone/>
            </a:pPr>
            <a:r>
              <a:rPr lang="en-US" sz="850" i="1" dirty="0">
                <a:solidFill>
                  <a:srgbClr val="6E6389"/>
                </a:solidFill>
                <a:latin typeface="Calibri" pitchFamily="34" charset="0"/>
                <a:ea typeface="Calibri" pitchFamily="34" charset="-122"/>
                <a:cs typeface="Calibri" pitchFamily="34" charset="-120"/>
              </a:rPr>
              <a:t>finite</a:t>
            </a:r>
            <a:endParaRPr lang="en-US" sz="1200" dirty="0"/>
          </a:p>
        </p:txBody>
      </p:sp>
      <p:sp>
        <p:nvSpPr>
          <p:cNvPr id="8" name="Shape 8"/>
          <p:cNvSpPr/>
          <p:nvPr/>
        </p:nvSpPr>
        <p:spPr>
          <a:xfrm>
            <a:off x="658368" y="1773936"/>
            <a:ext cx="4855464" cy="301752"/>
          </a:xfrm>
          <a:prstGeom prst="roundRect">
            <a:avLst>
              <a:gd name="adj" fmla="val 14000"/>
            </a:avLst>
          </a:prstGeom>
          <a:solidFill>
            <a:srgbClr val="2D1155"/>
          </a:solidFill>
          <a:ln/>
        </p:spPr>
        <p:txBody>
          <a:bodyPr/>
          <a:lstStyle/>
          <a:p>
            <a:endParaRPr lang="en-AU"/>
          </a:p>
        </p:txBody>
      </p:sp>
      <p:sp>
        <p:nvSpPr>
          <p:cNvPr id="9" name="Text 9"/>
          <p:cNvSpPr/>
          <p:nvPr/>
        </p:nvSpPr>
        <p:spPr>
          <a:xfrm>
            <a:off x="822960" y="1773936"/>
            <a:ext cx="4526280" cy="301752"/>
          </a:xfrm>
          <a:prstGeom prst="rect">
            <a:avLst/>
          </a:prstGeom>
          <a:noFill/>
          <a:ln/>
        </p:spPr>
        <p:txBody>
          <a:bodyPr wrap="square" lIns="0" rIns="0" rtlCol="0" anchor="ctr"/>
          <a:lstStyle/>
          <a:p>
            <a:pPr marL="0" indent="0" algn="l">
              <a:buNone/>
            </a:pPr>
            <a:r>
              <a:rPr lang="en-US" sz="1000" b="1" dirty="0">
                <a:solidFill>
                  <a:srgbClr val="FFFFFF"/>
                </a:solidFill>
                <a:latin typeface="Calibri" pitchFamily="34" charset="0"/>
                <a:ea typeface="Calibri" pitchFamily="34" charset="-122"/>
                <a:cs typeface="Calibri" pitchFamily="34" charset="-120"/>
              </a:rPr>
              <a:t>Persona, rules, guardrails</a:t>
            </a:r>
            <a:endParaRPr lang="en-US" sz="1200" dirty="0"/>
          </a:p>
        </p:txBody>
      </p:sp>
      <p:sp>
        <p:nvSpPr>
          <p:cNvPr id="10" name="Text 10"/>
          <p:cNvSpPr/>
          <p:nvPr/>
        </p:nvSpPr>
        <p:spPr>
          <a:xfrm>
            <a:off x="822960" y="1773936"/>
            <a:ext cx="4526280" cy="301752"/>
          </a:xfrm>
          <a:prstGeom prst="rect">
            <a:avLst/>
          </a:prstGeom>
          <a:noFill/>
          <a:ln/>
        </p:spPr>
        <p:txBody>
          <a:bodyPr wrap="square" lIns="0" rIns="0" rtlCol="0" anchor="ctr"/>
          <a:lstStyle/>
          <a:p>
            <a:pPr marL="0" indent="0" algn="r">
              <a:buNone/>
            </a:pPr>
            <a:r>
              <a:rPr lang="en-US" sz="900" i="1" dirty="0">
                <a:solidFill>
                  <a:srgbClr val="C4B5E8"/>
                </a:solidFill>
                <a:latin typeface="Calibri" pitchFamily="34" charset="0"/>
                <a:ea typeface="Calibri" pitchFamily="34" charset="-122"/>
                <a:cs typeface="Calibri" pitchFamily="34" charset="-120"/>
              </a:rPr>
              <a:t>set once by the builder</a:t>
            </a:r>
            <a:endParaRPr lang="en-US" sz="1200" dirty="0"/>
          </a:p>
        </p:txBody>
      </p:sp>
      <p:sp>
        <p:nvSpPr>
          <p:cNvPr id="11" name="Shape 11"/>
          <p:cNvSpPr/>
          <p:nvPr/>
        </p:nvSpPr>
        <p:spPr>
          <a:xfrm>
            <a:off x="658368" y="2121408"/>
            <a:ext cx="4855464" cy="301752"/>
          </a:xfrm>
          <a:prstGeom prst="roundRect">
            <a:avLst>
              <a:gd name="adj" fmla="val 14000"/>
            </a:avLst>
          </a:prstGeom>
          <a:solidFill>
            <a:srgbClr val="2D1155"/>
          </a:solidFill>
          <a:ln/>
        </p:spPr>
        <p:txBody>
          <a:bodyPr/>
          <a:lstStyle/>
          <a:p>
            <a:endParaRPr lang="en-AU"/>
          </a:p>
        </p:txBody>
      </p:sp>
      <p:sp>
        <p:nvSpPr>
          <p:cNvPr id="12" name="Text 12"/>
          <p:cNvSpPr/>
          <p:nvPr/>
        </p:nvSpPr>
        <p:spPr>
          <a:xfrm>
            <a:off x="822960" y="2121408"/>
            <a:ext cx="4526280" cy="301752"/>
          </a:xfrm>
          <a:prstGeom prst="rect">
            <a:avLst/>
          </a:prstGeom>
          <a:noFill/>
          <a:ln/>
        </p:spPr>
        <p:txBody>
          <a:bodyPr wrap="square" lIns="0" rIns="0" rtlCol="0" anchor="ctr"/>
          <a:lstStyle/>
          <a:p>
            <a:pPr marL="0" indent="0" algn="l">
              <a:buNone/>
            </a:pPr>
            <a:r>
              <a:rPr lang="en-US" sz="1000" b="1" dirty="0">
                <a:solidFill>
                  <a:srgbClr val="FFFFFF"/>
                </a:solidFill>
                <a:latin typeface="Calibri" pitchFamily="34" charset="0"/>
                <a:ea typeface="Calibri" pitchFamily="34" charset="-122"/>
                <a:cs typeface="Calibri" pitchFamily="34" charset="-120"/>
              </a:rPr>
              <a:t>Memory files</a:t>
            </a:r>
            <a:endParaRPr lang="en-US" sz="1200" dirty="0"/>
          </a:p>
        </p:txBody>
      </p:sp>
      <p:sp>
        <p:nvSpPr>
          <p:cNvPr id="13" name="Text 13"/>
          <p:cNvSpPr/>
          <p:nvPr/>
        </p:nvSpPr>
        <p:spPr>
          <a:xfrm>
            <a:off x="822960" y="2121408"/>
            <a:ext cx="4526280" cy="301752"/>
          </a:xfrm>
          <a:prstGeom prst="rect">
            <a:avLst/>
          </a:prstGeom>
          <a:noFill/>
          <a:ln/>
        </p:spPr>
        <p:txBody>
          <a:bodyPr wrap="square" lIns="0" rIns="0" rtlCol="0" anchor="ctr"/>
          <a:lstStyle/>
          <a:p>
            <a:pPr marL="0" indent="0" algn="r">
              <a:buNone/>
            </a:pPr>
            <a:r>
              <a:rPr lang="en-US" sz="900" i="1" dirty="0">
                <a:solidFill>
                  <a:srgbClr val="C4B5E8"/>
                </a:solidFill>
                <a:latin typeface="Calibri" pitchFamily="34" charset="0"/>
                <a:ea typeface="Calibri" pitchFamily="34" charset="-122"/>
                <a:cs typeface="Calibri" pitchFamily="34" charset="-120"/>
              </a:rPr>
              <a:t>CLAUDE.md / AGENTS.md</a:t>
            </a:r>
            <a:endParaRPr lang="en-US" sz="1200" dirty="0"/>
          </a:p>
        </p:txBody>
      </p:sp>
      <p:sp>
        <p:nvSpPr>
          <p:cNvPr id="14" name="Shape 14"/>
          <p:cNvSpPr/>
          <p:nvPr/>
        </p:nvSpPr>
        <p:spPr>
          <a:xfrm>
            <a:off x="658368" y="2468880"/>
            <a:ext cx="4855464" cy="301752"/>
          </a:xfrm>
          <a:prstGeom prst="roundRect">
            <a:avLst>
              <a:gd name="adj" fmla="val 14000"/>
            </a:avLst>
          </a:prstGeom>
          <a:solidFill>
            <a:srgbClr val="5B21B6"/>
          </a:solidFill>
          <a:ln/>
        </p:spPr>
        <p:txBody>
          <a:bodyPr/>
          <a:lstStyle/>
          <a:p>
            <a:endParaRPr lang="en-AU"/>
          </a:p>
        </p:txBody>
      </p:sp>
      <p:sp>
        <p:nvSpPr>
          <p:cNvPr id="15" name="Text 15"/>
          <p:cNvSpPr/>
          <p:nvPr/>
        </p:nvSpPr>
        <p:spPr>
          <a:xfrm>
            <a:off x="822960" y="2468880"/>
            <a:ext cx="4526280" cy="301752"/>
          </a:xfrm>
          <a:prstGeom prst="rect">
            <a:avLst/>
          </a:prstGeom>
          <a:noFill/>
          <a:ln/>
        </p:spPr>
        <p:txBody>
          <a:bodyPr wrap="square" lIns="0" rIns="0" rtlCol="0" anchor="ctr"/>
          <a:lstStyle/>
          <a:p>
            <a:pPr marL="0" indent="0" algn="l">
              <a:buNone/>
            </a:pPr>
            <a:r>
              <a:rPr lang="en-US" sz="1000" b="1" dirty="0">
                <a:solidFill>
                  <a:srgbClr val="FFFFFF"/>
                </a:solidFill>
                <a:latin typeface="Calibri" pitchFamily="34" charset="0"/>
                <a:ea typeface="Calibri" pitchFamily="34" charset="-122"/>
                <a:cs typeface="Calibri" pitchFamily="34" charset="-120"/>
              </a:rPr>
              <a:t>Retrieved documents</a:t>
            </a:r>
            <a:endParaRPr lang="en-US" sz="1200" dirty="0"/>
          </a:p>
        </p:txBody>
      </p:sp>
      <p:sp>
        <p:nvSpPr>
          <p:cNvPr id="16" name="Text 16"/>
          <p:cNvSpPr/>
          <p:nvPr/>
        </p:nvSpPr>
        <p:spPr>
          <a:xfrm>
            <a:off x="822960" y="2468880"/>
            <a:ext cx="4526280" cy="301752"/>
          </a:xfrm>
          <a:prstGeom prst="rect">
            <a:avLst/>
          </a:prstGeom>
          <a:noFill/>
          <a:ln/>
        </p:spPr>
        <p:txBody>
          <a:bodyPr wrap="square" lIns="0" rIns="0" rtlCol="0" anchor="ctr"/>
          <a:lstStyle/>
          <a:p>
            <a:pPr marL="0" indent="0" algn="r">
              <a:buNone/>
            </a:pPr>
            <a:r>
              <a:rPr lang="en-US" sz="950" b="1" dirty="0">
                <a:solidFill>
                  <a:srgbClr val="F59E0B"/>
                </a:solidFill>
                <a:latin typeface="Courier New" pitchFamily="34" charset="0"/>
                <a:ea typeface="Courier New" pitchFamily="34" charset="-122"/>
                <a:cs typeface="Courier New" pitchFamily="34" charset="-120"/>
              </a:rPr>
              <a:t>= RAG</a:t>
            </a:r>
            <a:endParaRPr lang="en-US" sz="1200" dirty="0"/>
          </a:p>
        </p:txBody>
      </p:sp>
      <p:sp>
        <p:nvSpPr>
          <p:cNvPr id="17" name="Shape 17"/>
          <p:cNvSpPr/>
          <p:nvPr/>
        </p:nvSpPr>
        <p:spPr>
          <a:xfrm>
            <a:off x="658368" y="2816352"/>
            <a:ext cx="4855464" cy="301752"/>
          </a:xfrm>
          <a:prstGeom prst="roundRect">
            <a:avLst>
              <a:gd name="adj" fmla="val 14000"/>
            </a:avLst>
          </a:prstGeom>
          <a:solidFill>
            <a:srgbClr val="5B21B6"/>
          </a:solidFill>
          <a:ln/>
        </p:spPr>
        <p:txBody>
          <a:bodyPr/>
          <a:lstStyle/>
          <a:p>
            <a:endParaRPr lang="en-AU"/>
          </a:p>
        </p:txBody>
      </p:sp>
      <p:sp>
        <p:nvSpPr>
          <p:cNvPr id="18" name="Text 18"/>
          <p:cNvSpPr/>
          <p:nvPr/>
        </p:nvSpPr>
        <p:spPr>
          <a:xfrm>
            <a:off x="822960" y="2816352"/>
            <a:ext cx="4526280" cy="301752"/>
          </a:xfrm>
          <a:prstGeom prst="rect">
            <a:avLst/>
          </a:prstGeom>
          <a:noFill/>
          <a:ln/>
        </p:spPr>
        <p:txBody>
          <a:bodyPr wrap="square" lIns="0" rIns="0" rtlCol="0" anchor="ctr"/>
          <a:lstStyle/>
          <a:p>
            <a:pPr marL="0" indent="0" algn="l">
              <a:buNone/>
            </a:pPr>
            <a:r>
              <a:rPr lang="en-US" sz="1000" b="1" dirty="0">
                <a:solidFill>
                  <a:srgbClr val="FFFFFF"/>
                </a:solidFill>
                <a:latin typeface="Calibri" pitchFamily="34" charset="0"/>
                <a:ea typeface="Calibri" pitchFamily="34" charset="-122"/>
                <a:cs typeface="Calibri" pitchFamily="34" charset="-120"/>
              </a:rPr>
              <a:t>Live tool + server results</a:t>
            </a:r>
            <a:endParaRPr lang="en-US" sz="1200" dirty="0"/>
          </a:p>
        </p:txBody>
      </p:sp>
      <p:sp>
        <p:nvSpPr>
          <p:cNvPr id="19" name="Text 19"/>
          <p:cNvSpPr/>
          <p:nvPr/>
        </p:nvSpPr>
        <p:spPr>
          <a:xfrm>
            <a:off x="822960" y="2816352"/>
            <a:ext cx="4526280" cy="301752"/>
          </a:xfrm>
          <a:prstGeom prst="rect">
            <a:avLst/>
          </a:prstGeom>
          <a:noFill/>
          <a:ln/>
        </p:spPr>
        <p:txBody>
          <a:bodyPr wrap="square" lIns="0" rIns="0" rtlCol="0" anchor="ctr"/>
          <a:lstStyle/>
          <a:p>
            <a:pPr marL="0" indent="0" algn="r">
              <a:buNone/>
            </a:pPr>
            <a:r>
              <a:rPr lang="en-US" sz="950" b="1" dirty="0">
                <a:solidFill>
                  <a:srgbClr val="F59E0B"/>
                </a:solidFill>
                <a:latin typeface="Courier New" pitchFamily="34" charset="0"/>
                <a:ea typeface="Courier New" pitchFamily="34" charset="-122"/>
                <a:cs typeface="Courier New" pitchFamily="34" charset="-120"/>
              </a:rPr>
              <a:t>= MCP</a:t>
            </a:r>
            <a:endParaRPr lang="en-US" sz="1200" dirty="0"/>
          </a:p>
        </p:txBody>
      </p:sp>
      <p:sp>
        <p:nvSpPr>
          <p:cNvPr id="20" name="Shape 20"/>
          <p:cNvSpPr/>
          <p:nvPr/>
        </p:nvSpPr>
        <p:spPr>
          <a:xfrm>
            <a:off x="658368" y="3163824"/>
            <a:ext cx="4855464" cy="301752"/>
          </a:xfrm>
          <a:prstGeom prst="roundRect">
            <a:avLst>
              <a:gd name="adj" fmla="val 14000"/>
            </a:avLst>
          </a:prstGeom>
          <a:solidFill>
            <a:srgbClr val="2D1155"/>
          </a:solidFill>
          <a:ln/>
        </p:spPr>
        <p:txBody>
          <a:bodyPr/>
          <a:lstStyle/>
          <a:p>
            <a:endParaRPr lang="en-AU"/>
          </a:p>
        </p:txBody>
      </p:sp>
      <p:sp>
        <p:nvSpPr>
          <p:cNvPr id="21" name="Text 21"/>
          <p:cNvSpPr/>
          <p:nvPr/>
        </p:nvSpPr>
        <p:spPr>
          <a:xfrm>
            <a:off x="822960" y="3163824"/>
            <a:ext cx="4526280" cy="301752"/>
          </a:xfrm>
          <a:prstGeom prst="rect">
            <a:avLst/>
          </a:prstGeom>
          <a:noFill/>
          <a:ln/>
        </p:spPr>
        <p:txBody>
          <a:bodyPr wrap="square" lIns="0" rIns="0" rtlCol="0" anchor="ctr"/>
          <a:lstStyle/>
          <a:p>
            <a:pPr marL="0" indent="0" algn="l">
              <a:buNone/>
            </a:pPr>
            <a:r>
              <a:rPr lang="en-US" sz="1000" b="1" dirty="0">
                <a:solidFill>
                  <a:srgbClr val="FFFFFF"/>
                </a:solidFill>
                <a:latin typeface="Calibri" pitchFamily="34" charset="0"/>
                <a:ea typeface="Calibri" pitchFamily="34" charset="-122"/>
                <a:cs typeface="Calibri" pitchFamily="34" charset="-120"/>
              </a:rPr>
              <a:t>Everything said so far</a:t>
            </a:r>
            <a:endParaRPr lang="en-US" sz="1200" dirty="0"/>
          </a:p>
        </p:txBody>
      </p:sp>
      <p:sp>
        <p:nvSpPr>
          <p:cNvPr id="22" name="Text 22"/>
          <p:cNvSpPr/>
          <p:nvPr/>
        </p:nvSpPr>
        <p:spPr>
          <a:xfrm>
            <a:off x="822960" y="3163824"/>
            <a:ext cx="4526280" cy="301752"/>
          </a:xfrm>
          <a:prstGeom prst="rect">
            <a:avLst/>
          </a:prstGeom>
          <a:noFill/>
          <a:ln/>
        </p:spPr>
        <p:txBody>
          <a:bodyPr wrap="square" lIns="0" rIns="0" rtlCol="0" anchor="ctr"/>
          <a:lstStyle/>
          <a:p>
            <a:pPr marL="0" indent="0" algn="r">
              <a:buNone/>
            </a:pPr>
            <a:r>
              <a:rPr lang="en-US" sz="900" i="1" dirty="0">
                <a:solidFill>
                  <a:srgbClr val="C4B5E8"/>
                </a:solidFill>
                <a:latin typeface="Calibri" pitchFamily="34" charset="0"/>
                <a:ea typeface="Calibri" pitchFamily="34" charset="-122"/>
                <a:cs typeface="Calibri" pitchFamily="34" charset="-120"/>
              </a:rPr>
              <a:t>conversation history</a:t>
            </a:r>
            <a:endParaRPr lang="en-US" sz="1200" dirty="0"/>
          </a:p>
        </p:txBody>
      </p:sp>
      <p:sp>
        <p:nvSpPr>
          <p:cNvPr id="23" name="Shape 23"/>
          <p:cNvSpPr/>
          <p:nvPr/>
        </p:nvSpPr>
        <p:spPr>
          <a:xfrm>
            <a:off x="658368" y="3511296"/>
            <a:ext cx="4855464" cy="301752"/>
          </a:xfrm>
          <a:prstGeom prst="roundRect">
            <a:avLst>
              <a:gd name="adj" fmla="val 14000"/>
            </a:avLst>
          </a:prstGeom>
          <a:solidFill>
            <a:srgbClr val="F59E0B"/>
          </a:solidFill>
          <a:ln/>
        </p:spPr>
        <p:txBody>
          <a:bodyPr/>
          <a:lstStyle/>
          <a:p>
            <a:endParaRPr lang="en-AU"/>
          </a:p>
        </p:txBody>
      </p:sp>
      <p:sp>
        <p:nvSpPr>
          <p:cNvPr id="24" name="Text 24"/>
          <p:cNvSpPr/>
          <p:nvPr/>
        </p:nvSpPr>
        <p:spPr>
          <a:xfrm>
            <a:off x="822960" y="3511296"/>
            <a:ext cx="4526280" cy="301752"/>
          </a:xfrm>
          <a:prstGeom prst="rect">
            <a:avLst/>
          </a:prstGeom>
          <a:noFill/>
          <a:ln/>
        </p:spPr>
        <p:txBody>
          <a:bodyPr wrap="square" lIns="0" rIns="0" rtlCol="0" anchor="ctr"/>
          <a:lstStyle/>
          <a:p>
            <a:pPr marL="0" indent="0" algn="l">
              <a:buNone/>
            </a:pPr>
            <a:r>
              <a:rPr lang="en-US" sz="1000" b="1" dirty="0">
                <a:solidFill>
                  <a:srgbClr val="2D1155"/>
                </a:solidFill>
                <a:latin typeface="Calibri" pitchFamily="34" charset="0"/>
                <a:ea typeface="Calibri" pitchFamily="34" charset="-122"/>
                <a:cs typeface="Calibri" pitchFamily="34" charset="-120"/>
              </a:rPr>
              <a:t>YOUR PROMPT</a:t>
            </a:r>
            <a:endParaRPr lang="en-US" sz="1200" dirty="0"/>
          </a:p>
        </p:txBody>
      </p:sp>
      <p:sp>
        <p:nvSpPr>
          <p:cNvPr id="25" name="Text 25"/>
          <p:cNvSpPr/>
          <p:nvPr/>
        </p:nvSpPr>
        <p:spPr>
          <a:xfrm>
            <a:off x="822960" y="3511296"/>
            <a:ext cx="4526280" cy="301752"/>
          </a:xfrm>
          <a:prstGeom prst="rect">
            <a:avLst/>
          </a:prstGeom>
          <a:noFill/>
          <a:ln/>
        </p:spPr>
        <p:txBody>
          <a:bodyPr wrap="square" lIns="0" rIns="0" rtlCol="0" anchor="ctr"/>
          <a:lstStyle/>
          <a:p>
            <a:pPr marL="0" indent="0" algn="r">
              <a:buNone/>
            </a:pPr>
            <a:r>
              <a:rPr lang="en-US" sz="900" i="1" dirty="0">
                <a:solidFill>
                  <a:srgbClr val="2D1155"/>
                </a:solidFill>
                <a:latin typeface="Calibri" pitchFamily="34" charset="0"/>
                <a:ea typeface="Calibri" pitchFamily="34" charset="-122"/>
                <a:cs typeface="Calibri" pitchFamily="34" charset="-120"/>
              </a:rPr>
              <a:t>the only bit you type</a:t>
            </a:r>
            <a:endParaRPr lang="en-US" sz="1200" dirty="0"/>
          </a:p>
        </p:txBody>
      </p:sp>
      <p:sp>
        <p:nvSpPr>
          <p:cNvPr id="26" name="Shape 26"/>
          <p:cNvSpPr/>
          <p:nvPr/>
        </p:nvSpPr>
        <p:spPr>
          <a:xfrm>
            <a:off x="5943600" y="1371600"/>
            <a:ext cx="2651760" cy="2560320"/>
          </a:xfrm>
          <a:prstGeom prst="roundRect">
            <a:avLst>
              <a:gd name="adj" fmla="val 6000"/>
            </a:avLst>
          </a:prstGeom>
          <a:solidFill>
            <a:srgbClr val="2D1155"/>
          </a:solidFill>
          <a:ln/>
        </p:spPr>
        <p:txBody>
          <a:bodyPr/>
          <a:lstStyle/>
          <a:p>
            <a:endParaRPr lang="en-AU"/>
          </a:p>
        </p:txBody>
      </p:sp>
      <p:sp>
        <p:nvSpPr>
          <p:cNvPr id="27" name="Text 27"/>
          <p:cNvSpPr/>
          <p:nvPr/>
        </p:nvSpPr>
        <p:spPr>
          <a:xfrm>
            <a:off x="6163056" y="1517904"/>
            <a:ext cx="2212848" cy="548640"/>
          </a:xfrm>
          <a:prstGeom prst="rect">
            <a:avLst/>
          </a:prstGeom>
          <a:noFill/>
          <a:ln/>
        </p:spPr>
        <p:txBody>
          <a:bodyPr wrap="square" lIns="0" rIns="0" rtlCol="0" anchor="ctr"/>
          <a:lstStyle/>
          <a:p>
            <a:pPr marL="0" indent="0" algn="l">
              <a:buNone/>
            </a:pPr>
            <a:r>
              <a:rPr lang="en-US" sz="1250" b="1" dirty="0">
                <a:solidFill>
                  <a:srgbClr val="F59E0B"/>
                </a:solidFill>
                <a:latin typeface="Arial Black" pitchFamily="34" charset="0"/>
                <a:ea typeface="Arial Black" pitchFamily="34" charset="-122"/>
                <a:cs typeface="Arial Black" pitchFamily="34" charset="-120"/>
              </a:rPr>
              <a:t>The whole job:</a:t>
            </a:r>
            <a:endParaRPr lang="en-US" sz="1200" dirty="0"/>
          </a:p>
        </p:txBody>
      </p:sp>
      <p:sp>
        <p:nvSpPr>
          <p:cNvPr id="28" name="Text 28"/>
          <p:cNvSpPr/>
          <p:nvPr/>
        </p:nvSpPr>
        <p:spPr>
          <a:xfrm>
            <a:off x="6163056" y="2121408"/>
            <a:ext cx="2212848" cy="1371600"/>
          </a:xfrm>
          <a:prstGeom prst="rect">
            <a:avLst/>
          </a:prstGeom>
          <a:noFill/>
          <a:ln/>
        </p:spPr>
        <p:txBody>
          <a:bodyPr wrap="square" lIns="0" rIns="0" rtlCol="0" anchor="t"/>
          <a:lstStyle/>
          <a:p>
            <a:pPr marL="0" indent="0" algn="l">
              <a:spcAft>
                <a:spcPts val="500"/>
              </a:spcAft>
              <a:buNone/>
            </a:pPr>
            <a:r>
              <a:rPr lang="en-US" sz="1050" b="1" dirty="0">
                <a:solidFill>
                  <a:srgbClr val="FFFFFF"/>
                </a:solidFill>
                <a:latin typeface="Calibri" pitchFamily="34" charset="0"/>
                <a:ea typeface="Calibri" pitchFamily="34" charset="-122"/>
                <a:cs typeface="Calibri" pitchFamily="34" charset="-120"/>
              </a:rPr>
              <a:t>What goes in each layer.</a:t>
            </a:r>
            <a:endParaRPr lang="en-US" sz="1000" dirty="0"/>
          </a:p>
          <a:p>
            <a:pPr marL="0" indent="0" algn="l">
              <a:spcAft>
                <a:spcPts val="500"/>
              </a:spcAft>
              <a:buNone/>
            </a:pPr>
            <a:r>
              <a:rPr lang="en-US" sz="1050" b="1" dirty="0">
                <a:solidFill>
                  <a:srgbClr val="FFFFFF"/>
                </a:solidFill>
                <a:latin typeface="Calibri" pitchFamily="34" charset="0"/>
                <a:ea typeface="Calibri" pitchFamily="34" charset="-122"/>
                <a:cs typeface="Calibri" pitchFamily="34" charset="-120"/>
              </a:rPr>
              <a:t>In what order.</a:t>
            </a:r>
            <a:endParaRPr lang="en-US" sz="1000" dirty="0"/>
          </a:p>
          <a:p>
            <a:pPr marL="0" indent="0" algn="l">
              <a:spcAft>
                <a:spcPts val="500"/>
              </a:spcAft>
              <a:buNone/>
            </a:pPr>
            <a:r>
              <a:rPr lang="en-US" sz="1050" b="1" dirty="0">
                <a:solidFill>
                  <a:srgbClr val="FFFFFF"/>
                </a:solidFill>
                <a:latin typeface="Calibri" pitchFamily="34" charset="0"/>
                <a:ea typeface="Calibri" pitchFamily="34" charset="-122"/>
                <a:cs typeface="Calibri" pitchFamily="34" charset="-120"/>
              </a:rPr>
              <a:t>And what stays out.</a:t>
            </a:r>
            <a:endParaRPr lang="en-US" sz="1000" dirty="0"/>
          </a:p>
        </p:txBody>
      </p:sp>
      <p:sp>
        <p:nvSpPr>
          <p:cNvPr id="29" name="Shape 29"/>
          <p:cNvSpPr/>
          <p:nvPr/>
        </p:nvSpPr>
        <p:spPr>
          <a:xfrm>
            <a:off x="6163056" y="2852928"/>
            <a:ext cx="2212848" cy="365760"/>
          </a:xfrm>
          <a:prstGeom prst="roundRect">
            <a:avLst>
              <a:gd name="adj" fmla="val 14000"/>
            </a:avLst>
          </a:prstGeom>
          <a:solidFill>
            <a:srgbClr val="5B21B6"/>
          </a:solidFill>
          <a:ln/>
        </p:spPr>
        <p:txBody>
          <a:bodyPr/>
          <a:lstStyle/>
          <a:p>
            <a:endParaRPr lang="en-AU"/>
          </a:p>
        </p:txBody>
      </p:sp>
      <p:sp>
        <p:nvSpPr>
          <p:cNvPr id="30" name="Text 30"/>
          <p:cNvSpPr/>
          <p:nvPr/>
        </p:nvSpPr>
        <p:spPr>
          <a:xfrm>
            <a:off x="6309360" y="2852928"/>
            <a:ext cx="1920240" cy="365760"/>
          </a:xfrm>
          <a:prstGeom prst="rect">
            <a:avLst/>
          </a:prstGeom>
          <a:noFill/>
          <a:ln/>
        </p:spPr>
        <p:txBody>
          <a:bodyPr wrap="square" lIns="0" rIns="0" rtlCol="0" anchor="ctr"/>
          <a:lstStyle/>
          <a:p>
            <a:pPr marL="0" indent="0" algn="l">
              <a:buNone/>
            </a:pPr>
            <a:r>
              <a:rPr lang="en-US" sz="1000" b="1" dirty="0">
                <a:solidFill>
                  <a:srgbClr val="F59E0B"/>
                </a:solidFill>
                <a:latin typeface="Courier New" pitchFamily="34" charset="0"/>
                <a:ea typeface="Courier New" pitchFamily="34" charset="-122"/>
                <a:cs typeface="Courier New" pitchFamily="34" charset="-120"/>
              </a:rPr>
              <a:t>/context</a:t>
            </a:r>
            <a:endParaRPr lang="en-US" sz="1200" dirty="0"/>
          </a:p>
        </p:txBody>
      </p:sp>
      <p:sp>
        <p:nvSpPr>
          <p:cNvPr id="31" name="Text 31"/>
          <p:cNvSpPr/>
          <p:nvPr/>
        </p:nvSpPr>
        <p:spPr>
          <a:xfrm>
            <a:off x="6309360" y="2852928"/>
            <a:ext cx="1920240" cy="365760"/>
          </a:xfrm>
          <a:prstGeom prst="rect">
            <a:avLst/>
          </a:prstGeom>
          <a:noFill/>
          <a:ln/>
        </p:spPr>
        <p:txBody>
          <a:bodyPr wrap="square" lIns="0" rIns="0" rtlCol="0" anchor="ctr"/>
          <a:lstStyle/>
          <a:p>
            <a:pPr marL="0" indent="0" algn="r">
              <a:buNone/>
            </a:pPr>
            <a:r>
              <a:rPr lang="en-US" sz="850" i="1" dirty="0">
                <a:solidFill>
                  <a:srgbClr val="DDD6FE"/>
                </a:solidFill>
                <a:latin typeface="Calibri" pitchFamily="34" charset="0"/>
                <a:ea typeface="Calibri" pitchFamily="34" charset="-122"/>
                <a:cs typeface="Calibri" pitchFamily="34" charset="-120"/>
              </a:rPr>
              <a:t>see the stack</a:t>
            </a:r>
            <a:endParaRPr lang="en-US" sz="1200" dirty="0"/>
          </a:p>
        </p:txBody>
      </p:sp>
      <p:sp>
        <p:nvSpPr>
          <p:cNvPr id="32" name="Text 32"/>
          <p:cNvSpPr/>
          <p:nvPr/>
        </p:nvSpPr>
        <p:spPr>
          <a:xfrm>
            <a:off x="6163056" y="3328416"/>
            <a:ext cx="2212848" cy="548640"/>
          </a:xfrm>
          <a:prstGeom prst="rect">
            <a:avLst/>
          </a:prstGeom>
          <a:noFill/>
          <a:ln/>
        </p:spPr>
        <p:txBody>
          <a:bodyPr wrap="square" lIns="0" rIns="0" rtlCol="0" anchor="t"/>
          <a:lstStyle/>
          <a:p>
            <a:pPr marL="0" indent="0" algn="l">
              <a:spcAft>
                <a:spcPts val="0"/>
              </a:spcAft>
              <a:buNone/>
            </a:pPr>
            <a:r>
              <a:rPr lang="en-US" sz="950" i="1" dirty="0">
                <a:solidFill>
                  <a:srgbClr val="C4B5E8"/>
                </a:solidFill>
                <a:latin typeface="Calibri" pitchFamily="34" charset="0"/>
                <a:ea typeface="Calibri" pitchFamily="34" charset="-122"/>
                <a:cs typeface="Calibri" pitchFamily="34" charset="-120"/>
              </a:rPr>
              <a:t>Every layer costs space. Fill the window and the model starts guessing.</a:t>
            </a:r>
            <a:endParaRPr lang="en-US" sz="1000" dirty="0"/>
          </a:p>
        </p:txBody>
      </p:sp>
      <p:sp>
        <p:nvSpPr>
          <p:cNvPr id="33" name="Shape 33"/>
          <p:cNvSpPr/>
          <p:nvPr/>
        </p:nvSpPr>
        <p:spPr>
          <a:xfrm>
            <a:off x="457200" y="4096512"/>
            <a:ext cx="7772400" cy="420624"/>
          </a:xfrm>
          <a:prstGeom prst="roundRect">
            <a:avLst>
              <a:gd name="adj" fmla="val 12000"/>
            </a:avLst>
          </a:prstGeom>
          <a:solidFill>
            <a:srgbClr val="2D1155"/>
          </a:solidFill>
          <a:ln/>
        </p:spPr>
        <p:txBody>
          <a:bodyPr/>
          <a:lstStyle/>
          <a:p>
            <a:endParaRPr lang="en-AU"/>
          </a:p>
        </p:txBody>
      </p:sp>
      <p:sp>
        <p:nvSpPr>
          <p:cNvPr id="34" name="Text 34"/>
          <p:cNvSpPr/>
          <p:nvPr/>
        </p:nvSpPr>
        <p:spPr>
          <a:xfrm>
            <a:off x="685800" y="4096512"/>
            <a:ext cx="7315200" cy="420624"/>
          </a:xfrm>
          <a:prstGeom prst="rect">
            <a:avLst/>
          </a:prstGeom>
          <a:noFill/>
          <a:ln/>
        </p:spPr>
        <p:txBody>
          <a:bodyPr wrap="square" lIns="0" rIns="0" rtlCol="0" anchor="ctr"/>
          <a:lstStyle/>
          <a:p>
            <a:pPr marL="0" indent="0" algn="ctr">
              <a:buNone/>
            </a:pPr>
            <a:r>
              <a:rPr lang="en-US" sz="1150" dirty="0">
                <a:solidFill>
                  <a:srgbClr val="DDD6FE"/>
                </a:solidFill>
                <a:latin typeface="Calibri" pitchFamily="34" charset="0"/>
                <a:ea typeface="Calibri" pitchFamily="34" charset="-122"/>
                <a:cs typeface="Calibri" pitchFamily="34" charset="-120"/>
              </a:rPr>
              <a:t>RAG, MCP, memory, tools — none of them talk to the model. </a:t>
            </a:r>
            <a:r>
              <a:rPr lang="en-US" sz="1150" b="1" dirty="0">
                <a:solidFill>
                  <a:srgbClr val="F59E0B"/>
                </a:solidFill>
                <a:latin typeface="Calibri" pitchFamily="34" charset="0"/>
                <a:ea typeface="Calibri" pitchFamily="34" charset="-122"/>
                <a:cs typeface="Calibri" pitchFamily="34" charset="-120"/>
              </a:rPr>
              <a:t>They just write a better system prompt.</a:t>
            </a:r>
            <a:endParaRPr lang="en-US" sz="1200" dirty="0"/>
          </a:p>
        </p:txBody>
      </p:sp>
    </p:spTree>
  </p:cSld>
  <p:clrMapOvr>
    <a:masterClrMapping/>
  </p:clrMapOvr>
  <p:transition spd="slow">
    <p:push/>
  </p:transition>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5F3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566928"/>
          </a:xfrm>
          <a:prstGeom prst="rect">
            <a:avLst/>
          </a:prstGeom>
          <a:noFill/>
          <a:ln/>
        </p:spPr>
        <p:txBody>
          <a:bodyPr wrap="square" rtlCol="0" anchor="ctr"/>
          <a:lstStyle/>
          <a:p>
            <a:pPr marL="0" indent="0" algn="l">
              <a:buNone/>
            </a:pPr>
            <a:r>
              <a:rPr lang="en-US" sz="2200" b="1" kern="0" spc="100" dirty="0">
                <a:solidFill>
                  <a:srgbClr val="2D1155"/>
                </a:solidFill>
                <a:latin typeface="Arial Black" pitchFamily="34" charset="0"/>
                <a:ea typeface="Arial Black" pitchFamily="34" charset="-122"/>
                <a:cs typeface="Arial Black" pitchFamily="34" charset="-120"/>
              </a:rPr>
              <a:t>THE DAY IS A LADDER</a:t>
            </a:r>
            <a:endParaRPr lang="en-US" sz="2200" dirty="0"/>
          </a:p>
        </p:txBody>
      </p:sp>
      <p:sp>
        <p:nvSpPr>
          <p:cNvPr id="3" name="Text 1"/>
          <p:cNvSpPr/>
          <p:nvPr/>
        </p:nvSpPr>
        <p:spPr>
          <a:xfrm>
            <a:off x="475488" y="896112"/>
            <a:ext cx="8229600" cy="329184"/>
          </a:xfrm>
          <a:prstGeom prst="rect">
            <a:avLst/>
          </a:prstGeom>
          <a:noFill/>
          <a:ln/>
        </p:spPr>
        <p:txBody>
          <a:bodyPr wrap="square" rtlCol="0" anchor="ctr"/>
          <a:lstStyle/>
          <a:p>
            <a:pPr marL="0" indent="0">
              <a:buNone/>
            </a:pPr>
            <a:r>
              <a:rPr lang="en-US" sz="1300" i="1" dirty="0">
                <a:solidFill>
                  <a:srgbClr val="6E6389"/>
                </a:solidFill>
                <a:latin typeface="Calibri" pitchFamily="34" charset="0"/>
                <a:ea typeface="Calibri" pitchFamily="34" charset="-122"/>
                <a:cs typeface="Calibri" pitchFamily="34" charset="-120"/>
              </a:rPr>
              <a:t>Not three workshops. Each rung removes a different crutch.</a:t>
            </a:r>
            <a:endParaRPr lang="en-US" sz="1300" dirty="0"/>
          </a:p>
        </p:txBody>
      </p:sp>
      <p:pic>
        <p:nvPicPr>
          <p:cNvPr id="4" name="Image 0" descr="logo_icon.jpeg"/>
          <p:cNvPicPr>
            <a:picLocks noChangeAspect="1"/>
          </p:cNvPicPr>
          <p:nvPr/>
        </p:nvPicPr>
        <p:blipFill>
          <a:blip r:embed="rId3"/>
          <a:stretch>
            <a:fillRect/>
          </a:stretch>
        </p:blipFill>
        <p:spPr>
          <a:xfrm>
            <a:off x="8366760" y="4526280"/>
            <a:ext cx="411480" cy="411480"/>
          </a:xfrm>
          <a:prstGeom prst="ellipse">
            <a:avLst/>
          </a:prstGeom>
        </p:spPr>
      </p:pic>
      <p:sp>
        <p:nvSpPr>
          <p:cNvPr id="5" name="Shape 2"/>
          <p:cNvSpPr/>
          <p:nvPr/>
        </p:nvSpPr>
        <p:spPr>
          <a:xfrm>
            <a:off x="457200" y="1481328"/>
            <a:ext cx="8229600" cy="932688"/>
          </a:xfrm>
          <a:prstGeom prst="roundRect">
            <a:avLst>
              <a:gd name="adj" fmla="val 7843"/>
            </a:avLst>
          </a:prstGeom>
          <a:solidFill>
            <a:srgbClr val="2D1155"/>
          </a:solidFill>
          <a:ln w="19050">
            <a:solidFill>
              <a:srgbClr val="F59E0B"/>
            </a:solidFill>
            <a:prstDash val="solid"/>
          </a:ln>
        </p:spPr>
        <p:txBody>
          <a:bodyPr/>
          <a:lstStyle/>
          <a:p>
            <a:endParaRPr lang="en-AU"/>
          </a:p>
        </p:txBody>
      </p:sp>
      <p:sp>
        <p:nvSpPr>
          <p:cNvPr id="6" name="Text 3"/>
          <p:cNvSpPr/>
          <p:nvPr/>
        </p:nvSpPr>
        <p:spPr>
          <a:xfrm>
            <a:off x="640080" y="1481328"/>
            <a:ext cx="914400" cy="932688"/>
          </a:xfrm>
          <a:prstGeom prst="rect">
            <a:avLst/>
          </a:prstGeom>
          <a:noFill/>
          <a:ln/>
        </p:spPr>
        <p:txBody>
          <a:bodyPr wrap="square" rtlCol="0" anchor="ctr"/>
          <a:lstStyle/>
          <a:p>
            <a:pPr marL="0" indent="0" algn="ctr">
              <a:buNone/>
            </a:pPr>
            <a:r>
              <a:rPr lang="en-US" sz="3000" b="1" dirty="0">
                <a:solidFill>
                  <a:srgbClr val="F59E0B"/>
                </a:solidFill>
                <a:latin typeface="Arial Black" pitchFamily="34" charset="0"/>
                <a:ea typeface="Arial Black" pitchFamily="34" charset="-122"/>
                <a:cs typeface="Arial Black" pitchFamily="34" charset="-120"/>
              </a:rPr>
              <a:t>01</a:t>
            </a:r>
            <a:endParaRPr lang="en-US" sz="3000" dirty="0"/>
          </a:p>
        </p:txBody>
      </p:sp>
      <p:sp>
        <p:nvSpPr>
          <p:cNvPr id="7" name="Text 4"/>
          <p:cNvSpPr/>
          <p:nvPr/>
        </p:nvSpPr>
        <p:spPr>
          <a:xfrm>
            <a:off x="1691640" y="1609344"/>
            <a:ext cx="4754880" cy="384048"/>
          </a:xfrm>
          <a:prstGeom prst="rect">
            <a:avLst/>
          </a:prstGeom>
          <a:noFill/>
          <a:ln/>
        </p:spPr>
        <p:txBody>
          <a:bodyPr wrap="square" rtlCol="0" anchor="ctr"/>
          <a:lstStyle/>
          <a:p>
            <a:pPr marL="0" indent="0">
              <a:buNone/>
            </a:pPr>
            <a:r>
              <a:rPr lang="en-US" sz="1500" b="1" dirty="0">
                <a:solidFill>
                  <a:srgbClr val="FFFFFF"/>
                </a:solidFill>
                <a:latin typeface="Arial Black" pitchFamily="34" charset="0"/>
                <a:ea typeface="Arial Black" pitchFamily="34" charset="-122"/>
                <a:cs typeface="Arial Black" pitchFamily="34" charset="-120"/>
              </a:rPr>
              <a:t>Vibe Coding</a:t>
            </a:r>
            <a:endParaRPr lang="en-US" sz="1500" dirty="0"/>
          </a:p>
        </p:txBody>
      </p:sp>
      <p:sp>
        <p:nvSpPr>
          <p:cNvPr id="8" name="Text 5"/>
          <p:cNvSpPr/>
          <p:nvPr/>
        </p:nvSpPr>
        <p:spPr>
          <a:xfrm>
            <a:off x="1691640" y="1993392"/>
            <a:ext cx="6035040" cy="347472"/>
          </a:xfrm>
          <a:prstGeom prst="rect">
            <a:avLst/>
          </a:prstGeom>
          <a:noFill/>
          <a:ln/>
        </p:spPr>
        <p:txBody>
          <a:bodyPr wrap="square" rtlCol="0" anchor="ctr"/>
          <a:lstStyle/>
          <a:p>
            <a:pPr marL="0" indent="0">
              <a:buNone/>
            </a:pPr>
            <a:r>
              <a:rPr lang="en-US" sz="1200" dirty="0">
                <a:solidFill>
                  <a:srgbClr val="DDD6FE"/>
                </a:solidFill>
                <a:latin typeface="Calibri" pitchFamily="34" charset="0"/>
                <a:ea typeface="Calibri" pitchFamily="34" charset="-122"/>
                <a:cs typeface="Calibri" pitchFamily="34" charset="-120"/>
              </a:rPr>
              <a:t>Use the tool. Make it work, don't care how.</a:t>
            </a:r>
            <a:endParaRPr lang="en-US" sz="1200" dirty="0"/>
          </a:p>
        </p:txBody>
      </p:sp>
      <p:sp>
        <p:nvSpPr>
          <p:cNvPr id="9" name="Shape 6"/>
          <p:cNvSpPr/>
          <p:nvPr/>
        </p:nvSpPr>
        <p:spPr>
          <a:xfrm>
            <a:off x="7086600" y="1792224"/>
            <a:ext cx="1417320" cy="310896"/>
          </a:xfrm>
          <a:prstGeom prst="roundRect">
            <a:avLst>
              <a:gd name="adj" fmla="val 17647"/>
            </a:avLst>
          </a:prstGeom>
          <a:solidFill>
            <a:srgbClr val="F59E0B"/>
          </a:solidFill>
          <a:ln/>
        </p:spPr>
        <p:txBody>
          <a:bodyPr/>
          <a:lstStyle/>
          <a:p>
            <a:endParaRPr lang="en-AU"/>
          </a:p>
        </p:txBody>
      </p:sp>
      <p:sp>
        <p:nvSpPr>
          <p:cNvPr id="10" name="Text 7"/>
          <p:cNvSpPr/>
          <p:nvPr/>
        </p:nvSpPr>
        <p:spPr>
          <a:xfrm>
            <a:off x="7086600" y="1792224"/>
            <a:ext cx="1417320" cy="310896"/>
          </a:xfrm>
          <a:prstGeom prst="rect">
            <a:avLst/>
          </a:prstGeom>
          <a:noFill/>
          <a:ln/>
        </p:spPr>
        <p:txBody>
          <a:bodyPr wrap="square" rtlCol="0" anchor="ctr"/>
          <a:lstStyle/>
          <a:p>
            <a:pPr marL="0" indent="0" algn="ctr">
              <a:buNone/>
            </a:pPr>
            <a:r>
              <a:rPr lang="en-US" sz="900" b="1" kern="0" spc="100" dirty="0">
                <a:solidFill>
                  <a:srgbClr val="2D1155"/>
                </a:solidFill>
                <a:latin typeface="Calibri" pitchFamily="34" charset="0"/>
                <a:ea typeface="Calibri" pitchFamily="34" charset="-122"/>
                <a:cs typeface="Calibri" pitchFamily="34" charset="-120"/>
              </a:rPr>
              <a:t>YOU ARE HERE</a:t>
            </a:r>
            <a:endParaRPr lang="en-US" sz="900" dirty="0"/>
          </a:p>
        </p:txBody>
      </p:sp>
      <p:sp>
        <p:nvSpPr>
          <p:cNvPr id="11" name="Shape 8"/>
          <p:cNvSpPr/>
          <p:nvPr/>
        </p:nvSpPr>
        <p:spPr>
          <a:xfrm>
            <a:off x="457200" y="2523744"/>
            <a:ext cx="8229600" cy="932688"/>
          </a:xfrm>
          <a:prstGeom prst="roundRect">
            <a:avLst>
              <a:gd name="adj" fmla="val 7843"/>
            </a:avLst>
          </a:prstGeom>
          <a:solidFill>
            <a:srgbClr val="FFFFFF"/>
          </a:solidFill>
          <a:ln w="12700">
            <a:solidFill>
              <a:srgbClr val="DDD6FE"/>
            </a:solidFill>
            <a:prstDash val="solid"/>
          </a:ln>
        </p:spPr>
        <p:txBody>
          <a:bodyPr/>
          <a:lstStyle/>
          <a:p>
            <a:endParaRPr lang="en-AU"/>
          </a:p>
        </p:txBody>
      </p:sp>
      <p:sp>
        <p:nvSpPr>
          <p:cNvPr id="12" name="Text 9"/>
          <p:cNvSpPr/>
          <p:nvPr/>
        </p:nvSpPr>
        <p:spPr>
          <a:xfrm>
            <a:off x="640080" y="2523744"/>
            <a:ext cx="914400" cy="932688"/>
          </a:xfrm>
          <a:prstGeom prst="rect">
            <a:avLst/>
          </a:prstGeom>
          <a:noFill/>
          <a:ln/>
        </p:spPr>
        <p:txBody>
          <a:bodyPr wrap="square" rtlCol="0" anchor="ctr"/>
          <a:lstStyle/>
          <a:p>
            <a:pPr marL="0" indent="0" algn="ctr">
              <a:buNone/>
            </a:pPr>
            <a:r>
              <a:rPr lang="en-US" sz="3000" b="1" dirty="0">
                <a:solidFill>
                  <a:srgbClr val="DDD6FE"/>
                </a:solidFill>
                <a:latin typeface="Arial Black" pitchFamily="34" charset="0"/>
                <a:ea typeface="Arial Black" pitchFamily="34" charset="-122"/>
                <a:cs typeface="Arial Black" pitchFamily="34" charset="-120"/>
              </a:rPr>
              <a:t>02</a:t>
            </a:r>
            <a:endParaRPr lang="en-US" sz="3000" dirty="0"/>
          </a:p>
        </p:txBody>
      </p:sp>
      <p:sp>
        <p:nvSpPr>
          <p:cNvPr id="13" name="Text 10"/>
          <p:cNvSpPr/>
          <p:nvPr/>
        </p:nvSpPr>
        <p:spPr>
          <a:xfrm>
            <a:off x="1691640" y="2651760"/>
            <a:ext cx="4754880" cy="384048"/>
          </a:xfrm>
          <a:prstGeom prst="rect">
            <a:avLst/>
          </a:prstGeom>
          <a:noFill/>
          <a:ln/>
        </p:spPr>
        <p:txBody>
          <a:bodyPr wrap="square" rtlCol="0" anchor="ctr"/>
          <a:lstStyle/>
          <a:p>
            <a:pPr marL="0" indent="0">
              <a:buNone/>
            </a:pPr>
            <a:r>
              <a:rPr lang="en-US" sz="1500" b="1" dirty="0">
                <a:solidFill>
                  <a:srgbClr val="2D1155"/>
                </a:solidFill>
                <a:latin typeface="Arial Black" pitchFamily="34" charset="0"/>
                <a:ea typeface="Arial Black" pitchFamily="34" charset="-122"/>
                <a:cs typeface="Arial Black" pitchFamily="34" charset="-120"/>
              </a:rPr>
              <a:t>Vibe Engineering</a:t>
            </a:r>
            <a:endParaRPr lang="en-US" sz="1500" dirty="0"/>
          </a:p>
        </p:txBody>
      </p:sp>
      <p:sp>
        <p:nvSpPr>
          <p:cNvPr id="14" name="Text 11"/>
          <p:cNvSpPr/>
          <p:nvPr/>
        </p:nvSpPr>
        <p:spPr>
          <a:xfrm>
            <a:off x="1691640" y="3035808"/>
            <a:ext cx="6035040" cy="347472"/>
          </a:xfrm>
          <a:prstGeom prst="rect">
            <a:avLst/>
          </a:prstGeom>
          <a:noFill/>
          <a:ln/>
        </p:spPr>
        <p:txBody>
          <a:bodyPr wrap="square" rtlCol="0" anchor="ctr"/>
          <a:lstStyle/>
          <a:p>
            <a:pPr marL="0" indent="0">
              <a:buNone/>
            </a:pPr>
            <a:r>
              <a:rPr lang="en-US" sz="1200" dirty="0">
                <a:solidFill>
                  <a:srgbClr val="6E6389"/>
                </a:solidFill>
                <a:latin typeface="Calibri" pitchFamily="34" charset="0"/>
                <a:ea typeface="Calibri" pitchFamily="34" charset="-122"/>
                <a:cs typeface="Calibri" pitchFamily="34" charset="-120"/>
              </a:rPr>
              <a:t>Make it repeatable. Stop repeating yourself.</a:t>
            </a:r>
            <a:endParaRPr lang="en-US" sz="1200" dirty="0"/>
          </a:p>
        </p:txBody>
      </p:sp>
      <p:sp>
        <p:nvSpPr>
          <p:cNvPr id="15" name="Shape 12"/>
          <p:cNvSpPr/>
          <p:nvPr/>
        </p:nvSpPr>
        <p:spPr>
          <a:xfrm>
            <a:off x="457200" y="3566160"/>
            <a:ext cx="8229600" cy="932688"/>
          </a:xfrm>
          <a:prstGeom prst="roundRect">
            <a:avLst>
              <a:gd name="adj" fmla="val 7843"/>
            </a:avLst>
          </a:prstGeom>
          <a:solidFill>
            <a:srgbClr val="FFFFFF"/>
          </a:solidFill>
          <a:ln w="12700">
            <a:solidFill>
              <a:srgbClr val="DDD6FE"/>
            </a:solidFill>
            <a:prstDash val="solid"/>
          </a:ln>
        </p:spPr>
        <p:txBody>
          <a:bodyPr/>
          <a:lstStyle/>
          <a:p>
            <a:endParaRPr lang="en-AU"/>
          </a:p>
        </p:txBody>
      </p:sp>
      <p:sp>
        <p:nvSpPr>
          <p:cNvPr id="16" name="Text 13"/>
          <p:cNvSpPr/>
          <p:nvPr/>
        </p:nvSpPr>
        <p:spPr>
          <a:xfrm>
            <a:off x="640080" y="3566160"/>
            <a:ext cx="914400" cy="932688"/>
          </a:xfrm>
          <a:prstGeom prst="rect">
            <a:avLst/>
          </a:prstGeom>
          <a:noFill/>
          <a:ln/>
        </p:spPr>
        <p:txBody>
          <a:bodyPr wrap="square" rtlCol="0" anchor="ctr"/>
          <a:lstStyle/>
          <a:p>
            <a:pPr marL="0" indent="0" algn="ctr">
              <a:buNone/>
            </a:pPr>
            <a:r>
              <a:rPr lang="en-US" sz="3000" b="1" dirty="0">
                <a:solidFill>
                  <a:srgbClr val="DDD6FE"/>
                </a:solidFill>
                <a:latin typeface="Arial Black" pitchFamily="34" charset="0"/>
                <a:ea typeface="Arial Black" pitchFamily="34" charset="-122"/>
                <a:cs typeface="Arial Black" pitchFamily="34" charset="-120"/>
              </a:rPr>
              <a:t>03</a:t>
            </a:r>
            <a:endParaRPr lang="en-US" sz="3000" dirty="0"/>
          </a:p>
        </p:txBody>
      </p:sp>
      <p:sp>
        <p:nvSpPr>
          <p:cNvPr id="17" name="Text 14"/>
          <p:cNvSpPr/>
          <p:nvPr/>
        </p:nvSpPr>
        <p:spPr>
          <a:xfrm>
            <a:off x="1691640" y="3694176"/>
            <a:ext cx="4754880" cy="384048"/>
          </a:xfrm>
          <a:prstGeom prst="rect">
            <a:avLst/>
          </a:prstGeom>
          <a:noFill/>
          <a:ln/>
        </p:spPr>
        <p:txBody>
          <a:bodyPr wrap="square" rtlCol="0" anchor="ctr"/>
          <a:lstStyle/>
          <a:p>
            <a:pPr marL="0" indent="0">
              <a:buNone/>
            </a:pPr>
            <a:r>
              <a:rPr lang="en-US" sz="1500" b="1" dirty="0">
                <a:solidFill>
                  <a:srgbClr val="2D1155"/>
                </a:solidFill>
                <a:latin typeface="Arial Black" pitchFamily="34" charset="0"/>
                <a:ea typeface="Arial Black" pitchFamily="34" charset="-122"/>
                <a:cs typeface="Arial Black" pitchFamily="34" charset="-120"/>
              </a:rPr>
              <a:t>Agentic Engineering</a:t>
            </a:r>
            <a:endParaRPr lang="en-US" sz="1500" dirty="0"/>
          </a:p>
        </p:txBody>
      </p:sp>
      <p:sp>
        <p:nvSpPr>
          <p:cNvPr id="18" name="Text 15"/>
          <p:cNvSpPr/>
          <p:nvPr/>
        </p:nvSpPr>
        <p:spPr>
          <a:xfrm>
            <a:off x="1691640" y="4078224"/>
            <a:ext cx="6035040" cy="347472"/>
          </a:xfrm>
          <a:prstGeom prst="rect">
            <a:avLst/>
          </a:prstGeom>
          <a:noFill/>
          <a:ln/>
        </p:spPr>
        <p:txBody>
          <a:bodyPr wrap="square" rtlCol="0" anchor="ctr"/>
          <a:lstStyle/>
          <a:p>
            <a:pPr marL="0" indent="0">
              <a:buNone/>
            </a:pPr>
            <a:r>
              <a:rPr lang="en-US" sz="1200" dirty="0">
                <a:solidFill>
                  <a:srgbClr val="6E6389"/>
                </a:solidFill>
                <a:latin typeface="Calibri" pitchFamily="34" charset="0"/>
                <a:ea typeface="Calibri" pitchFamily="34" charset="-122"/>
                <a:cs typeface="Calibri" pitchFamily="34" charset="-120"/>
              </a:rPr>
              <a:t>Stop trusting the agent. Engineer around it.</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5F3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566928"/>
          </a:xfrm>
          <a:prstGeom prst="rect">
            <a:avLst/>
          </a:prstGeom>
          <a:noFill/>
          <a:ln/>
        </p:spPr>
        <p:txBody>
          <a:bodyPr wrap="square" rtlCol="0" anchor="ctr"/>
          <a:lstStyle/>
          <a:p>
            <a:pPr marL="0" indent="0" algn="l">
              <a:buNone/>
            </a:pPr>
            <a:r>
              <a:rPr lang="en-US" sz="2200" b="1" kern="0" spc="100" dirty="0">
                <a:solidFill>
                  <a:srgbClr val="2D1155"/>
                </a:solidFill>
                <a:latin typeface="Arial Black" pitchFamily="34" charset="0"/>
                <a:ea typeface="Arial Black" pitchFamily="34" charset="-122"/>
                <a:cs typeface="Arial Black" pitchFamily="34" charset="-120"/>
              </a:rPr>
              <a:t>WHAT VIBE CODING IS</a:t>
            </a:r>
            <a:endParaRPr lang="en-US" sz="2200" dirty="0"/>
          </a:p>
        </p:txBody>
      </p:sp>
      <p:sp>
        <p:nvSpPr>
          <p:cNvPr id="3" name="Text 1"/>
          <p:cNvSpPr/>
          <p:nvPr/>
        </p:nvSpPr>
        <p:spPr>
          <a:xfrm>
            <a:off x="475488" y="896112"/>
            <a:ext cx="8229600" cy="329184"/>
          </a:xfrm>
          <a:prstGeom prst="rect">
            <a:avLst/>
          </a:prstGeom>
          <a:noFill/>
          <a:ln/>
        </p:spPr>
        <p:txBody>
          <a:bodyPr wrap="square" rtlCol="0" anchor="ctr"/>
          <a:lstStyle/>
          <a:p>
            <a:pPr marL="0" indent="0">
              <a:buNone/>
            </a:pPr>
            <a:r>
              <a:rPr lang="en-US" sz="1300" i="1" dirty="0">
                <a:solidFill>
                  <a:srgbClr val="6E6389"/>
                </a:solidFill>
                <a:latin typeface="Calibri" pitchFamily="34" charset="0"/>
                <a:ea typeface="Calibri" pitchFamily="34" charset="-122"/>
                <a:cs typeface="Calibri" pitchFamily="34" charset="-120"/>
              </a:rPr>
              <a:t>The one-line definition.</a:t>
            </a:r>
            <a:endParaRPr lang="en-US" sz="1300" dirty="0"/>
          </a:p>
        </p:txBody>
      </p:sp>
      <p:pic>
        <p:nvPicPr>
          <p:cNvPr id="4" name="Image 0" descr="logo_icon.jpeg"/>
          <p:cNvPicPr>
            <a:picLocks noChangeAspect="1"/>
          </p:cNvPicPr>
          <p:nvPr/>
        </p:nvPicPr>
        <p:blipFill>
          <a:blip r:embed="rId3"/>
          <a:stretch>
            <a:fillRect/>
          </a:stretch>
        </p:blipFill>
        <p:spPr>
          <a:xfrm>
            <a:off x="8366760" y="4526280"/>
            <a:ext cx="411480" cy="411480"/>
          </a:xfrm>
          <a:prstGeom prst="ellipse">
            <a:avLst/>
          </a:prstGeom>
        </p:spPr>
      </p:pic>
      <p:sp>
        <p:nvSpPr>
          <p:cNvPr id="5" name="Text 2"/>
          <p:cNvSpPr/>
          <p:nvPr/>
        </p:nvSpPr>
        <p:spPr>
          <a:xfrm>
            <a:off x="457200" y="1417320"/>
            <a:ext cx="8229600" cy="640080"/>
          </a:xfrm>
          <a:prstGeom prst="rect">
            <a:avLst/>
          </a:prstGeom>
          <a:noFill/>
          <a:ln/>
        </p:spPr>
        <p:txBody>
          <a:bodyPr wrap="square" rtlCol="0" anchor="ctr"/>
          <a:lstStyle/>
          <a:p>
            <a:pPr marL="0" indent="0">
              <a:buNone/>
            </a:pPr>
            <a:r>
              <a:rPr lang="en-US" sz="2600" b="1" dirty="0">
                <a:solidFill>
                  <a:srgbClr val="2D1155"/>
                </a:solidFill>
                <a:latin typeface="Arial Black" pitchFamily="34" charset="0"/>
                <a:ea typeface="Arial Black" pitchFamily="34" charset="-122"/>
                <a:cs typeface="Arial Black" pitchFamily="34" charset="-120"/>
              </a:rPr>
              <a:t>Vibe coding is </a:t>
            </a:r>
            <a:r>
              <a:rPr lang="en-US" sz="2600" b="1" dirty="0">
                <a:solidFill>
                  <a:srgbClr val="7C3AED"/>
                </a:solidFill>
                <a:latin typeface="Arial Black" pitchFamily="34" charset="0"/>
                <a:ea typeface="Arial Black" pitchFamily="34" charset="-122"/>
                <a:cs typeface="Arial Black" pitchFamily="34" charset="-120"/>
              </a:rPr>
              <a:t>using the tool.</a:t>
            </a:r>
            <a:endParaRPr lang="en-US" sz="2600" dirty="0"/>
          </a:p>
        </p:txBody>
      </p:sp>
      <p:sp>
        <p:nvSpPr>
          <p:cNvPr id="6" name="Text 3"/>
          <p:cNvSpPr/>
          <p:nvPr/>
        </p:nvSpPr>
        <p:spPr>
          <a:xfrm>
            <a:off x="475488" y="2057400"/>
            <a:ext cx="8046720" cy="457200"/>
          </a:xfrm>
          <a:prstGeom prst="rect">
            <a:avLst/>
          </a:prstGeom>
          <a:noFill/>
          <a:ln/>
        </p:spPr>
        <p:txBody>
          <a:bodyPr wrap="square" rtlCol="0" anchor="ctr"/>
          <a:lstStyle/>
          <a:p>
            <a:pPr marL="0" indent="0">
              <a:buNone/>
            </a:pPr>
            <a:r>
              <a:rPr lang="en-US" sz="1400" dirty="0">
                <a:solidFill>
                  <a:srgbClr val="6E6389"/>
                </a:solidFill>
                <a:latin typeface="Calibri" pitchFamily="34" charset="0"/>
                <a:ea typeface="Calibri" pitchFamily="34" charset="-122"/>
                <a:cs typeface="Calibri" pitchFamily="34" charset="-120"/>
              </a:rPr>
              <a:t>You describe the outcome. The agent writes, runs, and fixes the code. You watch, react, and steer.</a:t>
            </a:r>
            <a:endParaRPr lang="en-US" sz="1400" dirty="0"/>
          </a:p>
        </p:txBody>
      </p:sp>
      <p:sp>
        <p:nvSpPr>
          <p:cNvPr id="7" name="Shape 4"/>
          <p:cNvSpPr/>
          <p:nvPr/>
        </p:nvSpPr>
        <p:spPr>
          <a:xfrm>
            <a:off x="457200" y="2697480"/>
            <a:ext cx="8229600" cy="1783080"/>
          </a:xfrm>
          <a:prstGeom prst="roundRect">
            <a:avLst>
              <a:gd name="adj" fmla="val 4615"/>
            </a:avLst>
          </a:prstGeom>
          <a:solidFill>
            <a:srgbClr val="2D1155"/>
          </a:solidFill>
          <a:ln/>
        </p:spPr>
        <p:txBody>
          <a:bodyPr/>
          <a:lstStyle/>
          <a:p>
            <a:endParaRPr lang="en-AU"/>
          </a:p>
        </p:txBody>
      </p:sp>
      <p:sp>
        <p:nvSpPr>
          <p:cNvPr id="8" name="Text 5"/>
          <p:cNvSpPr/>
          <p:nvPr/>
        </p:nvSpPr>
        <p:spPr>
          <a:xfrm>
            <a:off x="731520" y="2880360"/>
            <a:ext cx="7315200" cy="292608"/>
          </a:xfrm>
          <a:prstGeom prst="rect">
            <a:avLst/>
          </a:prstGeom>
          <a:noFill/>
          <a:ln/>
        </p:spPr>
        <p:txBody>
          <a:bodyPr wrap="square" rtlCol="0" anchor="ctr"/>
          <a:lstStyle/>
          <a:p>
            <a:pPr marL="0" indent="0">
              <a:buNone/>
            </a:pPr>
            <a:r>
              <a:rPr lang="en-US" sz="1100" b="1" kern="0" spc="200" dirty="0">
                <a:solidFill>
                  <a:srgbClr val="F59E0B"/>
                </a:solidFill>
                <a:latin typeface="Calibri" pitchFamily="34" charset="0"/>
                <a:ea typeface="Calibri" pitchFamily="34" charset="-122"/>
                <a:cs typeface="Calibri" pitchFamily="34" charset="-120"/>
              </a:rPr>
              <a:t>THE MINDSET SHIFT</a:t>
            </a:r>
            <a:endParaRPr lang="en-US" sz="1100" dirty="0"/>
          </a:p>
        </p:txBody>
      </p:sp>
      <p:sp>
        <p:nvSpPr>
          <p:cNvPr id="9" name="Text 6"/>
          <p:cNvSpPr/>
          <p:nvPr/>
        </p:nvSpPr>
        <p:spPr>
          <a:xfrm>
            <a:off x="731520" y="3246120"/>
            <a:ext cx="7680960" cy="457200"/>
          </a:xfrm>
          <a:prstGeom prst="rect">
            <a:avLst/>
          </a:prstGeom>
          <a:noFill/>
          <a:ln/>
        </p:spPr>
        <p:txBody>
          <a:bodyPr wrap="square" rtlCol="0" anchor="ctr"/>
          <a:lstStyle/>
          <a:p>
            <a:pPr marL="0" indent="0">
              <a:buNone/>
            </a:pPr>
            <a:r>
              <a:rPr lang="en-US" sz="1800" b="1" dirty="0">
                <a:solidFill>
                  <a:srgbClr val="C4B5E8"/>
                </a:solidFill>
                <a:latin typeface="Calibri" pitchFamily="34" charset="0"/>
                <a:ea typeface="Calibri" pitchFamily="34" charset="-122"/>
                <a:cs typeface="Calibri" pitchFamily="34" charset="-120"/>
              </a:rPr>
              <a:t>FROM   </a:t>
            </a:r>
            <a:r>
              <a:rPr lang="en-US" sz="1800" i="1" dirty="0">
                <a:solidFill>
                  <a:srgbClr val="FFFFFF"/>
                </a:solidFill>
                <a:latin typeface="Calibri" pitchFamily="34" charset="0"/>
                <a:ea typeface="Calibri" pitchFamily="34" charset="-122"/>
                <a:cs typeface="Calibri" pitchFamily="34" charset="-120"/>
              </a:rPr>
              <a:t>“How do I write this function?”</a:t>
            </a:r>
            <a:endParaRPr lang="en-US" sz="1800" dirty="0"/>
          </a:p>
        </p:txBody>
      </p:sp>
      <p:sp>
        <p:nvSpPr>
          <p:cNvPr id="10" name="Text 7"/>
          <p:cNvSpPr/>
          <p:nvPr/>
        </p:nvSpPr>
        <p:spPr>
          <a:xfrm>
            <a:off x="731520" y="3840480"/>
            <a:ext cx="7680960" cy="457200"/>
          </a:xfrm>
          <a:prstGeom prst="rect">
            <a:avLst/>
          </a:prstGeom>
          <a:noFill/>
          <a:ln/>
        </p:spPr>
        <p:txBody>
          <a:bodyPr wrap="square" rtlCol="0" anchor="ctr"/>
          <a:lstStyle/>
          <a:p>
            <a:pPr marL="0" indent="0">
              <a:buNone/>
            </a:pPr>
            <a:r>
              <a:rPr lang="en-US" sz="1800" b="1" dirty="0">
                <a:solidFill>
                  <a:srgbClr val="F59E0B"/>
                </a:solidFill>
                <a:latin typeface="Calibri" pitchFamily="34" charset="0"/>
                <a:ea typeface="Calibri" pitchFamily="34" charset="-122"/>
                <a:cs typeface="Calibri" pitchFamily="34" charset="-120"/>
              </a:rPr>
              <a:t>TO   </a:t>
            </a:r>
            <a:r>
              <a:rPr lang="en-US" sz="1800" i="1" dirty="0">
                <a:solidFill>
                  <a:srgbClr val="FFFFFF"/>
                </a:solidFill>
                <a:latin typeface="Calibri" pitchFamily="34" charset="0"/>
                <a:ea typeface="Calibri" pitchFamily="34" charset="-122"/>
                <a:cs typeface="Calibri" pitchFamily="34" charset="-120"/>
              </a:rPr>
              <a:t>“What do I want to be true when this is done?”</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5F3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566928"/>
          </a:xfrm>
          <a:prstGeom prst="rect">
            <a:avLst/>
          </a:prstGeom>
          <a:noFill/>
          <a:ln/>
        </p:spPr>
        <p:txBody>
          <a:bodyPr wrap="square" rtlCol="0" anchor="ctr"/>
          <a:lstStyle/>
          <a:p>
            <a:pPr marL="0" indent="0" algn="l">
              <a:buNone/>
            </a:pPr>
            <a:r>
              <a:rPr lang="en-US" sz="2200" b="1" kern="0" spc="100" dirty="0">
                <a:solidFill>
                  <a:srgbClr val="2D1155"/>
                </a:solidFill>
                <a:latin typeface="Arial Black" pitchFamily="34" charset="0"/>
                <a:ea typeface="Arial Black" pitchFamily="34" charset="-122"/>
                <a:cs typeface="Arial Black" pitchFamily="34" charset="-120"/>
              </a:rPr>
              <a:t>THE AGENTIC LOOP</a:t>
            </a:r>
            <a:endParaRPr lang="en-US" sz="2200" dirty="0"/>
          </a:p>
        </p:txBody>
      </p:sp>
      <p:sp>
        <p:nvSpPr>
          <p:cNvPr id="3" name="Text 1"/>
          <p:cNvSpPr/>
          <p:nvPr/>
        </p:nvSpPr>
        <p:spPr>
          <a:xfrm>
            <a:off x="475488" y="896112"/>
            <a:ext cx="8229600" cy="329184"/>
          </a:xfrm>
          <a:prstGeom prst="rect">
            <a:avLst/>
          </a:prstGeom>
          <a:noFill/>
          <a:ln/>
        </p:spPr>
        <p:txBody>
          <a:bodyPr wrap="square" rtlCol="0" anchor="ctr"/>
          <a:lstStyle/>
          <a:p>
            <a:pPr marL="0" indent="0">
              <a:buNone/>
            </a:pPr>
            <a:r>
              <a:rPr lang="en-US" sz="1300" i="1" dirty="0">
                <a:solidFill>
                  <a:srgbClr val="6E6389"/>
                </a:solidFill>
                <a:latin typeface="Calibri" pitchFamily="34" charset="0"/>
                <a:ea typeface="Calibri" pitchFamily="34" charset="-122"/>
                <a:cs typeface="Calibri" pitchFamily="34" charset="-120"/>
              </a:rPr>
              <a:t>The mental model that matters most.</a:t>
            </a:r>
            <a:endParaRPr lang="en-US" sz="1300" dirty="0"/>
          </a:p>
        </p:txBody>
      </p:sp>
      <p:pic>
        <p:nvPicPr>
          <p:cNvPr id="4" name="Image 0" descr="logo_icon.jpeg"/>
          <p:cNvPicPr>
            <a:picLocks noChangeAspect="1"/>
          </p:cNvPicPr>
          <p:nvPr/>
        </p:nvPicPr>
        <p:blipFill>
          <a:blip r:embed="rId3"/>
          <a:stretch>
            <a:fillRect/>
          </a:stretch>
        </p:blipFill>
        <p:spPr>
          <a:xfrm>
            <a:off x="8366760" y="4526280"/>
            <a:ext cx="411480" cy="411480"/>
          </a:xfrm>
          <a:prstGeom prst="ellipse">
            <a:avLst/>
          </a:prstGeom>
        </p:spPr>
      </p:pic>
      <p:sp>
        <p:nvSpPr>
          <p:cNvPr id="5" name="Shape 2"/>
          <p:cNvSpPr/>
          <p:nvPr/>
        </p:nvSpPr>
        <p:spPr>
          <a:xfrm>
            <a:off x="457200" y="1600200"/>
            <a:ext cx="1517904" cy="1417320"/>
          </a:xfrm>
          <a:prstGeom prst="roundRect">
            <a:avLst>
              <a:gd name="adj" fmla="val 5161"/>
            </a:avLst>
          </a:prstGeom>
          <a:solidFill>
            <a:srgbClr val="2D1155"/>
          </a:solidFill>
          <a:ln/>
        </p:spPr>
        <p:txBody>
          <a:bodyPr/>
          <a:lstStyle/>
          <a:p>
            <a:endParaRPr lang="en-AU"/>
          </a:p>
        </p:txBody>
      </p:sp>
      <p:sp>
        <p:nvSpPr>
          <p:cNvPr id="6" name="Text 3"/>
          <p:cNvSpPr/>
          <p:nvPr/>
        </p:nvSpPr>
        <p:spPr>
          <a:xfrm>
            <a:off x="457200" y="1700784"/>
            <a:ext cx="1517904" cy="384048"/>
          </a:xfrm>
          <a:prstGeom prst="rect">
            <a:avLst/>
          </a:prstGeom>
          <a:noFill/>
          <a:ln/>
        </p:spPr>
        <p:txBody>
          <a:bodyPr wrap="square" rtlCol="0" anchor="ctr"/>
          <a:lstStyle/>
          <a:p>
            <a:pPr marL="0" indent="0" algn="ctr">
              <a:buNone/>
            </a:pPr>
            <a:r>
              <a:rPr lang="en-US" sz="2000" b="1" dirty="0">
                <a:solidFill>
                  <a:srgbClr val="F59E0B"/>
                </a:solidFill>
                <a:latin typeface="Arial Black" pitchFamily="34" charset="0"/>
                <a:ea typeface="Arial Black" pitchFamily="34" charset="-122"/>
                <a:cs typeface="Arial Black" pitchFamily="34" charset="-120"/>
              </a:rPr>
              <a:t>1</a:t>
            </a:r>
            <a:endParaRPr lang="en-US" sz="2000" dirty="0"/>
          </a:p>
        </p:txBody>
      </p:sp>
      <p:sp>
        <p:nvSpPr>
          <p:cNvPr id="7" name="Text 4"/>
          <p:cNvSpPr/>
          <p:nvPr/>
        </p:nvSpPr>
        <p:spPr>
          <a:xfrm>
            <a:off x="457200" y="2121408"/>
            <a:ext cx="1517904" cy="310896"/>
          </a:xfrm>
          <a:prstGeom prst="rect">
            <a:avLst/>
          </a:prstGeom>
          <a:noFill/>
          <a:ln/>
        </p:spPr>
        <p:txBody>
          <a:bodyPr wrap="square" rtlCol="0" anchor="ctr"/>
          <a:lstStyle/>
          <a:p>
            <a:pPr marL="0" indent="0" algn="ctr">
              <a:buNone/>
            </a:pPr>
            <a:r>
              <a:rPr lang="en-US" sz="1200" b="1" dirty="0">
                <a:solidFill>
                  <a:srgbClr val="FFFFFF"/>
                </a:solidFill>
                <a:latin typeface="Arial Black" pitchFamily="34" charset="0"/>
                <a:ea typeface="Arial Black" pitchFamily="34" charset="-122"/>
                <a:cs typeface="Arial Black" pitchFamily="34" charset="-120"/>
              </a:rPr>
              <a:t>PROMPT</a:t>
            </a:r>
            <a:endParaRPr lang="en-US" sz="1200" dirty="0"/>
          </a:p>
        </p:txBody>
      </p:sp>
      <p:sp>
        <p:nvSpPr>
          <p:cNvPr id="8" name="Text 5"/>
          <p:cNvSpPr/>
          <p:nvPr/>
        </p:nvSpPr>
        <p:spPr>
          <a:xfrm>
            <a:off x="457200" y="2450592"/>
            <a:ext cx="1517904" cy="457200"/>
          </a:xfrm>
          <a:prstGeom prst="rect">
            <a:avLst/>
          </a:prstGeom>
          <a:noFill/>
          <a:ln/>
        </p:spPr>
        <p:txBody>
          <a:bodyPr wrap="square" rtlCol="0" anchor="ctr"/>
          <a:lstStyle/>
          <a:p>
            <a:pPr marL="0" indent="0" algn="ctr">
              <a:buNone/>
            </a:pPr>
            <a:r>
              <a:rPr lang="en-US" sz="1000" dirty="0">
                <a:solidFill>
                  <a:srgbClr val="DDD6FE"/>
                </a:solidFill>
                <a:latin typeface="Calibri" pitchFamily="34" charset="0"/>
                <a:ea typeface="Calibri" pitchFamily="34" charset="-122"/>
                <a:cs typeface="Calibri" pitchFamily="34" charset="-120"/>
              </a:rPr>
              <a:t>State the outcome</a:t>
            </a:r>
            <a:endParaRPr lang="en-US" sz="1000" dirty="0"/>
          </a:p>
        </p:txBody>
      </p:sp>
      <p:sp>
        <p:nvSpPr>
          <p:cNvPr id="9" name="Text 6"/>
          <p:cNvSpPr/>
          <p:nvPr/>
        </p:nvSpPr>
        <p:spPr>
          <a:xfrm>
            <a:off x="1956816" y="1874520"/>
            <a:ext cx="164592" cy="914400"/>
          </a:xfrm>
          <a:prstGeom prst="rect">
            <a:avLst/>
          </a:prstGeom>
          <a:noFill/>
          <a:ln/>
        </p:spPr>
        <p:txBody>
          <a:bodyPr wrap="square" rtlCol="0" anchor="ctr"/>
          <a:lstStyle/>
          <a:p>
            <a:pPr marL="0" indent="0" algn="ctr">
              <a:buNone/>
            </a:pPr>
            <a:r>
              <a:rPr lang="en-US" sz="2000" b="1" dirty="0">
                <a:solidFill>
                  <a:srgbClr val="7C3AED"/>
                </a:solidFill>
                <a:latin typeface="Calibri" pitchFamily="34" charset="0"/>
                <a:ea typeface="Calibri" pitchFamily="34" charset="-122"/>
                <a:cs typeface="Calibri" pitchFamily="34" charset="-120"/>
              </a:rPr>
              <a:t>›</a:t>
            </a:r>
            <a:endParaRPr lang="en-US" sz="2000" dirty="0"/>
          </a:p>
        </p:txBody>
      </p:sp>
      <p:sp>
        <p:nvSpPr>
          <p:cNvPr id="10" name="Shape 7"/>
          <p:cNvSpPr/>
          <p:nvPr/>
        </p:nvSpPr>
        <p:spPr>
          <a:xfrm>
            <a:off x="2139696" y="1600200"/>
            <a:ext cx="1517904" cy="1417320"/>
          </a:xfrm>
          <a:prstGeom prst="roundRect">
            <a:avLst>
              <a:gd name="adj" fmla="val 5161"/>
            </a:avLst>
          </a:prstGeom>
          <a:solidFill>
            <a:srgbClr val="2D1155"/>
          </a:solidFill>
          <a:ln/>
        </p:spPr>
        <p:txBody>
          <a:bodyPr/>
          <a:lstStyle/>
          <a:p>
            <a:endParaRPr lang="en-AU"/>
          </a:p>
        </p:txBody>
      </p:sp>
      <p:sp>
        <p:nvSpPr>
          <p:cNvPr id="11" name="Text 8"/>
          <p:cNvSpPr/>
          <p:nvPr/>
        </p:nvSpPr>
        <p:spPr>
          <a:xfrm>
            <a:off x="2139696" y="1700784"/>
            <a:ext cx="1517904" cy="384048"/>
          </a:xfrm>
          <a:prstGeom prst="rect">
            <a:avLst/>
          </a:prstGeom>
          <a:noFill/>
          <a:ln/>
        </p:spPr>
        <p:txBody>
          <a:bodyPr wrap="square" rtlCol="0" anchor="ctr"/>
          <a:lstStyle/>
          <a:p>
            <a:pPr marL="0" indent="0" algn="ctr">
              <a:buNone/>
            </a:pPr>
            <a:r>
              <a:rPr lang="en-US" sz="2000" b="1" dirty="0">
                <a:solidFill>
                  <a:srgbClr val="7C3AED"/>
                </a:solidFill>
                <a:latin typeface="Arial Black" pitchFamily="34" charset="0"/>
                <a:ea typeface="Arial Black" pitchFamily="34" charset="-122"/>
                <a:cs typeface="Arial Black" pitchFamily="34" charset="-120"/>
              </a:rPr>
              <a:t>2</a:t>
            </a:r>
            <a:endParaRPr lang="en-US" sz="2000" dirty="0"/>
          </a:p>
        </p:txBody>
      </p:sp>
      <p:sp>
        <p:nvSpPr>
          <p:cNvPr id="12" name="Text 9"/>
          <p:cNvSpPr/>
          <p:nvPr/>
        </p:nvSpPr>
        <p:spPr>
          <a:xfrm>
            <a:off x="2139696" y="2121408"/>
            <a:ext cx="1517904" cy="310896"/>
          </a:xfrm>
          <a:prstGeom prst="rect">
            <a:avLst/>
          </a:prstGeom>
          <a:noFill/>
          <a:ln/>
        </p:spPr>
        <p:txBody>
          <a:bodyPr wrap="square" rtlCol="0" anchor="ctr"/>
          <a:lstStyle/>
          <a:p>
            <a:pPr marL="0" indent="0" algn="ctr">
              <a:buNone/>
            </a:pPr>
            <a:r>
              <a:rPr lang="en-US" sz="1200" b="1" dirty="0">
                <a:solidFill>
                  <a:srgbClr val="FFFFFF"/>
                </a:solidFill>
                <a:latin typeface="Arial Black" pitchFamily="34" charset="0"/>
                <a:ea typeface="Arial Black" pitchFamily="34" charset="-122"/>
                <a:cs typeface="Arial Black" pitchFamily="34" charset="-120"/>
              </a:rPr>
              <a:t>GENERATE</a:t>
            </a:r>
            <a:endParaRPr lang="en-US" sz="1200" dirty="0"/>
          </a:p>
        </p:txBody>
      </p:sp>
      <p:sp>
        <p:nvSpPr>
          <p:cNvPr id="13" name="Text 10"/>
          <p:cNvSpPr/>
          <p:nvPr/>
        </p:nvSpPr>
        <p:spPr>
          <a:xfrm>
            <a:off x="2139696" y="2450592"/>
            <a:ext cx="1517904" cy="457200"/>
          </a:xfrm>
          <a:prstGeom prst="rect">
            <a:avLst/>
          </a:prstGeom>
          <a:noFill/>
          <a:ln/>
        </p:spPr>
        <p:txBody>
          <a:bodyPr wrap="square" rtlCol="0" anchor="ctr"/>
          <a:lstStyle/>
          <a:p>
            <a:pPr marL="0" indent="0" algn="ctr">
              <a:buNone/>
            </a:pPr>
            <a:r>
              <a:rPr lang="en-US" sz="1000" dirty="0">
                <a:solidFill>
                  <a:srgbClr val="DDD6FE"/>
                </a:solidFill>
                <a:latin typeface="Calibri" pitchFamily="34" charset="0"/>
                <a:ea typeface="Calibri" pitchFamily="34" charset="-122"/>
                <a:cs typeface="Calibri" pitchFamily="34" charset="-120"/>
              </a:rPr>
              <a:t>Agent writes code</a:t>
            </a:r>
            <a:endParaRPr lang="en-US" sz="1000" dirty="0"/>
          </a:p>
        </p:txBody>
      </p:sp>
      <p:sp>
        <p:nvSpPr>
          <p:cNvPr id="14" name="Text 11"/>
          <p:cNvSpPr/>
          <p:nvPr/>
        </p:nvSpPr>
        <p:spPr>
          <a:xfrm>
            <a:off x="3639312" y="1874520"/>
            <a:ext cx="164592" cy="914400"/>
          </a:xfrm>
          <a:prstGeom prst="rect">
            <a:avLst/>
          </a:prstGeom>
          <a:noFill/>
          <a:ln/>
        </p:spPr>
        <p:txBody>
          <a:bodyPr wrap="square" rtlCol="0" anchor="ctr"/>
          <a:lstStyle/>
          <a:p>
            <a:pPr marL="0" indent="0" algn="ctr">
              <a:buNone/>
            </a:pPr>
            <a:r>
              <a:rPr lang="en-US" sz="2000" b="1" dirty="0">
                <a:solidFill>
                  <a:srgbClr val="7C3AED"/>
                </a:solidFill>
                <a:latin typeface="Calibri" pitchFamily="34" charset="0"/>
                <a:ea typeface="Calibri" pitchFamily="34" charset="-122"/>
                <a:cs typeface="Calibri" pitchFamily="34" charset="-120"/>
              </a:rPr>
              <a:t>›</a:t>
            </a:r>
            <a:endParaRPr lang="en-US" sz="2000" dirty="0"/>
          </a:p>
        </p:txBody>
      </p:sp>
      <p:sp>
        <p:nvSpPr>
          <p:cNvPr id="15" name="Shape 12"/>
          <p:cNvSpPr/>
          <p:nvPr/>
        </p:nvSpPr>
        <p:spPr>
          <a:xfrm>
            <a:off x="3822192" y="1600200"/>
            <a:ext cx="1517904" cy="1417320"/>
          </a:xfrm>
          <a:prstGeom prst="roundRect">
            <a:avLst>
              <a:gd name="adj" fmla="val 5161"/>
            </a:avLst>
          </a:prstGeom>
          <a:solidFill>
            <a:srgbClr val="2D1155"/>
          </a:solidFill>
          <a:ln/>
        </p:spPr>
        <p:txBody>
          <a:bodyPr/>
          <a:lstStyle/>
          <a:p>
            <a:endParaRPr lang="en-AU"/>
          </a:p>
        </p:txBody>
      </p:sp>
      <p:sp>
        <p:nvSpPr>
          <p:cNvPr id="16" name="Text 13"/>
          <p:cNvSpPr/>
          <p:nvPr/>
        </p:nvSpPr>
        <p:spPr>
          <a:xfrm>
            <a:off x="3822192" y="1700784"/>
            <a:ext cx="1517904" cy="384048"/>
          </a:xfrm>
          <a:prstGeom prst="rect">
            <a:avLst/>
          </a:prstGeom>
          <a:noFill/>
          <a:ln/>
        </p:spPr>
        <p:txBody>
          <a:bodyPr wrap="square" rtlCol="0" anchor="ctr"/>
          <a:lstStyle/>
          <a:p>
            <a:pPr marL="0" indent="0" algn="ctr">
              <a:buNone/>
            </a:pPr>
            <a:r>
              <a:rPr lang="en-US" sz="2000" b="1" dirty="0">
                <a:solidFill>
                  <a:srgbClr val="7C3AED"/>
                </a:solidFill>
                <a:latin typeface="Arial Black" pitchFamily="34" charset="0"/>
                <a:ea typeface="Arial Black" pitchFamily="34" charset="-122"/>
                <a:cs typeface="Arial Black" pitchFamily="34" charset="-120"/>
              </a:rPr>
              <a:t>3</a:t>
            </a:r>
            <a:endParaRPr lang="en-US" sz="2000" dirty="0"/>
          </a:p>
        </p:txBody>
      </p:sp>
      <p:sp>
        <p:nvSpPr>
          <p:cNvPr id="17" name="Text 14"/>
          <p:cNvSpPr/>
          <p:nvPr/>
        </p:nvSpPr>
        <p:spPr>
          <a:xfrm>
            <a:off x="3822192" y="2121408"/>
            <a:ext cx="1517904" cy="310896"/>
          </a:xfrm>
          <a:prstGeom prst="rect">
            <a:avLst/>
          </a:prstGeom>
          <a:noFill/>
          <a:ln/>
        </p:spPr>
        <p:txBody>
          <a:bodyPr wrap="square" rtlCol="0" anchor="ctr"/>
          <a:lstStyle/>
          <a:p>
            <a:pPr marL="0" indent="0" algn="ctr">
              <a:buNone/>
            </a:pPr>
            <a:r>
              <a:rPr lang="en-US" sz="1200" b="1" dirty="0">
                <a:solidFill>
                  <a:srgbClr val="FFFFFF"/>
                </a:solidFill>
                <a:latin typeface="Arial Black" pitchFamily="34" charset="0"/>
                <a:ea typeface="Arial Black" pitchFamily="34" charset="-122"/>
                <a:cs typeface="Arial Black" pitchFamily="34" charset="-120"/>
              </a:rPr>
              <a:t>RUN</a:t>
            </a:r>
            <a:endParaRPr lang="en-US" sz="1200" dirty="0"/>
          </a:p>
        </p:txBody>
      </p:sp>
      <p:sp>
        <p:nvSpPr>
          <p:cNvPr id="18" name="Text 15"/>
          <p:cNvSpPr/>
          <p:nvPr/>
        </p:nvSpPr>
        <p:spPr>
          <a:xfrm>
            <a:off x="3822192" y="2450592"/>
            <a:ext cx="1517904" cy="457200"/>
          </a:xfrm>
          <a:prstGeom prst="rect">
            <a:avLst/>
          </a:prstGeom>
          <a:noFill/>
          <a:ln/>
        </p:spPr>
        <p:txBody>
          <a:bodyPr wrap="square" rtlCol="0" anchor="ctr"/>
          <a:lstStyle/>
          <a:p>
            <a:pPr marL="0" indent="0" algn="ctr">
              <a:buNone/>
            </a:pPr>
            <a:r>
              <a:rPr lang="en-US" sz="1000" dirty="0">
                <a:solidFill>
                  <a:srgbClr val="DDD6FE"/>
                </a:solidFill>
                <a:latin typeface="Calibri" pitchFamily="34" charset="0"/>
                <a:ea typeface="Calibri" pitchFamily="34" charset="-122"/>
                <a:cs typeface="Calibri" pitchFamily="34" charset="-120"/>
              </a:rPr>
              <a:t>Agent executes it</a:t>
            </a:r>
            <a:endParaRPr lang="en-US" sz="1000" dirty="0"/>
          </a:p>
        </p:txBody>
      </p:sp>
      <p:sp>
        <p:nvSpPr>
          <p:cNvPr id="19" name="Text 16"/>
          <p:cNvSpPr/>
          <p:nvPr/>
        </p:nvSpPr>
        <p:spPr>
          <a:xfrm>
            <a:off x="5321808" y="1874520"/>
            <a:ext cx="164592" cy="914400"/>
          </a:xfrm>
          <a:prstGeom prst="rect">
            <a:avLst/>
          </a:prstGeom>
          <a:noFill/>
          <a:ln/>
        </p:spPr>
        <p:txBody>
          <a:bodyPr wrap="square" rtlCol="0" anchor="ctr"/>
          <a:lstStyle/>
          <a:p>
            <a:pPr marL="0" indent="0" algn="ctr">
              <a:buNone/>
            </a:pPr>
            <a:r>
              <a:rPr lang="en-US" sz="2000" b="1" dirty="0">
                <a:solidFill>
                  <a:srgbClr val="7C3AED"/>
                </a:solidFill>
                <a:latin typeface="Calibri" pitchFamily="34" charset="0"/>
                <a:ea typeface="Calibri" pitchFamily="34" charset="-122"/>
                <a:cs typeface="Calibri" pitchFamily="34" charset="-120"/>
              </a:rPr>
              <a:t>›</a:t>
            </a:r>
            <a:endParaRPr lang="en-US" sz="2000" dirty="0"/>
          </a:p>
        </p:txBody>
      </p:sp>
      <p:sp>
        <p:nvSpPr>
          <p:cNvPr id="20" name="Shape 17"/>
          <p:cNvSpPr/>
          <p:nvPr/>
        </p:nvSpPr>
        <p:spPr>
          <a:xfrm>
            <a:off x="5504688" y="1600200"/>
            <a:ext cx="1517904" cy="1417320"/>
          </a:xfrm>
          <a:prstGeom prst="roundRect">
            <a:avLst>
              <a:gd name="adj" fmla="val 5161"/>
            </a:avLst>
          </a:prstGeom>
          <a:solidFill>
            <a:srgbClr val="2D1155"/>
          </a:solidFill>
          <a:ln/>
        </p:spPr>
        <p:txBody>
          <a:bodyPr/>
          <a:lstStyle/>
          <a:p>
            <a:endParaRPr lang="en-AU"/>
          </a:p>
        </p:txBody>
      </p:sp>
      <p:sp>
        <p:nvSpPr>
          <p:cNvPr id="21" name="Text 18"/>
          <p:cNvSpPr/>
          <p:nvPr/>
        </p:nvSpPr>
        <p:spPr>
          <a:xfrm>
            <a:off x="5504688" y="1700784"/>
            <a:ext cx="1517904" cy="384048"/>
          </a:xfrm>
          <a:prstGeom prst="rect">
            <a:avLst/>
          </a:prstGeom>
          <a:noFill/>
          <a:ln/>
        </p:spPr>
        <p:txBody>
          <a:bodyPr wrap="square" rtlCol="0" anchor="ctr"/>
          <a:lstStyle/>
          <a:p>
            <a:pPr marL="0" indent="0" algn="ctr">
              <a:buNone/>
            </a:pPr>
            <a:r>
              <a:rPr lang="en-US" sz="2000" b="1" dirty="0">
                <a:solidFill>
                  <a:srgbClr val="F59E0B"/>
                </a:solidFill>
                <a:latin typeface="Arial Black" pitchFamily="34" charset="0"/>
                <a:ea typeface="Arial Black" pitchFamily="34" charset="-122"/>
                <a:cs typeface="Arial Black" pitchFamily="34" charset="-120"/>
              </a:rPr>
              <a:t>4</a:t>
            </a:r>
            <a:endParaRPr lang="en-US" sz="2000" dirty="0"/>
          </a:p>
        </p:txBody>
      </p:sp>
      <p:sp>
        <p:nvSpPr>
          <p:cNvPr id="22" name="Text 19"/>
          <p:cNvSpPr/>
          <p:nvPr/>
        </p:nvSpPr>
        <p:spPr>
          <a:xfrm>
            <a:off x="5504688" y="2121408"/>
            <a:ext cx="1517904" cy="310896"/>
          </a:xfrm>
          <a:prstGeom prst="rect">
            <a:avLst/>
          </a:prstGeom>
          <a:noFill/>
          <a:ln/>
        </p:spPr>
        <p:txBody>
          <a:bodyPr wrap="square" rtlCol="0" anchor="ctr"/>
          <a:lstStyle/>
          <a:p>
            <a:pPr marL="0" indent="0" algn="ctr">
              <a:buNone/>
            </a:pPr>
            <a:r>
              <a:rPr lang="en-US" sz="1200" b="1" dirty="0">
                <a:solidFill>
                  <a:srgbClr val="FFFFFF"/>
                </a:solidFill>
                <a:latin typeface="Arial Black" pitchFamily="34" charset="0"/>
                <a:ea typeface="Arial Black" pitchFamily="34" charset="-122"/>
                <a:cs typeface="Arial Black" pitchFamily="34" charset="-120"/>
              </a:rPr>
              <a:t>OBSERVE</a:t>
            </a:r>
            <a:endParaRPr lang="en-US" sz="1200" dirty="0"/>
          </a:p>
        </p:txBody>
      </p:sp>
      <p:sp>
        <p:nvSpPr>
          <p:cNvPr id="23" name="Text 20"/>
          <p:cNvSpPr/>
          <p:nvPr/>
        </p:nvSpPr>
        <p:spPr>
          <a:xfrm>
            <a:off x="5504688" y="2450592"/>
            <a:ext cx="1517904" cy="457200"/>
          </a:xfrm>
          <a:prstGeom prst="rect">
            <a:avLst/>
          </a:prstGeom>
          <a:noFill/>
          <a:ln/>
        </p:spPr>
        <p:txBody>
          <a:bodyPr wrap="square" rtlCol="0" anchor="ctr"/>
          <a:lstStyle/>
          <a:p>
            <a:pPr marL="0" indent="0" algn="ctr">
              <a:buNone/>
            </a:pPr>
            <a:r>
              <a:rPr lang="en-US" sz="1000" dirty="0">
                <a:solidFill>
                  <a:srgbClr val="DDD6FE"/>
                </a:solidFill>
                <a:latin typeface="Calibri" pitchFamily="34" charset="0"/>
                <a:ea typeface="Calibri" pitchFamily="34" charset="-122"/>
                <a:cs typeface="Calibri" pitchFamily="34" charset="-120"/>
              </a:rPr>
              <a:t>You look at reality</a:t>
            </a:r>
            <a:endParaRPr lang="en-US" sz="1000" dirty="0"/>
          </a:p>
        </p:txBody>
      </p:sp>
      <p:sp>
        <p:nvSpPr>
          <p:cNvPr id="24" name="Text 21"/>
          <p:cNvSpPr/>
          <p:nvPr/>
        </p:nvSpPr>
        <p:spPr>
          <a:xfrm>
            <a:off x="7004304" y="1874520"/>
            <a:ext cx="164592" cy="914400"/>
          </a:xfrm>
          <a:prstGeom prst="rect">
            <a:avLst/>
          </a:prstGeom>
          <a:noFill/>
          <a:ln/>
        </p:spPr>
        <p:txBody>
          <a:bodyPr wrap="square" rtlCol="0" anchor="ctr"/>
          <a:lstStyle/>
          <a:p>
            <a:pPr marL="0" indent="0" algn="ctr">
              <a:buNone/>
            </a:pPr>
            <a:r>
              <a:rPr lang="en-US" sz="2000" b="1" dirty="0">
                <a:solidFill>
                  <a:srgbClr val="7C3AED"/>
                </a:solidFill>
                <a:latin typeface="Calibri" pitchFamily="34" charset="0"/>
                <a:ea typeface="Calibri" pitchFamily="34" charset="-122"/>
                <a:cs typeface="Calibri" pitchFamily="34" charset="-120"/>
              </a:rPr>
              <a:t>›</a:t>
            </a:r>
            <a:endParaRPr lang="en-US" sz="2000" dirty="0"/>
          </a:p>
        </p:txBody>
      </p:sp>
      <p:sp>
        <p:nvSpPr>
          <p:cNvPr id="25" name="Shape 22"/>
          <p:cNvSpPr/>
          <p:nvPr/>
        </p:nvSpPr>
        <p:spPr>
          <a:xfrm>
            <a:off x="7187184" y="1600200"/>
            <a:ext cx="1517904" cy="1417320"/>
          </a:xfrm>
          <a:prstGeom prst="roundRect">
            <a:avLst>
              <a:gd name="adj" fmla="val 5161"/>
            </a:avLst>
          </a:prstGeom>
          <a:solidFill>
            <a:srgbClr val="2D1155"/>
          </a:solidFill>
          <a:ln/>
        </p:spPr>
        <p:txBody>
          <a:bodyPr/>
          <a:lstStyle/>
          <a:p>
            <a:endParaRPr lang="en-AU"/>
          </a:p>
        </p:txBody>
      </p:sp>
      <p:sp>
        <p:nvSpPr>
          <p:cNvPr id="26" name="Text 23"/>
          <p:cNvSpPr/>
          <p:nvPr/>
        </p:nvSpPr>
        <p:spPr>
          <a:xfrm>
            <a:off x="7187184" y="1700784"/>
            <a:ext cx="1517904" cy="384048"/>
          </a:xfrm>
          <a:prstGeom prst="rect">
            <a:avLst/>
          </a:prstGeom>
          <a:noFill/>
          <a:ln/>
        </p:spPr>
        <p:txBody>
          <a:bodyPr wrap="square" rtlCol="0" anchor="ctr"/>
          <a:lstStyle/>
          <a:p>
            <a:pPr marL="0" indent="0" algn="ctr">
              <a:buNone/>
            </a:pPr>
            <a:r>
              <a:rPr lang="en-US" sz="2000" b="1" dirty="0">
                <a:solidFill>
                  <a:srgbClr val="F59E0B"/>
                </a:solidFill>
                <a:latin typeface="Arial Black" pitchFamily="34" charset="0"/>
                <a:ea typeface="Arial Black" pitchFamily="34" charset="-122"/>
                <a:cs typeface="Arial Black" pitchFamily="34" charset="-120"/>
              </a:rPr>
              <a:t>5</a:t>
            </a:r>
            <a:endParaRPr lang="en-US" sz="2000" dirty="0"/>
          </a:p>
        </p:txBody>
      </p:sp>
      <p:sp>
        <p:nvSpPr>
          <p:cNvPr id="27" name="Text 24"/>
          <p:cNvSpPr/>
          <p:nvPr/>
        </p:nvSpPr>
        <p:spPr>
          <a:xfrm>
            <a:off x="7187184" y="2121408"/>
            <a:ext cx="1517904" cy="310896"/>
          </a:xfrm>
          <a:prstGeom prst="rect">
            <a:avLst/>
          </a:prstGeom>
          <a:noFill/>
          <a:ln/>
        </p:spPr>
        <p:txBody>
          <a:bodyPr wrap="square" rtlCol="0" anchor="ctr"/>
          <a:lstStyle/>
          <a:p>
            <a:pPr marL="0" indent="0" algn="ctr">
              <a:buNone/>
            </a:pPr>
            <a:r>
              <a:rPr lang="en-US" sz="1200" b="1" dirty="0">
                <a:solidFill>
                  <a:srgbClr val="FFFFFF"/>
                </a:solidFill>
                <a:latin typeface="Arial Black" pitchFamily="34" charset="0"/>
                <a:ea typeface="Arial Black" pitchFamily="34" charset="-122"/>
                <a:cs typeface="Arial Black" pitchFamily="34" charset="-120"/>
              </a:rPr>
              <a:t>REACT</a:t>
            </a:r>
            <a:endParaRPr lang="en-US" sz="1200" dirty="0"/>
          </a:p>
        </p:txBody>
      </p:sp>
      <p:sp>
        <p:nvSpPr>
          <p:cNvPr id="28" name="Text 25"/>
          <p:cNvSpPr/>
          <p:nvPr/>
        </p:nvSpPr>
        <p:spPr>
          <a:xfrm>
            <a:off x="7187184" y="2450592"/>
            <a:ext cx="1517904" cy="457200"/>
          </a:xfrm>
          <a:prstGeom prst="rect">
            <a:avLst/>
          </a:prstGeom>
          <a:noFill/>
          <a:ln/>
        </p:spPr>
        <p:txBody>
          <a:bodyPr wrap="square" rtlCol="0" anchor="ctr"/>
          <a:lstStyle/>
          <a:p>
            <a:pPr marL="0" indent="0" algn="ctr">
              <a:buNone/>
            </a:pPr>
            <a:r>
              <a:rPr lang="en-US" sz="1000" dirty="0">
                <a:solidFill>
                  <a:srgbClr val="DDD6FE"/>
                </a:solidFill>
                <a:latin typeface="Calibri" pitchFamily="34" charset="0"/>
                <a:ea typeface="Calibri" pitchFamily="34" charset="-122"/>
                <a:cs typeface="Calibri" pitchFamily="34" charset="-120"/>
              </a:rPr>
              <a:t>You steer, repeat</a:t>
            </a:r>
            <a:endParaRPr lang="en-US" sz="1000" dirty="0"/>
          </a:p>
        </p:txBody>
      </p:sp>
      <p:sp>
        <p:nvSpPr>
          <p:cNvPr id="29" name="Shape 26"/>
          <p:cNvSpPr/>
          <p:nvPr/>
        </p:nvSpPr>
        <p:spPr>
          <a:xfrm>
            <a:off x="457200" y="3246120"/>
            <a:ext cx="8229600" cy="1234440"/>
          </a:xfrm>
          <a:prstGeom prst="roundRect">
            <a:avLst>
              <a:gd name="adj" fmla="val 5926"/>
            </a:avLst>
          </a:prstGeom>
          <a:solidFill>
            <a:srgbClr val="DDD6FE"/>
          </a:solidFill>
          <a:ln/>
        </p:spPr>
        <p:txBody>
          <a:bodyPr/>
          <a:lstStyle/>
          <a:p>
            <a:endParaRPr lang="en-AU"/>
          </a:p>
        </p:txBody>
      </p:sp>
      <p:sp>
        <p:nvSpPr>
          <p:cNvPr id="30" name="Text 27"/>
          <p:cNvSpPr/>
          <p:nvPr/>
        </p:nvSpPr>
        <p:spPr>
          <a:xfrm>
            <a:off x="731520" y="3383280"/>
            <a:ext cx="7680960" cy="914400"/>
          </a:xfrm>
          <a:prstGeom prst="rect">
            <a:avLst/>
          </a:prstGeom>
          <a:noFill/>
          <a:ln/>
        </p:spPr>
        <p:txBody>
          <a:bodyPr wrap="square" rtlCol="0" anchor="ctr"/>
          <a:lstStyle/>
          <a:p>
            <a:pPr marL="0" indent="0">
              <a:buNone/>
            </a:pPr>
            <a:r>
              <a:rPr lang="en-US" sz="1400" b="1" dirty="0">
                <a:solidFill>
                  <a:srgbClr val="2D1155"/>
                </a:solidFill>
                <a:latin typeface="Calibri" pitchFamily="34" charset="0"/>
                <a:ea typeface="Calibri" pitchFamily="34" charset="-122"/>
                <a:cs typeface="Calibri" pitchFamily="34" charset="-120"/>
              </a:rPr>
              <a:t>Your job lives in steps 1, 4 and 5.  </a:t>
            </a:r>
            <a:r>
              <a:rPr lang="en-US" sz="1400" dirty="0">
                <a:solidFill>
                  <a:srgbClr val="2D1155"/>
                </a:solidFill>
                <a:latin typeface="Calibri" pitchFamily="34" charset="0"/>
                <a:ea typeface="Calibri" pitchFamily="34" charset="-122"/>
                <a:cs typeface="Calibri" pitchFamily="34" charset="-120"/>
              </a:rPr>
              <a:t>The agent owns 2 and 3. The faster you spin this loop, the more you ship — so keep each turn small.</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5F3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566928"/>
          </a:xfrm>
          <a:prstGeom prst="rect">
            <a:avLst/>
          </a:prstGeom>
          <a:noFill/>
          <a:ln/>
        </p:spPr>
        <p:txBody>
          <a:bodyPr wrap="square" rtlCol="0" anchor="ctr"/>
          <a:lstStyle/>
          <a:p>
            <a:pPr marL="0" indent="0" algn="l">
              <a:buNone/>
            </a:pPr>
            <a:r>
              <a:rPr lang="en-US" sz="1900" b="1" kern="0" spc="100" dirty="0">
                <a:solidFill>
                  <a:srgbClr val="2D1155"/>
                </a:solidFill>
                <a:latin typeface="Arial Black" pitchFamily="34" charset="0"/>
                <a:ea typeface="Arial Black" pitchFamily="34" charset="-122"/>
                <a:cs typeface="Arial Black" pitchFamily="34" charset="-120"/>
              </a:rPr>
              <a:t>WHAT THE AGENT ACTUALLY IS</a:t>
            </a:r>
            <a:endParaRPr lang="en-US" sz="1900" dirty="0"/>
          </a:p>
        </p:txBody>
      </p:sp>
      <p:sp>
        <p:nvSpPr>
          <p:cNvPr id="3" name="Text 1"/>
          <p:cNvSpPr/>
          <p:nvPr/>
        </p:nvSpPr>
        <p:spPr>
          <a:xfrm>
            <a:off x="475488" y="896112"/>
            <a:ext cx="8229600" cy="329184"/>
          </a:xfrm>
          <a:prstGeom prst="rect">
            <a:avLst/>
          </a:prstGeom>
          <a:noFill/>
          <a:ln/>
        </p:spPr>
        <p:txBody>
          <a:bodyPr wrap="square" rtlCol="0" anchor="ctr"/>
          <a:lstStyle/>
          <a:p>
            <a:pPr marL="0" indent="0">
              <a:buNone/>
            </a:pPr>
            <a:r>
              <a:rPr lang="en-US" sz="1300" i="1" dirty="0">
                <a:solidFill>
                  <a:srgbClr val="6E6389"/>
                </a:solidFill>
                <a:latin typeface="Calibri" pitchFamily="34" charset="0"/>
                <a:ea typeface="Calibri" pitchFamily="34" charset="-122"/>
                <a:cs typeface="Calibri" pitchFamily="34" charset="-120"/>
              </a:rPr>
              <a:t>Under the hood.</a:t>
            </a:r>
            <a:endParaRPr lang="en-US" sz="1300" dirty="0"/>
          </a:p>
        </p:txBody>
      </p:sp>
      <p:pic>
        <p:nvPicPr>
          <p:cNvPr id="4" name="Image 0" descr="logo_icon.jpeg"/>
          <p:cNvPicPr>
            <a:picLocks noChangeAspect="1"/>
          </p:cNvPicPr>
          <p:nvPr/>
        </p:nvPicPr>
        <p:blipFill>
          <a:blip r:embed="rId3"/>
          <a:stretch>
            <a:fillRect/>
          </a:stretch>
        </p:blipFill>
        <p:spPr>
          <a:xfrm>
            <a:off x="8366760" y="4526280"/>
            <a:ext cx="411480" cy="411480"/>
          </a:xfrm>
          <a:prstGeom prst="ellipse">
            <a:avLst/>
          </a:prstGeom>
        </p:spPr>
      </p:pic>
      <p:sp>
        <p:nvSpPr>
          <p:cNvPr id="5" name="Shape 2"/>
          <p:cNvSpPr/>
          <p:nvPr/>
        </p:nvSpPr>
        <p:spPr>
          <a:xfrm>
            <a:off x="457200" y="1463040"/>
            <a:ext cx="3931920" cy="1444752"/>
          </a:xfrm>
          <a:prstGeom prst="roundRect">
            <a:avLst>
              <a:gd name="adj" fmla="val 5063"/>
            </a:avLst>
          </a:prstGeom>
          <a:solidFill>
            <a:srgbClr val="2D1155"/>
          </a:solidFill>
          <a:ln/>
        </p:spPr>
        <p:txBody>
          <a:bodyPr/>
          <a:lstStyle/>
          <a:p>
            <a:endParaRPr lang="en-AU"/>
          </a:p>
        </p:txBody>
      </p:sp>
      <p:sp>
        <p:nvSpPr>
          <p:cNvPr id="6" name="Shape 3"/>
          <p:cNvSpPr/>
          <p:nvPr/>
        </p:nvSpPr>
        <p:spPr>
          <a:xfrm>
            <a:off x="694944" y="1700784"/>
            <a:ext cx="457200" cy="457200"/>
          </a:xfrm>
          <a:prstGeom prst="ellipse">
            <a:avLst/>
          </a:prstGeom>
          <a:solidFill>
            <a:srgbClr val="7C3AED"/>
          </a:solidFill>
          <a:ln/>
        </p:spPr>
        <p:txBody>
          <a:bodyPr/>
          <a:lstStyle/>
          <a:p>
            <a:endParaRPr lang="en-AU"/>
          </a:p>
        </p:txBody>
      </p:sp>
      <p:sp>
        <p:nvSpPr>
          <p:cNvPr id="7" name="Text 4"/>
          <p:cNvSpPr/>
          <p:nvPr/>
        </p:nvSpPr>
        <p:spPr>
          <a:xfrm>
            <a:off x="694944" y="1700784"/>
            <a:ext cx="457200" cy="457200"/>
          </a:xfrm>
          <a:prstGeom prst="rect">
            <a:avLst/>
          </a:prstGeom>
          <a:noFill/>
          <a:ln/>
        </p:spPr>
        <p:txBody>
          <a:bodyPr wrap="square" rtlCol="0" anchor="ctr"/>
          <a:lstStyle/>
          <a:p>
            <a:pPr marL="0" indent="0" algn="ctr">
              <a:buNone/>
            </a:pPr>
            <a:r>
              <a:rPr lang="en-US" sz="1200" b="1" dirty="0">
                <a:solidFill>
                  <a:srgbClr val="FFFFFF"/>
                </a:solidFill>
                <a:latin typeface="Arial Black" pitchFamily="34" charset="0"/>
                <a:ea typeface="Arial Black" pitchFamily="34" charset="-122"/>
                <a:cs typeface="Arial Black" pitchFamily="34" charset="-120"/>
              </a:rPr>
              <a:t>1</a:t>
            </a:r>
            <a:endParaRPr lang="en-US" sz="1200" dirty="0"/>
          </a:p>
        </p:txBody>
      </p:sp>
      <p:sp>
        <p:nvSpPr>
          <p:cNvPr id="8" name="Text 5"/>
          <p:cNvSpPr/>
          <p:nvPr/>
        </p:nvSpPr>
        <p:spPr>
          <a:xfrm>
            <a:off x="1298448" y="1682496"/>
            <a:ext cx="2926080" cy="457200"/>
          </a:xfrm>
          <a:prstGeom prst="rect">
            <a:avLst/>
          </a:prstGeom>
          <a:noFill/>
          <a:ln/>
        </p:spPr>
        <p:txBody>
          <a:bodyPr wrap="square" rtlCol="0" anchor="ctr"/>
          <a:lstStyle/>
          <a:p>
            <a:pPr marL="0" indent="0">
              <a:buNone/>
            </a:pPr>
            <a:r>
              <a:rPr lang="en-US" sz="1400" b="1" dirty="0">
                <a:solidFill>
                  <a:srgbClr val="7C3AED"/>
                </a:solidFill>
                <a:latin typeface="Arial Black" pitchFamily="34" charset="0"/>
                <a:ea typeface="Arial Black" pitchFamily="34" charset="-122"/>
                <a:cs typeface="Arial Black" pitchFamily="34" charset="-120"/>
              </a:rPr>
              <a:t>Context window</a:t>
            </a:r>
            <a:endParaRPr lang="en-US" sz="1400" dirty="0"/>
          </a:p>
        </p:txBody>
      </p:sp>
      <p:sp>
        <p:nvSpPr>
          <p:cNvPr id="9" name="Text 6"/>
          <p:cNvSpPr/>
          <p:nvPr/>
        </p:nvSpPr>
        <p:spPr>
          <a:xfrm>
            <a:off x="713232" y="2212848"/>
            <a:ext cx="3520440" cy="603504"/>
          </a:xfrm>
          <a:prstGeom prst="rect">
            <a:avLst/>
          </a:prstGeom>
          <a:noFill/>
          <a:ln/>
        </p:spPr>
        <p:txBody>
          <a:bodyPr wrap="square" rtlCol="0" anchor="t"/>
          <a:lstStyle/>
          <a:p>
            <a:pPr marL="0" indent="0">
              <a:buNone/>
            </a:pPr>
            <a:r>
              <a:rPr lang="en-US" sz="1100" dirty="0">
                <a:solidFill>
                  <a:srgbClr val="DDD6FE"/>
                </a:solidFill>
                <a:latin typeface="Calibri" pitchFamily="34" charset="0"/>
                <a:ea typeface="Calibri" pitchFamily="34" charset="-122"/>
                <a:cs typeface="Calibri" pitchFamily="34" charset="-120"/>
              </a:rPr>
              <a:t>Everything it can see now: your prompt, files, past turns, tool output. Finite — and it fills up.</a:t>
            </a:r>
            <a:endParaRPr lang="en-US" sz="1100" dirty="0"/>
          </a:p>
        </p:txBody>
      </p:sp>
      <p:sp>
        <p:nvSpPr>
          <p:cNvPr id="10" name="Shape 7"/>
          <p:cNvSpPr/>
          <p:nvPr/>
        </p:nvSpPr>
        <p:spPr>
          <a:xfrm>
            <a:off x="4754880" y="1463040"/>
            <a:ext cx="3931920" cy="1444752"/>
          </a:xfrm>
          <a:prstGeom prst="roundRect">
            <a:avLst>
              <a:gd name="adj" fmla="val 5063"/>
            </a:avLst>
          </a:prstGeom>
          <a:solidFill>
            <a:srgbClr val="2D1155"/>
          </a:solidFill>
          <a:ln/>
        </p:spPr>
        <p:txBody>
          <a:bodyPr/>
          <a:lstStyle/>
          <a:p>
            <a:endParaRPr lang="en-AU"/>
          </a:p>
        </p:txBody>
      </p:sp>
      <p:sp>
        <p:nvSpPr>
          <p:cNvPr id="11" name="Shape 8"/>
          <p:cNvSpPr/>
          <p:nvPr/>
        </p:nvSpPr>
        <p:spPr>
          <a:xfrm>
            <a:off x="4992624" y="1700784"/>
            <a:ext cx="457200" cy="457200"/>
          </a:xfrm>
          <a:prstGeom prst="ellipse">
            <a:avLst/>
          </a:prstGeom>
          <a:solidFill>
            <a:srgbClr val="F59E0B"/>
          </a:solidFill>
          <a:ln/>
        </p:spPr>
        <p:txBody>
          <a:bodyPr/>
          <a:lstStyle/>
          <a:p>
            <a:endParaRPr lang="en-AU"/>
          </a:p>
        </p:txBody>
      </p:sp>
      <p:sp>
        <p:nvSpPr>
          <p:cNvPr id="12" name="Text 9"/>
          <p:cNvSpPr/>
          <p:nvPr/>
        </p:nvSpPr>
        <p:spPr>
          <a:xfrm>
            <a:off x="4992624" y="1700784"/>
            <a:ext cx="457200" cy="457200"/>
          </a:xfrm>
          <a:prstGeom prst="rect">
            <a:avLst/>
          </a:prstGeom>
          <a:noFill/>
          <a:ln/>
        </p:spPr>
        <p:txBody>
          <a:bodyPr wrap="square" rtlCol="0" anchor="ctr"/>
          <a:lstStyle/>
          <a:p>
            <a:pPr marL="0" indent="0" algn="ctr">
              <a:buNone/>
            </a:pPr>
            <a:r>
              <a:rPr lang="en-US" sz="1200" b="1" dirty="0">
                <a:solidFill>
                  <a:srgbClr val="2D1155"/>
                </a:solidFill>
                <a:latin typeface="Arial Black" pitchFamily="34" charset="0"/>
                <a:ea typeface="Arial Black" pitchFamily="34" charset="-122"/>
                <a:cs typeface="Arial Black" pitchFamily="34" charset="-120"/>
              </a:rPr>
              <a:t>2</a:t>
            </a:r>
            <a:endParaRPr lang="en-US" sz="1200" dirty="0"/>
          </a:p>
        </p:txBody>
      </p:sp>
      <p:sp>
        <p:nvSpPr>
          <p:cNvPr id="13" name="Text 10"/>
          <p:cNvSpPr/>
          <p:nvPr/>
        </p:nvSpPr>
        <p:spPr>
          <a:xfrm>
            <a:off x="5596128" y="1682496"/>
            <a:ext cx="2926080" cy="457200"/>
          </a:xfrm>
          <a:prstGeom prst="rect">
            <a:avLst/>
          </a:prstGeom>
          <a:noFill/>
          <a:ln/>
        </p:spPr>
        <p:txBody>
          <a:bodyPr wrap="square" rtlCol="0" anchor="ctr"/>
          <a:lstStyle/>
          <a:p>
            <a:pPr marL="0" indent="0">
              <a:buNone/>
            </a:pPr>
            <a:r>
              <a:rPr lang="en-US" sz="1400" b="1" dirty="0">
                <a:solidFill>
                  <a:srgbClr val="F59E0B"/>
                </a:solidFill>
                <a:latin typeface="Arial Black" pitchFamily="34" charset="0"/>
                <a:ea typeface="Arial Black" pitchFamily="34" charset="-122"/>
                <a:cs typeface="Arial Black" pitchFamily="34" charset="-120"/>
              </a:rPr>
              <a:t>Tools</a:t>
            </a:r>
            <a:endParaRPr lang="en-US" sz="1400" dirty="0"/>
          </a:p>
        </p:txBody>
      </p:sp>
      <p:sp>
        <p:nvSpPr>
          <p:cNvPr id="14" name="Text 11"/>
          <p:cNvSpPr/>
          <p:nvPr/>
        </p:nvSpPr>
        <p:spPr>
          <a:xfrm>
            <a:off x="5010912" y="2212848"/>
            <a:ext cx="3520440" cy="603504"/>
          </a:xfrm>
          <a:prstGeom prst="rect">
            <a:avLst/>
          </a:prstGeom>
          <a:noFill/>
          <a:ln/>
        </p:spPr>
        <p:txBody>
          <a:bodyPr wrap="square" rtlCol="0" anchor="t"/>
          <a:lstStyle/>
          <a:p>
            <a:pPr marL="0" indent="0">
              <a:buNone/>
            </a:pPr>
            <a:r>
              <a:rPr lang="en-US" sz="1100" dirty="0">
                <a:solidFill>
                  <a:srgbClr val="DDD6FE"/>
                </a:solidFill>
                <a:latin typeface="Calibri" pitchFamily="34" charset="0"/>
                <a:ea typeface="Calibri" pitchFamily="34" charset="-122"/>
                <a:cs typeface="Calibri" pitchFamily="34" charset="-120"/>
              </a:rPr>
              <a:t>How it acts: read/write files, run the shell, run tests, git, search, MCP servers.</a:t>
            </a:r>
            <a:endParaRPr lang="en-US" sz="1100" dirty="0"/>
          </a:p>
        </p:txBody>
      </p:sp>
      <p:sp>
        <p:nvSpPr>
          <p:cNvPr id="15" name="Shape 12"/>
          <p:cNvSpPr/>
          <p:nvPr/>
        </p:nvSpPr>
        <p:spPr>
          <a:xfrm>
            <a:off x="457200" y="3035808"/>
            <a:ext cx="3931920" cy="1444752"/>
          </a:xfrm>
          <a:prstGeom prst="roundRect">
            <a:avLst>
              <a:gd name="adj" fmla="val 5063"/>
            </a:avLst>
          </a:prstGeom>
          <a:solidFill>
            <a:srgbClr val="2D1155"/>
          </a:solidFill>
          <a:ln/>
        </p:spPr>
        <p:txBody>
          <a:bodyPr/>
          <a:lstStyle/>
          <a:p>
            <a:endParaRPr lang="en-AU"/>
          </a:p>
        </p:txBody>
      </p:sp>
      <p:sp>
        <p:nvSpPr>
          <p:cNvPr id="16" name="Shape 13"/>
          <p:cNvSpPr/>
          <p:nvPr/>
        </p:nvSpPr>
        <p:spPr>
          <a:xfrm>
            <a:off x="694944" y="3273552"/>
            <a:ext cx="457200" cy="457200"/>
          </a:xfrm>
          <a:prstGeom prst="ellipse">
            <a:avLst/>
          </a:prstGeom>
          <a:solidFill>
            <a:srgbClr val="7C3AED"/>
          </a:solidFill>
          <a:ln/>
        </p:spPr>
        <p:txBody>
          <a:bodyPr/>
          <a:lstStyle/>
          <a:p>
            <a:endParaRPr lang="en-AU"/>
          </a:p>
        </p:txBody>
      </p:sp>
      <p:sp>
        <p:nvSpPr>
          <p:cNvPr id="17" name="Text 14"/>
          <p:cNvSpPr/>
          <p:nvPr/>
        </p:nvSpPr>
        <p:spPr>
          <a:xfrm>
            <a:off x="694944" y="3273552"/>
            <a:ext cx="457200" cy="457200"/>
          </a:xfrm>
          <a:prstGeom prst="rect">
            <a:avLst/>
          </a:prstGeom>
          <a:noFill/>
          <a:ln/>
        </p:spPr>
        <p:txBody>
          <a:bodyPr wrap="square" rtlCol="0" anchor="ctr"/>
          <a:lstStyle/>
          <a:p>
            <a:pPr marL="0" indent="0" algn="ctr">
              <a:buNone/>
            </a:pPr>
            <a:r>
              <a:rPr lang="en-US" sz="1200" b="1" dirty="0">
                <a:solidFill>
                  <a:srgbClr val="FFFFFF"/>
                </a:solidFill>
                <a:latin typeface="Arial Black" pitchFamily="34" charset="0"/>
                <a:ea typeface="Arial Black" pitchFamily="34" charset="-122"/>
                <a:cs typeface="Arial Black" pitchFamily="34" charset="-120"/>
              </a:rPr>
              <a:t>3</a:t>
            </a:r>
            <a:endParaRPr lang="en-US" sz="1200" dirty="0"/>
          </a:p>
        </p:txBody>
      </p:sp>
      <p:sp>
        <p:nvSpPr>
          <p:cNvPr id="18" name="Text 15"/>
          <p:cNvSpPr/>
          <p:nvPr/>
        </p:nvSpPr>
        <p:spPr>
          <a:xfrm>
            <a:off x="1298448" y="3255264"/>
            <a:ext cx="2926080" cy="457200"/>
          </a:xfrm>
          <a:prstGeom prst="rect">
            <a:avLst/>
          </a:prstGeom>
          <a:noFill/>
          <a:ln/>
        </p:spPr>
        <p:txBody>
          <a:bodyPr wrap="square" rtlCol="0" anchor="ctr"/>
          <a:lstStyle/>
          <a:p>
            <a:pPr marL="0" indent="0">
              <a:buNone/>
            </a:pPr>
            <a:r>
              <a:rPr lang="en-US" sz="1400" b="1" dirty="0">
                <a:solidFill>
                  <a:srgbClr val="7C3AED"/>
                </a:solidFill>
                <a:latin typeface="Arial Black" pitchFamily="34" charset="0"/>
                <a:ea typeface="Arial Black" pitchFamily="34" charset="-122"/>
                <a:cs typeface="Arial Black" pitchFamily="34" charset="-120"/>
              </a:rPr>
              <a:t>The loop</a:t>
            </a:r>
            <a:endParaRPr lang="en-US" sz="1400" dirty="0"/>
          </a:p>
        </p:txBody>
      </p:sp>
      <p:sp>
        <p:nvSpPr>
          <p:cNvPr id="19" name="Text 16"/>
          <p:cNvSpPr/>
          <p:nvPr/>
        </p:nvSpPr>
        <p:spPr>
          <a:xfrm>
            <a:off x="713232" y="3785616"/>
            <a:ext cx="3520440" cy="603504"/>
          </a:xfrm>
          <a:prstGeom prst="rect">
            <a:avLst/>
          </a:prstGeom>
          <a:noFill/>
          <a:ln/>
        </p:spPr>
        <p:txBody>
          <a:bodyPr wrap="square" rtlCol="0" anchor="t"/>
          <a:lstStyle/>
          <a:p>
            <a:pPr marL="0" indent="0">
              <a:buNone/>
            </a:pPr>
            <a:r>
              <a:rPr lang="en-US" sz="1100" dirty="0">
                <a:solidFill>
                  <a:srgbClr val="DDD6FE"/>
                </a:solidFill>
                <a:latin typeface="Calibri" pitchFamily="34" charset="0"/>
                <a:ea typeface="Calibri" pitchFamily="34" charset="-122"/>
                <a:cs typeface="Calibri" pitchFamily="34" charset="-120"/>
              </a:rPr>
              <a:t>Call a tool, read the result, decide the next move, repeat — until the goal is met.</a:t>
            </a:r>
            <a:endParaRPr lang="en-US" sz="1100" dirty="0"/>
          </a:p>
        </p:txBody>
      </p:sp>
      <p:sp>
        <p:nvSpPr>
          <p:cNvPr id="20" name="Shape 17"/>
          <p:cNvSpPr/>
          <p:nvPr/>
        </p:nvSpPr>
        <p:spPr>
          <a:xfrm>
            <a:off x="4754880" y="3035808"/>
            <a:ext cx="3931920" cy="1444752"/>
          </a:xfrm>
          <a:prstGeom prst="roundRect">
            <a:avLst>
              <a:gd name="adj" fmla="val 5063"/>
            </a:avLst>
          </a:prstGeom>
          <a:solidFill>
            <a:srgbClr val="2D1155"/>
          </a:solidFill>
          <a:ln/>
        </p:spPr>
        <p:txBody>
          <a:bodyPr/>
          <a:lstStyle/>
          <a:p>
            <a:endParaRPr lang="en-AU"/>
          </a:p>
        </p:txBody>
      </p:sp>
      <p:sp>
        <p:nvSpPr>
          <p:cNvPr id="21" name="Shape 18"/>
          <p:cNvSpPr/>
          <p:nvPr/>
        </p:nvSpPr>
        <p:spPr>
          <a:xfrm>
            <a:off x="4992624" y="3273552"/>
            <a:ext cx="457200" cy="457200"/>
          </a:xfrm>
          <a:prstGeom prst="ellipse">
            <a:avLst/>
          </a:prstGeom>
          <a:solidFill>
            <a:srgbClr val="F59E0B"/>
          </a:solidFill>
          <a:ln/>
        </p:spPr>
        <p:txBody>
          <a:bodyPr/>
          <a:lstStyle/>
          <a:p>
            <a:endParaRPr lang="en-AU"/>
          </a:p>
        </p:txBody>
      </p:sp>
      <p:sp>
        <p:nvSpPr>
          <p:cNvPr id="22" name="Text 19"/>
          <p:cNvSpPr/>
          <p:nvPr/>
        </p:nvSpPr>
        <p:spPr>
          <a:xfrm>
            <a:off x="4992624" y="3273552"/>
            <a:ext cx="457200" cy="457200"/>
          </a:xfrm>
          <a:prstGeom prst="rect">
            <a:avLst/>
          </a:prstGeom>
          <a:noFill/>
          <a:ln/>
        </p:spPr>
        <p:txBody>
          <a:bodyPr wrap="square" rtlCol="0" anchor="ctr"/>
          <a:lstStyle/>
          <a:p>
            <a:pPr marL="0" indent="0" algn="ctr">
              <a:buNone/>
            </a:pPr>
            <a:r>
              <a:rPr lang="en-US" sz="1200" b="1" dirty="0">
                <a:solidFill>
                  <a:srgbClr val="2D1155"/>
                </a:solidFill>
                <a:latin typeface="Arial Black" pitchFamily="34" charset="0"/>
                <a:ea typeface="Arial Black" pitchFamily="34" charset="-122"/>
                <a:cs typeface="Arial Black" pitchFamily="34" charset="-120"/>
              </a:rPr>
              <a:t>4</a:t>
            </a:r>
            <a:endParaRPr lang="en-US" sz="1200" dirty="0"/>
          </a:p>
        </p:txBody>
      </p:sp>
      <p:sp>
        <p:nvSpPr>
          <p:cNvPr id="23" name="Text 20"/>
          <p:cNvSpPr/>
          <p:nvPr/>
        </p:nvSpPr>
        <p:spPr>
          <a:xfrm>
            <a:off x="5596128" y="3255264"/>
            <a:ext cx="2926080" cy="457200"/>
          </a:xfrm>
          <a:prstGeom prst="rect">
            <a:avLst/>
          </a:prstGeom>
          <a:noFill/>
          <a:ln/>
        </p:spPr>
        <p:txBody>
          <a:bodyPr wrap="square" rtlCol="0" anchor="ctr"/>
          <a:lstStyle/>
          <a:p>
            <a:pPr marL="0" indent="0">
              <a:buNone/>
            </a:pPr>
            <a:r>
              <a:rPr lang="en-US" sz="1400" b="1" dirty="0">
                <a:solidFill>
                  <a:srgbClr val="F59E0B"/>
                </a:solidFill>
                <a:latin typeface="Arial Black" pitchFamily="34" charset="0"/>
                <a:ea typeface="Arial Black" pitchFamily="34" charset="-122"/>
                <a:cs typeface="Arial Black" pitchFamily="34" charset="-120"/>
              </a:rPr>
              <a:t>Permissions</a:t>
            </a:r>
            <a:endParaRPr lang="en-US" sz="1400" dirty="0"/>
          </a:p>
        </p:txBody>
      </p:sp>
      <p:sp>
        <p:nvSpPr>
          <p:cNvPr id="24" name="Text 21"/>
          <p:cNvSpPr/>
          <p:nvPr/>
        </p:nvSpPr>
        <p:spPr>
          <a:xfrm>
            <a:off x="5010912" y="3785616"/>
            <a:ext cx="3520440" cy="603504"/>
          </a:xfrm>
          <a:prstGeom prst="rect">
            <a:avLst/>
          </a:prstGeom>
          <a:noFill/>
          <a:ln/>
        </p:spPr>
        <p:txBody>
          <a:bodyPr wrap="square" rtlCol="0" anchor="t"/>
          <a:lstStyle/>
          <a:p>
            <a:pPr marL="0" indent="0">
              <a:buNone/>
            </a:pPr>
            <a:r>
              <a:rPr lang="en-US" sz="1100" dirty="0">
                <a:solidFill>
                  <a:srgbClr val="DDD6FE"/>
                </a:solidFill>
                <a:latin typeface="Calibri" pitchFamily="34" charset="0"/>
                <a:ea typeface="Calibri" pitchFamily="34" charset="-122"/>
                <a:cs typeface="Calibri" pitchFamily="34" charset="-120"/>
              </a:rPr>
              <a:t>What it may do without asking. You set the guardrails; it works inside them.</a:t>
            </a:r>
            <a:endParaRPr lang="en-US" sz="1100" dirty="0"/>
          </a:p>
        </p:txBody>
      </p:sp>
      <p:sp>
        <p:nvSpPr>
          <p:cNvPr id="25" name="Text 22"/>
          <p:cNvSpPr/>
          <p:nvPr/>
        </p:nvSpPr>
        <p:spPr>
          <a:xfrm>
            <a:off x="457200" y="4590288"/>
            <a:ext cx="7772400" cy="365760"/>
          </a:xfrm>
          <a:prstGeom prst="rect">
            <a:avLst/>
          </a:prstGeom>
          <a:noFill/>
          <a:ln/>
        </p:spPr>
        <p:txBody>
          <a:bodyPr wrap="square" rtlCol="0" anchor="ctr"/>
          <a:lstStyle/>
          <a:p>
            <a:pPr marL="0" indent="0">
              <a:buNone/>
            </a:pPr>
            <a:r>
              <a:rPr lang="en-US" sz="1200" b="1" i="1" dirty="0">
                <a:solidFill>
                  <a:srgbClr val="7C3AED"/>
                </a:solidFill>
                <a:latin typeface="Calibri" pitchFamily="34" charset="0"/>
                <a:ea typeface="Calibri" pitchFamily="34" charset="-122"/>
                <a:cs typeface="Calibri" pitchFamily="34" charset="-120"/>
              </a:rPr>
              <a:t>Not autocomplete.  </a:t>
            </a:r>
            <a:r>
              <a:rPr lang="en-US" sz="1200" i="1" dirty="0">
                <a:solidFill>
                  <a:srgbClr val="6E6389"/>
                </a:solidFill>
                <a:latin typeface="Calibri" pitchFamily="34" charset="0"/>
                <a:ea typeface="Calibri" pitchFamily="34" charset="-122"/>
                <a:cs typeface="Calibri" pitchFamily="34" charset="-120"/>
              </a:rPr>
              <a:t>A program that reasons, acts through tools, and checks its own results in a loop.</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2D1155"/>
        </a:solidFill>
        <a:effectLst/>
      </p:bgPr>
    </p:bg>
    <p:spTree>
      <p:nvGrpSpPr>
        <p:cNvPr id="1" name=""/>
        <p:cNvGrpSpPr/>
        <p:nvPr/>
      </p:nvGrpSpPr>
      <p:grpSpPr>
        <a:xfrm>
          <a:off x="0" y="0"/>
          <a:ext cx="0" cy="0"/>
          <a:chOff x="0" y="0"/>
          <a:chExt cx="0" cy="0"/>
        </a:xfrm>
      </p:grpSpPr>
      <p:sp>
        <p:nvSpPr>
          <p:cNvPr id="2" name="Shape 0"/>
          <p:cNvSpPr/>
          <p:nvPr/>
        </p:nvSpPr>
        <p:spPr>
          <a:xfrm>
            <a:off x="6400800" y="0"/>
            <a:ext cx="2743200" cy="5143500"/>
          </a:xfrm>
          <a:prstGeom prst="rect">
            <a:avLst/>
          </a:prstGeom>
          <a:solidFill>
            <a:srgbClr val="5B21B6"/>
          </a:solidFill>
          <a:ln/>
        </p:spPr>
        <p:txBody>
          <a:bodyPr/>
          <a:lstStyle/>
          <a:p>
            <a:endParaRPr lang="en-AU"/>
          </a:p>
        </p:txBody>
      </p:sp>
      <p:sp>
        <p:nvSpPr>
          <p:cNvPr id="3" name="Shape 1"/>
          <p:cNvSpPr/>
          <p:nvPr/>
        </p:nvSpPr>
        <p:spPr>
          <a:xfrm>
            <a:off x="6400800" y="0"/>
            <a:ext cx="128016" cy="5143500"/>
          </a:xfrm>
          <a:prstGeom prst="rect">
            <a:avLst/>
          </a:prstGeom>
          <a:solidFill>
            <a:srgbClr val="7C3AED"/>
          </a:solidFill>
          <a:ln/>
        </p:spPr>
        <p:txBody>
          <a:bodyPr/>
          <a:lstStyle/>
          <a:p>
            <a:endParaRPr lang="en-AU"/>
          </a:p>
        </p:txBody>
      </p:sp>
      <p:pic>
        <p:nvPicPr>
          <p:cNvPr id="4" name="Image 0" descr="logo_icon.jpeg"/>
          <p:cNvPicPr>
            <a:picLocks noChangeAspect="1"/>
          </p:cNvPicPr>
          <p:nvPr/>
        </p:nvPicPr>
        <p:blipFill>
          <a:blip r:embed="rId3"/>
          <a:stretch>
            <a:fillRect/>
          </a:stretch>
        </p:blipFill>
        <p:spPr>
          <a:xfrm>
            <a:off x="8366760" y="4526280"/>
            <a:ext cx="411480" cy="411480"/>
          </a:xfrm>
          <a:prstGeom prst="ellipse">
            <a:avLst/>
          </a:prstGeom>
        </p:spPr>
      </p:pic>
      <p:sp>
        <p:nvSpPr>
          <p:cNvPr id="5" name="Shape 2"/>
          <p:cNvSpPr/>
          <p:nvPr/>
        </p:nvSpPr>
        <p:spPr>
          <a:xfrm>
            <a:off x="457200" y="1234440"/>
            <a:ext cx="82296" cy="2148840"/>
          </a:xfrm>
          <a:prstGeom prst="rect">
            <a:avLst/>
          </a:prstGeom>
          <a:solidFill>
            <a:srgbClr val="F59E0B"/>
          </a:solidFill>
          <a:ln/>
        </p:spPr>
        <p:txBody>
          <a:bodyPr/>
          <a:lstStyle/>
          <a:p>
            <a:endParaRPr lang="en-AU"/>
          </a:p>
        </p:txBody>
      </p:sp>
      <p:sp>
        <p:nvSpPr>
          <p:cNvPr id="6" name="Text 3"/>
          <p:cNvSpPr/>
          <p:nvPr/>
        </p:nvSpPr>
        <p:spPr>
          <a:xfrm>
            <a:off x="457200" y="4709160"/>
            <a:ext cx="5669280" cy="274320"/>
          </a:xfrm>
          <a:prstGeom prst="rect">
            <a:avLst/>
          </a:prstGeom>
          <a:noFill/>
          <a:ln/>
        </p:spPr>
        <p:txBody>
          <a:bodyPr wrap="square" rtlCol="0" anchor="ctr"/>
          <a:lstStyle/>
          <a:p>
            <a:pPr marL="0" indent="0">
              <a:buNone/>
            </a:pPr>
            <a:r>
              <a:rPr lang="en-US" sz="900" dirty="0">
                <a:solidFill>
                  <a:srgbClr val="C4B5E8"/>
                </a:solidFill>
                <a:latin typeface="Calibri" pitchFamily="34" charset="0"/>
                <a:ea typeface="Calibri" pitchFamily="34" charset="-122"/>
                <a:cs typeface="Calibri" pitchFamily="34" charset="-120"/>
              </a:rPr>
              <a:t>Tech Council of Australia  |  techcouncil.com.au</a:t>
            </a:r>
            <a:endParaRPr lang="en-US" sz="900" dirty="0"/>
          </a:p>
        </p:txBody>
      </p:sp>
      <p:sp>
        <p:nvSpPr>
          <p:cNvPr id="7" name="Text 4"/>
          <p:cNvSpPr/>
          <p:nvPr/>
        </p:nvSpPr>
        <p:spPr>
          <a:xfrm>
            <a:off x="658368" y="1371600"/>
            <a:ext cx="5486400" cy="274320"/>
          </a:xfrm>
          <a:prstGeom prst="rect">
            <a:avLst/>
          </a:prstGeom>
          <a:noFill/>
          <a:ln/>
        </p:spPr>
        <p:txBody>
          <a:bodyPr wrap="square" rtlCol="0" anchor="ctr"/>
          <a:lstStyle/>
          <a:p>
            <a:pPr marL="0" indent="0">
              <a:buNone/>
            </a:pPr>
            <a:r>
              <a:rPr lang="en-US" sz="1100" b="1" kern="0" spc="300" dirty="0">
                <a:solidFill>
                  <a:srgbClr val="F59E0B"/>
                </a:solidFill>
                <a:latin typeface="Calibri" pitchFamily="34" charset="0"/>
                <a:ea typeface="Calibri" pitchFamily="34" charset="-122"/>
                <a:cs typeface="Calibri" pitchFamily="34" charset="-120"/>
              </a:rPr>
              <a:t>THE ONE RULE FOR THIS MORNING</a:t>
            </a:r>
            <a:endParaRPr lang="en-US" sz="1100" dirty="0"/>
          </a:p>
        </p:txBody>
      </p:sp>
      <p:sp>
        <p:nvSpPr>
          <p:cNvPr id="8" name="Text 5"/>
          <p:cNvSpPr/>
          <p:nvPr/>
        </p:nvSpPr>
        <p:spPr>
          <a:xfrm>
            <a:off x="658368" y="1691640"/>
            <a:ext cx="5669280" cy="822960"/>
          </a:xfrm>
          <a:prstGeom prst="rect">
            <a:avLst/>
          </a:prstGeom>
          <a:noFill/>
          <a:ln/>
        </p:spPr>
        <p:txBody>
          <a:bodyPr wrap="square" rtlCol="0" anchor="ctr"/>
          <a:lstStyle/>
          <a:p>
            <a:pPr marL="0" indent="0">
              <a:buNone/>
            </a:pPr>
            <a:r>
              <a:rPr lang="en-US" sz="4000" b="1" dirty="0">
                <a:solidFill>
                  <a:srgbClr val="FFFFFF"/>
                </a:solidFill>
                <a:latin typeface="Arial Black" pitchFamily="34" charset="0"/>
                <a:ea typeface="Arial Black" pitchFamily="34" charset="-122"/>
                <a:cs typeface="Arial Black" pitchFamily="34" charset="-120"/>
              </a:rPr>
              <a:t>Resist the keyboard.</a:t>
            </a:r>
            <a:endParaRPr lang="en-US" sz="4000" dirty="0"/>
          </a:p>
        </p:txBody>
      </p:sp>
      <p:sp>
        <p:nvSpPr>
          <p:cNvPr id="9" name="Text 6"/>
          <p:cNvSpPr/>
          <p:nvPr/>
        </p:nvSpPr>
        <p:spPr>
          <a:xfrm>
            <a:off x="676656" y="2697480"/>
            <a:ext cx="5486400" cy="1005840"/>
          </a:xfrm>
          <a:prstGeom prst="rect">
            <a:avLst/>
          </a:prstGeom>
          <a:noFill/>
          <a:ln/>
        </p:spPr>
        <p:txBody>
          <a:bodyPr wrap="square" rtlCol="0" anchor="ctr"/>
          <a:lstStyle/>
          <a:p>
            <a:pPr marL="0" indent="0">
              <a:buNone/>
            </a:pPr>
            <a:r>
              <a:rPr lang="en-US" sz="1400" i="1" dirty="0">
                <a:solidFill>
                  <a:srgbClr val="DDD6FE"/>
                </a:solidFill>
                <a:latin typeface="Calibri" pitchFamily="34" charset="0"/>
                <a:ea typeface="Calibri" pitchFamily="34" charset="-122"/>
                <a:cs typeface="Calibri" pitchFamily="34" charset="-120"/>
              </a:rPr>
              <a:t>The instinct to “just fix it myself” is exactly what we're retraining. When your hands twitch toward the code, that's the moment to type a better prompt instead.</a:t>
            </a:r>
            <a:endParaRPr lang="en-US" sz="1400" dirty="0"/>
          </a:p>
        </p:txBody>
      </p:sp>
      <p:sp>
        <p:nvSpPr>
          <p:cNvPr id="10" name="Text 7"/>
          <p:cNvSpPr/>
          <p:nvPr/>
        </p:nvSpPr>
        <p:spPr>
          <a:xfrm>
            <a:off x="676656" y="3794760"/>
            <a:ext cx="5486400" cy="274320"/>
          </a:xfrm>
          <a:prstGeom prst="rect">
            <a:avLst/>
          </a:prstGeom>
          <a:noFill/>
          <a:ln/>
        </p:spPr>
        <p:txBody>
          <a:bodyPr wrap="square" rtlCol="0" anchor="ctr"/>
          <a:lstStyle/>
          <a:p>
            <a:pPr marL="0" indent="0">
              <a:buNone/>
            </a:pPr>
            <a:r>
              <a:rPr lang="en-US" sz="1100" b="1" dirty="0">
                <a:solidFill>
                  <a:srgbClr val="F59E0B"/>
                </a:solidFill>
                <a:latin typeface="Calibri" pitchFamily="34" charset="0"/>
                <a:ea typeface="Calibri" pitchFamily="34" charset="-122"/>
                <a:cs typeface="Calibri" pitchFamily="34" charset="-120"/>
              </a:rPr>
              <a:t>Rusty: </a:t>
            </a:r>
            <a:r>
              <a:rPr lang="en-US" sz="1100" dirty="0">
                <a:solidFill>
                  <a:srgbClr val="C4B5E8"/>
                </a:solidFill>
                <a:latin typeface="Calibri" pitchFamily="34" charset="0"/>
                <a:ea typeface="Calibri" pitchFamily="34" charset="-122"/>
                <a:cs typeface="Calibri" pitchFamily="34" charset="-120"/>
              </a:rPr>
              <a:t>easier — you don't recall the syntax anyway.</a:t>
            </a:r>
            <a:endParaRPr lang="en-US" sz="1100" dirty="0"/>
          </a:p>
        </p:txBody>
      </p:sp>
      <p:sp>
        <p:nvSpPr>
          <p:cNvPr id="11" name="Text 8"/>
          <p:cNvSpPr/>
          <p:nvPr/>
        </p:nvSpPr>
        <p:spPr>
          <a:xfrm>
            <a:off x="676656" y="4069080"/>
            <a:ext cx="5486400" cy="274320"/>
          </a:xfrm>
          <a:prstGeom prst="rect">
            <a:avLst/>
          </a:prstGeom>
          <a:noFill/>
          <a:ln/>
        </p:spPr>
        <p:txBody>
          <a:bodyPr wrap="square" rtlCol="0" anchor="ctr"/>
          <a:lstStyle/>
          <a:p>
            <a:pPr marL="0" indent="0">
              <a:buNone/>
            </a:pPr>
            <a:r>
              <a:rPr lang="en-US" sz="1100" b="1" dirty="0">
                <a:solidFill>
                  <a:srgbClr val="F59E0B"/>
                </a:solidFill>
                <a:latin typeface="Calibri" pitchFamily="34" charset="0"/>
                <a:ea typeface="Calibri" pitchFamily="34" charset="-122"/>
                <a:cs typeface="Calibri" pitchFamily="34" charset="-120"/>
              </a:rPr>
              <a:t>Confident: </a:t>
            </a:r>
            <a:r>
              <a:rPr lang="en-US" sz="1100" dirty="0">
                <a:solidFill>
                  <a:srgbClr val="C4B5E8"/>
                </a:solidFill>
                <a:latin typeface="Calibri" pitchFamily="34" charset="0"/>
                <a:ea typeface="Calibri" pitchFamily="34" charset="-122"/>
                <a:cs typeface="Calibri" pitchFamily="34" charset="-120"/>
              </a:rPr>
              <a:t>this one's for you.</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5F3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566928"/>
          </a:xfrm>
          <a:prstGeom prst="rect">
            <a:avLst/>
          </a:prstGeom>
          <a:noFill/>
          <a:ln/>
        </p:spPr>
        <p:txBody>
          <a:bodyPr wrap="square" rtlCol="0" anchor="ctr"/>
          <a:lstStyle/>
          <a:p>
            <a:pPr marL="0" indent="0" algn="l">
              <a:buNone/>
            </a:pPr>
            <a:r>
              <a:rPr lang="en-US" sz="2200" b="1" kern="0" spc="100" dirty="0">
                <a:solidFill>
                  <a:srgbClr val="2D1155"/>
                </a:solidFill>
                <a:latin typeface="Arial Black" pitchFamily="34" charset="0"/>
                <a:ea typeface="Arial Black" pitchFamily="34" charset="-122"/>
                <a:cs typeface="Arial Black" pitchFamily="34" charset="-120"/>
              </a:rPr>
              <a:t>PROMPT BY OUTCOME</a:t>
            </a:r>
            <a:endParaRPr lang="en-US" sz="2200" dirty="0"/>
          </a:p>
        </p:txBody>
      </p:sp>
      <p:sp>
        <p:nvSpPr>
          <p:cNvPr id="3" name="Text 1"/>
          <p:cNvSpPr/>
          <p:nvPr/>
        </p:nvSpPr>
        <p:spPr>
          <a:xfrm>
            <a:off x="475488" y="896112"/>
            <a:ext cx="8229600" cy="329184"/>
          </a:xfrm>
          <a:prstGeom prst="rect">
            <a:avLst/>
          </a:prstGeom>
          <a:noFill/>
          <a:ln/>
        </p:spPr>
        <p:txBody>
          <a:bodyPr wrap="square" rtlCol="0" anchor="ctr"/>
          <a:lstStyle/>
          <a:p>
            <a:pPr marL="0" indent="0">
              <a:buNone/>
            </a:pPr>
            <a:r>
              <a:rPr lang="en-US" sz="1300" i="1" dirty="0">
                <a:solidFill>
                  <a:srgbClr val="6E6389"/>
                </a:solidFill>
                <a:latin typeface="Calibri" pitchFamily="34" charset="0"/>
                <a:ea typeface="Calibri" pitchFamily="34" charset="-122"/>
                <a:cs typeface="Calibri" pitchFamily="34" charset="-120"/>
              </a:rPr>
              <a:t>Skill #1 — not by step-by-step instructions.</a:t>
            </a:r>
            <a:endParaRPr lang="en-US" sz="1300" dirty="0"/>
          </a:p>
        </p:txBody>
      </p:sp>
      <p:pic>
        <p:nvPicPr>
          <p:cNvPr id="4" name="Image 0" descr="logo_icon.jpeg"/>
          <p:cNvPicPr>
            <a:picLocks noChangeAspect="1"/>
          </p:cNvPicPr>
          <p:nvPr/>
        </p:nvPicPr>
        <p:blipFill>
          <a:blip r:embed="rId3"/>
          <a:stretch>
            <a:fillRect/>
          </a:stretch>
        </p:blipFill>
        <p:spPr>
          <a:xfrm>
            <a:off x="8366760" y="4526280"/>
            <a:ext cx="411480" cy="411480"/>
          </a:xfrm>
          <a:prstGeom prst="ellipse">
            <a:avLst/>
          </a:prstGeom>
        </p:spPr>
      </p:pic>
      <p:sp>
        <p:nvSpPr>
          <p:cNvPr id="5" name="Shape 2"/>
          <p:cNvSpPr/>
          <p:nvPr/>
        </p:nvSpPr>
        <p:spPr>
          <a:xfrm>
            <a:off x="457200" y="1463040"/>
            <a:ext cx="3931920" cy="3200400"/>
          </a:xfrm>
          <a:prstGeom prst="roundRect">
            <a:avLst>
              <a:gd name="adj" fmla="val 2571"/>
            </a:avLst>
          </a:prstGeom>
          <a:solidFill>
            <a:srgbClr val="FFFFFF"/>
          </a:solidFill>
          <a:ln w="12700">
            <a:solidFill>
              <a:srgbClr val="DDD6FE"/>
            </a:solidFill>
            <a:prstDash val="solid"/>
          </a:ln>
        </p:spPr>
        <p:txBody>
          <a:bodyPr/>
          <a:lstStyle/>
          <a:p>
            <a:endParaRPr lang="en-AU"/>
          </a:p>
        </p:txBody>
      </p:sp>
      <p:sp>
        <p:nvSpPr>
          <p:cNvPr id="6" name="Shape 3"/>
          <p:cNvSpPr/>
          <p:nvPr/>
        </p:nvSpPr>
        <p:spPr>
          <a:xfrm>
            <a:off x="694944" y="1691640"/>
            <a:ext cx="457200" cy="457200"/>
          </a:xfrm>
          <a:prstGeom prst="ellipse">
            <a:avLst/>
          </a:prstGeom>
          <a:solidFill>
            <a:srgbClr val="6E6389"/>
          </a:solidFill>
          <a:ln/>
        </p:spPr>
        <p:txBody>
          <a:bodyPr/>
          <a:lstStyle/>
          <a:p>
            <a:endParaRPr lang="en-AU"/>
          </a:p>
        </p:txBody>
      </p:sp>
      <p:sp>
        <p:nvSpPr>
          <p:cNvPr id="7" name="Text 4"/>
          <p:cNvSpPr/>
          <p:nvPr/>
        </p:nvSpPr>
        <p:spPr>
          <a:xfrm>
            <a:off x="694944" y="1691640"/>
            <a:ext cx="457200" cy="457200"/>
          </a:xfrm>
          <a:prstGeom prst="rect">
            <a:avLst/>
          </a:prstGeom>
          <a:noFill/>
          <a:ln/>
        </p:spPr>
        <p:txBody>
          <a:bodyPr wrap="square" rtlCol="0" anchor="ctr"/>
          <a:lstStyle/>
          <a:p>
            <a:pPr marL="0" indent="0" algn="ctr">
              <a:buNone/>
            </a:pPr>
            <a:r>
              <a:rPr lang="en-US" sz="1200" b="1" dirty="0">
                <a:solidFill>
                  <a:srgbClr val="FFFFFF"/>
                </a:solidFill>
                <a:latin typeface="Arial Black" pitchFamily="34" charset="0"/>
                <a:ea typeface="Arial Black" pitchFamily="34" charset="-122"/>
                <a:cs typeface="Arial Black" pitchFamily="34" charset="-120"/>
              </a:rPr>
              <a:t>✕</a:t>
            </a:r>
            <a:endParaRPr lang="en-US" sz="1200" dirty="0"/>
          </a:p>
        </p:txBody>
      </p:sp>
      <p:sp>
        <p:nvSpPr>
          <p:cNvPr id="8" name="Text 5"/>
          <p:cNvSpPr/>
          <p:nvPr/>
        </p:nvSpPr>
        <p:spPr>
          <a:xfrm>
            <a:off x="1280160" y="1673352"/>
            <a:ext cx="2926080" cy="457200"/>
          </a:xfrm>
          <a:prstGeom prst="rect">
            <a:avLst/>
          </a:prstGeom>
          <a:noFill/>
          <a:ln/>
        </p:spPr>
        <p:txBody>
          <a:bodyPr wrap="square" rtlCol="0" anchor="ctr"/>
          <a:lstStyle/>
          <a:p>
            <a:pPr marL="0" indent="0">
              <a:buNone/>
            </a:pPr>
            <a:r>
              <a:rPr lang="en-US" sz="1400" b="1" dirty="0">
                <a:solidFill>
                  <a:srgbClr val="6E6389"/>
                </a:solidFill>
                <a:latin typeface="Arial Black" pitchFamily="34" charset="0"/>
                <a:ea typeface="Arial Black" pitchFamily="34" charset="-122"/>
                <a:cs typeface="Arial Black" pitchFamily="34" charset="-120"/>
              </a:rPr>
              <a:t>Micromanaging</a:t>
            </a:r>
            <a:endParaRPr lang="en-US" sz="1400" dirty="0"/>
          </a:p>
        </p:txBody>
      </p:sp>
      <p:sp>
        <p:nvSpPr>
          <p:cNvPr id="9" name="Shape 6"/>
          <p:cNvSpPr/>
          <p:nvPr/>
        </p:nvSpPr>
        <p:spPr>
          <a:xfrm>
            <a:off x="713232" y="2286000"/>
            <a:ext cx="3429000" cy="1417320"/>
          </a:xfrm>
          <a:prstGeom prst="roundRect">
            <a:avLst>
              <a:gd name="adj" fmla="val 3226"/>
            </a:avLst>
          </a:prstGeom>
          <a:solidFill>
            <a:srgbClr val="F5F3FF"/>
          </a:solidFill>
          <a:ln/>
        </p:spPr>
        <p:txBody>
          <a:bodyPr/>
          <a:lstStyle/>
          <a:p>
            <a:endParaRPr lang="en-AU"/>
          </a:p>
        </p:txBody>
      </p:sp>
      <p:sp>
        <p:nvSpPr>
          <p:cNvPr id="10" name="Text 7"/>
          <p:cNvSpPr/>
          <p:nvPr/>
        </p:nvSpPr>
        <p:spPr>
          <a:xfrm>
            <a:off x="859536" y="2395728"/>
            <a:ext cx="3154680" cy="1207008"/>
          </a:xfrm>
          <a:prstGeom prst="rect">
            <a:avLst/>
          </a:prstGeom>
          <a:noFill/>
          <a:ln/>
        </p:spPr>
        <p:txBody>
          <a:bodyPr wrap="square" rtlCol="0" anchor="t"/>
          <a:lstStyle/>
          <a:p>
            <a:pPr marL="0" indent="0">
              <a:buNone/>
            </a:pPr>
            <a:r>
              <a:rPr lang="en-US" sz="1050" dirty="0">
                <a:solidFill>
                  <a:srgbClr val="6E6389"/>
                </a:solidFill>
                <a:latin typeface="Courier New" pitchFamily="34" charset="0"/>
                <a:ea typeface="Courier New" pitchFamily="34" charset="-122"/>
                <a:cs typeface="Courier New" pitchFamily="34" charset="-120"/>
              </a:rPr>
              <a:t>“Open streak.js, add a variable count, loop the dates array, increment it if...”</a:t>
            </a:r>
            <a:endParaRPr lang="en-US" sz="1050" dirty="0"/>
          </a:p>
        </p:txBody>
      </p:sp>
      <p:sp>
        <p:nvSpPr>
          <p:cNvPr id="11" name="Text 8"/>
          <p:cNvSpPr/>
          <p:nvPr/>
        </p:nvSpPr>
        <p:spPr>
          <a:xfrm>
            <a:off x="713232" y="3840480"/>
            <a:ext cx="3474720" cy="685800"/>
          </a:xfrm>
          <a:prstGeom prst="rect">
            <a:avLst/>
          </a:prstGeom>
          <a:noFill/>
          <a:ln/>
        </p:spPr>
        <p:txBody>
          <a:bodyPr wrap="square" rtlCol="0" anchor="t"/>
          <a:lstStyle/>
          <a:p>
            <a:pPr marL="0" indent="0">
              <a:buNone/>
            </a:pPr>
            <a:r>
              <a:rPr lang="en-US" sz="1050" i="1" dirty="0">
                <a:solidFill>
                  <a:srgbClr val="6E6389"/>
                </a:solidFill>
                <a:latin typeface="Calibri" pitchFamily="34" charset="0"/>
                <a:ea typeface="Calibri" pitchFamily="34" charset="-122"/>
                <a:cs typeface="Calibri" pitchFamily="34" charset="-120"/>
              </a:rPr>
              <a:t>You're typing code with extra steps. And you have to be right.</a:t>
            </a:r>
            <a:endParaRPr lang="en-US" sz="1050" dirty="0"/>
          </a:p>
        </p:txBody>
      </p:sp>
      <p:sp>
        <p:nvSpPr>
          <p:cNvPr id="12" name="Shape 9"/>
          <p:cNvSpPr/>
          <p:nvPr/>
        </p:nvSpPr>
        <p:spPr>
          <a:xfrm>
            <a:off x="4754880" y="1463040"/>
            <a:ext cx="3931920" cy="3200400"/>
          </a:xfrm>
          <a:prstGeom prst="roundRect">
            <a:avLst>
              <a:gd name="adj" fmla="val 2571"/>
            </a:avLst>
          </a:prstGeom>
          <a:solidFill>
            <a:srgbClr val="FFFFFF"/>
          </a:solidFill>
          <a:ln w="19050">
            <a:solidFill>
              <a:srgbClr val="F59E0B"/>
            </a:solidFill>
            <a:prstDash val="solid"/>
          </a:ln>
        </p:spPr>
        <p:txBody>
          <a:bodyPr/>
          <a:lstStyle/>
          <a:p>
            <a:endParaRPr lang="en-AU"/>
          </a:p>
        </p:txBody>
      </p:sp>
      <p:sp>
        <p:nvSpPr>
          <p:cNvPr id="13" name="Shape 10"/>
          <p:cNvSpPr/>
          <p:nvPr/>
        </p:nvSpPr>
        <p:spPr>
          <a:xfrm>
            <a:off x="4992624" y="1691640"/>
            <a:ext cx="457200" cy="457200"/>
          </a:xfrm>
          <a:prstGeom prst="ellipse">
            <a:avLst/>
          </a:prstGeom>
          <a:solidFill>
            <a:srgbClr val="F59E0B"/>
          </a:solidFill>
          <a:ln/>
        </p:spPr>
        <p:txBody>
          <a:bodyPr/>
          <a:lstStyle/>
          <a:p>
            <a:endParaRPr lang="en-AU"/>
          </a:p>
        </p:txBody>
      </p:sp>
      <p:sp>
        <p:nvSpPr>
          <p:cNvPr id="14" name="Text 11"/>
          <p:cNvSpPr/>
          <p:nvPr/>
        </p:nvSpPr>
        <p:spPr>
          <a:xfrm>
            <a:off x="4992624" y="1691640"/>
            <a:ext cx="457200" cy="457200"/>
          </a:xfrm>
          <a:prstGeom prst="rect">
            <a:avLst/>
          </a:prstGeom>
          <a:noFill/>
          <a:ln/>
        </p:spPr>
        <p:txBody>
          <a:bodyPr wrap="square" rtlCol="0" anchor="ctr"/>
          <a:lstStyle/>
          <a:p>
            <a:pPr marL="0" indent="0" algn="ctr">
              <a:buNone/>
            </a:pPr>
            <a:r>
              <a:rPr lang="en-US" sz="1200" b="1" dirty="0">
                <a:solidFill>
                  <a:srgbClr val="2D1155"/>
                </a:solidFill>
                <a:latin typeface="Arial Black" pitchFamily="34" charset="0"/>
                <a:ea typeface="Arial Black" pitchFamily="34" charset="-122"/>
                <a:cs typeface="Arial Black" pitchFamily="34" charset="-120"/>
              </a:rPr>
              <a:t>✓</a:t>
            </a:r>
            <a:endParaRPr lang="en-US" sz="1200" dirty="0"/>
          </a:p>
        </p:txBody>
      </p:sp>
      <p:sp>
        <p:nvSpPr>
          <p:cNvPr id="15" name="Text 12"/>
          <p:cNvSpPr/>
          <p:nvPr/>
        </p:nvSpPr>
        <p:spPr>
          <a:xfrm>
            <a:off x="5577840" y="1673352"/>
            <a:ext cx="2926080" cy="457200"/>
          </a:xfrm>
          <a:prstGeom prst="rect">
            <a:avLst/>
          </a:prstGeom>
          <a:noFill/>
          <a:ln/>
        </p:spPr>
        <p:txBody>
          <a:bodyPr wrap="square" rtlCol="0" anchor="ctr"/>
          <a:lstStyle/>
          <a:p>
            <a:pPr marL="0" indent="0">
              <a:buNone/>
            </a:pPr>
            <a:r>
              <a:rPr lang="en-US" sz="1400" b="1" dirty="0">
                <a:solidFill>
                  <a:srgbClr val="2D1155"/>
                </a:solidFill>
                <a:latin typeface="Arial Black" pitchFamily="34" charset="0"/>
                <a:ea typeface="Arial Black" pitchFamily="34" charset="-122"/>
                <a:cs typeface="Arial Black" pitchFamily="34" charset="-120"/>
              </a:rPr>
              <a:t>Outcome + constraint</a:t>
            </a:r>
            <a:endParaRPr lang="en-US" sz="1400" dirty="0"/>
          </a:p>
        </p:txBody>
      </p:sp>
      <p:sp>
        <p:nvSpPr>
          <p:cNvPr id="16" name="Shape 13"/>
          <p:cNvSpPr/>
          <p:nvPr/>
        </p:nvSpPr>
        <p:spPr>
          <a:xfrm>
            <a:off x="5010912" y="2286000"/>
            <a:ext cx="3429000" cy="1417320"/>
          </a:xfrm>
          <a:prstGeom prst="roundRect">
            <a:avLst>
              <a:gd name="adj" fmla="val 3226"/>
            </a:avLst>
          </a:prstGeom>
          <a:solidFill>
            <a:srgbClr val="F5F3FF"/>
          </a:solidFill>
          <a:ln/>
        </p:spPr>
        <p:txBody>
          <a:bodyPr/>
          <a:lstStyle/>
          <a:p>
            <a:endParaRPr lang="en-AU"/>
          </a:p>
        </p:txBody>
      </p:sp>
      <p:sp>
        <p:nvSpPr>
          <p:cNvPr id="17" name="Text 14"/>
          <p:cNvSpPr/>
          <p:nvPr/>
        </p:nvSpPr>
        <p:spPr>
          <a:xfrm>
            <a:off x="5157216" y="2395728"/>
            <a:ext cx="3154680" cy="1207008"/>
          </a:xfrm>
          <a:prstGeom prst="rect">
            <a:avLst/>
          </a:prstGeom>
          <a:noFill/>
          <a:ln/>
        </p:spPr>
        <p:txBody>
          <a:bodyPr wrap="square" rtlCol="0" anchor="t"/>
          <a:lstStyle/>
          <a:p>
            <a:pPr marL="0" indent="0">
              <a:buNone/>
            </a:pPr>
            <a:r>
              <a:rPr lang="en-US" sz="1050" dirty="0">
                <a:solidFill>
                  <a:srgbClr val="5B21B6"/>
                </a:solidFill>
                <a:latin typeface="Courier New" pitchFamily="34" charset="0"/>
                <a:ea typeface="Courier New" pitchFamily="34" charset="-122"/>
                <a:cs typeface="Courier New" pitchFamily="34" charset="-120"/>
              </a:rPr>
              <a:t>“Ticking a habit grows its streak. Missing a day resets it to zero. Show me a plan first.”</a:t>
            </a:r>
            <a:endParaRPr lang="en-US" sz="1050" dirty="0"/>
          </a:p>
        </p:txBody>
      </p:sp>
      <p:sp>
        <p:nvSpPr>
          <p:cNvPr id="18" name="Text 15"/>
          <p:cNvSpPr/>
          <p:nvPr/>
        </p:nvSpPr>
        <p:spPr>
          <a:xfrm>
            <a:off x="5010912" y="3840480"/>
            <a:ext cx="3474720" cy="685800"/>
          </a:xfrm>
          <a:prstGeom prst="rect">
            <a:avLst/>
          </a:prstGeom>
          <a:noFill/>
          <a:ln/>
        </p:spPr>
        <p:txBody>
          <a:bodyPr wrap="square" rtlCol="0" anchor="t"/>
          <a:lstStyle/>
          <a:p>
            <a:pPr marL="0" indent="0">
              <a:buNone/>
            </a:pPr>
            <a:r>
              <a:rPr lang="en-US" sz="1050" i="1" dirty="0">
                <a:solidFill>
                  <a:srgbClr val="6E6389"/>
                </a:solidFill>
                <a:latin typeface="Calibri" pitchFamily="34" charset="0"/>
                <a:ea typeface="Calibri" pitchFamily="34" charset="-122"/>
                <a:cs typeface="Calibri" pitchFamily="34" charset="-120"/>
              </a:rPr>
              <a:t>You say WHAT and the rules. The agent picks HOW. No filename, no how.</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5F3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566928"/>
          </a:xfrm>
          <a:prstGeom prst="rect">
            <a:avLst/>
          </a:prstGeom>
          <a:noFill/>
          <a:ln/>
        </p:spPr>
        <p:txBody>
          <a:bodyPr wrap="square" rtlCol="0" anchor="ctr"/>
          <a:lstStyle/>
          <a:p>
            <a:pPr marL="0" indent="0" algn="l">
              <a:buNone/>
            </a:pPr>
            <a:r>
              <a:rPr lang="en-US" sz="1900" b="1" kern="0" spc="100" dirty="0">
                <a:solidFill>
                  <a:srgbClr val="2D1155"/>
                </a:solidFill>
                <a:latin typeface="Arial Black" pitchFamily="34" charset="0"/>
                <a:ea typeface="Arial Black" pitchFamily="34" charset="-122"/>
                <a:cs typeface="Arial Black" pitchFamily="34" charset="-120"/>
              </a:rPr>
              <a:t>PLAN REVIEW, NOT PLAN WRITING</a:t>
            </a:r>
            <a:endParaRPr lang="en-US" sz="1900" dirty="0"/>
          </a:p>
        </p:txBody>
      </p:sp>
      <p:sp>
        <p:nvSpPr>
          <p:cNvPr id="3" name="Text 1"/>
          <p:cNvSpPr/>
          <p:nvPr/>
        </p:nvSpPr>
        <p:spPr>
          <a:xfrm>
            <a:off x="475488" y="896112"/>
            <a:ext cx="8229600" cy="329184"/>
          </a:xfrm>
          <a:prstGeom prst="rect">
            <a:avLst/>
          </a:prstGeom>
          <a:noFill/>
          <a:ln/>
        </p:spPr>
        <p:txBody>
          <a:bodyPr wrap="square" rtlCol="0" anchor="ctr"/>
          <a:lstStyle/>
          <a:p>
            <a:pPr marL="0" indent="0">
              <a:buNone/>
            </a:pPr>
            <a:r>
              <a:rPr lang="en-US" sz="1300" i="1" dirty="0">
                <a:solidFill>
                  <a:srgbClr val="6E6389"/>
                </a:solidFill>
                <a:latin typeface="Calibri" pitchFamily="34" charset="0"/>
                <a:ea typeface="Calibri" pitchFamily="34" charset="-122"/>
                <a:cs typeface="Calibri" pitchFamily="34" charset="-120"/>
              </a:rPr>
              <a:t>Skill #2 — what changed this year.</a:t>
            </a:r>
            <a:endParaRPr lang="en-US" sz="1300" dirty="0"/>
          </a:p>
        </p:txBody>
      </p:sp>
      <p:pic>
        <p:nvPicPr>
          <p:cNvPr id="4" name="Image 0" descr="logo_icon.jpeg"/>
          <p:cNvPicPr>
            <a:picLocks noChangeAspect="1"/>
          </p:cNvPicPr>
          <p:nvPr/>
        </p:nvPicPr>
        <p:blipFill>
          <a:blip r:embed="rId3"/>
          <a:stretch>
            <a:fillRect/>
          </a:stretch>
        </p:blipFill>
        <p:spPr>
          <a:xfrm>
            <a:off x="8366760" y="4526280"/>
            <a:ext cx="411480" cy="411480"/>
          </a:xfrm>
          <a:prstGeom prst="ellipse">
            <a:avLst/>
          </a:prstGeom>
        </p:spPr>
      </p:pic>
      <p:sp>
        <p:nvSpPr>
          <p:cNvPr id="5" name="Shape 2"/>
          <p:cNvSpPr/>
          <p:nvPr/>
        </p:nvSpPr>
        <p:spPr>
          <a:xfrm>
            <a:off x="457200" y="1417320"/>
            <a:ext cx="3931920" cy="1097280"/>
          </a:xfrm>
          <a:prstGeom prst="roundRect">
            <a:avLst>
              <a:gd name="adj" fmla="val 6667"/>
            </a:avLst>
          </a:prstGeom>
          <a:solidFill>
            <a:srgbClr val="FFFFFF"/>
          </a:solidFill>
          <a:ln w="12700">
            <a:solidFill>
              <a:srgbClr val="DDD6FE"/>
            </a:solidFill>
            <a:prstDash val="solid"/>
          </a:ln>
        </p:spPr>
        <p:txBody>
          <a:bodyPr/>
          <a:lstStyle/>
          <a:p>
            <a:endParaRPr lang="en-AU"/>
          </a:p>
        </p:txBody>
      </p:sp>
      <p:sp>
        <p:nvSpPr>
          <p:cNvPr id="6" name="Text 3"/>
          <p:cNvSpPr/>
          <p:nvPr/>
        </p:nvSpPr>
        <p:spPr>
          <a:xfrm>
            <a:off x="658368" y="1536192"/>
            <a:ext cx="3566160" cy="274320"/>
          </a:xfrm>
          <a:prstGeom prst="rect">
            <a:avLst/>
          </a:prstGeom>
          <a:noFill/>
          <a:ln/>
        </p:spPr>
        <p:txBody>
          <a:bodyPr wrap="square" rtlCol="0" anchor="ctr"/>
          <a:lstStyle/>
          <a:p>
            <a:pPr marL="0" indent="0">
              <a:buNone/>
            </a:pPr>
            <a:r>
              <a:rPr lang="en-US" sz="1000" b="1" kern="0" spc="200" dirty="0">
                <a:solidFill>
                  <a:srgbClr val="6E6389"/>
                </a:solidFill>
                <a:latin typeface="Calibri" pitchFamily="34" charset="0"/>
                <a:ea typeface="Calibri" pitchFamily="34" charset="-122"/>
                <a:cs typeface="Calibri" pitchFamily="34" charset="-120"/>
              </a:rPr>
              <a:t>THEN · 2025</a:t>
            </a:r>
            <a:endParaRPr lang="en-US" sz="1000" dirty="0"/>
          </a:p>
        </p:txBody>
      </p:sp>
      <p:sp>
        <p:nvSpPr>
          <p:cNvPr id="7" name="Text 4"/>
          <p:cNvSpPr/>
          <p:nvPr/>
        </p:nvSpPr>
        <p:spPr>
          <a:xfrm>
            <a:off x="658368" y="1810512"/>
            <a:ext cx="3566160" cy="640080"/>
          </a:xfrm>
          <a:prstGeom prst="rect">
            <a:avLst/>
          </a:prstGeom>
          <a:noFill/>
          <a:ln/>
        </p:spPr>
        <p:txBody>
          <a:bodyPr wrap="square" rtlCol="0" anchor="t"/>
          <a:lstStyle/>
          <a:p>
            <a:pPr marL="0" indent="0">
              <a:buNone/>
            </a:pPr>
            <a:r>
              <a:rPr lang="en-US" sz="1150" dirty="0">
                <a:solidFill>
                  <a:srgbClr val="6E6389"/>
                </a:solidFill>
                <a:latin typeface="Calibri" pitchFamily="34" charset="0"/>
                <a:ea typeface="Calibri" pitchFamily="34" charset="-122"/>
                <a:cs typeface="Calibri" pitchFamily="34" charset="-120"/>
              </a:rPr>
              <a:t>Force a plan. Check the steps — right file, sane order. It often planned clumsily.</a:t>
            </a:r>
            <a:endParaRPr lang="en-US" sz="1150" dirty="0"/>
          </a:p>
        </p:txBody>
      </p:sp>
      <p:sp>
        <p:nvSpPr>
          <p:cNvPr id="8" name="Shape 5"/>
          <p:cNvSpPr/>
          <p:nvPr/>
        </p:nvSpPr>
        <p:spPr>
          <a:xfrm>
            <a:off x="4754880" y="1417320"/>
            <a:ext cx="3931920" cy="1097280"/>
          </a:xfrm>
          <a:prstGeom prst="roundRect">
            <a:avLst>
              <a:gd name="adj" fmla="val 6667"/>
            </a:avLst>
          </a:prstGeom>
          <a:solidFill>
            <a:srgbClr val="2D1155"/>
          </a:solidFill>
          <a:ln w="19050">
            <a:solidFill>
              <a:srgbClr val="F59E0B"/>
            </a:solidFill>
            <a:prstDash val="solid"/>
          </a:ln>
        </p:spPr>
        <p:txBody>
          <a:bodyPr/>
          <a:lstStyle/>
          <a:p>
            <a:endParaRPr lang="en-AU"/>
          </a:p>
        </p:txBody>
      </p:sp>
      <p:sp>
        <p:nvSpPr>
          <p:cNvPr id="9" name="Text 6"/>
          <p:cNvSpPr/>
          <p:nvPr/>
        </p:nvSpPr>
        <p:spPr>
          <a:xfrm>
            <a:off x="4956048" y="1536192"/>
            <a:ext cx="3566160" cy="274320"/>
          </a:xfrm>
          <a:prstGeom prst="rect">
            <a:avLst/>
          </a:prstGeom>
          <a:noFill/>
          <a:ln/>
        </p:spPr>
        <p:txBody>
          <a:bodyPr wrap="square" rtlCol="0" anchor="ctr"/>
          <a:lstStyle/>
          <a:p>
            <a:pPr marL="0" indent="0">
              <a:buNone/>
            </a:pPr>
            <a:r>
              <a:rPr lang="en-US" sz="1000" b="1" kern="0" spc="200" dirty="0">
                <a:solidFill>
                  <a:srgbClr val="F59E0B"/>
                </a:solidFill>
                <a:latin typeface="Calibri" pitchFamily="34" charset="0"/>
                <a:ea typeface="Calibri" pitchFamily="34" charset="-122"/>
                <a:cs typeface="Calibri" pitchFamily="34" charset="-120"/>
              </a:rPr>
              <a:t>NOW · 2026</a:t>
            </a:r>
            <a:endParaRPr lang="en-US" sz="1000" dirty="0"/>
          </a:p>
        </p:txBody>
      </p:sp>
      <p:sp>
        <p:nvSpPr>
          <p:cNvPr id="10" name="Text 7"/>
          <p:cNvSpPr/>
          <p:nvPr/>
        </p:nvSpPr>
        <p:spPr>
          <a:xfrm>
            <a:off x="4956048" y="1810512"/>
            <a:ext cx="3566160" cy="640080"/>
          </a:xfrm>
          <a:prstGeom prst="rect">
            <a:avLst/>
          </a:prstGeom>
          <a:noFill/>
          <a:ln/>
        </p:spPr>
        <p:txBody>
          <a:bodyPr wrap="square" rtlCol="0" anchor="t"/>
          <a:lstStyle/>
          <a:p>
            <a:pPr marL="0" indent="0">
              <a:buNone/>
            </a:pPr>
            <a:r>
              <a:rPr lang="en-US" sz="1150" dirty="0">
                <a:solidFill>
                  <a:srgbClr val="FFFFFF"/>
                </a:solidFill>
                <a:latin typeface="Calibri" pitchFamily="34" charset="0"/>
                <a:ea typeface="Calibri" pitchFamily="34" charset="-122"/>
                <a:cs typeface="Calibri" pitchFamily="34" charset="-120"/>
              </a:rPr>
              <a:t>Decomposition is solid. The risk flips: a clean, confident plan for slightly the wrong problem.</a:t>
            </a:r>
            <a:endParaRPr lang="en-US" sz="1150" dirty="0"/>
          </a:p>
        </p:txBody>
      </p:sp>
      <p:sp>
        <p:nvSpPr>
          <p:cNvPr id="11" name="Shape 8"/>
          <p:cNvSpPr/>
          <p:nvPr/>
        </p:nvSpPr>
        <p:spPr>
          <a:xfrm>
            <a:off x="457200" y="2697480"/>
            <a:ext cx="8229600" cy="1371600"/>
          </a:xfrm>
          <a:prstGeom prst="roundRect">
            <a:avLst>
              <a:gd name="adj" fmla="val 5333"/>
            </a:avLst>
          </a:prstGeom>
          <a:solidFill>
            <a:srgbClr val="DDD6FE"/>
          </a:solidFill>
          <a:ln/>
        </p:spPr>
        <p:txBody>
          <a:bodyPr/>
          <a:lstStyle/>
          <a:p>
            <a:endParaRPr lang="en-AU"/>
          </a:p>
        </p:txBody>
      </p:sp>
      <p:sp>
        <p:nvSpPr>
          <p:cNvPr id="12" name="Text 9"/>
          <p:cNvSpPr/>
          <p:nvPr/>
        </p:nvSpPr>
        <p:spPr>
          <a:xfrm>
            <a:off x="731520" y="2816352"/>
            <a:ext cx="7680960" cy="292608"/>
          </a:xfrm>
          <a:prstGeom prst="rect">
            <a:avLst/>
          </a:prstGeom>
          <a:noFill/>
          <a:ln/>
        </p:spPr>
        <p:txBody>
          <a:bodyPr wrap="square" rtlCol="0" anchor="ctr"/>
          <a:lstStyle/>
          <a:p>
            <a:pPr marL="0" indent="0">
              <a:buNone/>
            </a:pPr>
            <a:r>
              <a:rPr lang="en-US" sz="1250" b="1" dirty="0">
                <a:solidFill>
                  <a:srgbClr val="2D1155"/>
                </a:solidFill>
                <a:latin typeface="Calibri" pitchFamily="34" charset="0"/>
                <a:ea typeface="Calibri" pitchFamily="34" charset="-122"/>
                <a:cs typeface="Calibri" pitchFamily="34" charset="-120"/>
              </a:rPr>
              <a:t>So read for intent and scope, not mechanics:</a:t>
            </a:r>
            <a:endParaRPr lang="en-US" sz="1250" dirty="0"/>
          </a:p>
        </p:txBody>
      </p:sp>
      <p:sp>
        <p:nvSpPr>
          <p:cNvPr id="13" name="Text 10"/>
          <p:cNvSpPr/>
          <p:nvPr/>
        </p:nvSpPr>
        <p:spPr>
          <a:xfrm>
            <a:off x="731520" y="3127248"/>
            <a:ext cx="7680960" cy="896112"/>
          </a:xfrm>
          <a:prstGeom prst="rect">
            <a:avLst/>
          </a:prstGeom>
          <a:noFill/>
          <a:ln/>
        </p:spPr>
        <p:txBody>
          <a:bodyPr wrap="square" rtlCol="0" anchor="ctr"/>
          <a:lstStyle/>
          <a:p>
            <a:pPr marL="152400" indent="-152400">
              <a:spcAft>
                <a:spcPts val="200"/>
              </a:spcAft>
              <a:buSzPct val="100000"/>
              <a:buChar char="•"/>
            </a:pPr>
            <a:r>
              <a:rPr lang="en-US" sz="1200" dirty="0">
                <a:solidFill>
                  <a:srgbClr val="2D1155"/>
                </a:solidFill>
                <a:latin typeface="Calibri" pitchFamily="34" charset="0"/>
                <a:ea typeface="Calibri" pitchFamily="34" charset="-122"/>
                <a:cs typeface="Calibri" pitchFamily="34" charset="-120"/>
              </a:rPr>
              <a:t>Did it understand the real goal, or a plausible lookalike?</a:t>
            </a:r>
            <a:endParaRPr lang="en-US" sz="1200" dirty="0"/>
          </a:p>
          <a:p>
            <a:pPr marL="152400" indent="-152400">
              <a:spcAft>
                <a:spcPts val="200"/>
              </a:spcAft>
              <a:buSzPct val="100000"/>
              <a:buChar char="•"/>
            </a:pPr>
            <a:r>
              <a:rPr lang="en-US" sz="1200" dirty="0">
                <a:solidFill>
                  <a:srgbClr val="2D1155"/>
                </a:solidFill>
                <a:latin typeface="Calibri" pitchFamily="34" charset="0"/>
                <a:ea typeface="Calibri" pitchFamily="34" charset="-122"/>
                <a:cs typeface="Calibri" pitchFamily="34" charset="-120"/>
              </a:rPr>
              <a:t>Is it about to touch more than it should?</a:t>
            </a:r>
            <a:endParaRPr lang="en-US" sz="1200" dirty="0"/>
          </a:p>
          <a:p>
            <a:pPr marL="152400" indent="-152400">
              <a:spcAft>
                <a:spcPts val="200"/>
              </a:spcAft>
              <a:buSzPct val="100000"/>
              <a:buChar char="•"/>
            </a:pPr>
            <a:r>
              <a:rPr lang="en-US" sz="1200" dirty="0">
                <a:solidFill>
                  <a:srgbClr val="2D1155"/>
                </a:solidFill>
                <a:latin typeface="Calibri" pitchFamily="34" charset="0"/>
                <a:ea typeface="Calibri" pitchFamily="34" charset="-122"/>
                <a:cs typeface="Calibri" pitchFamily="34" charset="-120"/>
              </a:rPr>
              <a:t>What did it assume that you never said?</a:t>
            </a:r>
            <a:endParaRPr lang="en-US" sz="1200" dirty="0"/>
          </a:p>
        </p:txBody>
      </p:sp>
      <p:sp>
        <p:nvSpPr>
          <p:cNvPr id="14" name="Text 11"/>
          <p:cNvSpPr/>
          <p:nvPr/>
        </p:nvSpPr>
        <p:spPr>
          <a:xfrm>
            <a:off x="457200" y="4206240"/>
            <a:ext cx="8229600" cy="320040"/>
          </a:xfrm>
          <a:prstGeom prst="rect">
            <a:avLst/>
          </a:prstGeom>
          <a:noFill/>
          <a:ln/>
        </p:spPr>
        <p:txBody>
          <a:bodyPr wrap="square" rtlCol="0" anchor="ctr"/>
          <a:lstStyle/>
          <a:p>
            <a:pPr marL="0" indent="0">
              <a:buNone/>
            </a:pPr>
            <a:r>
              <a:rPr lang="en-US" sz="1200" dirty="0">
                <a:solidFill>
                  <a:srgbClr val="6E6389"/>
                </a:solidFill>
                <a:latin typeface="Calibri" pitchFamily="34" charset="0"/>
                <a:ea typeface="Calibri" pitchFamily="34" charset="-122"/>
                <a:cs typeface="Calibri" pitchFamily="34" charset="-120"/>
              </a:rPr>
              <a:t>Turn it on —  </a:t>
            </a:r>
            <a:r>
              <a:rPr lang="en-US" sz="1200" b="1" dirty="0">
                <a:solidFill>
                  <a:srgbClr val="5B21B6"/>
                </a:solidFill>
                <a:latin typeface="Courier New" pitchFamily="34" charset="0"/>
                <a:ea typeface="Courier New" pitchFamily="34" charset="-122"/>
                <a:cs typeface="Courier New" pitchFamily="34" charset="-120"/>
              </a:rPr>
              <a:t>Claude Code: Shift+Tab</a:t>
            </a:r>
            <a:r>
              <a:rPr lang="en-US" sz="1200" dirty="0">
                <a:solidFill>
                  <a:srgbClr val="DDD6FE"/>
                </a:solidFill>
                <a:latin typeface="Calibri" pitchFamily="34" charset="0"/>
                <a:ea typeface="Calibri" pitchFamily="34" charset="-122"/>
                <a:cs typeface="Calibri" pitchFamily="34" charset="-120"/>
              </a:rPr>
              <a:t>     ·     </a:t>
            </a:r>
            <a:r>
              <a:rPr lang="en-US" sz="1200" b="1" dirty="0">
                <a:solidFill>
                  <a:srgbClr val="7C3AED"/>
                </a:solidFill>
                <a:latin typeface="Courier New" pitchFamily="34" charset="0"/>
                <a:ea typeface="Courier New" pitchFamily="34" charset="-122"/>
                <a:cs typeface="Courier New" pitchFamily="34" charset="-120"/>
              </a:rPr>
              <a:t>Codex: /plan</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5F3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566928"/>
          </a:xfrm>
          <a:prstGeom prst="rect">
            <a:avLst/>
          </a:prstGeom>
          <a:noFill/>
          <a:ln/>
        </p:spPr>
        <p:txBody>
          <a:bodyPr wrap="square" rtlCol="0" anchor="ctr"/>
          <a:lstStyle/>
          <a:p>
            <a:pPr marL="0" indent="0" algn="l">
              <a:buNone/>
            </a:pPr>
            <a:r>
              <a:rPr lang="en-US" sz="2700" b="1" kern="0" spc="100" dirty="0">
                <a:solidFill>
                  <a:srgbClr val="2D1155"/>
                </a:solidFill>
                <a:latin typeface="Arial Black" pitchFamily="34" charset="0"/>
                <a:ea typeface="Arial Black" pitchFamily="34" charset="-122"/>
                <a:cs typeface="Arial Black" pitchFamily="34" charset="-120"/>
              </a:rPr>
              <a:t>THE COCKPIT</a:t>
            </a:r>
            <a:endParaRPr lang="en-US" sz="2700" dirty="0"/>
          </a:p>
        </p:txBody>
      </p:sp>
      <p:sp>
        <p:nvSpPr>
          <p:cNvPr id="3" name="Text 1"/>
          <p:cNvSpPr/>
          <p:nvPr/>
        </p:nvSpPr>
        <p:spPr>
          <a:xfrm>
            <a:off x="475488" y="896112"/>
            <a:ext cx="8229600" cy="329184"/>
          </a:xfrm>
          <a:prstGeom prst="rect">
            <a:avLst/>
          </a:prstGeom>
          <a:noFill/>
          <a:ln/>
        </p:spPr>
        <p:txBody>
          <a:bodyPr wrap="square" rtlCol="0" anchor="ctr"/>
          <a:lstStyle/>
          <a:p>
            <a:pPr marL="0" indent="0">
              <a:buNone/>
            </a:pPr>
            <a:r>
              <a:rPr lang="en-US" sz="1300" i="1" dirty="0">
                <a:solidFill>
                  <a:srgbClr val="6E6389"/>
                </a:solidFill>
                <a:latin typeface="Calibri" pitchFamily="34" charset="0"/>
                <a:ea typeface="Calibri" pitchFamily="34" charset="-122"/>
                <a:cs typeface="Calibri" pitchFamily="34" charset="-120"/>
              </a:rPr>
              <a:t>Skill #3 — four moves on the context window. That is the entire cockpit.</a:t>
            </a:r>
            <a:endParaRPr lang="en-US" sz="1300" dirty="0"/>
          </a:p>
        </p:txBody>
      </p:sp>
      <p:pic>
        <p:nvPicPr>
          <p:cNvPr id="4" name="Image 0" descr="logo_icon.jpeg"/>
          <p:cNvPicPr>
            <a:picLocks noChangeAspect="1"/>
          </p:cNvPicPr>
          <p:nvPr/>
        </p:nvPicPr>
        <p:blipFill>
          <a:blip r:embed="rId3"/>
          <a:stretch>
            <a:fillRect/>
          </a:stretch>
        </p:blipFill>
        <p:spPr>
          <a:xfrm>
            <a:off x="8366760" y="4526280"/>
            <a:ext cx="411480" cy="411480"/>
          </a:xfrm>
          <a:prstGeom prst="ellipse">
            <a:avLst/>
          </a:prstGeom>
        </p:spPr>
      </p:pic>
      <p:sp>
        <p:nvSpPr>
          <p:cNvPr id="5" name="Text 2"/>
          <p:cNvSpPr/>
          <p:nvPr/>
        </p:nvSpPr>
        <p:spPr>
          <a:xfrm>
            <a:off x="640080" y="1481328"/>
            <a:ext cx="2926080" cy="274320"/>
          </a:xfrm>
          <a:prstGeom prst="rect">
            <a:avLst/>
          </a:prstGeom>
          <a:noFill/>
          <a:ln/>
        </p:spPr>
        <p:txBody>
          <a:bodyPr wrap="square" rtlCol="0" anchor="ctr"/>
          <a:lstStyle/>
          <a:p>
            <a:pPr marL="0" indent="0">
              <a:buNone/>
            </a:pPr>
            <a:r>
              <a:rPr lang="en-US" sz="1000" b="1" dirty="0">
                <a:solidFill>
                  <a:srgbClr val="6E6389"/>
                </a:solidFill>
                <a:latin typeface="Calibri" pitchFamily="34" charset="0"/>
                <a:ea typeface="Calibri" pitchFamily="34" charset="-122"/>
                <a:cs typeface="Calibri" pitchFamily="34" charset="-120"/>
              </a:rPr>
              <a:t>THE MOVE</a:t>
            </a:r>
            <a:endParaRPr lang="en-US" sz="1000" dirty="0"/>
          </a:p>
        </p:txBody>
      </p:sp>
      <p:sp>
        <p:nvSpPr>
          <p:cNvPr id="6" name="Text 3"/>
          <p:cNvSpPr/>
          <p:nvPr/>
        </p:nvSpPr>
        <p:spPr>
          <a:xfrm>
            <a:off x="3749040" y="1481328"/>
            <a:ext cx="2468880" cy="274320"/>
          </a:xfrm>
          <a:prstGeom prst="rect">
            <a:avLst/>
          </a:prstGeom>
          <a:noFill/>
          <a:ln/>
        </p:spPr>
        <p:txBody>
          <a:bodyPr wrap="square" rtlCol="0" anchor="ctr"/>
          <a:lstStyle/>
          <a:p>
            <a:pPr marL="0" indent="0">
              <a:buNone/>
            </a:pPr>
            <a:r>
              <a:rPr lang="en-US" sz="1000" b="1" kern="0" spc="100" dirty="0">
                <a:solidFill>
                  <a:srgbClr val="F59E0B"/>
                </a:solidFill>
                <a:latin typeface="Calibri" pitchFamily="34" charset="0"/>
                <a:ea typeface="Calibri" pitchFamily="34" charset="-122"/>
                <a:cs typeface="Calibri" pitchFamily="34" charset="-120"/>
              </a:rPr>
              <a:t>CLAUDE CODE</a:t>
            </a:r>
            <a:endParaRPr lang="en-US" sz="1000" dirty="0"/>
          </a:p>
        </p:txBody>
      </p:sp>
      <p:sp>
        <p:nvSpPr>
          <p:cNvPr id="7" name="Text 4"/>
          <p:cNvSpPr/>
          <p:nvPr/>
        </p:nvSpPr>
        <p:spPr>
          <a:xfrm>
            <a:off x="6355080" y="1481328"/>
            <a:ext cx="2286000" cy="274320"/>
          </a:xfrm>
          <a:prstGeom prst="rect">
            <a:avLst/>
          </a:prstGeom>
          <a:noFill/>
          <a:ln/>
        </p:spPr>
        <p:txBody>
          <a:bodyPr wrap="square" rtlCol="0" anchor="ctr"/>
          <a:lstStyle/>
          <a:p>
            <a:pPr marL="0" indent="0">
              <a:buNone/>
            </a:pPr>
            <a:r>
              <a:rPr lang="en-US" sz="1000" b="1" kern="0" spc="100" dirty="0">
                <a:solidFill>
                  <a:srgbClr val="7C3AED"/>
                </a:solidFill>
                <a:latin typeface="Calibri" pitchFamily="34" charset="0"/>
                <a:ea typeface="Calibri" pitchFamily="34" charset="-122"/>
                <a:cs typeface="Calibri" pitchFamily="34" charset="-120"/>
              </a:rPr>
              <a:t>CODEX</a:t>
            </a:r>
            <a:endParaRPr lang="en-US" sz="1000" dirty="0"/>
          </a:p>
        </p:txBody>
      </p:sp>
      <p:sp>
        <p:nvSpPr>
          <p:cNvPr id="8" name="Shape 5"/>
          <p:cNvSpPr/>
          <p:nvPr/>
        </p:nvSpPr>
        <p:spPr>
          <a:xfrm>
            <a:off x="457200" y="1810512"/>
            <a:ext cx="8229600" cy="603504"/>
          </a:xfrm>
          <a:prstGeom prst="rect">
            <a:avLst/>
          </a:prstGeom>
          <a:solidFill>
            <a:srgbClr val="DDD6FE"/>
          </a:solidFill>
          <a:ln/>
        </p:spPr>
        <p:txBody>
          <a:bodyPr/>
          <a:lstStyle/>
          <a:p>
            <a:endParaRPr lang="en-AU"/>
          </a:p>
        </p:txBody>
      </p:sp>
      <p:sp>
        <p:nvSpPr>
          <p:cNvPr id="9" name="Text 6"/>
          <p:cNvSpPr/>
          <p:nvPr/>
        </p:nvSpPr>
        <p:spPr>
          <a:xfrm>
            <a:off x="640080" y="1810512"/>
            <a:ext cx="3017520" cy="603504"/>
          </a:xfrm>
          <a:prstGeom prst="rect">
            <a:avLst/>
          </a:prstGeom>
          <a:noFill/>
          <a:ln/>
        </p:spPr>
        <p:txBody>
          <a:bodyPr wrap="square" rtlCol="0" anchor="ctr"/>
          <a:lstStyle/>
          <a:p>
            <a:pPr marL="0" indent="0">
              <a:buNone/>
            </a:pPr>
            <a:r>
              <a:rPr lang="en-US" sz="1250" b="1" dirty="0">
                <a:solidFill>
                  <a:srgbClr val="7C3AED"/>
                </a:solidFill>
                <a:latin typeface="Calibri" pitchFamily="34" charset="0"/>
                <a:ea typeface="Calibri" pitchFamily="34" charset="-122"/>
                <a:cs typeface="Calibri" pitchFamily="34" charset="-120"/>
              </a:rPr>
              <a:t>SEE  </a:t>
            </a:r>
            <a:r>
              <a:rPr lang="en-US" sz="1250" dirty="0">
                <a:solidFill>
                  <a:srgbClr val="2D1155"/>
                </a:solidFill>
                <a:latin typeface="Calibri" pitchFamily="34" charset="0"/>
                <a:ea typeface="Calibri" pitchFamily="34" charset="-122"/>
                <a:cs typeface="Calibri" pitchFamily="34" charset="-120"/>
              </a:rPr>
              <a:t>what it is holding right now</a:t>
            </a:r>
            <a:endParaRPr lang="en-US" sz="1250" dirty="0"/>
          </a:p>
        </p:txBody>
      </p:sp>
      <p:sp>
        <p:nvSpPr>
          <p:cNvPr id="10" name="Text 7"/>
          <p:cNvSpPr/>
          <p:nvPr/>
        </p:nvSpPr>
        <p:spPr>
          <a:xfrm>
            <a:off x="3749040" y="1810512"/>
            <a:ext cx="2560320" cy="603504"/>
          </a:xfrm>
          <a:prstGeom prst="rect">
            <a:avLst/>
          </a:prstGeom>
          <a:noFill/>
          <a:ln/>
        </p:spPr>
        <p:txBody>
          <a:bodyPr wrap="square" rtlCol="0" anchor="ctr"/>
          <a:lstStyle/>
          <a:p>
            <a:pPr marL="0" indent="0">
              <a:buNone/>
            </a:pPr>
            <a:r>
              <a:rPr lang="en-US" sz="1300" b="1" dirty="0">
                <a:solidFill>
                  <a:srgbClr val="5B21B6"/>
                </a:solidFill>
                <a:latin typeface="Courier New" pitchFamily="34" charset="0"/>
                <a:ea typeface="Courier New" pitchFamily="34" charset="-122"/>
                <a:cs typeface="Courier New" pitchFamily="34" charset="-120"/>
              </a:rPr>
              <a:t>/context</a:t>
            </a:r>
            <a:endParaRPr lang="en-US" sz="1300" dirty="0"/>
          </a:p>
        </p:txBody>
      </p:sp>
      <p:sp>
        <p:nvSpPr>
          <p:cNvPr id="11" name="Text 8"/>
          <p:cNvSpPr/>
          <p:nvPr/>
        </p:nvSpPr>
        <p:spPr>
          <a:xfrm>
            <a:off x="6355080" y="1810512"/>
            <a:ext cx="2286000" cy="603504"/>
          </a:xfrm>
          <a:prstGeom prst="rect">
            <a:avLst/>
          </a:prstGeom>
          <a:noFill/>
          <a:ln/>
        </p:spPr>
        <p:txBody>
          <a:bodyPr wrap="square" rtlCol="0" anchor="ctr"/>
          <a:lstStyle/>
          <a:p>
            <a:pPr marL="0" indent="0">
              <a:buNone/>
            </a:pPr>
            <a:r>
              <a:rPr lang="en-US" sz="1300" b="1" dirty="0">
                <a:solidFill>
                  <a:srgbClr val="7C3AED"/>
                </a:solidFill>
                <a:latin typeface="Courier New" pitchFamily="34" charset="0"/>
                <a:ea typeface="Courier New" pitchFamily="34" charset="-122"/>
                <a:cs typeface="Courier New" pitchFamily="34" charset="-120"/>
              </a:rPr>
              <a:t>/status</a:t>
            </a:r>
            <a:endParaRPr lang="en-US" sz="1300" dirty="0"/>
          </a:p>
        </p:txBody>
      </p:sp>
      <p:sp>
        <p:nvSpPr>
          <p:cNvPr id="12" name="Shape 9"/>
          <p:cNvSpPr/>
          <p:nvPr/>
        </p:nvSpPr>
        <p:spPr>
          <a:xfrm>
            <a:off x="457200" y="2414016"/>
            <a:ext cx="8229600" cy="603504"/>
          </a:xfrm>
          <a:prstGeom prst="rect">
            <a:avLst/>
          </a:prstGeom>
          <a:solidFill>
            <a:srgbClr val="FFFFFF"/>
          </a:solidFill>
          <a:ln/>
        </p:spPr>
        <p:txBody>
          <a:bodyPr/>
          <a:lstStyle/>
          <a:p>
            <a:endParaRPr lang="en-AU"/>
          </a:p>
        </p:txBody>
      </p:sp>
      <p:sp>
        <p:nvSpPr>
          <p:cNvPr id="13" name="Text 10"/>
          <p:cNvSpPr/>
          <p:nvPr/>
        </p:nvSpPr>
        <p:spPr>
          <a:xfrm>
            <a:off x="640080" y="2414016"/>
            <a:ext cx="3017520" cy="603504"/>
          </a:xfrm>
          <a:prstGeom prst="rect">
            <a:avLst/>
          </a:prstGeom>
          <a:noFill/>
          <a:ln/>
        </p:spPr>
        <p:txBody>
          <a:bodyPr wrap="square" rtlCol="0" anchor="ctr"/>
          <a:lstStyle/>
          <a:p>
            <a:pPr marL="0" indent="0">
              <a:buNone/>
            </a:pPr>
            <a:r>
              <a:rPr lang="en-US" sz="1250" b="1" dirty="0">
                <a:solidFill>
                  <a:srgbClr val="7C3AED"/>
                </a:solidFill>
                <a:latin typeface="Calibri" pitchFamily="34" charset="0"/>
                <a:ea typeface="Calibri" pitchFamily="34" charset="-122"/>
                <a:cs typeface="Calibri" pitchFamily="34" charset="-120"/>
              </a:rPr>
              <a:t>LOAD  </a:t>
            </a:r>
            <a:r>
              <a:rPr lang="en-US" sz="1250" dirty="0">
                <a:solidFill>
                  <a:srgbClr val="2D1155"/>
                </a:solidFill>
                <a:latin typeface="Calibri" pitchFamily="34" charset="0"/>
                <a:ea typeface="Calibri" pitchFamily="34" charset="-122"/>
                <a:cs typeface="Calibri" pitchFamily="34" charset="-120"/>
              </a:rPr>
              <a:t>the exact files the task touches</a:t>
            </a:r>
            <a:endParaRPr lang="en-US" sz="1250" dirty="0"/>
          </a:p>
        </p:txBody>
      </p:sp>
      <p:sp>
        <p:nvSpPr>
          <p:cNvPr id="14" name="Text 11"/>
          <p:cNvSpPr/>
          <p:nvPr/>
        </p:nvSpPr>
        <p:spPr>
          <a:xfrm>
            <a:off x="3749040" y="2414016"/>
            <a:ext cx="2560320" cy="603504"/>
          </a:xfrm>
          <a:prstGeom prst="rect">
            <a:avLst/>
          </a:prstGeom>
          <a:noFill/>
          <a:ln/>
        </p:spPr>
        <p:txBody>
          <a:bodyPr wrap="square" rtlCol="0" anchor="ctr"/>
          <a:lstStyle/>
          <a:p>
            <a:pPr marL="0" indent="0">
              <a:buNone/>
            </a:pPr>
            <a:r>
              <a:rPr lang="en-US" sz="1300" b="1" dirty="0">
                <a:solidFill>
                  <a:srgbClr val="5B21B6"/>
                </a:solidFill>
                <a:latin typeface="Courier New" pitchFamily="34" charset="0"/>
                <a:ea typeface="Courier New" pitchFamily="34" charset="-122"/>
                <a:cs typeface="Courier New" pitchFamily="34" charset="-120"/>
              </a:rPr>
              <a:t>@path/to/file</a:t>
            </a:r>
            <a:endParaRPr lang="en-US" sz="1300" dirty="0"/>
          </a:p>
        </p:txBody>
      </p:sp>
      <p:sp>
        <p:nvSpPr>
          <p:cNvPr id="15" name="Text 12"/>
          <p:cNvSpPr/>
          <p:nvPr/>
        </p:nvSpPr>
        <p:spPr>
          <a:xfrm>
            <a:off x="6355080" y="2414016"/>
            <a:ext cx="2286000" cy="603504"/>
          </a:xfrm>
          <a:prstGeom prst="rect">
            <a:avLst/>
          </a:prstGeom>
          <a:noFill/>
          <a:ln/>
        </p:spPr>
        <p:txBody>
          <a:bodyPr wrap="square" rtlCol="0" anchor="ctr"/>
          <a:lstStyle/>
          <a:p>
            <a:pPr marL="0" indent="0">
              <a:buNone/>
            </a:pPr>
            <a:r>
              <a:rPr lang="en-US" sz="1300" b="1" dirty="0">
                <a:solidFill>
                  <a:srgbClr val="7C3AED"/>
                </a:solidFill>
                <a:latin typeface="Courier New" pitchFamily="34" charset="0"/>
                <a:ea typeface="Courier New" pitchFamily="34" charset="-122"/>
                <a:cs typeface="Courier New" pitchFamily="34" charset="-120"/>
              </a:rPr>
              <a:t>@path/to/file</a:t>
            </a:r>
            <a:endParaRPr lang="en-US" sz="1300" dirty="0"/>
          </a:p>
        </p:txBody>
      </p:sp>
      <p:sp>
        <p:nvSpPr>
          <p:cNvPr id="16" name="Shape 13"/>
          <p:cNvSpPr/>
          <p:nvPr/>
        </p:nvSpPr>
        <p:spPr>
          <a:xfrm>
            <a:off x="457200" y="3017520"/>
            <a:ext cx="8229600" cy="603504"/>
          </a:xfrm>
          <a:prstGeom prst="rect">
            <a:avLst/>
          </a:prstGeom>
          <a:solidFill>
            <a:srgbClr val="DDD6FE"/>
          </a:solidFill>
          <a:ln/>
        </p:spPr>
        <p:txBody>
          <a:bodyPr/>
          <a:lstStyle/>
          <a:p>
            <a:endParaRPr lang="en-AU"/>
          </a:p>
        </p:txBody>
      </p:sp>
      <p:sp>
        <p:nvSpPr>
          <p:cNvPr id="17" name="Text 14"/>
          <p:cNvSpPr/>
          <p:nvPr/>
        </p:nvSpPr>
        <p:spPr>
          <a:xfrm>
            <a:off x="640080" y="3017520"/>
            <a:ext cx="3017520" cy="603504"/>
          </a:xfrm>
          <a:prstGeom prst="rect">
            <a:avLst/>
          </a:prstGeom>
          <a:noFill/>
          <a:ln/>
        </p:spPr>
        <p:txBody>
          <a:bodyPr wrap="square" rtlCol="0" anchor="ctr"/>
          <a:lstStyle/>
          <a:p>
            <a:pPr marL="0" indent="0">
              <a:buNone/>
            </a:pPr>
            <a:r>
              <a:rPr lang="en-US" sz="1250" b="1" dirty="0">
                <a:solidFill>
                  <a:srgbClr val="7C3AED"/>
                </a:solidFill>
                <a:latin typeface="Calibri" pitchFamily="34" charset="0"/>
                <a:ea typeface="Calibri" pitchFamily="34" charset="-122"/>
                <a:cs typeface="Calibri" pitchFamily="34" charset="-120"/>
              </a:rPr>
              <a:t>TRIM  </a:t>
            </a:r>
            <a:r>
              <a:rPr lang="en-US" sz="1250" dirty="0">
                <a:solidFill>
                  <a:srgbClr val="2D1155"/>
                </a:solidFill>
                <a:latin typeface="Calibri" pitchFamily="34" charset="0"/>
                <a:ea typeface="Calibri" pitchFamily="34" charset="-122"/>
                <a:cs typeface="Calibri" pitchFamily="34" charset="-120"/>
              </a:rPr>
              <a:t>summarise away what is stale</a:t>
            </a:r>
            <a:endParaRPr lang="en-US" sz="1250" dirty="0"/>
          </a:p>
        </p:txBody>
      </p:sp>
      <p:sp>
        <p:nvSpPr>
          <p:cNvPr id="18" name="Text 15"/>
          <p:cNvSpPr/>
          <p:nvPr/>
        </p:nvSpPr>
        <p:spPr>
          <a:xfrm>
            <a:off x="3749040" y="3017520"/>
            <a:ext cx="2560320" cy="603504"/>
          </a:xfrm>
          <a:prstGeom prst="rect">
            <a:avLst/>
          </a:prstGeom>
          <a:noFill/>
          <a:ln/>
        </p:spPr>
        <p:txBody>
          <a:bodyPr wrap="square" rtlCol="0" anchor="ctr"/>
          <a:lstStyle/>
          <a:p>
            <a:pPr marL="0" indent="0">
              <a:buNone/>
            </a:pPr>
            <a:r>
              <a:rPr lang="en-US" sz="1300" b="1" dirty="0">
                <a:solidFill>
                  <a:srgbClr val="5B21B6"/>
                </a:solidFill>
                <a:latin typeface="Courier New" pitchFamily="34" charset="0"/>
                <a:ea typeface="Courier New" pitchFamily="34" charset="-122"/>
                <a:cs typeface="Courier New" pitchFamily="34" charset="-120"/>
              </a:rPr>
              <a:t>/compact</a:t>
            </a:r>
            <a:endParaRPr lang="en-US" sz="1300" dirty="0"/>
          </a:p>
        </p:txBody>
      </p:sp>
      <p:sp>
        <p:nvSpPr>
          <p:cNvPr id="19" name="Text 16"/>
          <p:cNvSpPr/>
          <p:nvPr/>
        </p:nvSpPr>
        <p:spPr>
          <a:xfrm>
            <a:off x="6355080" y="3017520"/>
            <a:ext cx="2286000" cy="603504"/>
          </a:xfrm>
          <a:prstGeom prst="rect">
            <a:avLst/>
          </a:prstGeom>
          <a:noFill/>
          <a:ln/>
        </p:spPr>
        <p:txBody>
          <a:bodyPr wrap="square" rtlCol="0" anchor="ctr"/>
          <a:lstStyle/>
          <a:p>
            <a:pPr marL="0" indent="0">
              <a:buNone/>
            </a:pPr>
            <a:r>
              <a:rPr lang="en-US" sz="1300" b="1" dirty="0">
                <a:solidFill>
                  <a:srgbClr val="7C3AED"/>
                </a:solidFill>
                <a:latin typeface="Courier New" pitchFamily="34" charset="0"/>
                <a:ea typeface="Courier New" pitchFamily="34" charset="-122"/>
                <a:cs typeface="Courier New" pitchFamily="34" charset="-120"/>
              </a:rPr>
              <a:t>/compact</a:t>
            </a:r>
            <a:endParaRPr lang="en-US" sz="1300" dirty="0"/>
          </a:p>
        </p:txBody>
      </p:sp>
      <p:sp>
        <p:nvSpPr>
          <p:cNvPr id="20" name="Shape 17"/>
          <p:cNvSpPr/>
          <p:nvPr/>
        </p:nvSpPr>
        <p:spPr>
          <a:xfrm>
            <a:off x="457200" y="3621024"/>
            <a:ext cx="8229600" cy="603504"/>
          </a:xfrm>
          <a:prstGeom prst="rect">
            <a:avLst/>
          </a:prstGeom>
          <a:solidFill>
            <a:srgbClr val="FFFFFF"/>
          </a:solidFill>
          <a:ln/>
        </p:spPr>
        <p:txBody>
          <a:bodyPr/>
          <a:lstStyle/>
          <a:p>
            <a:endParaRPr lang="en-AU"/>
          </a:p>
        </p:txBody>
      </p:sp>
      <p:sp>
        <p:nvSpPr>
          <p:cNvPr id="21" name="Text 18"/>
          <p:cNvSpPr/>
          <p:nvPr/>
        </p:nvSpPr>
        <p:spPr>
          <a:xfrm>
            <a:off x="640080" y="3621024"/>
            <a:ext cx="3017520" cy="603504"/>
          </a:xfrm>
          <a:prstGeom prst="rect">
            <a:avLst/>
          </a:prstGeom>
          <a:noFill/>
          <a:ln/>
        </p:spPr>
        <p:txBody>
          <a:bodyPr wrap="square" rtlCol="0" anchor="ctr"/>
          <a:lstStyle/>
          <a:p>
            <a:pPr marL="0" indent="0">
              <a:buNone/>
            </a:pPr>
            <a:r>
              <a:rPr lang="en-US" sz="1250" b="1" dirty="0">
                <a:solidFill>
                  <a:srgbClr val="7C3AED"/>
                </a:solidFill>
                <a:latin typeface="Calibri" pitchFamily="34" charset="0"/>
                <a:ea typeface="Calibri" pitchFamily="34" charset="-122"/>
                <a:cs typeface="Calibri" pitchFamily="34" charset="-120"/>
              </a:rPr>
              <a:t>RESET  </a:t>
            </a:r>
            <a:r>
              <a:rPr lang="en-US" sz="1250" dirty="0">
                <a:solidFill>
                  <a:srgbClr val="2D1155"/>
                </a:solidFill>
                <a:latin typeface="Calibri" pitchFamily="34" charset="0"/>
                <a:ea typeface="Calibri" pitchFamily="34" charset="-122"/>
                <a:cs typeface="Calibri" pitchFamily="34" charset="-120"/>
              </a:rPr>
              <a:t>new task, clean window</a:t>
            </a:r>
            <a:endParaRPr lang="en-US" sz="1250" dirty="0"/>
          </a:p>
        </p:txBody>
      </p:sp>
      <p:sp>
        <p:nvSpPr>
          <p:cNvPr id="22" name="Text 19"/>
          <p:cNvSpPr/>
          <p:nvPr/>
        </p:nvSpPr>
        <p:spPr>
          <a:xfrm>
            <a:off x="3749040" y="3621024"/>
            <a:ext cx="2560320" cy="603504"/>
          </a:xfrm>
          <a:prstGeom prst="rect">
            <a:avLst/>
          </a:prstGeom>
          <a:noFill/>
          <a:ln/>
        </p:spPr>
        <p:txBody>
          <a:bodyPr wrap="square" rtlCol="0" anchor="ctr"/>
          <a:lstStyle/>
          <a:p>
            <a:pPr marL="0" indent="0">
              <a:buNone/>
            </a:pPr>
            <a:r>
              <a:rPr lang="en-US" sz="1300" b="1" dirty="0">
                <a:solidFill>
                  <a:srgbClr val="5B21B6"/>
                </a:solidFill>
                <a:latin typeface="Courier New" pitchFamily="34" charset="0"/>
                <a:ea typeface="Courier New" pitchFamily="34" charset="-122"/>
                <a:cs typeface="Courier New" pitchFamily="34" charset="-120"/>
              </a:rPr>
              <a:t>/clear</a:t>
            </a:r>
            <a:endParaRPr lang="en-US" sz="1300" dirty="0"/>
          </a:p>
        </p:txBody>
      </p:sp>
      <p:sp>
        <p:nvSpPr>
          <p:cNvPr id="23" name="Text 20"/>
          <p:cNvSpPr/>
          <p:nvPr/>
        </p:nvSpPr>
        <p:spPr>
          <a:xfrm>
            <a:off x="6355080" y="3621024"/>
            <a:ext cx="2286000" cy="603504"/>
          </a:xfrm>
          <a:prstGeom prst="rect">
            <a:avLst/>
          </a:prstGeom>
          <a:noFill/>
          <a:ln/>
        </p:spPr>
        <p:txBody>
          <a:bodyPr wrap="square" rtlCol="0" anchor="ctr"/>
          <a:lstStyle/>
          <a:p>
            <a:pPr marL="0" indent="0">
              <a:buNone/>
            </a:pPr>
            <a:r>
              <a:rPr lang="en-US" sz="1300" b="1" dirty="0">
                <a:solidFill>
                  <a:srgbClr val="7C3AED"/>
                </a:solidFill>
                <a:latin typeface="Courier New" pitchFamily="34" charset="0"/>
                <a:ea typeface="Courier New" pitchFamily="34" charset="-122"/>
                <a:cs typeface="Courier New" pitchFamily="34" charset="-120"/>
              </a:rPr>
              <a:t>new session</a:t>
            </a:r>
            <a:endParaRPr lang="en-US" sz="1300" dirty="0"/>
          </a:p>
        </p:txBody>
      </p:sp>
      <p:sp>
        <p:nvSpPr>
          <p:cNvPr id="24" name="Text 21"/>
          <p:cNvSpPr/>
          <p:nvPr/>
        </p:nvSpPr>
        <p:spPr>
          <a:xfrm>
            <a:off x="457200" y="4370832"/>
            <a:ext cx="8229600" cy="320040"/>
          </a:xfrm>
          <a:prstGeom prst="rect">
            <a:avLst/>
          </a:prstGeom>
          <a:noFill/>
          <a:ln/>
        </p:spPr>
        <p:txBody>
          <a:bodyPr wrap="square" rtlCol="0" anchor="ctr"/>
          <a:lstStyle/>
          <a:p>
            <a:pPr marL="0" indent="0">
              <a:buNone/>
            </a:pPr>
            <a:r>
              <a:rPr lang="en-US" sz="1150" b="1" i="1" dirty="0">
                <a:solidFill>
                  <a:srgbClr val="7C3AED"/>
                </a:solidFill>
                <a:latin typeface="Calibri" pitchFamily="34" charset="0"/>
                <a:ea typeface="Calibri" pitchFamily="34" charset="-122"/>
                <a:cs typeface="Calibri" pitchFamily="34" charset="-120"/>
              </a:rPr>
              <a:t>See, load, trim, reset. </a:t>
            </a:r>
            <a:r>
              <a:rPr lang="en-US" sz="1150" i="1" dirty="0">
                <a:solidFill>
                  <a:srgbClr val="6E6389"/>
                </a:solidFill>
                <a:latin typeface="Calibri" pitchFamily="34" charset="0"/>
                <a:ea typeface="Calibri" pitchFamily="34" charset="-122"/>
                <a:cs typeface="Calibri" pitchFamily="34" charset="-120"/>
              </a:rPr>
              <a:t>Nothing to memorise — but every context problem you hit today is one of these four.</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5F3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566928"/>
          </a:xfrm>
          <a:prstGeom prst="rect">
            <a:avLst/>
          </a:prstGeom>
          <a:noFill/>
          <a:ln/>
        </p:spPr>
        <p:txBody>
          <a:bodyPr wrap="square" rtlCol="0" anchor="ctr"/>
          <a:lstStyle/>
          <a:p>
            <a:pPr marL="0" indent="0" algn="l">
              <a:buNone/>
            </a:pPr>
            <a:r>
              <a:rPr lang="en-US" sz="2200" b="1" kern="0" spc="100" dirty="0">
                <a:solidFill>
                  <a:srgbClr val="2D1155"/>
                </a:solidFill>
                <a:latin typeface="Arial Black" pitchFamily="34" charset="0"/>
                <a:ea typeface="Arial Black" pitchFamily="34" charset="-122"/>
                <a:cs typeface="Arial Black" pitchFamily="34" charset="-120"/>
              </a:rPr>
              <a:t>CONTEXT IS THE FUEL</a:t>
            </a:r>
            <a:endParaRPr lang="en-US" sz="2200" dirty="0"/>
          </a:p>
        </p:txBody>
      </p:sp>
      <p:sp>
        <p:nvSpPr>
          <p:cNvPr id="3" name="Text 1"/>
          <p:cNvSpPr/>
          <p:nvPr/>
        </p:nvSpPr>
        <p:spPr>
          <a:xfrm>
            <a:off x="475488" y="896112"/>
            <a:ext cx="8229600" cy="329184"/>
          </a:xfrm>
          <a:prstGeom prst="rect">
            <a:avLst/>
          </a:prstGeom>
          <a:noFill/>
          <a:ln/>
        </p:spPr>
        <p:txBody>
          <a:bodyPr wrap="square" rtlCol="0" anchor="ctr"/>
          <a:lstStyle/>
          <a:p>
            <a:pPr marL="0" indent="0">
              <a:buNone/>
            </a:pPr>
            <a:r>
              <a:rPr lang="en-US" sz="1300" i="1" dirty="0">
                <a:solidFill>
                  <a:srgbClr val="6E6389"/>
                </a:solidFill>
                <a:latin typeface="Calibri" pitchFamily="34" charset="0"/>
                <a:ea typeface="Calibri" pitchFamily="34" charset="-122"/>
                <a:cs typeface="Calibri" pitchFamily="34" charset="-120"/>
              </a:rPr>
              <a:t>The gauge tells you which of the four moves to reach for.</a:t>
            </a:r>
            <a:endParaRPr lang="en-US" sz="1300" dirty="0"/>
          </a:p>
        </p:txBody>
      </p:sp>
      <p:pic>
        <p:nvPicPr>
          <p:cNvPr id="4" name="Image 0" descr="logo_icon.jpeg"/>
          <p:cNvPicPr>
            <a:picLocks noChangeAspect="1"/>
          </p:cNvPicPr>
          <p:nvPr/>
        </p:nvPicPr>
        <p:blipFill>
          <a:blip r:embed="rId3"/>
          <a:stretch>
            <a:fillRect/>
          </a:stretch>
        </p:blipFill>
        <p:spPr>
          <a:xfrm>
            <a:off x="8366760" y="4526280"/>
            <a:ext cx="411480" cy="411480"/>
          </a:xfrm>
          <a:prstGeom prst="ellipse">
            <a:avLst/>
          </a:prstGeom>
        </p:spPr>
      </p:pic>
      <p:sp>
        <p:nvSpPr>
          <p:cNvPr id="5" name="Shape 2"/>
          <p:cNvSpPr/>
          <p:nvPr/>
        </p:nvSpPr>
        <p:spPr>
          <a:xfrm>
            <a:off x="457200" y="1508760"/>
            <a:ext cx="2679192" cy="2880360"/>
          </a:xfrm>
          <a:prstGeom prst="roundRect">
            <a:avLst>
              <a:gd name="adj" fmla="val 3072"/>
            </a:avLst>
          </a:prstGeom>
          <a:solidFill>
            <a:srgbClr val="FFFFFF"/>
          </a:solidFill>
          <a:ln w="12700">
            <a:solidFill>
              <a:srgbClr val="DDD6FE"/>
            </a:solidFill>
            <a:prstDash val="solid"/>
          </a:ln>
        </p:spPr>
        <p:txBody>
          <a:bodyPr/>
          <a:lstStyle/>
          <a:p>
            <a:endParaRPr lang="en-AU"/>
          </a:p>
        </p:txBody>
      </p:sp>
      <p:sp>
        <p:nvSpPr>
          <p:cNvPr id="6" name="Text 3"/>
          <p:cNvSpPr/>
          <p:nvPr/>
        </p:nvSpPr>
        <p:spPr>
          <a:xfrm>
            <a:off x="658368" y="1691640"/>
            <a:ext cx="2286000" cy="365760"/>
          </a:xfrm>
          <a:prstGeom prst="rect">
            <a:avLst/>
          </a:prstGeom>
          <a:noFill/>
          <a:ln/>
        </p:spPr>
        <p:txBody>
          <a:bodyPr wrap="square" rtlCol="0" anchor="ctr"/>
          <a:lstStyle/>
          <a:p>
            <a:pPr marL="0" indent="0">
              <a:buNone/>
            </a:pPr>
            <a:r>
              <a:rPr lang="en-US" sz="1500" b="1" dirty="0">
                <a:solidFill>
                  <a:srgbClr val="6E6389"/>
                </a:solidFill>
                <a:latin typeface="Arial Black" pitchFamily="34" charset="0"/>
                <a:ea typeface="Arial Black" pitchFamily="34" charset="-122"/>
                <a:cs typeface="Arial Black" pitchFamily="34" charset="-120"/>
              </a:rPr>
              <a:t>Too little</a:t>
            </a:r>
            <a:endParaRPr lang="en-US" sz="1500" dirty="0"/>
          </a:p>
        </p:txBody>
      </p:sp>
      <p:sp>
        <p:nvSpPr>
          <p:cNvPr id="7" name="Text 4"/>
          <p:cNvSpPr/>
          <p:nvPr/>
        </p:nvSpPr>
        <p:spPr>
          <a:xfrm>
            <a:off x="658368" y="2194560"/>
            <a:ext cx="2331720" cy="2103120"/>
          </a:xfrm>
          <a:prstGeom prst="rect">
            <a:avLst/>
          </a:prstGeom>
          <a:noFill/>
          <a:ln/>
        </p:spPr>
        <p:txBody>
          <a:bodyPr wrap="square" rtlCol="0" anchor="t"/>
          <a:lstStyle/>
          <a:p>
            <a:pPr marL="0" indent="0">
              <a:buNone/>
            </a:pPr>
            <a:r>
              <a:rPr lang="en-US" sz="1250" dirty="0">
                <a:solidFill>
                  <a:srgbClr val="2D1155"/>
                </a:solidFill>
                <a:latin typeface="Calibri" pitchFamily="34" charset="0"/>
                <a:ea typeface="Calibri" pitchFamily="34" charset="-122"/>
                <a:cs typeface="Calibri" pitchFamily="34" charset="-120"/>
              </a:rPr>
              <a:t>It was never told enough. So it guesses — wrong file, invented convention, confident nonsense.</a:t>
            </a:r>
            <a:endParaRPr lang="en-US" sz="1250" dirty="0"/>
          </a:p>
        </p:txBody>
      </p:sp>
      <p:sp>
        <p:nvSpPr>
          <p:cNvPr id="8" name="Shape 5"/>
          <p:cNvSpPr/>
          <p:nvPr/>
        </p:nvSpPr>
        <p:spPr>
          <a:xfrm>
            <a:off x="3227832" y="1508760"/>
            <a:ext cx="2679192" cy="2880360"/>
          </a:xfrm>
          <a:prstGeom prst="roundRect">
            <a:avLst>
              <a:gd name="adj" fmla="val 3072"/>
            </a:avLst>
          </a:prstGeom>
          <a:solidFill>
            <a:srgbClr val="2D1155"/>
          </a:solidFill>
          <a:ln w="19050">
            <a:solidFill>
              <a:srgbClr val="F59E0B"/>
            </a:solidFill>
            <a:prstDash val="solid"/>
          </a:ln>
        </p:spPr>
        <p:txBody>
          <a:bodyPr/>
          <a:lstStyle/>
          <a:p>
            <a:endParaRPr lang="en-AU"/>
          </a:p>
        </p:txBody>
      </p:sp>
      <p:sp>
        <p:nvSpPr>
          <p:cNvPr id="9" name="Text 6"/>
          <p:cNvSpPr/>
          <p:nvPr/>
        </p:nvSpPr>
        <p:spPr>
          <a:xfrm>
            <a:off x="3429000" y="1691640"/>
            <a:ext cx="2286000" cy="365760"/>
          </a:xfrm>
          <a:prstGeom prst="rect">
            <a:avLst/>
          </a:prstGeom>
          <a:noFill/>
          <a:ln/>
        </p:spPr>
        <p:txBody>
          <a:bodyPr wrap="square" rtlCol="0" anchor="ctr"/>
          <a:lstStyle/>
          <a:p>
            <a:pPr marL="0" indent="0">
              <a:buNone/>
            </a:pPr>
            <a:r>
              <a:rPr lang="en-US" sz="1500" b="1" dirty="0">
                <a:solidFill>
                  <a:srgbClr val="F59E0B"/>
                </a:solidFill>
                <a:latin typeface="Arial Black" pitchFamily="34" charset="0"/>
                <a:ea typeface="Arial Black" pitchFamily="34" charset="-122"/>
                <a:cs typeface="Arial Black" pitchFamily="34" charset="-120"/>
              </a:rPr>
              <a:t>Just right</a:t>
            </a:r>
            <a:endParaRPr lang="en-US" sz="1500" dirty="0"/>
          </a:p>
        </p:txBody>
      </p:sp>
      <p:sp>
        <p:nvSpPr>
          <p:cNvPr id="10" name="Text 7"/>
          <p:cNvSpPr/>
          <p:nvPr/>
        </p:nvSpPr>
        <p:spPr>
          <a:xfrm>
            <a:off x="3429000" y="2194560"/>
            <a:ext cx="2331720" cy="2103120"/>
          </a:xfrm>
          <a:prstGeom prst="rect">
            <a:avLst/>
          </a:prstGeom>
          <a:noFill/>
          <a:ln/>
        </p:spPr>
        <p:txBody>
          <a:bodyPr wrap="square" rtlCol="0" anchor="t"/>
          <a:lstStyle/>
          <a:p>
            <a:pPr marL="0" indent="0">
              <a:buNone/>
            </a:pPr>
            <a:r>
              <a:rPr lang="en-US" sz="1250" dirty="0">
                <a:solidFill>
                  <a:srgbClr val="FFFFFF"/>
                </a:solidFill>
                <a:latin typeface="Calibri" pitchFamily="34" charset="0"/>
                <a:ea typeface="Calibri" pitchFamily="34" charset="-122"/>
                <a:cs typeface="Calibri" pitchFamily="34" charset="-120"/>
              </a:rPr>
              <a:t>One task. Only what that task touches. Nothing left over from an hour ago.</a:t>
            </a:r>
            <a:endParaRPr lang="en-US" sz="1250" dirty="0"/>
          </a:p>
        </p:txBody>
      </p:sp>
      <p:sp>
        <p:nvSpPr>
          <p:cNvPr id="11" name="Shape 8"/>
          <p:cNvSpPr/>
          <p:nvPr/>
        </p:nvSpPr>
        <p:spPr>
          <a:xfrm>
            <a:off x="6007608" y="1508760"/>
            <a:ext cx="2679192" cy="2880360"/>
          </a:xfrm>
          <a:prstGeom prst="roundRect">
            <a:avLst>
              <a:gd name="adj" fmla="val 3072"/>
            </a:avLst>
          </a:prstGeom>
          <a:solidFill>
            <a:srgbClr val="FFFFFF"/>
          </a:solidFill>
          <a:ln w="12700">
            <a:solidFill>
              <a:srgbClr val="DDD6FE"/>
            </a:solidFill>
            <a:prstDash val="solid"/>
          </a:ln>
        </p:spPr>
        <p:txBody>
          <a:bodyPr/>
          <a:lstStyle/>
          <a:p>
            <a:endParaRPr lang="en-AU"/>
          </a:p>
        </p:txBody>
      </p:sp>
      <p:sp>
        <p:nvSpPr>
          <p:cNvPr id="12" name="Text 9"/>
          <p:cNvSpPr/>
          <p:nvPr/>
        </p:nvSpPr>
        <p:spPr>
          <a:xfrm>
            <a:off x="6208776" y="1691640"/>
            <a:ext cx="2286000" cy="365760"/>
          </a:xfrm>
          <a:prstGeom prst="rect">
            <a:avLst/>
          </a:prstGeom>
          <a:noFill/>
          <a:ln/>
        </p:spPr>
        <p:txBody>
          <a:bodyPr wrap="square" rtlCol="0" anchor="ctr"/>
          <a:lstStyle/>
          <a:p>
            <a:pPr marL="0" indent="0">
              <a:buNone/>
            </a:pPr>
            <a:r>
              <a:rPr lang="en-US" sz="1500" b="1" dirty="0">
                <a:solidFill>
                  <a:srgbClr val="7C3AED"/>
                </a:solidFill>
                <a:latin typeface="Arial Black" pitchFamily="34" charset="0"/>
                <a:ea typeface="Arial Black" pitchFamily="34" charset="-122"/>
                <a:cs typeface="Arial Black" pitchFamily="34" charset="-120"/>
              </a:rPr>
              <a:t>Too much</a:t>
            </a:r>
            <a:endParaRPr lang="en-US" sz="1500" dirty="0"/>
          </a:p>
        </p:txBody>
      </p:sp>
      <p:sp>
        <p:nvSpPr>
          <p:cNvPr id="13" name="Text 10"/>
          <p:cNvSpPr/>
          <p:nvPr/>
        </p:nvSpPr>
        <p:spPr>
          <a:xfrm>
            <a:off x="6208776" y="2194560"/>
            <a:ext cx="2331720" cy="2103120"/>
          </a:xfrm>
          <a:prstGeom prst="rect">
            <a:avLst/>
          </a:prstGeom>
          <a:noFill/>
          <a:ln/>
        </p:spPr>
        <p:txBody>
          <a:bodyPr wrap="square" rtlCol="0" anchor="t"/>
          <a:lstStyle/>
          <a:p>
            <a:pPr marL="0" indent="0">
              <a:buNone/>
            </a:pPr>
            <a:r>
              <a:rPr lang="en-US" sz="1250" dirty="0">
                <a:solidFill>
                  <a:srgbClr val="2D1155"/>
                </a:solidFill>
                <a:latin typeface="Calibri" pitchFamily="34" charset="0"/>
                <a:ea typeface="Calibri" pitchFamily="34" charset="-122"/>
                <a:cs typeface="Calibri" pitchFamily="34" charset="-120"/>
              </a:rPr>
              <a:t>Slow, and old threads leak into new answers. The window is full, so it starts forgetting.</a:t>
            </a:r>
            <a:endParaRPr lang="en-US" sz="1250" dirty="0"/>
          </a:p>
        </p:txBody>
      </p:sp>
      <p:sp>
        <p:nvSpPr>
          <p:cNvPr id="14" name="Text 14"/>
          <p:cNvSpPr/>
          <p:nvPr/>
        </p:nvSpPr>
        <p:spPr>
          <a:xfrm>
            <a:off x="658368" y="3803904"/>
            <a:ext cx="2240280" cy="384048"/>
          </a:xfrm>
          <a:prstGeom prst="rect">
            <a:avLst/>
          </a:prstGeom>
          <a:noFill/>
          <a:ln/>
        </p:spPr>
        <p:txBody>
          <a:bodyPr wrap="square" lIns="0" rIns="0" rtlCol="0" anchor="ctr"/>
          <a:lstStyle/>
          <a:p>
            <a:pPr marL="0" indent="0">
              <a:buNone/>
            </a:pPr>
            <a:r>
              <a:rPr lang="en-US" sz="1150" b="1" dirty="0">
                <a:solidFill>
                  <a:srgbClr val="7C3AED"/>
                </a:solidFill>
                <a:latin typeface="Calibri" pitchFamily="34" charset="0"/>
                <a:ea typeface="Calibri" pitchFamily="34" charset="-122"/>
                <a:cs typeface="Calibri" pitchFamily="34" charset="-120"/>
              </a:rPr>
              <a:t>→ LOAD </a:t>
            </a:r>
            <a:r>
              <a:rPr lang="en-US" sz="1100" i="1" dirty="0">
                <a:solidFill>
                  <a:srgbClr val="6E6389"/>
                </a:solidFill>
                <a:latin typeface="Calibri" pitchFamily="34" charset="0"/>
                <a:ea typeface="Calibri" pitchFamily="34" charset="-122"/>
                <a:cs typeface="Calibri" pitchFamily="34" charset="-120"/>
              </a:rPr>
              <a:t>more of the right thing</a:t>
            </a:r>
            <a:endParaRPr lang="en-US" sz="1150" dirty="0"/>
          </a:p>
        </p:txBody>
      </p:sp>
      <p:sp>
        <p:nvSpPr>
          <p:cNvPr id="15" name="Text 15"/>
          <p:cNvSpPr/>
          <p:nvPr/>
        </p:nvSpPr>
        <p:spPr>
          <a:xfrm>
            <a:off x="3429000" y="3803904"/>
            <a:ext cx="2240280" cy="384048"/>
          </a:xfrm>
          <a:prstGeom prst="rect">
            <a:avLst/>
          </a:prstGeom>
          <a:noFill/>
          <a:ln/>
        </p:spPr>
        <p:txBody>
          <a:bodyPr wrap="square" lIns="0" rIns="0" rtlCol="0" anchor="ctr"/>
          <a:lstStyle/>
          <a:p>
            <a:pPr marL="0" indent="0">
              <a:buNone/>
            </a:pPr>
            <a:r>
              <a:rPr lang="en-US" sz="1150" b="1" dirty="0">
                <a:solidFill>
                  <a:srgbClr val="F59E0B"/>
                </a:solidFill>
                <a:latin typeface="Calibri" pitchFamily="34" charset="0"/>
                <a:ea typeface="Calibri" pitchFamily="34" charset="-122"/>
                <a:cs typeface="Calibri" pitchFamily="34" charset="-120"/>
              </a:rPr>
              <a:t>→ HOLD </a:t>
            </a:r>
            <a:r>
              <a:rPr lang="en-US" sz="1100" i="1" dirty="0">
                <a:solidFill>
                  <a:srgbClr val="DDD6FE"/>
                </a:solidFill>
                <a:latin typeface="Calibri" pitchFamily="34" charset="0"/>
                <a:ea typeface="Calibri" pitchFamily="34" charset="-122"/>
                <a:cs typeface="Calibri" pitchFamily="34" charset="-120"/>
              </a:rPr>
              <a:t>live here</a:t>
            </a:r>
            <a:endParaRPr lang="en-US" sz="1150" dirty="0"/>
          </a:p>
        </p:txBody>
      </p:sp>
      <p:sp>
        <p:nvSpPr>
          <p:cNvPr id="16" name="Text 16"/>
          <p:cNvSpPr/>
          <p:nvPr/>
        </p:nvSpPr>
        <p:spPr>
          <a:xfrm>
            <a:off x="6208776" y="3803904"/>
            <a:ext cx="2240280" cy="384048"/>
          </a:xfrm>
          <a:prstGeom prst="rect">
            <a:avLst/>
          </a:prstGeom>
          <a:noFill/>
          <a:ln/>
        </p:spPr>
        <p:txBody>
          <a:bodyPr wrap="square" lIns="0" rIns="0" rtlCol="0" anchor="ctr"/>
          <a:lstStyle/>
          <a:p>
            <a:pPr marL="0" indent="0">
              <a:buNone/>
            </a:pPr>
            <a:r>
              <a:rPr lang="en-US" sz="1150" b="1" dirty="0">
                <a:solidFill>
                  <a:srgbClr val="7C3AED"/>
                </a:solidFill>
                <a:latin typeface="Calibri" pitchFamily="34" charset="0"/>
                <a:ea typeface="Calibri" pitchFamily="34" charset="-122"/>
                <a:cs typeface="Calibri" pitchFamily="34" charset="-120"/>
              </a:rPr>
              <a:t>→ TRIM </a:t>
            </a:r>
            <a:r>
              <a:rPr lang="en-US" sz="1100" i="1" dirty="0">
                <a:solidFill>
                  <a:srgbClr val="6E6389"/>
                </a:solidFill>
                <a:latin typeface="Calibri" pitchFamily="34" charset="0"/>
                <a:ea typeface="Calibri" pitchFamily="34" charset="-122"/>
                <a:cs typeface="Calibri" pitchFamily="34" charset="-120"/>
              </a:rPr>
              <a:t>then RESET</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5F3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566928"/>
          </a:xfrm>
          <a:prstGeom prst="rect">
            <a:avLst/>
          </a:prstGeom>
          <a:noFill/>
          <a:ln/>
        </p:spPr>
        <p:txBody>
          <a:bodyPr wrap="square" rtlCol="0" anchor="ctr"/>
          <a:lstStyle/>
          <a:p>
            <a:pPr marL="0" indent="0" algn="l">
              <a:buNone/>
            </a:pPr>
            <a:r>
              <a:rPr lang="en-US" sz="2200" b="1" kern="0" spc="100" dirty="0">
                <a:solidFill>
                  <a:srgbClr val="2D1155"/>
                </a:solidFill>
                <a:latin typeface="Arial Black" pitchFamily="34" charset="0"/>
                <a:ea typeface="Arial Black" pitchFamily="34" charset="-122"/>
                <a:cs typeface="Arial Black" pitchFamily="34" charset="-120"/>
              </a:rPr>
              <a:t>WHEN IT BREAKS — IT WILL</a:t>
            </a:r>
            <a:endParaRPr lang="en-US" sz="2200" dirty="0"/>
          </a:p>
        </p:txBody>
      </p:sp>
      <p:sp>
        <p:nvSpPr>
          <p:cNvPr id="3" name="Text 1"/>
          <p:cNvSpPr/>
          <p:nvPr/>
        </p:nvSpPr>
        <p:spPr>
          <a:xfrm>
            <a:off x="475488" y="896112"/>
            <a:ext cx="8229600" cy="329184"/>
          </a:xfrm>
          <a:prstGeom prst="rect">
            <a:avLst/>
          </a:prstGeom>
          <a:noFill/>
          <a:ln/>
        </p:spPr>
        <p:txBody>
          <a:bodyPr wrap="square" rtlCol="0" anchor="ctr"/>
          <a:lstStyle/>
          <a:p>
            <a:pPr marL="0" indent="0">
              <a:buNone/>
            </a:pPr>
            <a:r>
              <a:rPr lang="en-US" sz="1300" i="1" dirty="0">
                <a:solidFill>
                  <a:srgbClr val="6E6389"/>
                </a:solidFill>
                <a:latin typeface="Calibri" pitchFamily="34" charset="0"/>
                <a:ea typeface="Calibri" pitchFamily="34" charset="-122"/>
                <a:cs typeface="Calibri" pitchFamily="34" charset="-120"/>
              </a:rPr>
              <a:t>Skill #4 — report symptoms, don't reach for the file.</a:t>
            </a:r>
            <a:endParaRPr lang="en-US" sz="1300" dirty="0"/>
          </a:p>
        </p:txBody>
      </p:sp>
      <p:pic>
        <p:nvPicPr>
          <p:cNvPr id="4" name="Image 0" descr="logo_icon.jpeg"/>
          <p:cNvPicPr>
            <a:picLocks noChangeAspect="1"/>
          </p:cNvPicPr>
          <p:nvPr/>
        </p:nvPicPr>
        <p:blipFill>
          <a:blip r:embed="rId3"/>
          <a:stretch>
            <a:fillRect/>
          </a:stretch>
        </p:blipFill>
        <p:spPr>
          <a:xfrm>
            <a:off x="8366760" y="4526280"/>
            <a:ext cx="411480" cy="411480"/>
          </a:xfrm>
          <a:prstGeom prst="ellipse">
            <a:avLst/>
          </a:prstGeom>
        </p:spPr>
      </p:pic>
      <p:sp>
        <p:nvSpPr>
          <p:cNvPr id="5" name="Shape 2"/>
          <p:cNvSpPr/>
          <p:nvPr/>
        </p:nvSpPr>
        <p:spPr>
          <a:xfrm>
            <a:off x="457200" y="1463040"/>
            <a:ext cx="3931920" cy="3200400"/>
          </a:xfrm>
          <a:prstGeom prst="roundRect">
            <a:avLst>
              <a:gd name="adj" fmla="val 2571"/>
            </a:avLst>
          </a:prstGeom>
          <a:solidFill>
            <a:srgbClr val="FFFFFF"/>
          </a:solidFill>
          <a:ln w="12700">
            <a:solidFill>
              <a:srgbClr val="DDD6FE"/>
            </a:solidFill>
            <a:prstDash val="solid"/>
          </a:ln>
        </p:spPr>
        <p:txBody>
          <a:bodyPr/>
          <a:lstStyle/>
          <a:p>
            <a:endParaRPr lang="en-AU"/>
          </a:p>
        </p:txBody>
      </p:sp>
      <p:sp>
        <p:nvSpPr>
          <p:cNvPr id="6" name="Shape 3"/>
          <p:cNvSpPr/>
          <p:nvPr/>
        </p:nvSpPr>
        <p:spPr>
          <a:xfrm>
            <a:off x="694944" y="1691640"/>
            <a:ext cx="457200" cy="457200"/>
          </a:xfrm>
          <a:prstGeom prst="ellipse">
            <a:avLst/>
          </a:prstGeom>
          <a:solidFill>
            <a:srgbClr val="6E6389"/>
          </a:solidFill>
          <a:ln/>
        </p:spPr>
        <p:txBody>
          <a:bodyPr/>
          <a:lstStyle/>
          <a:p>
            <a:endParaRPr lang="en-AU"/>
          </a:p>
        </p:txBody>
      </p:sp>
      <p:sp>
        <p:nvSpPr>
          <p:cNvPr id="7" name="Text 4"/>
          <p:cNvSpPr/>
          <p:nvPr/>
        </p:nvSpPr>
        <p:spPr>
          <a:xfrm>
            <a:off x="694944" y="1691640"/>
            <a:ext cx="457200" cy="457200"/>
          </a:xfrm>
          <a:prstGeom prst="rect">
            <a:avLst/>
          </a:prstGeom>
          <a:noFill/>
          <a:ln/>
        </p:spPr>
        <p:txBody>
          <a:bodyPr wrap="square" rtlCol="0" anchor="ctr"/>
          <a:lstStyle/>
          <a:p>
            <a:pPr marL="0" indent="0" algn="ctr">
              <a:buNone/>
            </a:pPr>
            <a:r>
              <a:rPr lang="en-US" sz="1200" b="1" dirty="0">
                <a:solidFill>
                  <a:srgbClr val="FFFFFF"/>
                </a:solidFill>
                <a:latin typeface="Arial Black" pitchFamily="34" charset="0"/>
                <a:ea typeface="Arial Black" pitchFamily="34" charset="-122"/>
                <a:cs typeface="Arial Black" pitchFamily="34" charset="-120"/>
              </a:rPr>
              <a:t>✕</a:t>
            </a:r>
            <a:endParaRPr lang="en-US" sz="1200" dirty="0"/>
          </a:p>
        </p:txBody>
      </p:sp>
      <p:sp>
        <p:nvSpPr>
          <p:cNvPr id="8" name="Text 5"/>
          <p:cNvSpPr/>
          <p:nvPr/>
        </p:nvSpPr>
        <p:spPr>
          <a:xfrm>
            <a:off x="1280160" y="1673352"/>
            <a:ext cx="2926080" cy="457200"/>
          </a:xfrm>
          <a:prstGeom prst="rect">
            <a:avLst/>
          </a:prstGeom>
          <a:noFill/>
          <a:ln/>
        </p:spPr>
        <p:txBody>
          <a:bodyPr wrap="square" rtlCol="0" anchor="ctr"/>
          <a:lstStyle/>
          <a:p>
            <a:pPr marL="0" indent="0">
              <a:buNone/>
            </a:pPr>
            <a:r>
              <a:rPr lang="en-US" sz="1400" b="1" dirty="0">
                <a:solidFill>
                  <a:srgbClr val="6E6389"/>
                </a:solidFill>
                <a:latin typeface="Arial Black" pitchFamily="34" charset="0"/>
                <a:ea typeface="Arial Black" pitchFamily="34" charset="-122"/>
                <a:cs typeface="Arial Black" pitchFamily="34" charset="-120"/>
              </a:rPr>
              <a:t>Hand-debugging</a:t>
            </a:r>
            <a:endParaRPr lang="en-US" sz="1400" dirty="0"/>
          </a:p>
        </p:txBody>
      </p:sp>
      <p:sp>
        <p:nvSpPr>
          <p:cNvPr id="9" name="Text 6"/>
          <p:cNvSpPr/>
          <p:nvPr/>
        </p:nvSpPr>
        <p:spPr>
          <a:xfrm>
            <a:off x="731520" y="2331720"/>
            <a:ext cx="3474720" cy="2194560"/>
          </a:xfrm>
          <a:prstGeom prst="rect">
            <a:avLst/>
          </a:prstGeom>
          <a:noFill/>
          <a:ln/>
        </p:spPr>
        <p:txBody>
          <a:bodyPr wrap="square" rtlCol="0" anchor="t"/>
          <a:lstStyle/>
          <a:p>
            <a:pPr marL="152400" indent="-152400">
              <a:spcAft>
                <a:spcPts val="800"/>
              </a:spcAft>
              <a:buSzPct val="100000"/>
              <a:buChar char="•"/>
            </a:pPr>
            <a:r>
              <a:rPr lang="en-US" sz="1200" dirty="0">
                <a:solidFill>
                  <a:srgbClr val="6E6389"/>
                </a:solidFill>
                <a:latin typeface="Calibri" pitchFamily="34" charset="0"/>
                <a:ea typeface="Calibri" pitchFamily="34" charset="-122"/>
                <a:cs typeface="Calibri" pitchFamily="34" charset="-120"/>
              </a:rPr>
              <a:t>Open the file, read the trace, start editing...</a:t>
            </a:r>
            <a:endParaRPr lang="en-US" sz="1200" dirty="0"/>
          </a:p>
          <a:p>
            <a:pPr marL="152400" indent="-152400">
              <a:spcAft>
                <a:spcPts val="800"/>
              </a:spcAft>
              <a:buSzPct val="100000"/>
              <a:buChar char="•"/>
            </a:pPr>
            <a:r>
              <a:rPr lang="en-US" sz="1200" dirty="0">
                <a:solidFill>
                  <a:srgbClr val="6E6389"/>
                </a:solidFill>
                <a:latin typeface="Calibri" pitchFamily="34" charset="0"/>
                <a:ea typeface="Calibri" pitchFamily="34" charset="-122"/>
                <a:cs typeface="Calibri" pitchFamily="34" charset="-120"/>
              </a:rPr>
              <a:t>You've grabbed the keyboard again.</a:t>
            </a:r>
            <a:endParaRPr lang="en-US" sz="1200" dirty="0"/>
          </a:p>
          <a:p>
            <a:pPr marL="152400" indent="-152400">
              <a:spcAft>
                <a:spcPts val="800"/>
              </a:spcAft>
              <a:buSzPct val="100000"/>
              <a:buChar char="•"/>
            </a:pPr>
            <a:r>
              <a:rPr lang="en-US" sz="1200" dirty="0">
                <a:solidFill>
                  <a:srgbClr val="6E6389"/>
                </a:solidFill>
                <a:latin typeface="Calibri" pitchFamily="34" charset="0"/>
                <a:ea typeface="Calibri" pitchFamily="34" charset="-122"/>
                <a:cs typeface="Calibri" pitchFamily="34" charset="-120"/>
              </a:rPr>
              <a:t>The agent has no idea what you just changed.</a:t>
            </a:r>
            <a:endParaRPr lang="en-US" sz="1200" dirty="0"/>
          </a:p>
        </p:txBody>
      </p:sp>
      <p:sp>
        <p:nvSpPr>
          <p:cNvPr id="10" name="Shape 7"/>
          <p:cNvSpPr/>
          <p:nvPr/>
        </p:nvSpPr>
        <p:spPr>
          <a:xfrm>
            <a:off x="4754880" y="1463040"/>
            <a:ext cx="3931920" cy="3200400"/>
          </a:xfrm>
          <a:prstGeom prst="roundRect">
            <a:avLst>
              <a:gd name="adj" fmla="val 2571"/>
            </a:avLst>
          </a:prstGeom>
          <a:solidFill>
            <a:srgbClr val="2D1155"/>
          </a:solidFill>
          <a:ln w="19050">
            <a:solidFill>
              <a:srgbClr val="F59E0B"/>
            </a:solidFill>
            <a:prstDash val="solid"/>
          </a:ln>
        </p:spPr>
        <p:txBody>
          <a:bodyPr/>
          <a:lstStyle/>
          <a:p>
            <a:endParaRPr lang="en-AU"/>
          </a:p>
        </p:txBody>
      </p:sp>
      <p:sp>
        <p:nvSpPr>
          <p:cNvPr id="11" name="Shape 8"/>
          <p:cNvSpPr/>
          <p:nvPr/>
        </p:nvSpPr>
        <p:spPr>
          <a:xfrm>
            <a:off x="4992624" y="1691640"/>
            <a:ext cx="457200" cy="457200"/>
          </a:xfrm>
          <a:prstGeom prst="ellipse">
            <a:avLst/>
          </a:prstGeom>
          <a:solidFill>
            <a:srgbClr val="F59E0B"/>
          </a:solidFill>
          <a:ln/>
        </p:spPr>
        <p:txBody>
          <a:bodyPr/>
          <a:lstStyle/>
          <a:p>
            <a:endParaRPr lang="en-AU"/>
          </a:p>
        </p:txBody>
      </p:sp>
      <p:sp>
        <p:nvSpPr>
          <p:cNvPr id="12" name="Text 9"/>
          <p:cNvSpPr/>
          <p:nvPr/>
        </p:nvSpPr>
        <p:spPr>
          <a:xfrm>
            <a:off x="4992624" y="1691640"/>
            <a:ext cx="457200" cy="457200"/>
          </a:xfrm>
          <a:prstGeom prst="rect">
            <a:avLst/>
          </a:prstGeom>
          <a:noFill/>
          <a:ln/>
        </p:spPr>
        <p:txBody>
          <a:bodyPr wrap="square" rtlCol="0" anchor="ctr"/>
          <a:lstStyle/>
          <a:p>
            <a:pPr marL="0" indent="0" algn="ctr">
              <a:buNone/>
            </a:pPr>
            <a:r>
              <a:rPr lang="en-US" sz="1200" b="1" dirty="0">
                <a:solidFill>
                  <a:srgbClr val="2D1155"/>
                </a:solidFill>
                <a:latin typeface="Arial Black" pitchFamily="34" charset="0"/>
                <a:ea typeface="Arial Black" pitchFamily="34" charset="-122"/>
                <a:cs typeface="Arial Black" pitchFamily="34" charset="-120"/>
              </a:rPr>
              <a:t>✓</a:t>
            </a:r>
            <a:endParaRPr lang="en-US" sz="1200" dirty="0"/>
          </a:p>
        </p:txBody>
      </p:sp>
      <p:sp>
        <p:nvSpPr>
          <p:cNvPr id="13" name="Text 10"/>
          <p:cNvSpPr/>
          <p:nvPr/>
        </p:nvSpPr>
        <p:spPr>
          <a:xfrm>
            <a:off x="5577840" y="1673352"/>
            <a:ext cx="2926080" cy="457200"/>
          </a:xfrm>
          <a:prstGeom prst="rect">
            <a:avLst/>
          </a:prstGeom>
          <a:noFill/>
          <a:ln/>
        </p:spPr>
        <p:txBody>
          <a:bodyPr wrap="square" rtlCol="0" anchor="ctr"/>
          <a:lstStyle/>
          <a:p>
            <a:pPr marL="0" indent="0">
              <a:buNone/>
            </a:pPr>
            <a:r>
              <a:rPr lang="en-US" sz="1400" b="1" dirty="0">
                <a:solidFill>
                  <a:srgbClr val="F59E0B"/>
                </a:solidFill>
                <a:latin typeface="Arial Black" pitchFamily="34" charset="0"/>
                <a:ea typeface="Arial Black" pitchFamily="34" charset="-122"/>
                <a:cs typeface="Arial Black" pitchFamily="34" charset="-120"/>
              </a:rPr>
              <a:t>Report symptoms</a:t>
            </a:r>
            <a:endParaRPr lang="en-US" sz="1400" dirty="0"/>
          </a:p>
        </p:txBody>
      </p:sp>
      <p:sp>
        <p:nvSpPr>
          <p:cNvPr id="14" name="Text 11"/>
          <p:cNvSpPr/>
          <p:nvPr/>
        </p:nvSpPr>
        <p:spPr>
          <a:xfrm>
            <a:off x="5029200" y="2331720"/>
            <a:ext cx="3474720" cy="2194560"/>
          </a:xfrm>
          <a:prstGeom prst="rect">
            <a:avLst/>
          </a:prstGeom>
          <a:noFill/>
          <a:ln/>
        </p:spPr>
        <p:txBody>
          <a:bodyPr wrap="square" rtlCol="0" anchor="t"/>
          <a:lstStyle/>
          <a:p>
            <a:pPr marL="152400" indent="-152400">
              <a:spcAft>
                <a:spcPts val="800"/>
              </a:spcAft>
              <a:buSzPct val="100000"/>
              <a:buChar char="•"/>
            </a:pPr>
            <a:r>
              <a:rPr lang="en-US" sz="1200" dirty="0">
                <a:solidFill>
                  <a:srgbClr val="FFFFFF"/>
                </a:solidFill>
                <a:latin typeface="Calibri" pitchFamily="34" charset="0"/>
                <a:ea typeface="Calibri" pitchFamily="34" charset="-122"/>
                <a:cs typeface="Calibri" pitchFamily="34" charset="-120"/>
              </a:rPr>
              <a:t>Paste the exact error text.</a:t>
            </a:r>
            <a:endParaRPr lang="en-US" sz="1200" dirty="0"/>
          </a:p>
          <a:p>
            <a:pPr marL="152400" indent="-152400">
              <a:spcAft>
                <a:spcPts val="800"/>
              </a:spcAft>
              <a:buSzPct val="100000"/>
              <a:buChar char="•"/>
            </a:pPr>
            <a:r>
              <a:rPr lang="en-US" sz="1200" dirty="0">
                <a:solidFill>
                  <a:srgbClr val="FFFFFF"/>
                </a:solidFill>
                <a:latin typeface="Calibri" pitchFamily="34" charset="0"/>
                <a:ea typeface="Calibri" pitchFamily="34" charset="-122"/>
                <a:cs typeface="Calibri" pitchFamily="34" charset="-120"/>
              </a:rPr>
              <a:t>Describe the screen: “streak shows 3, I ticked it, still 3.”</a:t>
            </a:r>
            <a:endParaRPr lang="en-US" sz="1200" dirty="0"/>
          </a:p>
          <a:p>
            <a:pPr marL="152400" indent="-152400">
              <a:spcAft>
                <a:spcPts val="800"/>
              </a:spcAft>
              <a:buSzPct val="100000"/>
              <a:buChar char="•"/>
            </a:pPr>
            <a:r>
              <a:rPr lang="en-US" sz="1200" b="1" dirty="0">
                <a:solidFill>
                  <a:srgbClr val="F59E0B"/>
                </a:solidFill>
                <a:latin typeface="Calibri" pitchFamily="34" charset="0"/>
                <a:ea typeface="Calibri" pitchFamily="34" charset="-122"/>
                <a:cs typeface="Calibri" pitchFamily="34" charset="-120"/>
              </a:rPr>
              <a:t>Say what you saw, never what to change.</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5F3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566928"/>
          </a:xfrm>
          <a:prstGeom prst="rect">
            <a:avLst/>
          </a:prstGeom>
          <a:noFill/>
          <a:ln/>
        </p:spPr>
        <p:txBody>
          <a:bodyPr wrap="square" rtlCol="0" anchor="ctr"/>
          <a:lstStyle/>
          <a:p>
            <a:pPr marL="0" indent="0" algn="l">
              <a:buNone/>
            </a:pPr>
            <a:r>
              <a:rPr lang="en-US" sz="2200" b="1" kern="0" spc="100" dirty="0">
                <a:solidFill>
                  <a:srgbClr val="2D1155"/>
                </a:solidFill>
                <a:latin typeface="Arial Black" pitchFamily="34" charset="0"/>
                <a:ea typeface="Arial Black" pitchFamily="34" charset="-122"/>
                <a:cs typeface="Arial Black" pitchFamily="34" charset="-120"/>
              </a:rPr>
              <a:t>COMMIT SMALL, SHIP OFTEN</a:t>
            </a:r>
            <a:endParaRPr lang="en-US" sz="2200" dirty="0"/>
          </a:p>
        </p:txBody>
      </p:sp>
      <p:sp>
        <p:nvSpPr>
          <p:cNvPr id="3" name="Text 1"/>
          <p:cNvSpPr/>
          <p:nvPr/>
        </p:nvSpPr>
        <p:spPr>
          <a:xfrm>
            <a:off x="475488" y="896112"/>
            <a:ext cx="8229600" cy="329184"/>
          </a:xfrm>
          <a:prstGeom prst="rect">
            <a:avLst/>
          </a:prstGeom>
          <a:noFill/>
          <a:ln/>
        </p:spPr>
        <p:txBody>
          <a:bodyPr wrap="square" rtlCol="0" anchor="ctr"/>
          <a:lstStyle/>
          <a:p>
            <a:pPr marL="0" indent="0">
              <a:buNone/>
            </a:pPr>
            <a:r>
              <a:rPr lang="en-US" sz="1300" i="1" dirty="0">
                <a:solidFill>
                  <a:srgbClr val="6E6389"/>
                </a:solidFill>
                <a:latin typeface="Calibri" pitchFamily="34" charset="0"/>
                <a:ea typeface="Calibri" pitchFamily="34" charset="-122"/>
                <a:cs typeface="Calibri" pitchFamily="34" charset="-120"/>
              </a:rPr>
              <a:t>Skill #5 — git is your undo.</a:t>
            </a:r>
            <a:endParaRPr lang="en-US" sz="1300" dirty="0"/>
          </a:p>
        </p:txBody>
      </p:sp>
      <p:pic>
        <p:nvPicPr>
          <p:cNvPr id="4" name="Image 0" descr="logo_icon.jpeg"/>
          <p:cNvPicPr>
            <a:picLocks noChangeAspect="1"/>
          </p:cNvPicPr>
          <p:nvPr/>
        </p:nvPicPr>
        <p:blipFill>
          <a:blip r:embed="rId3"/>
          <a:stretch>
            <a:fillRect/>
          </a:stretch>
        </p:blipFill>
        <p:spPr>
          <a:xfrm>
            <a:off x="8366760" y="4526280"/>
            <a:ext cx="411480" cy="411480"/>
          </a:xfrm>
          <a:prstGeom prst="ellipse">
            <a:avLst/>
          </a:prstGeom>
        </p:spPr>
      </p:pic>
      <p:sp>
        <p:nvSpPr>
          <p:cNvPr id="5" name="Shape 2"/>
          <p:cNvSpPr/>
          <p:nvPr/>
        </p:nvSpPr>
        <p:spPr>
          <a:xfrm>
            <a:off x="457200" y="1463040"/>
            <a:ext cx="8229600" cy="960120"/>
          </a:xfrm>
          <a:prstGeom prst="roundRect">
            <a:avLst>
              <a:gd name="adj" fmla="val 7619"/>
            </a:avLst>
          </a:prstGeom>
          <a:solidFill>
            <a:srgbClr val="2D1155"/>
          </a:solidFill>
          <a:ln/>
        </p:spPr>
        <p:txBody>
          <a:bodyPr/>
          <a:lstStyle/>
          <a:p>
            <a:endParaRPr lang="en-AU"/>
          </a:p>
        </p:txBody>
      </p:sp>
      <p:sp>
        <p:nvSpPr>
          <p:cNvPr id="6" name="Text 3"/>
          <p:cNvSpPr/>
          <p:nvPr/>
        </p:nvSpPr>
        <p:spPr>
          <a:xfrm>
            <a:off x="731520" y="1572768"/>
            <a:ext cx="7315200" cy="292608"/>
          </a:xfrm>
          <a:prstGeom prst="rect">
            <a:avLst/>
          </a:prstGeom>
          <a:noFill/>
          <a:ln/>
        </p:spPr>
        <p:txBody>
          <a:bodyPr wrap="square" rtlCol="0" anchor="ctr"/>
          <a:lstStyle/>
          <a:p>
            <a:pPr marL="0" indent="0">
              <a:buNone/>
            </a:pPr>
            <a:r>
              <a:rPr lang="en-US" sz="1200" dirty="0">
                <a:solidFill>
                  <a:srgbClr val="DDD6FE"/>
                </a:solidFill>
                <a:latin typeface="Calibri" pitchFamily="34" charset="0"/>
                <a:ea typeface="Calibri" pitchFamily="34" charset="-122"/>
                <a:cs typeface="Calibri" pitchFamily="34" charset="-120"/>
              </a:rPr>
              <a:t>Let the agent run git for you:</a:t>
            </a:r>
            <a:endParaRPr lang="en-US" sz="1200" dirty="0"/>
          </a:p>
        </p:txBody>
      </p:sp>
      <p:sp>
        <p:nvSpPr>
          <p:cNvPr id="7" name="Text 4"/>
          <p:cNvSpPr/>
          <p:nvPr/>
        </p:nvSpPr>
        <p:spPr>
          <a:xfrm>
            <a:off x="731520" y="1874520"/>
            <a:ext cx="7680960" cy="457200"/>
          </a:xfrm>
          <a:prstGeom prst="rect">
            <a:avLst/>
          </a:prstGeom>
          <a:noFill/>
          <a:ln/>
        </p:spPr>
        <p:txBody>
          <a:bodyPr wrap="square" rtlCol="0" anchor="ctr"/>
          <a:lstStyle/>
          <a:p>
            <a:pPr marL="0" indent="0">
              <a:buNone/>
            </a:pPr>
            <a:r>
              <a:rPr lang="en-US" sz="1700" dirty="0">
                <a:solidFill>
                  <a:srgbClr val="F59E0B"/>
                </a:solidFill>
                <a:latin typeface="Courier New" pitchFamily="34" charset="0"/>
                <a:ea typeface="Courier New" pitchFamily="34" charset="-122"/>
                <a:cs typeface="Courier New" pitchFamily="34" charset="-120"/>
              </a:rPr>
              <a:t>“Commit this with a sensible message.”</a:t>
            </a:r>
            <a:endParaRPr lang="en-US" sz="1700" dirty="0"/>
          </a:p>
        </p:txBody>
      </p:sp>
      <p:sp>
        <p:nvSpPr>
          <p:cNvPr id="8" name="Shape 5"/>
          <p:cNvSpPr/>
          <p:nvPr/>
        </p:nvSpPr>
        <p:spPr>
          <a:xfrm>
            <a:off x="457200" y="2606040"/>
            <a:ext cx="8229600" cy="1874520"/>
          </a:xfrm>
          <a:prstGeom prst="roundRect">
            <a:avLst>
              <a:gd name="adj" fmla="val 3902"/>
            </a:avLst>
          </a:prstGeom>
          <a:solidFill>
            <a:srgbClr val="DDD6FE"/>
          </a:solidFill>
          <a:ln/>
        </p:spPr>
        <p:txBody>
          <a:bodyPr/>
          <a:lstStyle/>
          <a:p>
            <a:endParaRPr lang="en-AU"/>
          </a:p>
        </p:txBody>
      </p:sp>
      <p:sp>
        <p:nvSpPr>
          <p:cNvPr id="9" name="Text 6"/>
          <p:cNvSpPr/>
          <p:nvPr/>
        </p:nvSpPr>
        <p:spPr>
          <a:xfrm>
            <a:off x="731520" y="2743200"/>
            <a:ext cx="7680960" cy="292608"/>
          </a:xfrm>
          <a:prstGeom prst="rect">
            <a:avLst/>
          </a:prstGeom>
          <a:noFill/>
          <a:ln/>
        </p:spPr>
        <p:txBody>
          <a:bodyPr wrap="square" rtlCol="0" anchor="ctr"/>
          <a:lstStyle/>
          <a:p>
            <a:pPr marL="0" indent="0">
              <a:buNone/>
            </a:pPr>
            <a:r>
              <a:rPr lang="en-US" sz="1100" b="1" kern="0" spc="100" dirty="0">
                <a:solidFill>
                  <a:srgbClr val="5B21B6"/>
                </a:solidFill>
                <a:latin typeface="Calibri" pitchFamily="34" charset="0"/>
                <a:ea typeface="Calibri" pitchFamily="34" charset="-122"/>
                <a:cs typeface="Calibri" pitchFamily="34" charset="-120"/>
              </a:rPr>
              <a:t>TWO NETS — YOU'LL USE BOTH TODAY</a:t>
            </a:r>
            <a:endParaRPr lang="en-US" sz="1100" dirty="0"/>
          </a:p>
        </p:txBody>
      </p:sp>
      <p:sp>
        <p:nvSpPr>
          <p:cNvPr id="10" name="Text 7"/>
          <p:cNvSpPr/>
          <p:nvPr/>
        </p:nvSpPr>
        <p:spPr>
          <a:xfrm>
            <a:off x="731520" y="3127248"/>
            <a:ext cx="7680960" cy="457200"/>
          </a:xfrm>
          <a:prstGeom prst="rect">
            <a:avLst/>
          </a:prstGeom>
          <a:noFill/>
          <a:ln/>
        </p:spPr>
        <p:txBody>
          <a:bodyPr wrap="square" rtlCol="0" anchor="ctr"/>
          <a:lstStyle/>
          <a:p>
            <a:pPr marL="0" indent="0">
              <a:buNone/>
            </a:pPr>
            <a:r>
              <a:rPr lang="en-US" sz="1400" b="1" dirty="0">
                <a:solidFill>
                  <a:srgbClr val="5B21B6"/>
                </a:solidFill>
                <a:latin typeface="Calibri" pitchFamily="34" charset="0"/>
                <a:ea typeface="Calibri" pitchFamily="34" charset="-122"/>
                <a:cs typeface="Calibri" pitchFamily="34" charset="-120"/>
              </a:rPr>
              <a:t>Small commits</a:t>
            </a:r>
            <a:r>
              <a:rPr lang="en-US" sz="1400" dirty="0">
                <a:solidFill>
                  <a:srgbClr val="2D1155"/>
                </a:solidFill>
                <a:latin typeface="Calibri" pitchFamily="34" charset="0"/>
                <a:ea typeface="Calibri" pitchFamily="34" charset="-122"/>
                <a:cs typeface="Calibri" pitchFamily="34" charset="-120"/>
              </a:rPr>
              <a:t> = your undo. A bad turn is one revert away, no drama.</a:t>
            </a:r>
            <a:endParaRPr lang="en-US" sz="1400" dirty="0"/>
          </a:p>
        </p:txBody>
      </p:sp>
      <p:sp>
        <p:nvSpPr>
          <p:cNvPr id="11" name="Text 8"/>
          <p:cNvSpPr/>
          <p:nvPr/>
        </p:nvSpPr>
        <p:spPr>
          <a:xfrm>
            <a:off x="731520" y="3675888"/>
            <a:ext cx="7680960" cy="685800"/>
          </a:xfrm>
          <a:prstGeom prst="rect">
            <a:avLst/>
          </a:prstGeom>
          <a:noFill/>
          <a:ln/>
        </p:spPr>
        <p:txBody>
          <a:bodyPr wrap="square" rtlCol="0" anchor="t"/>
          <a:lstStyle/>
          <a:p>
            <a:pPr marL="0" indent="0">
              <a:buNone/>
            </a:pPr>
            <a:r>
              <a:rPr lang="en-US" sz="1400" b="1" dirty="0">
                <a:solidFill>
                  <a:srgbClr val="5B21B6"/>
                </a:solidFill>
                <a:latin typeface="Calibri" pitchFamily="34" charset="0"/>
                <a:ea typeface="Calibri" pitchFamily="34" charset="-122"/>
                <a:cs typeface="Calibri" pitchFamily="34" charset="-120"/>
              </a:rPr>
              <a:t>Checkpoints</a:t>
            </a:r>
            <a:r>
              <a:rPr lang="en-US" sz="1400" dirty="0">
                <a:solidFill>
                  <a:srgbClr val="2D1155"/>
                </a:solidFill>
                <a:latin typeface="Calibri" pitchFamily="34" charset="0"/>
                <a:ea typeface="Calibri" pitchFamily="34" charset="-122"/>
                <a:cs typeface="Calibri" pitchFamily="34" charset="-120"/>
              </a:rPr>
              <a:t> = the room's safety net. Fall behind? Reset to a known-good tag and keep going. Using one is expected, not failure.</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5F3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566928"/>
          </a:xfrm>
          <a:prstGeom prst="rect">
            <a:avLst/>
          </a:prstGeom>
          <a:noFill/>
          <a:ln/>
        </p:spPr>
        <p:txBody>
          <a:bodyPr wrap="square" rtlCol="0" anchor="ctr"/>
          <a:lstStyle/>
          <a:p>
            <a:pPr marL="0" indent="0" algn="l">
              <a:buNone/>
            </a:pPr>
            <a:r>
              <a:rPr lang="en-US" sz="2200" b="1" kern="0" spc="100" dirty="0">
                <a:solidFill>
                  <a:srgbClr val="2D1155"/>
                </a:solidFill>
                <a:latin typeface="Arial Black" pitchFamily="34" charset="0"/>
                <a:ea typeface="Arial Black" pitchFamily="34" charset="-122"/>
                <a:cs typeface="Arial Black" pitchFamily="34" charset="-120"/>
              </a:rPr>
              <a:t>WHAT CHANGED IN A YEAR</a:t>
            </a:r>
            <a:endParaRPr lang="en-US" sz="2200" dirty="0"/>
          </a:p>
        </p:txBody>
      </p:sp>
      <p:sp>
        <p:nvSpPr>
          <p:cNvPr id="3" name="Text 1"/>
          <p:cNvSpPr/>
          <p:nvPr/>
        </p:nvSpPr>
        <p:spPr>
          <a:xfrm>
            <a:off x="475488" y="896112"/>
            <a:ext cx="8229600" cy="329184"/>
          </a:xfrm>
          <a:prstGeom prst="rect">
            <a:avLst/>
          </a:prstGeom>
          <a:noFill/>
          <a:ln/>
        </p:spPr>
        <p:txBody>
          <a:bodyPr wrap="square" rtlCol="0" anchor="ctr"/>
          <a:lstStyle/>
          <a:p>
            <a:pPr marL="0" indent="0">
              <a:buNone/>
            </a:pPr>
            <a:r>
              <a:rPr lang="en-US" sz="1300" i="1" dirty="0">
                <a:solidFill>
                  <a:srgbClr val="6E6389"/>
                </a:solidFill>
                <a:latin typeface="Calibri" pitchFamily="34" charset="0"/>
                <a:ea typeface="Calibri" pitchFamily="34" charset="-122"/>
                <a:cs typeface="Calibri" pitchFamily="34" charset="-120"/>
              </a:rPr>
              <a:t>The ground is moving.</a:t>
            </a:r>
            <a:endParaRPr lang="en-US" sz="1300" dirty="0"/>
          </a:p>
        </p:txBody>
      </p:sp>
      <p:pic>
        <p:nvPicPr>
          <p:cNvPr id="4" name="Image 0" descr="logo_icon.jpeg"/>
          <p:cNvPicPr>
            <a:picLocks noChangeAspect="1"/>
          </p:cNvPicPr>
          <p:nvPr/>
        </p:nvPicPr>
        <p:blipFill>
          <a:blip r:embed="rId3"/>
          <a:stretch>
            <a:fillRect/>
          </a:stretch>
        </p:blipFill>
        <p:spPr>
          <a:xfrm>
            <a:off x="8366760" y="4526280"/>
            <a:ext cx="411480" cy="411480"/>
          </a:xfrm>
          <a:prstGeom prst="ellipse">
            <a:avLst/>
          </a:prstGeom>
        </p:spPr>
      </p:pic>
      <p:sp>
        <p:nvSpPr>
          <p:cNvPr id="5" name="Text 2"/>
          <p:cNvSpPr/>
          <p:nvPr/>
        </p:nvSpPr>
        <p:spPr>
          <a:xfrm>
            <a:off x="2331720" y="1417320"/>
            <a:ext cx="3291840" cy="274320"/>
          </a:xfrm>
          <a:prstGeom prst="rect">
            <a:avLst/>
          </a:prstGeom>
          <a:noFill/>
          <a:ln/>
        </p:spPr>
        <p:txBody>
          <a:bodyPr wrap="square" rtlCol="0" anchor="ctr"/>
          <a:lstStyle/>
          <a:p>
            <a:pPr marL="0" indent="0">
              <a:buNone/>
            </a:pPr>
            <a:r>
              <a:rPr lang="en-US" sz="1000" b="1" kern="0" spc="100" dirty="0">
                <a:solidFill>
                  <a:srgbClr val="6E6389"/>
                </a:solidFill>
                <a:latin typeface="Calibri" pitchFamily="34" charset="0"/>
                <a:ea typeface="Calibri" pitchFamily="34" charset="-122"/>
                <a:cs typeface="Calibri" pitchFamily="34" charset="-120"/>
              </a:rPr>
              <a:t>THEN · A YEAR AGO</a:t>
            </a:r>
            <a:endParaRPr lang="en-US" sz="1000" dirty="0"/>
          </a:p>
        </p:txBody>
      </p:sp>
      <p:sp>
        <p:nvSpPr>
          <p:cNvPr id="6" name="Text 3"/>
          <p:cNvSpPr/>
          <p:nvPr/>
        </p:nvSpPr>
        <p:spPr>
          <a:xfrm>
            <a:off x="5943600" y="1417320"/>
            <a:ext cx="2743200" cy="274320"/>
          </a:xfrm>
          <a:prstGeom prst="rect">
            <a:avLst/>
          </a:prstGeom>
          <a:noFill/>
          <a:ln/>
        </p:spPr>
        <p:txBody>
          <a:bodyPr wrap="square" rtlCol="0" anchor="ctr"/>
          <a:lstStyle/>
          <a:p>
            <a:pPr marL="0" indent="0">
              <a:buNone/>
            </a:pPr>
            <a:r>
              <a:rPr lang="en-US" sz="1000" b="1" kern="0" spc="100" dirty="0">
                <a:solidFill>
                  <a:srgbClr val="F59E0B"/>
                </a:solidFill>
                <a:latin typeface="Calibri" pitchFamily="34" charset="0"/>
                <a:ea typeface="Calibri" pitchFamily="34" charset="-122"/>
                <a:cs typeface="Calibri" pitchFamily="34" charset="-120"/>
              </a:rPr>
              <a:t>NOW · 2026</a:t>
            </a:r>
            <a:endParaRPr lang="en-US" sz="1000" dirty="0"/>
          </a:p>
        </p:txBody>
      </p:sp>
      <p:sp>
        <p:nvSpPr>
          <p:cNvPr id="7" name="Shape 4"/>
          <p:cNvSpPr/>
          <p:nvPr/>
        </p:nvSpPr>
        <p:spPr>
          <a:xfrm>
            <a:off x="457200" y="1737360"/>
            <a:ext cx="8229600" cy="841248"/>
          </a:xfrm>
          <a:prstGeom prst="roundRect">
            <a:avLst>
              <a:gd name="adj" fmla="val 7609"/>
            </a:avLst>
          </a:prstGeom>
          <a:solidFill>
            <a:srgbClr val="FFFFFF"/>
          </a:solidFill>
          <a:ln w="12700">
            <a:solidFill>
              <a:srgbClr val="DDD6FE"/>
            </a:solidFill>
            <a:prstDash val="solid"/>
          </a:ln>
        </p:spPr>
        <p:txBody>
          <a:bodyPr/>
          <a:lstStyle/>
          <a:p>
            <a:endParaRPr lang="en-AU"/>
          </a:p>
        </p:txBody>
      </p:sp>
      <p:sp>
        <p:nvSpPr>
          <p:cNvPr id="8" name="Text 5"/>
          <p:cNvSpPr/>
          <p:nvPr/>
        </p:nvSpPr>
        <p:spPr>
          <a:xfrm>
            <a:off x="640080" y="1737360"/>
            <a:ext cx="1554480" cy="841248"/>
          </a:xfrm>
          <a:prstGeom prst="rect">
            <a:avLst/>
          </a:prstGeom>
          <a:noFill/>
          <a:ln/>
        </p:spPr>
        <p:txBody>
          <a:bodyPr wrap="square" rtlCol="0" anchor="ctr"/>
          <a:lstStyle/>
          <a:p>
            <a:pPr marL="0" indent="0">
              <a:buNone/>
            </a:pPr>
            <a:r>
              <a:rPr lang="en-US" sz="1200" b="1" dirty="0">
                <a:solidFill>
                  <a:srgbClr val="5B21B6"/>
                </a:solidFill>
                <a:latin typeface="Arial Black" pitchFamily="34" charset="0"/>
                <a:ea typeface="Arial Black" pitchFamily="34" charset="-122"/>
                <a:cs typeface="Arial Black" pitchFamily="34" charset="-120"/>
              </a:rPr>
              <a:t>PLANNING</a:t>
            </a:r>
            <a:endParaRPr lang="en-US" sz="1200" dirty="0"/>
          </a:p>
        </p:txBody>
      </p:sp>
      <p:sp>
        <p:nvSpPr>
          <p:cNvPr id="9" name="Text 6"/>
          <p:cNvSpPr/>
          <p:nvPr/>
        </p:nvSpPr>
        <p:spPr>
          <a:xfrm>
            <a:off x="2331720" y="1737360"/>
            <a:ext cx="3429000" cy="841248"/>
          </a:xfrm>
          <a:prstGeom prst="rect">
            <a:avLst/>
          </a:prstGeom>
          <a:noFill/>
          <a:ln/>
        </p:spPr>
        <p:txBody>
          <a:bodyPr wrap="square" rtlCol="0" anchor="ctr"/>
          <a:lstStyle/>
          <a:p>
            <a:pPr marL="0" indent="0">
              <a:buNone/>
            </a:pPr>
            <a:r>
              <a:rPr lang="en-US" sz="1200" dirty="0">
                <a:solidFill>
                  <a:srgbClr val="6E6389"/>
                </a:solidFill>
                <a:latin typeface="Calibri" pitchFamily="34" charset="0"/>
                <a:ea typeface="Calibri" pitchFamily="34" charset="-122"/>
                <a:cs typeface="Calibri" pitchFamily="34" charset="-120"/>
              </a:rPr>
              <a:t>Coax a plan; check its mechanics.</a:t>
            </a:r>
            <a:endParaRPr lang="en-US" sz="1200" dirty="0"/>
          </a:p>
        </p:txBody>
      </p:sp>
      <p:sp>
        <p:nvSpPr>
          <p:cNvPr id="10" name="Text 7"/>
          <p:cNvSpPr/>
          <p:nvPr/>
        </p:nvSpPr>
        <p:spPr>
          <a:xfrm>
            <a:off x="5742432" y="1737360"/>
            <a:ext cx="274320" cy="841248"/>
          </a:xfrm>
          <a:prstGeom prst="rect">
            <a:avLst/>
          </a:prstGeom>
          <a:noFill/>
          <a:ln/>
        </p:spPr>
        <p:txBody>
          <a:bodyPr wrap="square" rtlCol="0" anchor="ctr"/>
          <a:lstStyle/>
          <a:p>
            <a:pPr marL="0" indent="0" algn="ctr">
              <a:buNone/>
            </a:pPr>
            <a:r>
              <a:rPr lang="en-US" sz="1800" b="1" dirty="0">
                <a:solidFill>
                  <a:srgbClr val="F59E0B"/>
                </a:solidFill>
                <a:latin typeface="Calibri" pitchFamily="34" charset="0"/>
                <a:ea typeface="Calibri" pitchFamily="34" charset="-122"/>
                <a:cs typeface="Calibri" pitchFamily="34" charset="-120"/>
              </a:rPr>
              <a:t>›</a:t>
            </a:r>
            <a:endParaRPr lang="en-US" sz="1800" dirty="0"/>
          </a:p>
        </p:txBody>
      </p:sp>
      <p:sp>
        <p:nvSpPr>
          <p:cNvPr id="11" name="Text 8"/>
          <p:cNvSpPr/>
          <p:nvPr/>
        </p:nvSpPr>
        <p:spPr>
          <a:xfrm>
            <a:off x="5943600" y="1737360"/>
            <a:ext cx="2606040" cy="841248"/>
          </a:xfrm>
          <a:prstGeom prst="rect">
            <a:avLst/>
          </a:prstGeom>
          <a:noFill/>
          <a:ln/>
        </p:spPr>
        <p:txBody>
          <a:bodyPr wrap="square" rtlCol="0" anchor="ctr"/>
          <a:lstStyle/>
          <a:p>
            <a:pPr marL="0" indent="0">
              <a:buNone/>
            </a:pPr>
            <a:r>
              <a:rPr lang="en-US" sz="1200" dirty="0">
                <a:solidFill>
                  <a:srgbClr val="2D1155"/>
                </a:solidFill>
                <a:latin typeface="Calibri" pitchFamily="34" charset="0"/>
                <a:ea typeface="Calibri" pitchFamily="34" charset="-122"/>
                <a:cs typeface="Calibri" pitchFamily="34" charset="-120"/>
              </a:rPr>
              <a:t>Agents plan well. You check intent &amp; scope.</a:t>
            </a:r>
            <a:endParaRPr lang="en-US" sz="1200" dirty="0"/>
          </a:p>
        </p:txBody>
      </p:sp>
      <p:sp>
        <p:nvSpPr>
          <p:cNvPr id="12" name="Shape 9"/>
          <p:cNvSpPr/>
          <p:nvPr/>
        </p:nvSpPr>
        <p:spPr>
          <a:xfrm>
            <a:off x="457200" y="2688336"/>
            <a:ext cx="8229600" cy="841248"/>
          </a:xfrm>
          <a:prstGeom prst="roundRect">
            <a:avLst>
              <a:gd name="adj" fmla="val 7609"/>
            </a:avLst>
          </a:prstGeom>
          <a:solidFill>
            <a:srgbClr val="FFFFFF"/>
          </a:solidFill>
          <a:ln w="12700">
            <a:solidFill>
              <a:srgbClr val="DDD6FE"/>
            </a:solidFill>
            <a:prstDash val="solid"/>
          </a:ln>
        </p:spPr>
        <p:txBody>
          <a:bodyPr/>
          <a:lstStyle/>
          <a:p>
            <a:endParaRPr lang="en-AU"/>
          </a:p>
        </p:txBody>
      </p:sp>
      <p:sp>
        <p:nvSpPr>
          <p:cNvPr id="13" name="Text 10"/>
          <p:cNvSpPr/>
          <p:nvPr/>
        </p:nvSpPr>
        <p:spPr>
          <a:xfrm>
            <a:off x="640080" y="2688336"/>
            <a:ext cx="1554480" cy="841248"/>
          </a:xfrm>
          <a:prstGeom prst="rect">
            <a:avLst/>
          </a:prstGeom>
          <a:noFill/>
          <a:ln/>
        </p:spPr>
        <p:txBody>
          <a:bodyPr wrap="square" rtlCol="0" anchor="ctr"/>
          <a:lstStyle/>
          <a:p>
            <a:pPr marL="0" indent="0">
              <a:buNone/>
            </a:pPr>
            <a:r>
              <a:rPr lang="en-US" sz="1200" b="1" dirty="0">
                <a:solidFill>
                  <a:srgbClr val="5B21B6"/>
                </a:solidFill>
                <a:latin typeface="Arial Black" pitchFamily="34" charset="0"/>
                <a:ea typeface="Arial Black" pitchFamily="34" charset="-122"/>
                <a:cs typeface="Arial Black" pitchFamily="34" charset="-120"/>
              </a:rPr>
              <a:t>CONTEXT</a:t>
            </a:r>
            <a:endParaRPr lang="en-US" sz="1200" dirty="0"/>
          </a:p>
        </p:txBody>
      </p:sp>
      <p:sp>
        <p:nvSpPr>
          <p:cNvPr id="14" name="Text 11"/>
          <p:cNvSpPr/>
          <p:nvPr/>
        </p:nvSpPr>
        <p:spPr>
          <a:xfrm>
            <a:off x="2331720" y="2688336"/>
            <a:ext cx="3429000" cy="841248"/>
          </a:xfrm>
          <a:prstGeom prst="rect">
            <a:avLst/>
          </a:prstGeom>
          <a:noFill/>
          <a:ln/>
        </p:spPr>
        <p:txBody>
          <a:bodyPr wrap="square" rtlCol="0" anchor="ctr"/>
          <a:lstStyle/>
          <a:p>
            <a:pPr marL="0" indent="0">
              <a:buNone/>
            </a:pPr>
            <a:r>
              <a:rPr lang="en-US" sz="1200" dirty="0">
                <a:solidFill>
                  <a:srgbClr val="6E6389"/>
                </a:solidFill>
                <a:latin typeface="Calibri" pitchFamily="34" charset="0"/>
                <a:ea typeface="Calibri" pitchFamily="34" charset="-122"/>
                <a:cs typeface="Calibri" pitchFamily="34" charset="-120"/>
              </a:rPr>
              <a:t>Tiny windows; constant manual pruning.</a:t>
            </a:r>
            <a:endParaRPr lang="en-US" sz="1200" dirty="0"/>
          </a:p>
        </p:txBody>
      </p:sp>
      <p:sp>
        <p:nvSpPr>
          <p:cNvPr id="15" name="Text 12"/>
          <p:cNvSpPr/>
          <p:nvPr/>
        </p:nvSpPr>
        <p:spPr>
          <a:xfrm>
            <a:off x="5742432" y="2688336"/>
            <a:ext cx="274320" cy="841248"/>
          </a:xfrm>
          <a:prstGeom prst="rect">
            <a:avLst/>
          </a:prstGeom>
          <a:noFill/>
          <a:ln/>
        </p:spPr>
        <p:txBody>
          <a:bodyPr wrap="square" rtlCol="0" anchor="ctr"/>
          <a:lstStyle/>
          <a:p>
            <a:pPr marL="0" indent="0" algn="ctr">
              <a:buNone/>
            </a:pPr>
            <a:r>
              <a:rPr lang="en-US" sz="1800" b="1" dirty="0">
                <a:solidFill>
                  <a:srgbClr val="F59E0B"/>
                </a:solidFill>
                <a:latin typeface="Calibri" pitchFamily="34" charset="0"/>
                <a:ea typeface="Calibri" pitchFamily="34" charset="-122"/>
                <a:cs typeface="Calibri" pitchFamily="34" charset="-120"/>
              </a:rPr>
              <a:t>›</a:t>
            </a:r>
            <a:endParaRPr lang="en-US" sz="1800" dirty="0"/>
          </a:p>
        </p:txBody>
      </p:sp>
      <p:sp>
        <p:nvSpPr>
          <p:cNvPr id="16" name="Text 13"/>
          <p:cNvSpPr/>
          <p:nvPr/>
        </p:nvSpPr>
        <p:spPr>
          <a:xfrm>
            <a:off x="5943600" y="2688336"/>
            <a:ext cx="2606040" cy="841248"/>
          </a:xfrm>
          <a:prstGeom prst="rect">
            <a:avLst/>
          </a:prstGeom>
          <a:noFill/>
          <a:ln/>
        </p:spPr>
        <p:txBody>
          <a:bodyPr wrap="square" rtlCol="0" anchor="ctr"/>
          <a:lstStyle/>
          <a:p>
            <a:pPr marL="0" indent="0">
              <a:buNone/>
            </a:pPr>
            <a:r>
              <a:rPr lang="en-US" sz="1200" dirty="0">
                <a:solidFill>
                  <a:srgbClr val="2D1155"/>
                </a:solidFill>
                <a:latin typeface="Calibri" pitchFamily="34" charset="0"/>
                <a:ea typeface="Calibri" pitchFamily="34" charset="-122"/>
                <a:cs typeface="Calibri" pitchFamily="34" charset="-120"/>
              </a:rPr>
              <a:t>Repo-scale memory — but context engineering is now the skill.</a:t>
            </a:r>
            <a:endParaRPr lang="en-US" sz="1200" dirty="0"/>
          </a:p>
        </p:txBody>
      </p:sp>
      <p:sp>
        <p:nvSpPr>
          <p:cNvPr id="17" name="Shape 14"/>
          <p:cNvSpPr/>
          <p:nvPr/>
        </p:nvSpPr>
        <p:spPr>
          <a:xfrm>
            <a:off x="457200" y="3639312"/>
            <a:ext cx="8229600" cy="841248"/>
          </a:xfrm>
          <a:prstGeom prst="roundRect">
            <a:avLst>
              <a:gd name="adj" fmla="val 7609"/>
            </a:avLst>
          </a:prstGeom>
          <a:solidFill>
            <a:srgbClr val="FFFFFF"/>
          </a:solidFill>
          <a:ln w="12700">
            <a:solidFill>
              <a:srgbClr val="DDD6FE"/>
            </a:solidFill>
            <a:prstDash val="solid"/>
          </a:ln>
        </p:spPr>
        <p:txBody>
          <a:bodyPr/>
          <a:lstStyle/>
          <a:p>
            <a:endParaRPr lang="en-AU"/>
          </a:p>
        </p:txBody>
      </p:sp>
      <p:sp>
        <p:nvSpPr>
          <p:cNvPr id="18" name="Text 15"/>
          <p:cNvSpPr/>
          <p:nvPr/>
        </p:nvSpPr>
        <p:spPr>
          <a:xfrm>
            <a:off x="640080" y="3639312"/>
            <a:ext cx="1554480" cy="841248"/>
          </a:xfrm>
          <a:prstGeom prst="rect">
            <a:avLst/>
          </a:prstGeom>
          <a:noFill/>
          <a:ln/>
        </p:spPr>
        <p:txBody>
          <a:bodyPr wrap="square" rtlCol="0" anchor="ctr"/>
          <a:lstStyle/>
          <a:p>
            <a:pPr marL="0" indent="0">
              <a:buNone/>
            </a:pPr>
            <a:r>
              <a:rPr lang="en-US" sz="1200" b="1" dirty="0">
                <a:solidFill>
                  <a:srgbClr val="5B21B6"/>
                </a:solidFill>
                <a:latin typeface="Arial Black" pitchFamily="34" charset="0"/>
                <a:ea typeface="Arial Black" pitchFamily="34" charset="-122"/>
                <a:cs typeface="Arial Black" pitchFamily="34" charset="-120"/>
              </a:rPr>
              <a:t>AGENTS</a:t>
            </a:r>
            <a:endParaRPr lang="en-US" sz="1200" dirty="0"/>
          </a:p>
        </p:txBody>
      </p:sp>
      <p:sp>
        <p:nvSpPr>
          <p:cNvPr id="19" name="Text 16"/>
          <p:cNvSpPr/>
          <p:nvPr/>
        </p:nvSpPr>
        <p:spPr>
          <a:xfrm>
            <a:off x="2331720" y="3639312"/>
            <a:ext cx="3429000" cy="841248"/>
          </a:xfrm>
          <a:prstGeom prst="rect">
            <a:avLst/>
          </a:prstGeom>
          <a:noFill/>
          <a:ln/>
        </p:spPr>
        <p:txBody>
          <a:bodyPr wrap="square" rtlCol="0" anchor="ctr"/>
          <a:lstStyle/>
          <a:p>
            <a:pPr marL="0" indent="0">
              <a:buNone/>
            </a:pPr>
            <a:r>
              <a:rPr lang="en-US" sz="1200" dirty="0">
                <a:solidFill>
                  <a:srgbClr val="6E6389"/>
                </a:solidFill>
                <a:latin typeface="Calibri" pitchFamily="34" charset="0"/>
                <a:ea typeface="Calibri" pitchFamily="34" charset="-122"/>
                <a:cs typeface="Calibri" pitchFamily="34" charset="-120"/>
              </a:rPr>
              <a:t>One agent, one chat.</a:t>
            </a:r>
            <a:endParaRPr lang="en-US" sz="1200" dirty="0"/>
          </a:p>
        </p:txBody>
      </p:sp>
      <p:sp>
        <p:nvSpPr>
          <p:cNvPr id="20" name="Text 17"/>
          <p:cNvSpPr/>
          <p:nvPr/>
        </p:nvSpPr>
        <p:spPr>
          <a:xfrm>
            <a:off x="5742432" y="3639312"/>
            <a:ext cx="274320" cy="841248"/>
          </a:xfrm>
          <a:prstGeom prst="rect">
            <a:avLst/>
          </a:prstGeom>
          <a:noFill/>
          <a:ln/>
        </p:spPr>
        <p:txBody>
          <a:bodyPr wrap="square" rtlCol="0" anchor="ctr"/>
          <a:lstStyle/>
          <a:p>
            <a:pPr marL="0" indent="0" algn="ctr">
              <a:buNone/>
            </a:pPr>
            <a:r>
              <a:rPr lang="en-US" sz="1800" b="1" dirty="0">
                <a:solidFill>
                  <a:srgbClr val="F59E0B"/>
                </a:solidFill>
                <a:latin typeface="Calibri" pitchFamily="34" charset="0"/>
                <a:ea typeface="Calibri" pitchFamily="34" charset="-122"/>
                <a:cs typeface="Calibri" pitchFamily="34" charset="-120"/>
              </a:rPr>
              <a:t>›</a:t>
            </a:r>
            <a:endParaRPr lang="en-US" sz="1800" dirty="0"/>
          </a:p>
        </p:txBody>
      </p:sp>
      <p:sp>
        <p:nvSpPr>
          <p:cNvPr id="21" name="Text 18"/>
          <p:cNvSpPr/>
          <p:nvPr/>
        </p:nvSpPr>
        <p:spPr>
          <a:xfrm>
            <a:off x="5943600" y="3639312"/>
            <a:ext cx="2606040" cy="841248"/>
          </a:xfrm>
          <a:prstGeom prst="rect">
            <a:avLst/>
          </a:prstGeom>
          <a:noFill/>
          <a:ln/>
        </p:spPr>
        <p:txBody>
          <a:bodyPr wrap="square" rtlCol="0" anchor="ctr"/>
          <a:lstStyle/>
          <a:p>
            <a:pPr marL="0" indent="0">
              <a:buNone/>
            </a:pPr>
            <a:r>
              <a:rPr lang="en-US" sz="1200" dirty="0">
                <a:solidFill>
                  <a:srgbClr val="2D1155"/>
                </a:solidFill>
                <a:latin typeface="Calibri" pitchFamily="34" charset="0"/>
                <a:ea typeface="Calibri" pitchFamily="34" charset="-122"/>
                <a:cs typeface="Calibri" pitchFamily="34" charset="-120"/>
              </a:rPr>
              <a:t>Parallel subagents &amp; agent teams. (That's this afternoon.)</a:t>
            </a:r>
            <a:endParaRPr lang="en-US" sz="1200" dirty="0"/>
          </a:p>
        </p:txBody>
      </p:sp>
      <p:sp>
        <p:nvSpPr>
          <p:cNvPr id="22" name="Text 19"/>
          <p:cNvSpPr/>
          <p:nvPr/>
        </p:nvSpPr>
        <p:spPr>
          <a:xfrm>
            <a:off x="457200" y="4590288"/>
            <a:ext cx="8229600" cy="365760"/>
          </a:xfrm>
          <a:prstGeom prst="rect">
            <a:avLst/>
          </a:prstGeom>
          <a:noFill/>
          <a:ln/>
        </p:spPr>
        <p:txBody>
          <a:bodyPr wrap="square" rtlCol="0" anchor="ctr"/>
          <a:lstStyle/>
          <a:p>
            <a:pPr marL="0" indent="0">
              <a:buNone/>
            </a:pPr>
            <a:r>
              <a:rPr lang="en-US" sz="1250" i="1" dirty="0">
                <a:solidFill>
                  <a:srgbClr val="6E6389"/>
                </a:solidFill>
                <a:latin typeface="Calibri" pitchFamily="34" charset="0"/>
                <a:ea typeface="Calibri" pitchFamily="34" charset="-122"/>
                <a:cs typeface="Calibri" pitchFamily="34" charset="-120"/>
              </a:rPr>
              <a:t>The models got better at the mechanics.  </a:t>
            </a:r>
            <a:r>
              <a:rPr lang="en-US" sz="1250" b="1" i="1" dirty="0">
                <a:solidFill>
                  <a:srgbClr val="5B21B6"/>
                </a:solidFill>
                <a:latin typeface="Calibri" pitchFamily="34" charset="0"/>
                <a:ea typeface="Calibri" pitchFamily="34" charset="-122"/>
                <a:cs typeface="Calibri" pitchFamily="34" charset="-120"/>
              </a:rPr>
              <a:t>The human skill moved up the stack — intent, context, verification.</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5F3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566928"/>
          </a:xfrm>
          <a:prstGeom prst="rect">
            <a:avLst/>
          </a:prstGeom>
          <a:noFill/>
          <a:ln/>
        </p:spPr>
        <p:txBody>
          <a:bodyPr wrap="square" rtlCol="0" anchor="ctr"/>
          <a:lstStyle/>
          <a:p>
            <a:pPr marL="0" indent="0" algn="l">
              <a:buNone/>
            </a:pPr>
            <a:r>
              <a:rPr lang="en-US" sz="2200" b="1" kern="0" spc="100" dirty="0">
                <a:solidFill>
                  <a:srgbClr val="2D1155"/>
                </a:solidFill>
                <a:latin typeface="Arial Black" pitchFamily="34" charset="0"/>
                <a:ea typeface="Arial Black" pitchFamily="34" charset="-122"/>
                <a:cs typeface="Arial Black" pitchFamily="34" charset="-120"/>
              </a:rPr>
              <a:t>TWO WINS, ONE SESSION</a:t>
            </a:r>
            <a:endParaRPr lang="en-US" sz="2200" dirty="0"/>
          </a:p>
        </p:txBody>
      </p:sp>
      <p:sp>
        <p:nvSpPr>
          <p:cNvPr id="3" name="Text 1"/>
          <p:cNvSpPr/>
          <p:nvPr/>
        </p:nvSpPr>
        <p:spPr>
          <a:xfrm>
            <a:off x="475488" y="896112"/>
            <a:ext cx="8229600" cy="329184"/>
          </a:xfrm>
          <a:prstGeom prst="rect">
            <a:avLst/>
          </a:prstGeom>
          <a:noFill/>
          <a:ln/>
        </p:spPr>
        <p:txBody>
          <a:bodyPr wrap="square" rtlCol="0" anchor="ctr"/>
          <a:lstStyle/>
          <a:p>
            <a:pPr marL="0" indent="0">
              <a:buNone/>
            </a:pPr>
            <a:r>
              <a:rPr lang="en-US" sz="1300" i="1" dirty="0">
                <a:solidFill>
                  <a:srgbClr val="6E6389"/>
                </a:solidFill>
                <a:latin typeface="Calibri" pitchFamily="34" charset="0"/>
                <a:ea typeface="Calibri" pitchFamily="34" charset="-122"/>
                <a:cs typeface="Calibri" pitchFamily="34" charset="-120"/>
              </a:rPr>
              <a:t>What you'll walk away with.</a:t>
            </a:r>
            <a:endParaRPr lang="en-US" sz="1300" dirty="0"/>
          </a:p>
        </p:txBody>
      </p:sp>
      <p:pic>
        <p:nvPicPr>
          <p:cNvPr id="4" name="Image 0" descr="logo_icon.jpeg"/>
          <p:cNvPicPr>
            <a:picLocks noChangeAspect="1"/>
          </p:cNvPicPr>
          <p:nvPr/>
        </p:nvPicPr>
        <p:blipFill>
          <a:blip r:embed="rId3"/>
          <a:stretch>
            <a:fillRect/>
          </a:stretch>
        </p:blipFill>
        <p:spPr>
          <a:xfrm>
            <a:off x="8366760" y="4526280"/>
            <a:ext cx="411480" cy="411480"/>
          </a:xfrm>
          <a:prstGeom prst="ellipse">
            <a:avLst/>
          </a:prstGeom>
        </p:spPr>
      </p:pic>
      <p:sp>
        <p:nvSpPr>
          <p:cNvPr id="5" name="Shape 2"/>
          <p:cNvSpPr/>
          <p:nvPr/>
        </p:nvSpPr>
        <p:spPr>
          <a:xfrm>
            <a:off x="457200" y="1463040"/>
            <a:ext cx="3931920" cy="3200400"/>
          </a:xfrm>
          <a:prstGeom prst="roundRect">
            <a:avLst>
              <a:gd name="adj" fmla="val 2571"/>
            </a:avLst>
          </a:prstGeom>
          <a:solidFill>
            <a:srgbClr val="2D1155"/>
          </a:solidFill>
          <a:ln/>
        </p:spPr>
        <p:txBody>
          <a:bodyPr/>
          <a:lstStyle/>
          <a:p>
            <a:endParaRPr lang="en-AU"/>
          </a:p>
        </p:txBody>
      </p:sp>
      <p:sp>
        <p:nvSpPr>
          <p:cNvPr id="6" name="Shape 3"/>
          <p:cNvSpPr/>
          <p:nvPr/>
        </p:nvSpPr>
        <p:spPr>
          <a:xfrm>
            <a:off x="713232" y="1700784"/>
            <a:ext cx="548640" cy="548640"/>
          </a:xfrm>
          <a:prstGeom prst="ellipse">
            <a:avLst/>
          </a:prstGeom>
          <a:solidFill>
            <a:srgbClr val="F59E0B"/>
          </a:solidFill>
          <a:ln/>
        </p:spPr>
        <p:txBody>
          <a:bodyPr/>
          <a:lstStyle/>
          <a:p>
            <a:endParaRPr lang="en-AU"/>
          </a:p>
        </p:txBody>
      </p:sp>
      <p:sp>
        <p:nvSpPr>
          <p:cNvPr id="7" name="Text 4"/>
          <p:cNvSpPr/>
          <p:nvPr/>
        </p:nvSpPr>
        <p:spPr>
          <a:xfrm>
            <a:off x="713232" y="1700784"/>
            <a:ext cx="548640" cy="548640"/>
          </a:xfrm>
          <a:prstGeom prst="rect">
            <a:avLst/>
          </a:prstGeom>
          <a:noFill/>
          <a:ln/>
        </p:spPr>
        <p:txBody>
          <a:bodyPr wrap="square" rtlCol="0" anchor="ctr"/>
          <a:lstStyle/>
          <a:p>
            <a:pPr marL="0" indent="0" algn="ctr">
              <a:buNone/>
            </a:pPr>
            <a:r>
              <a:rPr lang="en-US" sz="1200" b="1" dirty="0">
                <a:solidFill>
                  <a:srgbClr val="2D1155"/>
                </a:solidFill>
                <a:latin typeface="Arial Black" pitchFamily="34" charset="0"/>
                <a:ea typeface="Arial Black" pitchFamily="34" charset="-122"/>
                <a:cs typeface="Arial Black" pitchFamily="34" charset="-120"/>
              </a:rPr>
              <a:t>R</a:t>
            </a:r>
            <a:endParaRPr lang="en-US" sz="1200" dirty="0"/>
          </a:p>
        </p:txBody>
      </p:sp>
      <p:sp>
        <p:nvSpPr>
          <p:cNvPr id="8" name="Text 5"/>
          <p:cNvSpPr/>
          <p:nvPr/>
        </p:nvSpPr>
        <p:spPr>
          <a:xfrm>
            <a:off x="1417320" y="1737360"/>
            <a:ext cx="2834640" cy="457200"/>
          </a:xfrm>
          <a:prstGeom prst="rect">
            <a:avLst/>
          </a:prstGeom>
          <a:noFill/>
          <a:ln/>
        </p:spPr>
        <p:txBody>
          <a:bodyPr wrap="square" rtlCol="0" anchor="ctr"/>
          <a:lstStyle/>
          <a:p>
            <a:pPr marL="0" indent="0">
              <a:buNone/>
            </a:pPr>
            <a:r>
              <a:rPr lang="en-US" sz="1500" b="1" dirty="0">
                <a:solidFill>
                  <a:srgbClr val="F59E0B"/>
                </a:solidFill>
                <a:latin typeface="Arial Black" pitchFamily="34" charset="0"/>
                <a:ea typeface="Arial Black" pitchFamily="34" charset="-122"/>
                <a:cs typeface="Arial Black" pitchFamily="34" charset="-120"/>
              </a:rPr>
              <a:t>If you're rusty</a:t>
            </a:r>
            <a:endParaRPr lang="en-US" sz="1500" dirty="0"/>
          </a:p>
        </p:txBody>
      </p:sp>
      <p:sp>
        <p:nvSpPr>
          <p:cNvPr id="9" name="Text 6"/>
          <p:cNvSpPr/>
          <p:nvPr/>
        </p:nvSpPr>
        <p:spPr>
          <a:xfrm>
            <a:off x="731520" y="2468880"/>
            <a:ext cx="3474720" cy="2103120"/>
          </a:xfrm>
          <a:prstGeom prst="rect">
            <a:avLst/>
          </a:prstGeom>
          <a:noFill/>
          <a:ln/>
        </p:spPr>
        <p:txBody>
          <a:bodyPr wrap="square" rtlCol="0" anchor="t"/>
          <a:lstStyle/>
          <a:p>
            <a:pPr marL="152400" indent="-152400">
              <a:spcAft>
                <a:spcPts val="900"/>
              </a:spcAft>
              <a:buSzPct val="100000"/>
              <a:buChar char="•"/>
            </a:pPr>
            <a:r>
              <a:rPr lang="en-US" sz="1250" dirty="0">
                <a:solidFill>
                  <a:srgbClr val="FFFFFF"/>
                </a:solidFill>
                <a:latin typeface="Calibri" pitchFamily="34" charset="0"/>
                <a:ea typeface="Calibri" pitchFamily="34" charset="-122"/>
                <a:cs typeface="Calibri" pitchFamily="34" charset="-120"/>
              </a:rPr>
              <a:t>You'll feel the loop and stop fearing the new tools.</a:t>
            </a:r>
            <a:endParaRPr lang="en-US" sz="1250" dirty="0"/>
          </a:p>
          <a:p>
            <a:pPr marL="152400" indent="-152400">
              <a:spcAft>
                <a:spcPts val="900"/>
              </a:spcAft>
              <a:buSzPct val="100000"/>
              <a:buChar char="•"/>
            </a:pPr>
            <a:r>
              <a:rPr lang="en-US" sz="1250" dirty="0">
                <a:solidFill>
                  <a:srgbClr val="FFFFFF"/>
                </a:solidFill>
                <a:latin typeface="Calibri" pitchFamily="34" charset="0"/>
                <a:ea typeface="Calibri" pitchFamily="34" charset="-122"/>
                <a:cs typeface="Calibri" pitchFamily="34" charset="-120"/>
              </a:rPr>
              <a:t>You'll prompt by outcome without thinking about it.</a:t>
            </a:r>
            <a:endParaRPr lang="en-US" sz="1250" dirty="0"/>
          </a:p>
          <a:p>
            <a:pPr marL="152400" indent="-152400">
              <a:spcAft>
                <a:spcPts val="900"/>
              </a:spcAft>
              <a:buSzPct val="100000"/>
              <a:buChar char="•"/>
            </a:pPr>
            <a:r>
              <a:rPr lang="en-US" sz="1250" b="1" dirty="0">
                <a:solidFill>
                  <a:srgbClr val="F59E0B"/>
                </a:solidFill>
                <a:latin typeface="Calibri" pitchFamily="34" charset="0"/>
                <a:ea typeface="Calibri" pitchFamily="34" charset="-122"/>
                <a:cs typeface="Calibri" pitchFamily="34" charset="-120"/>
              </a:rPr>
              <a:t>You'll trust your judgement again.</a:t>
            </a:r>
            <a:endParaRPr lang="en-US" sz="1250" dirty="0"/>
          </a:p>
        </p:txBody>
      </p:sp>
      <p:sp>
        <p:nvSpPr>
          <p:cNvPr id="10" name="Shape 7"/>
          <p:cNvSpPr/>
          <p:nvPr/>
        </p:nvSpPr>
        <p:spPr>
          <a:xfrm>
            <a:off x="4754880" y="1463040"/>
            <a:ext cx="3931920" cy="3200400"/>
          </a:xfrm>
          <a:prstGeom prst="roundRect">
            <a:avLst>
              <a:gd name="adj" fmla="val 2571"/>
            </a:avLst>
          </a:prstGeom>
          <a:solidFill>
            <a:srgbClr val="2D1155"/>
          </a:solidFill>
          <a:ln/>
        </p:spPr>
        <p:txBody>
          <a:bodyPr/>
          <a:lstStyle/>
          <a:p>
            <a:endParaRPr lang="en-AU"/>
          </a:p>
        </p:txBody>
      </p:sp>
      <p:sp>
        <p:nvSpPr>
          <p:cNvPr id="11" name="Shape 8"/>
          <p:cNvSpPr/>
          <p:nvPr/>
        </p:nvSpPr>
        <p:spPr>
          <a:xfrm>
            <a:off x="5010912" y="1700784"/>
            <a:ext cx="548640" cy="548640"/>
          </a:xfrm>
          <a:prstGeom prst="ellipse">
            <a:avLst/>
          </a:prstGeom>
          <a:solidFill>
            <a:srgbClr val="7C3AED"/>
          </a:solidFill>
          <a:ln/>
        </p:spPr>
        <p:txBody>
          <a:bodyPr/>
          <a:lstStyle/>
          <a:p>
            <a:endParaRPr lang="en-AU"/>
          </a:p>
        </p:txBody>
      </p:sp>
      <p:sp>
        <p:nvSpPr>
          <p:cNvPr id="12" name="Text 9"/>
          <p:cNvSpPr/>
          <p:nvPr/>
        </p:nvSpPr>
        <p:spPr>
          <a:xfrm>
            <a:off x="5010912" y="1700784"/>
            <a:ext cx="548640" cy="548640"/>
          </a:xfrm>
          <a:prstGeom prst="rect">
            <a:avLst/>
          </a:prstGeom>
          <a:noFill/>
          <a:ln/>
        </p:spPr>
        <p:txBody>
          <a:bodyPr wrap="square" rtlCol="0" anchor="ctr"/>
          <a:lstStyle/>
          <a:p>
            <a:pPr marL="0" indent="0" algn="ctr">
              <a:buNone/>
            </a:pPr>
            <a:r>
              <a:rPr lang="en-US" sz="1200" b="1" dirty="0">
                <a:solidFill>
                  <a:srgbClr val="FFFFFF"/>
                </a:solidFill>
                <a:latin typeface="Arial Black" pitchFamily="34" charset="0"/>
                <a:ea typeface="Arial Black" pitchFamily="34" charset="-122"/>
                <a:cs typeface="Arial Black" pitchFamily="34" charset="-120"/>
              </a:rPr>
              <a:t>C</a:t>
            </a:r>
            <a:endParaRPr lang="en-US" sz="1200" dirty="0"/>
          </a:p>
        </p:txBody>
      </p:sp>
      <p:sp>
        <p:nvSpPr>
          <p:cNvPr id="13" name="Text 10"/>
          <p:cNvSpPr/>
          <p:nvPr/>
        </p:nvSpPr>
        <p:spPr>
          <a:xfrm>
            <a:off x="5715000" y="1737360"/>
            <a:ext cx="2834640" cy="457200"/>
          </a:xfrm>
          <a:prstGeom prst="rect">
            <a:avLst/>
          </a:prstGeom>
          <a:noFill/>
          <a:ln/>
        </p:spPr>
        <p:txBody>
          <a:bodyPr wrap="square" rtlCol="0" anchor="ctr"/>
          <a:lstStyle/>
          <a:p>
            <a:pPr marL="0" indent="0">
              <a:buNone/>
            </a:pPr>
            <a:r>
              <a:rPr lang="en-US" sz="1500" b="1" dirty="0">
                <a:solidFill>
                  <a:srgbClr val="7C3AED"/>
                </a:solidFill>
                <a:latin typeface="Arial Black" pitchFamily="34" charset="0"/>
                <a:ea typeface="Arial Black" pitchFamily="34" charset="-122"/>
                <a:cs typeface="Arial Black" pitchFamily="34" charset="-120"/>
              </a:rPr>
              <a:t>If you're confident</a:t>
            </a:r>
            <a:endParaRPr lang="en-US" sz="1500" dirty="0"/>
          </a:p>
        </p:txBody>
      </p:sp>
      <p:sp>
        <p:nvSpPr>
          <p:cNvPr id="14" name="Text 11"/>
          <p:cNvSpPr/>
          <p:nvPr/>
        </p:nvSpPr>
        <p:spPr>
          <a:xfrm>
            <a:off x="5029200" y="2468880"/>
            <a:ext cx="3474720" cy="2103120"/>
          </a:xfrm>
          <a:prstGeom prst="rect">
            <a:avLst/>
          </a:prstGeom>
          <a:noFill/>
          <a:ln/>
        </p:spPr>
        <p:txBody>
          <a:bodyPr wrap="square" rtlCol="0" anchor="t"/>
          <a:lstStyle/>
          <a:p>
            <a:pPr marL="152400" indent="-152400">
              <a:spcAft>
                <a:spcPts val="900"/>
              </a:spcAft>
              <a:buSzPct val="100000"/>
              <a:buChar char="•"/>
            </a:pPr>
            <a:r>
              <a:rPr lang="en-US" sz="1250" dirty="0">
                <a:solidFill>
                  <a:srgbClr val="FFFFFF"/>
                </a:solidFill>
                <a:latin typeface="Calibri" pitchFamily="34" charset="0"/>
                <a:ea typeface="Calibri" pitchFamily="34" charset="-122"/>
                <a:cs typeface="Calibri" pitchFamily="34" charset="-120"/>
              </a:rPr>
              <a:t>You'll learn what directing costs — and what it buys.</a:t>
            </a:r>
            <a:endParaRPr lang="en-US" sz="1250" dirty="0"/>
          </a:p>
          <a:p>
            <a:pPr marL="152400" indent="-152400">
              <a:spcAft>
                <a:spcPts val="900"/>
              </a:spcAft>
              <a:buSzPct val="100000"/>
              <a:buChar char="•"/>
            </a:pPr>
            <a:r>
              <a:rPr lang="en-US" sz="1250" dirty="0">
                <a:solidFill>
                  <a:srgbClr val="FFFFFF"/>
                </a:solidFill>
                <a:latin typeface="Calibri" pitchFamily="34" charset="0"/>
                <a:ea typeface="Calibri" pitchFamily="34" charset="-122"/>
                <a:cs typeface="Calibri" pitchFamily="34" charset="-120"/>
              </a:rPr>
              <a:t>You'll catch yourself reaching for the keyboard.</a:t>
            </a:r>
            <a:endParaRPr lang="en-US" sz="1250" dirty="0"/>
          </a:p>
          <a:p>
            <a:pPr marL="152400" indent="-152400">
              <a:spcAft>
                <a:spcPts val="900"/>
              </a:spcAft>
              <a:buSzPct val="100000"/>
              <a:buChar char="•"/>
            </a:pPr>
            <a:r>
              <a:rPr lang="en-US" sz="1250" b="1" dirty="0">
                <a:solidFill>
                  <a:srgbClr val="DDD6FE"/>
                </a:solidFill>
                <a:latin typeface="Calibri" pitchFamily="34" charset="0"/>
                <a:ea typeface="Calibri" pitchFamily="34" charset="-122"/>
                <a:cs typeface="Calibri" pitchFamily="34" charset="-120"/>
              </a:rPr>
              <a:t>You'll get further by doing less.</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5F3FF"/>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566928"/>
          </a:xfrm>
          <a:prstGeom prst="rect">
            <a:avLst/>
          </a:prstGeom>
          <a:noFill/>
          <a:ln/>
        </p:spPr>
        <p:txBody>
          <a:bodyPr wrap="square" rtlCol="0" anchor="ctr"/>
          <a:lstStyle/>
          <a:p>
            <a:pPr marL="0" indent="0" algn="l">
              <a:buNone/>
            </a:pPr>
            <a:r>
              <a:rPr lang="en-US" sz="2200" b="1" kern="0" spc="100" dirty="0">
                <a:solidFill>
                  <a:srgbClr val="2D1155"/>
                </a:solidFill>
                <a:latin typeface="Arial Black" pitchFamily="34" charset="0"/>
                <a:ea typeface="Arial Black" pitchFamily="34" charset="-122"/>
                <a:cs typeface="Arial Black" pitchFamily="34" charset="-120"/>
              </a:rPr>
              <a:t>FIVE GOLDEN RULES</a:t>
            </a:r>
            <a:endParaRPr lang="en-US" sz="2200" dirty="0"/>
          </a:p>
        </p:txBody>
      </p:sp>
      <p:sp>
        <p:nvSpPr>
          <p:cNvPr id="3" name="Text 1"/>
          <p:cNvSpPr/>
          <p:nvPr/>
        </p:nvSpPr>
        <p:spPr>
          <a:xfrm>
            <a:off x="475488" y="896112"/>
            <a:ext cx="8229600" cy="329184"/>
          </a:xfrm>
          <a:prstGeom prst="rect">
            <a:avLst/>
          </a:prstGeom>
          <a:noFill/>
          <a:ln/>
        </p:spPr>
        <p:txBody>
          <a:bodyPr wrap="square" rtlCol="0" anchor="ctr"/>
          <a:lstStyle/>
          <a:p>
            <a:pPr marL="0" indent="0">
              <a:buNone/>
            </a:pPr>
            <a:r>
              <a:rPr lang="en-US" sz="1300" i="1" dirty="0">
                <a:solidFill>
                  <a:srgbClr val="6E6389"/>
                </a:solidFill>
                <a:latin typeface="Calibri" pitchFamily="34" charset="0"/>
                <a:ea typeface="Calibri" pitchFamily="34" charset="-122"/>
                <a:cs typeface="Calibri" pitchFamily="34" charset="-120"/>
              </a:rPr>
              <a:t>Carry these into the lab.</a:t>
            </a:r>
            <a:endParaRPr lang="en-US" sz="1300" dirty="0"/>
          </a:p>
        </p:txBody>
      </p:sp>
      <p:pic>
        <p:nvPicPr>
          <p:cNvPr id="4" name="Image 0" descr="logo_icon.jpeg"/>
          <p:cNvPicPr>
            <a:picLocks noChangeAspect="1"/>
          </p:cNvPicPr>
          <p:nvPr/>
        </p:nvPicPr>
        <p:blipFill>
          <a:blip r:embed="rId3"/>
          <a:stretch>
            <a:fillRect/>
          </a:stretch>
        </p:blipFill>
        <p:spPr>
          <a:xfrm>
            <a:off x="8366760" y="4526280"/>
            <a:ext cx="411480" cy="411480"/>
          </a:xfrm>
          <a:prstGeom prst="ellipse">
            <a:avLst/>
          </a:prstGeom>
        </p:spPr>
      </p:pic>
      <p:sp>
        <p:nvSpPr>
          <p:cNvPr id="5" name="Shape 2"/>
          <p:cNvSpPr/>
          <p:nvPr/>
        </p:nvSpPr>
        <p:spPr>
          <a:xfrm>
            <a:off x="502920" y="1463040"/>
            <a:ext cx="457200" cy="457200"/>
          </a:xfrm>
          <a:prstGeom prst="ellipse">
            <a:avLst/>
          </a:prstGeom>
          <a:solidFill>
            <a:srgbClr val="F59E0B"/>
          </a:solidFill>
          <a:ln/>
        </p:spPr>
        <p:txBody>
          <a:bodyPr/>
          <a:lstStyle/>
          <a:p>
            <a:endParaRPr lang="en-AU"/>
          </a:p>
        </p:txBody>
      </p:sp>
      <p:sp>
        <p:nvSpPr>
          <p:cNvPr id="6" name="Text 3"/>
          <p:cNvSpPr/>
          <p:nvPr/>
        </p:nvSpPr>
        <p:spPr>
          <a:xfrm>
            <a:off x="502920" y="1463040"/>
            <a:ext cx="457200" cy="457200"/>
          </a:xfrm>
          <a:prstGeom prst="rect">
            <a:avLst/>
          </a:prstGeom>
          <a:noFill/>
          <a:ln/>
        </p:spPr>
        <p:txBody>
          <a:bodyPr wrap="square" rtlCol="0" anchor="ctr"/>
          <a:lstStyle/>
          <a:p>
            <a:pPr marL="0" indent="0" algn="ctr">
              <a:buNone/>
            </a:pPr>
            <a:r>
              <a:rPr lang="en-US" sz="1200" b="1" dirty="0">
                <a:solidFill>
                  <a:srgbClr val="2D1155"/>
                </a:solidFill>
                <a:latin typeface="Arial Black" pitchFamily="34" charset="0"/>
                <a:ea typeface="Arial Black" pitchFamily="34" charset="-122"/>
                <a:cs typeface="Arial Black" pitchFamily="34" charset="-120"/>
              </a:rPr>
              <a:t>1</a:t>
            </a:r>
            <a:endParaRPr lang="en-US" sz="1200" dirty="0"/>
          </a:p>
        </p:txBody>
      </p:sp>
      <p:sp>
        <p:nvSpPr>
          <p:cNvPr id="7" name="Text 4"/>
          <p:cNvSpPr/>
          <p:nvPr/>
        </p:nvSpPr>
        <p:spPr>
          <a:xfrm>
            <a:off x="1143000" y="1426464"/>
            <a:ext cx="7498080" cy="457200"/>
          </a:xfrm>
          <a:prstGeom prst="rect">
            <a:avLst/>
          </a:prstGeom>
          <a:noFill/>
          <a:ln/>
        </p:spPr>
        <p:txBody>
          <a:bodyPr wrap="square" rtlCol="0" anchor="ctr"/>
          <a:lstStyle/>
          <a:p>
            <a:pPr marL="0" indent="0">
              <a:buNone/>
            </a:pPr>
            <a:r>
              <a:rPr lang="en-US" sz="1450" b="1" dirty="0">
                <a:solidFill>
                  <a:srgbClr val="2D1155"/>
                </a:solidFill>
                <a:latin typeface="Calibri" pitchFamily="34" charset="0"/>
                <a:ea typeface="Calibri" pitchFamily="34" charset="-122"/>
                <a:cs typeface="Calibri" pitchFamily="34" charset="-120"/>
              </a:rPr>
              <a:t>Resist the keyboard.   </a:t>
            </a:r>
            <a:r>
              <a:rPr lang="en-US" sz="1450" dirty="0">
                <a:solidFill>
                  <a:srgbClr val="6E6389"/>
                </a:solidFill>
                <a:latin typeface="Calibri" pitchFamily="34" charset="0"/>
                <a:ea typeface="Calibri" pitchFamily="34" charset="-122"/>
                <a:cs typeface="Calibri" pitchFamily="34" charset="-120"/>
              </a:rPr>
              <a:t>Direct the loop; don't type the code.</a:t>
            </a:r>
            <a:endParaRPr lang="en-US" sz="1450" dirty="0"/>
          </a:p>
        </p:txBody>
      </p:sp>
      <p:sp>
        <p:nvSpPr>
          <p:cNvPr id="8" name="Shape 5"/>
          <p:cNvSpPr/>
          <p:nvPr/>
        </p:nvSpPr>
        <p:spPr>
          <a:xfrm>
            <a:off x="502920" y="2084832"/>
            <a:ext cx="457200" cy="457200"/>
          </a:xfrm>
          <a:prstGeom prst="ellipse">
            <a:avLst/>
          </a:prstGeom>
          <a:solidFill>
            <a:srgbClr val="2D1155"/>
          </a:solidFill>
          <a:ln/>
        </p:spPr>
        <p:txBody>
          <a:bodyPr/>
          <a:lstStyle/>
          <a:p>
            <a:endParaRPr lang="en-AU"/>
          </a:p>
        </p:txBody>
      </p:sp>
      <p:sp>
        <p:nvSpPr>
          <p:cNvPr id="9" name="Text 6"/>
          <p:cNvSpPr/>
          <p:nvPr/>
        </p:nvSpPr>
        <p:spPr>
          <a:xfrm>
            <a:off x="502920" y="2084832"/>
            <a:ext cx="457200" cy="457200"/>
          </a:xfrm>
          <a:prstGeom prst="rect">
            <a:avLst/>
          </a:prstGeom>
          <a:noFill/>
          <a:ln/>
        </p:spPr>
        <p:txBody>
          <a:bodyPr wrap="square" rtlCol="0" anchor="ctr"/>
          <a:lstStyle/>
          <a:p>
            <a:pPr marL="0" indent="0" algn="ctr">
              <a:buNone/>
            </a:pPr>
            <a:r>
              <a:rPr lang="en-US" sz="1200" b="1" dirty="0">
                <a:solidFill>
                  <a:srgbClr val="FFFFFF"/>
                </a:solidFill>
                <a:latin typeface="Arial Black" pitchFamily="34" charset="0"/>
                <a:ea typeface="Arial Black" pitchFamily="34" charset="-122"/>
                <a:cs typeface="Arial Black" pitchFamily="34" charset="-120"/>
              </a:rPr>
              <a:t>2</a:t>
            </a:r>
            <a:endParaRPr lang="en-US" sz="1200" dirty="0"/>
          </a:p>
        </p:txBody>
      </p:sp>
      <p:sp>
        <p:nvSpPr>
          <p:cNvPr id="10" name="Text 7"/>
          <p:cNvSpPr/>
          <p:nvPr/>
        </p:nvSpPr>
        <p:spPr>
          <a:xfrm>
            <a:off x="1143000" y="2048256"/>
            <a:ext cx="7498080" cy="457200"/>
          </a:xfrm>
          <a:prstGeom prst="rect">
            <a:avLst/>
          </a:prstGeom>
          <a:noFill/>
          <a:ln/>
        </p:spPr>
        <p:txBody>
          <a:bodyPr wrap="square" rtlCol="0" anchor="ctr"/>
          <a:lstStyle/>
          <a:p>
            <a:pPr marL="0" indent="0">
              <a:buNone/>
            </a:pPr>
            <a:r>
              <a:rPr lang="en-US" sz="1450" b="1" dirty="0">
                <a:solidFill>
                  <a:srgbClr val="2D1155"/>
                </a:solidFill>
                <a:latin typeface="Calibri" pitchFamily="34" charset="0"/>
                <a:ea typeface="Calibri" pitchFamily="34" charset="-122"/>
                <a:cs typeface="Calibri" pitchFamily="34" charset="-120"/>
              </a:rPr>
              <a:t>Prompt by outcome.   </a:t>
            </a:r>
            <a:r>
              <a:rPr lang="en-US" sz="1450" dirty="0">
                <a:solidFill>
                  <a:srgbClr val="6E6389"/>
                </a:solidFill>
                <a:latin typeface="Calibri" pitchFamily="34" charset="0"/>
                <a:ea typeface="Calibri" pitchFamily="34" charset="-122"/>
                <a:cs typeface="Calibri" pitchFamily="34" charset="-120"/>
              </a:rPr>
              <a:t>Say what and the constraints, not how.</a:t>
            </a:r>
            <a:endParaRPr lang="en-US" sz="1450" dirty="0"/>
          </a:p>
        </p:txBody>
      </p:sp>
      <p:sp>
        <p:nvSpPr>
          <p:cNvPr id="11" name="Shape 8"/>
          <p:cNvSpPr/>
          <p:nvPr/>
        </p:nvSpPr>
        <p:spPr>
          <a:xfrm>
            <a:off x="502920" y="2706624"/>
            <a:ext cx="457200" cy="457200"/>
          </a:xfrm>
          <a:prstGeom prst="ellipse">
            <a:avLst/>
          </a:prstGeom>
          <a:solidFill>
            <a:srgbClr val="2D1155"/>
          </a:solidFill>
          <a:ln/>
        </p:spPr>
        <p:txBody>
          <a:bodyPr/>
          <a:lstStyle/>
          <a:p>
            <a:endParaRPr lang="en-AU"/>
          </a:p>
        </p:txBody>
      </p:sp>
      <p:sp>
        <p:nvSpPr>
          <p:cNvPr id="12" name="Text 9"/>
          <p:cNvSpPr/>
          <p:nvPr/>
        </p:nvSpPr>
        <p:spPr>
          <a:xfrm>
            <a:off x="502920" y="2706624"/>
            <a:ext cx="457200" cy="457200"/>
          </a:xfrm>
          <a:prstGeom prst="rect">
            <a:avLst/>
          </a:prstGeom>
          <a:noFill/>
          <a:ln/>
        </p:spPr>
        <p:txBody>
          <a:bodyPr wrap="square" rtlCol="0" anchor="ctr"/>
          <a:lstStyle/>
          <a:p>
            <a:pPr marL="0" indent="0" algn="ctr">
              <a:buNone/>
            </a:pPr>
            <a:r>
              <a:rPr lang="en-US" sz="1200" b="1" dirty="0">
                <a:solidFill>
                  <a:srgbClr val="FFFFFF"/>
                </a:solidFill>
                <a:latin typeface="Arial Black" pitchFamily="34" charset="0"/>
                <a:ea typeface="Arial Black" pitchFamily="34" charset="-122"/>
                <a:cs typeface="Arial Black" pitchFamily="34" charset="-120"/>
              </a:rPr>
              <a:t>3</a:t>
            </a:r>
            <a:endParaRPr lang="en-US" sz="1200" dirty="0"/>
          </a:p>
        </p:txBody>
      </p:sp>
      <p:sp>
        <p:nvSpPr>
          <p:cNvPr id="13" name="Text 10"/>
          <p:cNvSpPr/>
          <p:nvPr/>
        </p:nvSpPr>
        <p:spPr>
          <a:xfrm>
            <a:off x="1143000" y="2670048"/>
            <a:ext cx="7498080" cy="457200"/>
          </a:xfrm>
          <a:prstGeom prst="rect">
            <a:avLst/>
          </a:prstGeom>
          <a:noFill/>
          <a:ln/>
        </p:spPr>
        <p:txBody>
          <a:bodyPr wrap="square" rtlCol="0" anchor="ctr"/>
          <a:lstStyle/>
          <a:p>
            <a:pPr marL="0" indent="0">
              <a:buNone/>
            </a:pPr>
            <a:r>
              <a:rPr lang="en-US" sz="1450" b="1" dirty="0">
                <a:solidFill>
                  <a:srgbClr val="2D1155"/>
                </a:solidFill>
                <a:latin typeface="Calibri" pitchFamily="34" charset="0"/>
                <a:ea typeface="Calibri" pitchFamily="34" charset="-122"/>
                <a:cs typeface="Calibri" pitchFamily="34" charset="-120"/>
              </a:rPr>
              <a:t>Plan review, not writing.   </a:t>
            </a:r>
            <a:r>
              <a:rPr lang="en-US" sz="1450" dirty="0">
                <a:solidFill>
                  <a:srgbClr val="6E6389"/>
                </a:solidFill>
                <a:latin typeface="Calibri" pitchFamily="34" charset="0"/>
                <a:ea typeface="Calibri" pitchFamily="34" charset="-122"/>
                <a:cs typeface="Calibri" pitchFamily="34" charset="-120"/>
              </a:rPr>
              <a:t>Read for intent and scope, not mechanics.</a:t>
            </a:r>
            <a:endParaRPr lang="en-US" sz="1450" dirty="0"/>
          </a:p>
        </p:txBody>
      </p:sp>
      <p:sp>
        <p:nvSpPr>
          <p:cNvPr id="14" name="Shape 11"/>
          <p:cNvSpPr/>
          <p:nvPr/>
        </p:nvSpPr>
        <p:spPr>
          <a:xfrm>
            <a:off x="502920" y="3328416"/>
            <a:ext cx="457200" cy="457200"/>
          </a:xfrm>
          <a:prstGeom prst="ellipse">
            <a:avLst/>
          </a:prstGeom>
          <a:solidFill>
            <a:srgbClr val="2D1155"/>
          </a:solidFill>
          <a:ln/>
        </p:spPr>
        <p:txBody>
          <a:bodyPr/>
          <a:lstStyle/>
          <a:p>
            <a:endParaRPr lang="en-AU"/>
          </a:p>
        </p:txBody>
      </p:sp>
      <p:sp>
        <p:nvSpPr>
          <p:cNvPr id="15" name="Text 12"/>
          <p:cNvSpPr/>
          <p:nvPr/>
        </p:nvSpPr>
        <p:spPr>
          <a:xfrm>
            <a:off x="502920" y="3328416"/>
            <a:ext cx="457200" cy="457200"/>
          </a:xfrm>
          <a:prstGeom prst="rect">
            <a:avLst/>
          </a:prstGeom>
          <a:noFill/>
          <a:ln/>
        </p:spPr>
        <p:txBody>
          <a:bodyPr wrap="square" rtlCol="0" anchor="ctr"/>
          <a:lstStyle/>
          <a:p>
            <a:pPr marL="0" indent="0" algn="ctr">
              <a:buNone/>
            </a:pPr>
            <a:r>
              <a:rPr lang="en-US" sz="1200" b="1" dirty="0">
                <a:solidFill>
                  <a:srgbClr val="FFFFFF"/>
                </a:solidFill>
                <a:latin typeface="Arial Black" pitchFamily="34" charset="0"/>
                <a:ea typeface="Arial Black" pitchFamily="34" charset="-122"/>
                <a:cs typeface="Arial Black" pitchFamily="34" charset="-120"/>
              </a:rPr>
              <a:t>4</a:t>
            </a:r>
            <a:endParaRPr lang="en-US" sz="1200" dirty="0"/>
          </a:p>
        </p:txBody>
      </p:sp>
      <p:sp>
        <p:nvSpPr>
          <p:cNvPr id="16" name="Text 13"/>
          <p:cNvSpPr/>
          <p:nvPr/>
        </p:nvSpPr>
        <p:spPr>
          <a:xfrm>
            <a:off x="1143000" y="3291840"/>
            <a:ext cx="7498080" cy="457200"/>
          </a:xfrm>
          <a:prstGeom prst="rect">
            <a:avLst/>
          </a:prstGeom>
          <a:noFill/>
          <a:ln/>
        </p:spPr>
        <p:txBody>
          <a:bodyPr wrap="square" rtlCol="0" anchor="ctr"/>
          <a:lstStyle/>
          <a:p>
            <a:pPr marL="0" indent="0">
              <a:buNone/>
            </a:pPr>
            <a:r>
              <a:rPr lang="en-US" sz="1450" b="1" dirty="0">
                <a:solidFill>
                  <a:srgbClr val="2D1155"/>
                </a:solidFill>
                <a:latin typeface="Calibri" pitchFamily="34" charset="0"/>
                <a:ea typeface="Calibri" pitchFamily="34" charset="-122"/>
                <a:cs typeface="Calibri" pitchFamily="34" charset="-120"/>
              </a:rPr>
              <a:t>Recover by reporting symptoms.   </a:t>
            </a:r>
            <a:r>
              <a:rPr lang="en-US" sz="1450" dirty="0">
                <a:solidFill>
                  <a:srgbClr val="6E6389"/>
                </a:solidFill>
                <a:latin typeface="Calibri" pitchFamily="34" charset="0"/>
                <a:ea typeface="Calibri" pitchFamily="34" charset="-122"/>
                <a:cs typeface="Calibri" pitchFamily="34" charset="-120"/>
              </a:rPr>
              <a:t>Paste the error, describe the screen.</a:t>
            </a:r>
            <a:endParaRPr lang="en-US" sz="1450" dirty="0"/>
          </a:p>
        </p:txBody>
      </p:sp>
      <p:sp>
        <p:nvSpPr>
          <p:cNvPr id="17" name="Shape 14"/>
          <p:cNvSpPr/>
          <p:nvPr/>
        </p:nvSpPr>
        <p:spPr>
          <a:xfrm>
            <a:off x="502920" y="3950208"/>
            <a:ext cx="457200" cy="457200"/>
          </a:xfrm>
          <a:prstGeom prst="ellipse">
            <a:avLst/>
          </a:prstGeom>
          <a:solidFill>
            <a:srgbClr val="2D1155"/>
          </a:solidFill>
          <a:ln/>
        </p:spPr>
        <p:txBody>
          <a:bodyPr/>
          <a:lstStyle/>
          <a:p>
            <a:endParaRPr lang="en-AU"/>
          </a:p>
        </p:txBody>
      </p:sp>
      <p:sp>
        <p:nvSpPr>
          <p:cNvPr id="18" name="Text 15"/>
          <p:cNvSpPr/>
          <p:nvPr/>
        </p:nvSpPr>
        <p:spPr>
          <a:xfrm>
            <a:off x="502920" y="3950208"/>
            <a:ext cx="457200" cy="457200"/>
          </a:xfrm>
          <a:prstGeom prst="rect">
            <a:avLst/>
          </a:prstGeom>
          <a:noFill/>
          <a:ln/>
        </p:spPr>
        <p:txBody>
          <a:bodyPr wrap="square" rtlCol="0" anchor="ctr"/>
          <a:lstStyle/>
          <a:p>
            <a:pPr marL="0" indent="0" algn="ctr">
              <a:buNone/>
            </a:pPr>
            <a:r>
              <a:rPr lang="en-US" sz="1200" b="1" dirty="0">
                <a:solidFill>
                  <a:srgbClr val="FFFFFF"/>
                </a:solidFill>
                <a:latin typeface="Arial Black" pitchFamily="34" charset="0"/>
                <a:ea typeface="Arial Black" pitchFamily="34" charset="-122"/>
                <a:cs typeface="Arial Black" pitchFamily="34" charset="-120"/>
              </a:rPr>
              <a:t>5</a:t>
            </a:r>
            <a:endParaRPr lang="en-US" sz="1200" dirty="0"/>
          </a:p>
        </p:txBody>
      </p:sp>
      <p:sp>
        <p:nvSpPr>
          <p:cNvPr id="19" name="Text 16"/>
          <p:cNvSpPr/>
          <p:nvPr/>
        </p:nvSpPr>
        <p:spPr>
          <a:xfrm>
            <a:off x="1143000" y="3913632"/>
            <a:ext cx="7498080" cy="457200"/>
          </a:xfrm>
          <a:prstGeom prst="rect">
            <a:avLst/>
          </a:prstGeom>
          <a:noFill/>
          <a:ln/>
        </p:spPr>
        <p:txBody>
          <a:bodyPr wrap="square" rtlCol="0" anchor="ctr"/>
          <a:lstStyle/>
          <a:p>
            <a:pPr marL="0" indent="0">
              <a:buNone/>
            </a:pPr>
            <a:r>
              <a:rPr lang="en-US" sz="1450" b="1" dirty="0">
                <a:solidFill>
                  <a:srgbClr val="2D1155"/>
                </a:solidFill>
                <a:latin typeface="Calibri" pitchFamily="34" charset="0"/>
                <a:ea typeface="Calibri" pitchFamily="34" charset="-122"/>
                <a:cs typeface="Calibri" pitchFamily="34" charset="-120"/>
              </a:rPr>
              <a:t>Commit small; use checkpoints.   </a:t>
            </a:r>
            <a:r>
              <a:rPr lang="en-US" sz="1450" dirty="0">
                <a:solidFill>
                  <a:srgbClr val="6E6389"/>
                </a:solidFill>
                <a:latin typeface="Calibri" pitchFamily="34" charset="0"/>
                <a:ea typeface="Calibri" pitchFamily="34" charset="-122"/>
                <a:cs typeface="Calibri" pitchFamily="34" charset="-120"/>
              </a:rPr>
              <a:t>Git is your undo. The net is expected.</a:t>
            </a:r>
            <a:endParaRPr lang="en-US" sz="14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2D1155"/>
        </a:solidFill>
        <a:effectLst/>
      </p:bgPr>
    </p:bg>
    <p:spTree>
      <p:nvGrpSpPr>
        <p:cNvPr id="1" name=""/>
        <p:cNvGrpSpPr/>
        <p:nvPr/>
      </p:nvGrpSpPr>
      <p:grpSpPr>
        <a:xfrm>
          <a:off x="0" y="0"/>
          <a:ext cx="0" cy="0"/>
          <a:chOff x="0" y="0"/>
          <a:chExt cx="0" cy="0"/>
        </a:xfrm>
      </p:grpSpPr>
      <p:sp>
        <p:nvSpPr>
          <p:cNvPr id="2" name="Shape 0"/>
          <p:cNvSpPr/>
          <p:nvPr/>
        </p:nvSpPr>
        <p:spPr>
          <a:xfrm>
            <a:off x="6400800" y="0"/>
            <a:ext cx="2743200" cy="5143500"/>
          </a:xfrm>
          <a:prstGeom prst="rect">
            <a:avLst/>
          </a:prstGeom>
          <a:solidFill>
            <a:srgbClr val="5B21B6"/>
          </a:solidFill>
          <a:ln/>
        </p:spPr>
        <p:txBody>
          <a:bodyPr/>
          <a:lstStyle/>
          <a:p>
            <a:endParaRPr lang="en-AU"/>
          </a:p>
        </p:txBody>
      </p:sp>
      <p:sp>
        <p:nvSpPr>
          <p:cNvPr id="3" name="Shape 1"/>
          <p:cNvSpPr/>
          <p:nvPr/>
        </p:nvSpPr>
        <p:spPr>
          <a:xfrm>
            <a:off x="6400800" y="0"/>
            <a:ext cx="128016" cy="5143500"/>
          </a:xfrm>
          <a:prstGeom prst="rect">
            <a:avLst/>
          </a:prstGeom>
          <a:solidFill>
            <a:srgbClr val="7C3AED"/>
          </a:solidFill>
          <a:ln/>
        </p:spPr>
        <p:txBody>
          <a:bodyPr/>
          <a:lstStyle/>
          <a:p>
            <a:endParaRPr lang="en-AU"/>
          </a:p>
        </p:txBody>
      </p:sp>
      <p:pic>
        <p:nvPicPr>
          <p:cNvPr id="4" name="Image 0" descr="logo_icon.jpeg"/>
          <p:cNvPicPr>
            <a:picLocks noChangeAspect="1"/>
          </p:cNvPicPr>
          <p:nvPr/>
        </p:nvPicPr>
        <p:blipFill>
          <a:blip r:embed="rId3"/>
          <a:stretch>
            <a:fillRect/>
          </a:stretch>
        </p:blipFill>
        <p:spPr>
          <a:xfrm>
            <a:off x="8366760" y="4526280"/>
            <a:ext cx="411480" cy="411480"/>
          </a:xfrm>
          <a:prstGeom prst="ellipse">
            <a:avLst/>
          </a:prstGeom>
        </p:spPr>
      </p:pic>
      <p:sp>
        <p:nvSpPr>
          <p:cNvPr id="5" name="Shape 2"/>
          <p:cNvSpPr/>
          <p:nvPr/>
        </p:nvSpPr>
        <p:spPr>
          <a:xfrm>
            <a:off x="457200" y="1234440"/>
            <a:ext cx="82296" cy="2148840"/>
          </a:xfrm>
          <a:prstGeom prst="rect">
            <a:avLst/>
          </a:prstGeom>
          <a:solidFill>
            <a:srgbClr val="F59E0B"/>
          </a:solidFill>
          <a:ln/>
        </p:spPr>
        <p:txBody>
          <a:bodyPr/>
          <a:lstStyle/>
          <a:p>
            <a:endParaRPr lang="en-AU"/>
          </a:p>
        </p:txBody>
      </p:sp>
      <p:pic>
        <p:nvPicPr>
          <p:cNvPr id="6" name="Image 1" descr="logo_main.png"/>
          <p:cNvPicPr>
            <a:picLocks noChangeAspect="1"/>
          </p:cNvPicPr>
          <p:nvPr/>
        </p:nvPicPr>
        <p:blipFill>
          <a:blip r:embed="rId4"/>
          <a:stretch>
            <a:fillRect/>
          </a:stretch>
        </p:blipFill>
        <p:spPr>
          <a:xfrm>
            <a:off x="457200" y="384048"/>
            <a:ext cx="2148840" cy="484632"/>
          </a:xfrm>
          <a:prstGeom prst="rect">
            <a:avLst/>
          </a:prstGeom>
        </p:spPr>
      </p:pic>
      <p:sp>
        <p:nvSpPr>
          <p:cNvPr id="7" name="Text 3"/>
          <p:cNvSpPr/>
          <p:nvPr/>
        </p:nvSpPr>
        <p:spPr>
          <a:xfrm>
            <a:off x="457200" y="4709160"/>
            <a:ext cx="5669280" cy="274320"/>
          </a:xfrm>
          <a:prstGeom prst="rect">
            <a:avLst/>
          </a:prstGeom>
          <a:noFill/>
          <a:ln/>
        </p:spPr>
        <p:txBody>
          <a:bodyPr wrap="square" rtlCol="0" anchor="ctr"/>
          <a:lstStyle/>
          <a:p>
            <a:pPr marL="0" indent="0">
              <a:buNone/>
            </a:pPr>
            <a:r>
              <a:rPr lang="en-US" sz="900" dirty="0">
                <a:solidFill>
                  <a:srgbClr val="C4B5E8"/>
                </a:solidFill>
                <a:latin typeface="Calibri" pitchFamily="34" charset="0"/>
                <a:ea typeface="Calibri" pitchFamily="34" charset="-122"/>
                <a:cs typeface="Calibri" pitchFamily="34" charset="-120"/>
              </a:rPr>
              <a:t>Tech Council of Australia  |  techcouncil.com.au</a:t>
            </a:r>
            <a:endParaRPr lang="en-US" sz="900" dirty="0"/>
          </a:p>
        </p:txBody>
      </p:sp>
      <p:sp>
        <p:nvSpPr>
          <p:cNvPr id="8" name="Text 4"/>
          <p:cNvSpPr/>
          <p:nvPr/>
        </p:nvSpPr>
        <p:spPr>
          <a:xfrm>
            <a:off x="658368" y="1371600"/>
            <a:ext cx="5486400" cy="274320"/>
          </a:xfrm>
          <a:prstGeom prst="rect">
            <a:avLst/>
          </a:prstGeom>
          <a:noFill/>
          <a:ln/>
        </p:spPr>
        <p:txBody>
          <a:bodyPr wrap="square" rtlCol="0" anchor="ctr"/>
          <a:lstStyle/>
          <a:p>
            <a:pPr marL="0" indent="0">
              <a:buNone/>
            </a:pPr>
            <a:r>
              <a:rPr lang="en-US" sz="1000" b="1" kern="0" spc="200" dirty="0">
                <a:solidFill>
                  <a:srgbClr val="F59E0B"/>
                </a:solidFill>
                <a:latin typeface="Calibri" pitchFamily="34" charset="0"/>
                <a:ea typeface="Calibri" pitchFamily="34" charset="-122"/>
                <a:cs typeface="Calibri" pitchFamily="34" charset="-120"/>
              </a:rPr>
              <a:t>BY 4PM YOU'LL HARDEN THIS WITH A TEAM OF AGENTS</a:t>
            </a:r>
            <a:endParaRPr lang="en-US" sz="1000" dirty="0"/>
          </a:p>
        </p:txBody>
      </p:sp>
      <p:sp>
        <p:nvSpPr>
          <p:cNvPr id="9" name="Text 5"/>
          <p:cNvSpPr/>
          <p:nvPr/>
        </p:nvSpPr>
        <p:spPr>
          <a:xfrm>
            <a:off x="658368" y="1691640"/>
            <a:ext cx="5577840" cy="914400"/>
          </a:xfrm>
          <a:prstGeom prst="rect">
            <a:avLst/>
          </a:prstGeom>
          <a:noFill/>
          <a:ln/>
        </p:spPr>
        <p:txBody>
          <a:bodyPr wrap="square" rtlCol="0" anchor="ctr"/>
          <a:lstStyle/>
          <a:p>
            <a:pPr marL="0" indent="0">
              <a:buNone/>
            </a:pPr>
            <a:r>
              <a:rPr lang="en-US" sz="4600" b="1" dirty="0">
                <a:solidFill>
                  <a:srgbClr val="FFFFFF"/>
                </a:solidFill>
                <a:latin typeface="Arial Black" pitchFamily="34" charset="0"/>
                <a:ea typeface="Arial Black" pitchFamily="34" charset="-122"/>
                <a:cs typeface="Arial Black" pitchFamily="34" charset="-120"/>
              </a:rPr>
              <a:t>Let's build.</a:t>
            </a:r>
            <a:endParaRPr lang="en-US" sz="4600" dirty="0"/>
          </a:p>
        </p:txBody>
      </p:sp>
      <p:sp>
        <p:nvSpPr>
          <p:cNvPr id="10" name="Text 6"/>
          <p:cNvSpPr/>
          <p:nvPr/>
        </p:nvSpPr>
        <p:spPr>
          <a:xfrm>
            <a:off x="676656" y="2880360"/>
            <a:ext cx="5486400" cy="822960"/>
          </a:xfrm>
          <a:prstGeom prst="rect">
            <a:avLst/>
          </a:prstGeom>
          <a:noFill/>
          <a:ln/>
        </p:spPr>
        <p:txBody>
          <a:bodyPr wrap="square" rtlCol="0" anchor="ctr"/>
          <a:lstStyle/>
          <a:p>
            <a:pPr marL="0" indent="0">
              <a:buNone/>
            </a:pPr>
            <a:r>
              <a:rPr lang="en-US" sz="1400" i="1" dirty="0">
                <a:solidFill>
                  <a:srgbClr val="DDD6FE"/>
                </a:solidFill>
                <a:latin typeface="Calibri" pitchFamily="34" charset="0"/>
                <a:ea typeface="Calibri" pitchFamily="34" charset="-122"/>
                <a:cs typeface="Calibri" pitchFamily="34" charset="-120"/>
              </a:rPr>
              <a:t>This morning you learn to fly the loop. You're not behind — the typing got automated; the judgement didn't.</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4234</Words>
  <Application>Microsoft Macintosh PowerPoint</Application>
  <PresentationFormat>On-screen Show (16:9)</PresentationFormat>
  <Paragraphs>257</Paragraphs>
  <Slides>18</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Arial Black</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Paul Keen</cp:lastModifiedBy>
  <cp:revision>5</cp:revision>
  <dcterms:created xsi:type="dcterms:W3CDTF">2026-07-22T10:56:37Z</dcterms:created>
  <dcterms:modified xsi:type="dcterms:W3CDTF">2026-07-29T10:23:37Z</dcterms:modified>
</cp:coreProperties>
</file>