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80"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81" r:id="rId25"/>
    <p:sldId id="279" r:id="rId2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73"/>
    <p:restoredTop sz="72520"/>
  </p:normalViewPr>
  <p:slideViewPr>
    <p:cSldViewPr snapToGrid="0" snapToObjects="1">
      <p:cViewPr varScale="1">
        <p:scale>
          <a:sx n="257" d="100"/>
          <a:sy n="257" d="100"/>
        </p:scale>
        <p:origin x="3616"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1688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[0:00 · 30 sec]  Post-lunch slot, so be brisk and get to the map on slide 6 quickly.</a:t>
            </a:r>
          </a:p>
          <a:p>
            <a:r>
              <a:rPr sz="1200"/>
              <a:t>Say: "This morning you learned to fly the agent. Before lunch you made it behave the same way twice. Neither of those made the code trustworthy. That is the next hour and a half."</a:t>
            </a:r>
          </a:p>
          <a:p>
            <a:r>
              <a:rPr sz="1200"/>
              <a:t>Land this too: it is the most technical section of the day, and nobody needs to be senior to follow it.</a:t>
            </a:r>
          </a:p>
          <a:p>
            <a:r>
              <a:rPr sz="1200"/>
              <a:t>Do not define agentic engineering here. That is slide 4. Resist the urge to start explaining sub-agents; you have four slides of runway.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[0:30 · 1 min]  Orient, then move. Point at the amber row.</a:t>
            </a:r>
          </a:p>
          <a:p>
            <a:r>
              <a:rPr sz="1200"/>
              <a:t>Say: "Rung one, you stopped writing code by hand. Rung two, you stopped repeating yourself. Rung three is the awkward one. You stop trusting what you see."</a:t>
            </a:r>
          </a:p>
          <a:p>
            <a:r>
              <a:rPr sz="1200"/>
              <a:t>Every rung removed a crutch. This time the crutch is your own eyeballs.</a:t>
            </a:r>
          </a:p>
          <a:p>
            <a:r>
              <a:rPr sz="1200"/>
              <a:t>If people reset into the reference to get here, say plainly that they are on exactly the same rung as everyone else.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[1:30 · 1 min]  This slide exists to create the itch the rest of the section scratches. Do not resolve it yet.</a:t>
            </a:r>
          </a:p>
          <a:p>
            <a:r>
              <a:rPr sz="1200"/>
              <a:t>The distinction: fast and consistent are properties of your process. Trustworthy is a property of the artefact. You can have the first two and still ship a streak calculation that quietly breaks on the first of the month.</a:t>
            </a:r>
          </a:p>
          <a:p>
            <a:r>
              <a:rPr sz="1200"/>
              <a:t>Ask the room, and do not wait long: "Who has actually read every line the agent wrote today?" Expect no hands. That is the point, and it is not a moral failing.</a:t>
            </a:r>
          </a:p>
          <a:p>
            <a:r>
              <a:rPr sz="1200"/>
              <a:t>Make it concrete with their own repo: the weekly summary and the encouragement nudge both went in this morning without a single test. Neither has ever been run against a case anybody chose deliberately.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[2:30 · 1.5 min]  Read the top line once, slowly, then work the FROM and the TO.</a:t>
            </a:r>
          </a:p>
          <a:p>
            <a:r>
              <a:rPr sz="1200"/>
              <a:t>The distinction that matters: vibe engineering configures the agent. Agentic engineering engineers the system around it. The agent is the one component you do not control; everything else is yours to design.</a:t>
            </a:r>
          </a:p>
          <a:p>
            <a:r>
              <a:rPr sz="1200"/>
              <a:t>"Did the agent write good code?" is unanswerable at speed. "What would prove this is right?" is a design question, and design questions are what experienced engineers are already good at.</a:t>
            </a:r>
          </a:p>
          <a:p>
            <a:r>
              <a:rPr sz="1200"/>
              <a:t>For anyone rusty, say this explicitly: this is the most transferable material of the day. Test design, contracts and CI did not change while you were away. Only who types the code changed.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[4:00 · 2 min]  This slide earns the rest of the section, so spend the time.</a:t>
            </a:r>
          </a:p>
          <a:p>
            <a:r>
              <a:rPr sz="1200"/>
              <a:t>The arithmetic: an agent produces several hundred lines in a couple of minutes. Careful review runs at roughly a hundred lines an hour. That ratio is why review is the bottleneck and not the safety net.</a:t>
            </a:r>
          </a:p>
          <a:p>
            <a:r>
              <a:rPr sz="1200"/>
              <a:t>The second bullet is the honest one. Attention decays. By the third diff you are pattern matching, not reading. Everyone here knew this about code review before they left.</a:t>
            </a:r>
          </a:p>
          <a:p>
            <a:r>
              <a:rPr sz="1200"/>
              <a:t>The third deserves a beat: models fail confidently. There is no hedge in the output, no "I'm unsure about this bit". A wrong streak calculation reads exactly as calm as a right one. That is the failure mode your eyes are worst at.</a:t>
            </a:r>
          </a:p>
          <a:p>
            <a:r>
              <a:rPr sz="1200"/>
              <a:t>Right column: each item is one of the four moves. Point forward, do not explain yet.</a:t>
            </a:r>
          </a:p>
          <a:p>
            <a:r>
              <a:rPr sz="1200"/>
              <a:t>Close on the reframe, and it is a promotion: you stop being the line reviewer and become the person who designs how correctness gets proved.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[6:00 · 1 min]  Map slide. Do not teach.</a:t>
            </a:r>
          </a:p>
          <a:p>
            <a:r>
              <a:rPr sz="1200"/>
              <a:t>Read the four titles, promise that everything from here is one of them, move on.</a:t>
            </a:r>
          </a:p>
          <a:p>
            <a:r>
              <a:rPr sz="1200"/>
              <a:t>Say: "Four moves. That is the whole section. If you lose the thread at any point, ask which of these four we are on."</a:t>
            </a:r>
          </a:p>
          <a:p>
            <a:r>
              <a:rPr sz="1200"/>
              <a:t>This slide is mostly for the less senior half of the room: it turns an intimidating topic into a list of four things. Say that out loud, because it gives people permission to stop worrying about the parts they have not heard yet.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[7:00 · 2.5 min]  The most important technical slide in the section. If only one thing lands, make it this.</a:t>
            </a:r>
          </a:p>
          <a:p>
            <a:r>
              <a:rPr sz="1200"/>
              <a:t>Walk the three lines and name the failure class each one catches. Lint finds style and dead code. Types find wrong shapes, a None where a date belongs. Tests find wrong behaviour. Three different classes, one command.</a:t>
            </a:r>
          </a:p>
          <a:p>
            <a:r>
              <a:rPr sz="1200"/>
              <a:t>The bit people miss, so say it directly: the harness is not for you, it is for the agent. It can run make check, read the failure, and fix itself without asking you. A harness the agent cannot run is just documentation.</a:t>
            </a:r>
          </a:p>
          <a:p>
            <a:r>
              <a:rPr sz="1200"/>
              <a:t>Technical point worth making: the failure output has to be specific. "FAILED test_missed_day_resets_streak" gives it something to act on. A bare exit code 1 gives it nothing and it starts guessing.</a:t>
            </a:r>
          </a:p>
          <a:p>
            <a:r>
              <a:rPr sz="1200"/>
              <a:t>Flag the lab: their app has no linter and no type checker yet, so Block A adds ruff, mypy and the make check target before it writes a single test.</a:t>
            </a:r>
          </a:p>
          <a:p>
            <a:r>
              <a:rPr sz="1200"/>
              <a:t>The amber line is the takeaway: self-verification at the end of every turn is the cheapest reliability you will ever buy.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[9:30 · 2 min]  Key message: with agents, the test suite is where your intent lives. Prompts are transient; tests persist.</a:t>
            </a:r>
          </a:p>
          <a:p>
            <a:r>
              <a:rPr sz="1200"/>
              <a:t>Read the prompt, then highlight the last clause: show me one failing, then make it pass. That is not ceremony. A test that has never failed may be asserting nothing, and an agent writing both the test and the code has an obvious incentive to write an easy one.</a:t>
            </a:r>
          </a:p>
          <a:p>
            <a:r>
              <a:rPr sz="1200"/>
              <a:t>Walk the three cards. Missed scheduled day: this is the product promise, and if it breaks the app is lying to the user about their streak. Double-tick: idempotency, and everyone has double-tapped a button on a phone. Midnight: whose "today" is it?</a:t>
            </a:r>
          </a:p>
          <a:p>
            <a:r>
              <a:rPr sz="1200"/>
              <a:t>Then the honest bit, and this is new in v2. Nothing in this app knows what timezone anyone is in. It never did. The third lab prompt asks the agent to prove that and record it as an xfail test rather than quietly fix it.</a:t>
            </a:r>
          </a:p>
          <a:p>
            <a:r>
              <a:rPr sz="1200"/>
              <a:t>Say it plainly, because it is the sharpest evidence for your own argument: there was a test named for the timezone boundary that actually asserted something else. It passed every single time. It proved nothing. That is the confident-looking proof this whole section is warning you about, and it was in the reference repo.</a:t>
            </a:r>
          </a:p>
          <a:p>
            <a:r>
              <a:rPr sz="1200"/>
              <a:t>Ninety seconds. Do not let it become a bug-fixing detour.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[11:30 · 2.5 min]  Define the term before anything else: a sub-agent is a separate agent with its own context window, its own instructions and its own tool permissions. Not a prompt. A configured worker.</a:t>
            </a:r>
          </a:p>
          <a:p>
            <a:r>
              <a:rPr sz="1200"/>
              <a:t>Walk the three roles, but the important detail is the TOOLS line on each card, not the description.</a:t>
            </a:r>
          </a:p>
          <a:p>
            <a:r>
              <a:rPr sz="1200"/>
              <a:t>Test-writer: writes tests, never implements. That constraint stops it helpfully making a test pass by editing the code instead.</a:t>
            </a:r>
          </a:p>
          <a:p>
            <a:r>
              <a:rPr sz="1200"/>
              <a:t>Reviewer: read-only. No write, no edit. This is the one that matters, and the next slide explains why.</a:t>
            </a:r>
          </a:p>
          <a:p>
            <a:r>
              <a:rPr sz="1200"/>
              <a:t>Verifier: can run the shell. Reports green, or explains precisely why not.</a:t>
            </a:r>
          </a:p>
          <a:p>
            <a:r>
              <a:rPr sz="1200"/>
              <a:t>The real technical benefit is fresh context. The reviewer is not carrying forty thousand tokens of the implementer's reasoning, so it is not primed to agree with it.</a:t>
            </a:r>
          </a:p>
          <a:p>
            <a:r>
              <a:rPr sz="1200"/>
              <a:t>The card shows where they live: markdown with frontmatter in .claude/agents/, TOML with an explicit sandbox_mode in .codex/agents/. Same three roles, different plumbing. Do not dictate file contents; they generate these in Block B.</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[14:00 · 2 min]  The counter-intuitive one. Keep it concrete.</a:t>
            </a:r>
          </a:p>
          <a:p>
            <a:r>
              <a:rPr sz="1200"/>
              <a:t>Left: an agent reviewing its own work is not lying to you, it is sincerely convinced. Its context is full of the reasoning that produced the code, so asked to review, it re-derives the same conclusions from the same premises. The same blind spot, twice.</a:t>
            </a:r>
          </a:p>
          <a:p>
            <a:r>
              <a:rPr sz="1200"/>
              <a:t>Right: a fresh reviewer has none of that history. It sees a diff and nothing else, which makes it the colleague who was not in the design meeting, and that is precisely who catches the thing everyone else assumed.</a:t>
            </a:r>
          </a:p>
          <a:p>
            <a:r>
              <a:rPr sz="1200"/>
              <a:t>The write-access point is the sharpest idea on the slide. If the reviewer can edit files, it will sometimes fix a problem instead of reporting it. You wanted a list of defects and you got a silent patch. You lost the only thing you asked for.</a:t>
            </a:r>
          </a:p>
          <a:p>
            <a:r>
              <a:rPr sz="1200"/>
              <a:t>An analogy that works without being twee: you do not ask the author to copy-edit their own chapter. Not because they are careless, but because they read what they meant to write.</a:t>
            </a:r>
          </a:p>
          <a:p>
            <a:r>
              <a:rPr sz="1200"/>
              <a:t>Say: "Instinct says give the agent every tool available. The instinct is wrong. Permissions are a design decision."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sz="1200"/>
              <a:t>REFERENCE SLIDE. Skip from the front, keep it for the questions.</a:t>
            </a:r>
          </a:p>
          <a:p>
            <a:r>
              <a:rPr sz="1200"/>
              <a:t>It answers the thing the room is holding after the last slide: if the reviewer never saw the reasoning, how does it know anything at all?</a:t>
            </a:r>
          </a:p>
          <a:p>
            <a:r>
              <a:rPr sz="1200"/>
              <a:t>The one sentence, if you do use it: a sub-agent is not a participant in your conversation, it is a function call. You pass arguments in, you get a return value out.</a:t>
            </a:r>
          </a:p>
          <a:p>
            <a:r>
              <a:rPr sz="1200"/>
              <a:t>You brief it, and only the prompt crosses over. It works alone, in its own context, with its own permissions, which is where the read-only constraint is actually enforced. It hands back one summary, not its forty tool calls.</a:t>
            </a:r>
          </a:p>
          <a:p>
            <a:r>
              <a:rPr sz="1200"/>
              <a:t>The practical failure mode is under-briefing. "Reviewer, thoughts?" gives it no definition of done, so it invents one. "Here is the diff, return a numbered list with file:line and severity" works. Nothing more mystical than a good Jira ticket.</a:t>
            </a:r>
          </a:p>
          <a:p>
            <a:r>
              <a:rPr sz="1200"/>
              <a:t>On the way past, one sentence is enough: "sub-agents don't inherit your context, so whatever they need has to be in the brief." That costs fifteen seconds and preserves the idea.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[16:00 · 2.5 min]  The centrepiece. Walk left to right once, then land the dark band.</a:t>
            </a:r>
          </a:p>
          <a:p>
            <a:r>
              <a:rPr sz="1200"/>
              <a:t>Test-writer produces failing tests, implementer codes until green, reviewer critiques the diff, verifier runs make check and the app. Ordinary TDD, except they are none of the four roles.</a:t>
            </a:r>
          </a:p>
          <a:p>
            <a:r>
              <a:rPr sz="1200"/>
              <a:t>Their job is the two verbs on the band. Orchestrate: pick the work and the order. Arbitrate: when the reviewer and the implementer disagree, decide who is right. Both are lead-level work and neither involves typing implementation.</a:t>
            </a:r>
          </a:p>
          <a:p>
            <a:r>
              <a:rPr sz="1200"/>
              <a:t>Handoffs are where this breaks. Each role needs a defined input and output.</a:t>
            </a:r>
          </a:p>
          <a:p>
            <a:r>
              <a:rPr sz="1200"/>
              <a:t>The last line is aimed at the seniors: when a team stalls, the instinct is to write a cleverer prompt. Nine times out of ten the real problem is that "done" was never defined. Fix the definition, not the wording.</a:t>
            </a:r>
          </a:p>
          <a:p>
            <a:r>
              <a:rPr sz="1200"/>
              <a:t>Set expectations for the lab: the first run through feels slow. It is still faster than doing it yourself, and it is much faster the second time.</a:t>
            </a:r>
          </a:p>
          <a:p>
            <a:r>
              <a:rPr sz="1200"/>
              <a:t>If someone asks how several agents share one repo, that is worktrees, from before lunch: git worktree add ../feature -b feature, one folder per agent, one git history. Answer it in two sentences and move 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[18:30 · 1.5 min]  The why-slide for the hooks block. Resist naming events yet; that is next.</a:t>
            </a:r>
          </a:p>
          <a:p>
            <a:r>
              <a:rPr sz="1200"/>
              <a:t>Define it plainly: a hook is a script the tool runs automatically at a defined moment in its lifecycle. It is configuration, not conversation. The agent does not get a vote.</a:t>
            </a:r>
          </a:p>
          <a:p>
            <a:r>
              <a:rPr sz="1200"/>
              <a:t>The two cards are the comparison that lands. AGENTS.md is read at the start of a session and followed while the agent is paying attention. It is genuinely useful. It is also the first thing to slip when the window fills, when someone opens a fresh session, or when the task gets interesting. A hook does not have moods.</a:t>
            </a:r>
          </a:p>
          <a:p>
            <a:r>
              <a:rPr sz="1200"/>
              <a:t>Say the amber line, then let it sit for a beat: "A contract is a promise. A hook is a fact."</a:t>
            </a:r>
          </a:p>
          <a:p>
            <a:r>
              <a:rPr sz="1200"/>
              <a:t>Do not oversell. Hooks do not replace the contract: the contract explains intent, which a hook cannot do. You want both, doing different jobs.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[20:00 · 1.5 min]  Give people a filing system before any event names land on them.</a:t>
            </a:r>
          </a:p>
          <a:p>
            <a:r>
              <a:rPr sz="1200"/>
              <a:t>Three cadences. Once per session. Once per turn. On every tool call. Almost everything worth automating hangs off one of those three rhythms.</a:t>
            </a:r>
          </a:p>
          <a:p>
            <a:r>
              <a:rPr sz="1200"/>
              <a:t>Teach the selection rule, because it is the actual skill: pick the cadence first, then the event. If you want something to happen every time the agent touches a file, that is a tool-call event, not a turn event.</a:t>
            </a:r>
          </a:p>
          <a:p>
            <a:r>
              <a:rPr sz="1200"/>
              <a:t>Name the classic beginner error: wiring a formatter to Stop instead of PostToolUse. It runs once at the end of the turn rather than after each write, and then people conclude hooks are unreliable when in fact it did exactly what they asked.</a:t>
            </a:r>
          </a:p>
          <a:p>
            <a:r>
              <a:rPr sz="1200"/>
              <a:t>The counts calibrate expectations, so say them: thirty events in Claude Code, eleven in Codex, and you will use about six. The long tail is real, but it is platform work, not today's work.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[21:30 · 2 min]  Walk the table briskly. The detail is on the slide and they keep the deck; your job is the shape, not the recital.</a:t>
            </a:r>
          </a:p>
          <a:p>
            <a:r>
              <a:rPr sz="1200"/>
              <a:t>The column that matters is BLOCKS?. Some events describe something about to happen, so a hook can stop it. Others describe something that already happened, so the hook can only react or log. PostToolUse cannot un-run the tool.</a:t>
            </a:r>
          </a:p>
          <a:p>
            <a:r>
              <a:rPr sz="1200"/>
              <a:t>The three blockers to actually remember: PreToolUse stops a tool call, Stop refuses to let the turn end, UserPromptSubmit can reject your own prompt before the model ever sees it.</a:t>
            </a:r>
          </a:p>
          <a:p>
            <a:r>
              <a:rPr sz="1200"/>
              <a:t>That last one is worth a sentence for the security-minded: it fires before the model reads the text, which is how you stop a pasted secret or a customer record reaching the API at all.</a:t>
            </a:r>
          </a:p>
          <a:p>
            <a:r>
              <a:rPr sz="1200"/>
              <a:t>SubagentStop matters because of what you built in Move 2: it is how you check a sub-agent actually did its job instead of just declaring victory.</a:t>
            </a:r>
          </a:p>
          <a:p>
            <a:r>
              <a:rPr sz="1200"/>
              <a:t>Say plainly: all six exist in both tools. Nothing here is tool-specific, which matters because the room is split.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[23:30 · 2 min]  Concrete slide. All four are useful on the app they already have, which is the point.</a:t>
            </a:r>
          </a:p>
          <a:p>
            <a:r>
              <a:rPr sz="1200"/>
              <a:t>The Verifier, on Stop. The harness from Move 1, now enforced rather than hoped for. The agent says done; the hook says prove it.</a:t>
            </a:r>
          </a:p>
          <a:p>
            <a:r>
              <a:rPr sz="1200"/>
              <a:t>The Guardrail, on PreToolUse. The contract rule from Section 2, made physical. No edit to the streak logic unless a test changes in the same turn.</a:t>
            </a:r>
          </a:p>
          <a:p>
            <a:r>
              <a:rPr sz="1200"/>
              <a:t>The Tidier, on PostToolUse. Run the formatter over whatever file was just written. Small, but style never reaches a review conversation again.</a:t>
            </a:r>
          </a:p>
          <a:p>
            <a:r>
              <a:rPr sz="1200"/>
              <a:t>The Briefer, on SessionStart. Echo the branch and any failing tests into context so the agent starts oriented instead of asking.</a:t>
            </a:r>
          </a:p>
          <a:p>
            <a:r>
              <a:rPr sz="1200"/>
              <a:t>Blocks A and D cover the first two. Point out that the other two are quick wins for anyone who finishes early, and are probably the two most likely to survive into their real job on Monday.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[25:30 · 1 min]  This slide saves somebody forty minutes in the lab. Deliver it as the punchline it is.</a:t>
            </a:r>
          </a:p>
          <a:p>
            <a:r>
              <a:rPr sz="1200"/>
              <a:t>Exit 0: fine, carry on. Exit 2: block, and stderr goes back to the agent as the reason. That second half matters more than people expect, so make the message instructive. "Blocked: add a test under backend/tests/ before editing the streak logic" tells it what to do next. A bare "Blocked" starts a guessing game.</a:t>
            </a:r>
          </a:p>
          <a:p>
            <a:r>
              <a:rPr sz="1200"/>
              <a:t>Then the trap. Exit 1 does not block. Unix convention says 1 means failure, so this is exactly the mistake a competent engineer makes on the first try. The hook runs, reports an error, and the action proceeds anyway. Your guardrail is decoration and you will not notice.</a:t>
            </a:r>
          </a:p>
          <a:p>
            <a:r>
              <a:rPr sz="1200"/>
              <a:t>Say it directly: "If your hook is meant to enforce a policy, exit 2. Not 1."</a:t>
            </a:r>
          </a:p>
          <a:p>
            <a:r>
              <a:rPr sz="1200"/>
              <a:t>Wiring is on the card. Claude Code has a /hooks menu, so nobody needs to hand-edit JSON. In Codex, hooks are on by default and configured in .codex/hooks.json or a [hooks] table in config.toml. Block D includes a prompt that deliberately trips the guardrail, so they watch this happen rather than take your word for 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REFERENCE SLIDE. Do not teach it, and saying so out loud is the entire point.</a:t>
            </a:r>
          </a:p>
          <a:p>
            <a:r>
              <a:rPr sz="1200"/>
              <a:t>If you show it at all: "Thirty events on the left, eleven on the right. You need six. This page exists so you know where the ceiling is, not so you learn it."</a:t>
            </a:r>
          </a:p>
          <a:p>
            <a:r>
              <a:rPr sz="1200"/>
              <a:t>If someone asks, the useful observations are: tool events are where guardrails live; the environment events are how people wire agents into real development setups; and the compaction events are how you preserve state when a long session gets summarised out from under you.</a:t>
            </a:r>
          </a:p>
          <a:p>
            <a:r>
              <a:rPr sz="1200"/>
              <a:t>Both doc URLs are on the slide. Tell them these pages move, and to check the docs rather than trusting a deck from a workshop. That is not modesty, it is the correct instruction: two things on this deck were wrong within a month of it being written.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[26:30 · 2 min]  You have just come off a reference page, so say the bridge out loud first: "That was move four. One loose end from move one: there are things your harness cannot check."</a:t>
            </a:r>
          </a:p>
          <a:p>
            <a:r>
              <a:rPr sz="1200"/>
              <a:t>Then the concrete example, because the abstraction is useless without it: the weekly summary is a paragraph of prose. There is no assertEqual for "reads like a human wrote it". Tests genuinely cannot help you, and that is not a gap in your discipline.</a:t>
            </a:r>
          </a:p>
          <a:p>
            <a:r>
              <a:rPr sz="1200"/>
              <a:t>Use the strip: a test asks "is this correct" and answers pass or fail. An eval asks "is this good enough" and answers with a number. Do not let it get more complicated than that.</a:t>
            </a:r>
          </a:p>
          <a:p>
            <a:r>
              <a:rPr sz="1200"/>
              <a:t>Then the three steps. A rubric of about five cases. A sub-agent scores each output against it, which is the same narrow read-only agent from Move 2 doing a different job. CI gates on the result, which is Move 4. Point that out: evals are not a fifth move, they are the first four aimed at fuzzy output.</a:t>
            </a:r>
          </a:p>
          <a:p>
            <a:r>
              <a:rPr sz="1200"/>
              <a:t>The detail that makes evals survive contact with reality: gate on the score dropping, not on an absolute bar. Nobody agrees on what perfect looks like; everybody agrees today should not be worse than yesterday.</a:t>
            </a:r>
          </a:p>
          <a:p>
            <a:r>
              <a:rPr sz="1200"/>
              <a:t>State the caveat honestly, because the seniors are already thinking it: a model grading a model is imperfect and slightly circular. It is still better than a vibe check, and it runs every time instead of when somebody remembers.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[28:30 · 1.5 min]  Friendliest slide in the section, so deliver it that way. The last three told people their instincts were wrong; this one hands them three things that make Monday easier.</a:t>
            </a:r>
          </a:p>
          <a:p>
            <a:r>
              <a:rPr sz="1200"/>
              <a:t>Open honestly: "Everything we built today is on your laptop, and your laptop is a single point of failure. These three make it other people's problem too, in the good sense."</a:t>
            </a:r>
          </a:p>
          <a:p>
            <a:r>
              <a:rPr sz="1200"/>
              <a:t>Read the purple "so that" line on each card, not the description.</a:t>
            </a:r>
          </a:p>
          <a:p>
            <a:r>
              <a:rPr sz="1200"/>
              <a:t>CI: the harness you wrote this afternoon now protects a teammate who has never heard of this workshop. That is generosity, not policing.</a:t>
            </a:r>
          </a:p>
          <a:p>
            <a:r>
              <a:rPr sz="1200"/>
              <a:t>Headless: the agent as a command rather than a conversation. Wrap it in a verification gate so a failure stops the line instead of getting merged. Use cases if asked: nightly dependency bumps, changelog generation, mechanical refactors across many files.</a:t>
            </a:r>
          </a:p>
          <a:p>
            <a:r>
              <a:rPr sz="1200"/>
              <a:t>Security pass: correctness, leaked secrets and licensing, over the diff, before merge. In Claude Code that is /security-review, with /code-review for the local diff itself. Codex has no dedicated command, so use /review and name security, secrets and licensing explicitly. Say the licensing part out loud; it is the one people forget and the one that creates real problems.</a:t>
            </a:r>
          </a:p>
          <a:p>
            <a:r>
              <a:rPr sz="1200"/>
              <a:t>Close warmly: automate the generation, automate the verification, keep the sign-off human. Not because a tool could not do it, but because accountability does not delegate. "That last part is the job. It is still yours, and that is a good thing."</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[30:00 · 1.5 min]  Slow down. This is the sentence you want people repeating to themselves in the lab.</a:t>
            </a:r>
          </a:p>
          <a:p>
            <a:r>
              <a:rPr sz="1200"/>
              <a:t>Say it, then pause: "Don't read harder. Build the proof."</a:t>
            </a:r>
          </a:p>
          <a:p>
            <a:r>
              <a:rPr sz="1200"/>
              <a:t>Give them the trigger to watch for: the moment they catch themselves scrolling a diff hunting for the bug. That instinct is not wrong, it is just the expensive option. Convert it into a question. What test, what sub-agent, or what gate would have caught this without me?</a:t>
            </a:r>
          </a:p>
          <a:p>
            <a:r>
              <a:rPr sz="1200"/>
              <a:t>Read both audience lines aloud; they are doing real work.</a:t>
            </a:r>
          </a:p>
          <a:p>
            <a:r>
              <a:rPr sz="1200"/>
              <a:t>Rusty: never having trusted the output by eye is an advantage today, not a gap.</a:t>
            </a:r>
          </a:p>
          <a:p>
            <a:r>
              <a:rPr sz="1200"/>
              <a:t>Confident: your reading genuinely is good. It is also now the slowest step in your workflow, which is uncomfortable. Be honest that this section asks more of the seniors than of anybody else.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[31:30 · 45 sec]  Logistics, quick. Four blocks, sixty minutes, times on the right.</a:t>
            </a:r>
          </a:p>
          <a:p>
            <a:r>
              <a:rPr sz="1200"/>
              <a:t>A, the harness: add ruff, mypy and one make check, then the streak tests, then ninety seconds on the timezone trap. See one test fail before it passes.</a:t>
            </a:r>
          </a:p>
          <a:p>
            <a:r>
              <a:rPr sz="1200"/>
              <a:t>B, the sub-agents: the test-writer, the read-only reviewer, and the verifier.</a:t>
            </a:r>
          </a:p>
          <a:p>
            <a:r>
              <a:rPr sz="1200"/>
              <a:t>C, the team: ship the monthly progress ring end to end. They arbitrate, they do not type.</a:t>
            </a:r>
          </a:p>
          <a:p>
            <a:r>
              <a:rPr sz="1200"/>
              <a:t>D, lock it in: two hooks, then prove the guardrail blocks, then CI, then a security pass, then commit and tag.</a:t>
            </a:r>
          </a:p>
          <a:p>
            <a:r>
              <a:rPr sz="1200"/>
              <a:t>TIMING, decided in advance so nobody is doing arithmetic at 15:40: slides 11 and 18 are reference pages and stay out of the front, which brings the teach in on budget. If you are still over when the lab starts, take Block C down to fifteen minutes and lose the second team iteration. Do not shorten Block A.</a:t>
            </a:r>
          </a:p>
          <a:p>
            <a:r>
              <a:rPr sz="1200"/>
              <a:t>Two things to say plainly: facilitators will not help for the first three minutes of any block, and the net is there if you need it.</a:t>
            </a:r>
          </a:p>
          <a:p>
            <a:r>
              <a:rPr sz="1200"/>
              <a:t>Stretch for anyone flying: a five-case eval graded by a sub-agent, a docs-writer sub-agent, or run the team across a Claude branch and a Codex branch and reconcile.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[32:15 · 30 sec]  Read them, do not explain them. Each one has a slide behind it and they are a reference card for the lab.</a:t>
            </a:r>
          </a:p>
          <a:p>
            <a:r>
              <a:rPr sz="1200"/>
              <a:t>Harness first. Fail it once. Narrow the agents. Orchestrate, don't type. Enforce it in the tool.</a:t>
            </a:r>
          </a:p>
          <a:p>
            <a:r>
              <a:rPr sz="1200"/>
              <a:t>Rule 5 is carrying the whole hooks section, so if you only gesture at one, make it that.</a:t>
            </a:r>
          </a:p>
          <a:p>
            <a:r>
              <a:rPr sz="1200"/>
              <a:t>If you are over time, take this slide at pace. Rules 1 and 4 are the two that actually change behaviour.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sz="1200"/>
              <a:t>[32:45 · 1.5 min · compress to 30 sec if you are over: read the three headings and the amber line]</a:t>
            </a:r>
          </a:p>
          <a:p>
            <a:r>
              <a:rPr sz="1200"/>
              <a:t>This is the slide that decides whether the day changes anything. Say that without apology: "Nothing you did today was real. Here is how it becomes real."</a:t>
            </a:r>
          </a:p>
          <a:p>
            <a:r>
              <a:rPr sz="1200"/>
              <a:t>Row 1, tomorrow, and the word tomorrow is deliberate. One repo, one command, three checks. The constraint that matters is "nothing clever": the failure mode is designing the perfect harness for six weeks and shipping nothing. And they must watch it fail once, or they have written decoration.</a:t>
            </a:r>
          </a:p>
          <a:p>
            <a:r>
              <a:rPr sz="1200"/>
              <a:t>Row 2, this week. Exactly one sub-agent and exactly one hook. The reviewer, because it has the clearest payoff. Pick the hook by asking "what does my team keep getting wrong in review?" That question turns an abstract feature into an obvious script.</a:t>
            </a:r>
          </a:p>
          <a:p>
            <a:r>
              <a:rPr sz="1200"/>
              <a:t>Row 3, this month. Now it stops being a personal habit: harness into CI, an eval for anything fuzzy, and one other person walked through it. Teaching one teammate is the step that makes it survive you going on leave, which for this room is not a hypothetical.</a:t>
            </a:r>
          </a:p>
          <a:p>
            <a:r>
              <a:rPr sz="1200"/>
              <a:t>The amber line answers "which repo?" Not the greenfield side project, and not the terrifying monolith. The one where reviewing the diff already makes you uneasy. That discomfort is a measurement.</a:t>
            </a:r>
          </a:p>
          <a:p>
            <a:r>
              <a:rPr sz="1200"/>
              <a:t>Everything on this slide is on the last page of the handout, so nobody needs to photograph it.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[34:15 · 15 sec]  One line, then into the lab.</a:t>
            </a:r>
          </a:p>
          <a:p>
            <a:r>
              <a:rPr sz="1200"/>
              <a:t>Say: "This morning you ran the loop. Before lunch you made it repeatable. Now you build the system that produces the work and proves it."</a:t>
            </a:r>
          </a:p>
          <a:p>
            <a:r>
              <a:rPr sz="1200"/>
              <a:t>The part worth believing: the difference between this and a production service is the size of the harness, not its nature.</a:t>
            </a:r>
          </a:p>
          <a:p>
            <a:r>
              <a:rPr sz="1200"/>
              <a:t>Then stop talking and start the timer on Block 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1155"/>
        </a:solidFill>
        <a:effectLst/>
      </p:bgPr>
    </p:bg>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2.png"/>
          <p:cNvPicPr>
            <a:picLocks noChangeAspect="1"/>
          </p:cNvPicPr>
          <p:nvPr/>
        </p:nvPicPr>
        <p:blipFill>
          <a:blip r:embed="rId3"/>
          <a:stretch>
            <a:fillRect/>
          </a:stretch>
        </p:blipFill>
        <p:spPr>
          <a:xfrm>
            <a:off x="457200" y="384048"/>
            <a:ext cx="2148840" cy="484632"/>
          </a:xfrm>
          <a:prstGeom prst="rect">
            <a:avLst/>
          </a:prstGeom>
        </p:spPr>
      </p:pic>
      <p:sp>
        <p:nvSpPr>
          <p:cNvPr id="5" name="Rectangle 4"/>
          <p:cNvSpPr/>
          <p:nvPr/>
        </p:nvSpPr>
        <p:spPr>
          <a:xfrm>
            <a:off x="457200" y="1234440"/>
            <a:ext cx="82296"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1.jpeg"/>
          <p:cNvPicPr>
            <a:picLocks noChangeAspect="1"/>
          </p:cNvPicPr>
          <p:nvPr/>
        </p:nvPicPr>
        <p:blipFill>
          <a:blip r:embed="rId4"/>
          <a:stretch>
            <a:fillRect/>
          </a:stretch>
        </p:blipFill>
        <p:spPr>
          <a:xfrm>
            <a:off x="8366760" y="4526280"/>
            <a:ext cx="411480" cy="411480"/>
          </a:xfrm>
          <a:prstGeom prst="rect">
            <a:avLst/>
          </a:prstGeom>
        </p:spPr>
      </p:pic>
      <p:sp>
        <p:nvSpPr>
          <p:cNvPr id="7" name="TextBox 6"/>
          <p:cNvSpPr txBox="1"/>
          <p:nvPr/>
        </p:nvSpPr>
        <p:spPr>
          <a:xfrm>
            <a:off x="457200" y="4709160"/>
            <a:ext cx="5669280" cy="274320"/>
          </a:xfrm>
          <a:prstGeom prst="rect">
            <a:avLst/>
          </a:prstGeom>
          <a:noFill/>
        </p:spPr>
        <p:txBody>
          <a:bodyPr wrap="square" lIns="0" tIns="0" rIns="0" bIns="0" anchor="t">
            <a:spAutoFit/>
          </a:bodyPr>
          <a:lstStyle/>
          <a:p>
            <a:pPr algn="l"/>
            <a:r>
              <a:rPr sz="900" b="0">
                <a:solidFill>
                  <a:srgbClr val="C4B5E8"/>
                </a:solidFill>
                <a:latin typeface="Calibri"/>
              </a:rPr>
              <a:t>Tech Council of Australia  |  techcouncil.com.au</a:t>
            </a:r>
          </a:p>
        </p:txBody>
      </p:sp>
      <p:sp>
        <p:nvSpPr>
          <p:cNvPr id="8" name="TextBox 7"/>
          <p:cNvSpPr txBox="1"/>
          <p:nvPr/>
        </p:nvSpPr>
        <p:spPr>
          <a:xfrm>
            <a:off x="658368" y="1325880"/>
            <a:ext cx="5486400" cy="274320"/>
          </a:xfrm>
          <a:prstGeom prst="rect">
            <a:avLst/>
          </a:prstGeom>
          <a:noFill/>
        </p:spPr>
        <p:txBody>
          <a:bodyPr wrap="square" lIns="0" tIns="0" rIns="0" bIns="0" anchor="t">
            <a:spAutoFit/>
          </a:bodyPr>
          <a:lstStyle/>
          <a:p>
            <a:pPr algn="l"/>
            <a:r>
              <a:rPr sz="1200" b="1">
                <a:solidFill>
                  <a:srgbClr val="F59E0B"/>
                </a:solidFill>
                <a:latin typeface="Calibri"/>
              </a:rPr>
              <a:t>SECTION 03  ·  THE HARNESS</a:t>
            </a:r>
          </a:p>
        </p:txBody>
      </p:sp>
      <p:sp>
        <p:nvSpPr>
          <p:cNvPr id="9" name="TextBox 8"/>
          <p:cNvSpPr txBox="1"/>
          <p:nvPr/>
        </p:nvSpPr>
        <p:spPr>
          <a:xfrm>
            <a:off x="658368" y="1691640"/>
            <a:ext cx="5760720" cy="822960"/>
          </a:xfrm>
          <a:prstGeom prst="rect">
            <a:avLst/>
          </a:prstGeom>
          <a:noFill/>
        </p:spPr>
        <p:txBody>
          <a:bodyPr wrap="square" lIns="0" tIns="0" rIns="0" bIns="0" anchor="t">
            <a:spAutoFit/>
          </a:bodyPr>
          <a:lstStyle/>
          <a:p>
            <a:pPr algn="l"/>
            <a:r>
              <a:rPr sz="3100" b="1">
                <a:solidFill>
                  <a:srgbClr val="FFFFFF"/>
                </a:solidFill>
                <a:latin typeface="Arial Black"/>
              </a:rPr>
              <a:t>Agentic Engineering</a:t>
            </a:r>
          </a:p>
        </p:txBody>
      </p:sp>
      <p:sp>
        <p:nvSpPr>
          <p:cNvPr id="10" name="TextBox 9"/>
          <p:cNvSpPr txBox="1"/>
          <p:nvPr/>
        </p:nvSpPr>
        <p:spPr>
          <a:xfrm>
            <a:off x="676656" y="2697480"/>
            <a:ext cx="5486400" cy="731520"/>
          </a:xfrm>
          <a:prstGeom prst="rect">
            <a:avLst/>
          </a:prstGeom>
          <a:noFill/>
        </p:spPr>
        <p:txBody>
          <a:bodyPr wrap="square" lIns="0" tIns="0" rIns="0" bIns="0" anchor="t">
            <a:spAutoFit/>
          </a:bodyPr>
          <a:lstStyle/>
          <a:p>
            <a:pPr algn="l"/>
            <a:r>
              <a:rPr sz="1500" b="0">
                <a:solidFill>
                  <a:srgbClr val="DDD6FE"/>
                </a:solidFill>
                <a:latin typeface="Calibri"/>
              </a:rPr>
              <a:t>How to trust the work when you can’t read every line.</a:t>
            </a:r>
          </a:p>
        </p:txBody>
      </p:sp>
      <p:sp>
        <p:nvSpPr>
          <p:cNvPr id="11" name="Rectangle 10"/>
          <p:cNvSpPr/>
          <p:nvPr/>
        </p:nvSpPr>
        <p:spPr>
          <a:xfrm>
            <a:off x="676656" y="3566160"/>
            <a:ext cx="4846320"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 y="3566160"/>
            <a:ext cx="4846320" cy="384048"/>
          </a:xfrm>
          <a:prstGeom prst="rect">
            <a:avLst/>
          </a:prstGeom>
          <a:noFill/>
        </p:spPr>
        <p:txBody>
          <a:bodyPr wrap="square" lIns="0" tIns="0" rIns="0" bIns="0" anchor="ctr">
            <a:spAutoFit/>
          </a:bodyPr>
          <a:lstStyle/>
          <a:p>
            <a:pPr algn="ctr"/>
            <a:r>
              <a:rPr sz="900" b="1">
                <a:solidFill>
                  <a:srgbClr val="FFFFFF"/>
                </a:solidFill>
                <a:latin typeface="Calibri"/>
              </a:rPr>
              <a:t>30 MINUTES   ·   FOUR MOVES   ·   ONE TEAM OF AGENTS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pic>
        <p:nvPicPr>
          <p:cNvPr id="2" name="Picture 1" descr="image1.jpeg"/>
          <p:cNvPicPr>
            <a:picLocks noChangeAspect="1"/>
          </p:cNvPicPr>
          <p:nvPr/>
        </p:nvPicPr>
        <p:blipFill>
          <a:blip r:embed="rId3"/>
          <a:stretch>
            <a:fillRect/>
          </a:stretch>
        </p:blipFill>
        <p:spPr>
          <a:xfrm>
            <a:off x="8366760" y="4526280"/>
            <a:ext cx="411480" cy="411480"/>
          </a:xfrm>
          <a:prstGeom prst="rect">
            <a:avLst/>
          </a:prstGeom>
        </p:spPr>
      </p:pic>
      <p:sp>
        <p:nvSpPr>
          <p:cNvPr id="3" name="TextBox 2"/>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TOP OF THE LADDER</a:t>
            </a:r>
          </a:p>
        </p:txBody>
      </p:sp>
      <p:sp>
        <p:nvSpPr>
          <p:cNvPr id="4" name="TextBox 3"/>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Two crutches gone. This is the last one: trusting output by eye.</a:t>
            </a:r>
          </a:p>
        </p:txBody>
      </p:sp>
      <p:sp>
        <p:nvSpPr>
          <p:cNvPr id="5" name="Rectangle 4"/>
          <p:cNvSpPr/>
          <p:nvPr/>
        </p:nvSpPr>
        <p:spPr>
          <a:xfrm>
            <a:off x="457200" y="1481328"/>
            <a:ext cx="8229600" cy="93268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81328"/>
            <a:ext cx="914400" cy="932688"/>
          </a:xfrm>
          <a:prstGeom prst="rect">
            <a:avLst/>
          </a:prstGeom>
          <a:noFill/>
        </p:spPr>
        <p:txBody>
          <a:bodyPr wrap="square" lIns="0" tIns="0" rIns="0" bIns="0" anchor="ctr">
            <a:spAutoFit/>
          </a:bodyPr>
          <a:lstStyle/>
          <a:p>
            <a:pPr algn="ctr"/>
            <a:r>
              <a:rPr sz="3000" b="1">
                <a:solidFill>
                  <a:srgbClr val="DDD6FE"/>
                </a:solidFill>
                <a:latin typeface="Arial Black"/>
              </a:rPr>
              <a:t>01</a:t>
            </a:r>
          </a:p>
        </p:txBody>
      </p:sp>
      <p:sp>
        <p:nvSpPr>
          <p:cNvPr id="7" name="TextBox 6"/>
          <p:cNvSpPr txBox="1"/>
          <p:nvPr/>
        </p:nvSpPr>
        <p:spPr>
          <a:xfrm>
            <a:off x="1691640" y="1627632"/>
            <a:ext cx="5120640" cy="384048"/>
          </a:xfrm>
          <a:prstGeom prst="rect">
            <a:avLst/>
          </a:prstGeom>
          <a:noFill/>
        </p:spPr>
        <p:txBody>
          <a:bodyPr wrap="square" lIns="0" tIns="0" rIns="0" bIns="0" anchor="t">
            <a:spAutoFit/>
          </a:bodyPr>
          <a:lstStyle/>
          <a:p>
            <a:pPr algn="l"/>
            <a:r>
              <a:rPr sz="1500" b="1">
                <a:solidFill>
                  <a:srgbClr val="2D1155"/>
                </a:solidFill>
                <a:latin typeface="Arial Black"/>
              </a:rPr>
              <a:t>Vibe Coding</a:t>
            </a:r>
          </a:p>
        </p:txBody>
      </p:sp>
      <p:sp>
        <p:nvSpPr>
          <p:cNvPr id="8" name="TextBox 7"/>
          <p:cNvSpPr txBox="1"/>
          <p:nvPr/>
        </p:nvSpPr>
        <p:spPr>
          <a:xfrm>
            <a:off x="1691640" y="2011680"/>
            <a:ext cx="5303520" cy="347472"/>
          </a:xfrm>
          <a:prstGeom prst="rect">
            <a:avLst/>
          </a:prstGeom>
          <a:noFill/>
        </p:spPr>
        <p:txBody>
          <a:bodyPr wrap="square" lIns="0" tIns="0" rIns="0" bIns="0" anchor="t">
            <a:spAutoFit/>
          </a:bodyPr>
          <a:lstStyle/>
          <a:p>
            <a:pPr algn="l"/>
            <a:r>
              <a:rPr sz="1200" b="0">
                <a:solidFill>
                  <a:srgbClr val="6E6389"/>
                </a:solidFill>
                <a:latin typeface="Calibri"/>
              </a:rPr>
              <a:t>You stopped writing code by hand.</a:t>
            </a:r>
          </a:p>
        </p:txBody>
      </p:sp>
      <p:sp>
        <p:nvSpPr>
          <p:cNvPr id="9" name="TextBox 8"/>
          <p:cNvSpPr txBox="1"/>
          <p:nvPr/>
        </p:nvSpPr>
        <p:spPr>
          <a:xfrm>
            <a:off x="7086600" y="1792224"/>
            <a:ext cx="1417320" cy="310896"/>
          </a:xfrm>
          <a:prstGeom prst="rect">
            <a:avLst/>
          </a:prstGeom>
          <a:noFill/>
        </p:spPr>
        <p:txBody>
          <a:bodyPr wrap="square" lIns="0" tIns="0" rIns="0" bIns="0" anchor="ctr">
            <a:spAutoFit/>
          </a:bodyPr>
          <a:lstStyle/>
          <a:p>
            <a:pPr algn="ctr"/>
            <a:r>
              <a:rPr sz="900" b="1">
                <a:solidFill>
                  <a:srgbClr val="7C3AED"/>
                </a:solidFill>
                <a:latin typeface="Calibri"/>
              </a:rPr>
              <a:t>DONE</a:t>
            </a:r>
          </a:p>
        </p:txBody>
      </p:sp>
      <p:sp>
        <p:nvSpPr>
          <p:cNvPr id="10" name="Rectangle 9"/>
          <p:cNvSpPr/>
          <p:nvPr/>
        </p:nvSpPr>
        <p:spPr>
          <a:xfrm>
            <a:off x="457200" y="2523744"/>
            <a:ext cx="8229600" cy="93268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523744"/>
            <a:ext cx="914400" cy="932688"/>
          </a:xfrm>
          <a:prstGeom prst="rect">
            <a:avLst/>
          </a:prstGeom>
          <a:noFill/>
        </p:spPr>
        <p:txBody>
          <a:bodyPr wrap="square" lIns="0" tIns="0" rIns="0" bIns="0" anchor="ctr">
            <a:spAutoFit/>
          </a:bodyPr>
          <a:lstStyle/>
          <a:p>
            <a:pPr algn="ctr"/>
            <a:r>
              <a:rPr sz="3000" b="1">
                <a:solidFill>
                  <a:srgbClr val="DDD6FE"/>
                </a:solidFill>
                <a:latin typeface="Arial Black"/>
              </a:rPr>
              <a:t>02</a:t>
            </a:r>
          </a:p>
        </p:txBody>
      </p:sp>
      <p:sp>
        <p:nvSpPr>
          <p:cNvPr id="12" name="TextBox 11"/>
          <p:cNvSpPr txBox="1"/>
          <p:nvPr/>
        </p:nvSpPr>
        <p:spPr>
          <a:xfrm>
            <a:off x="1691640" y="2670048"/>
            <a:ext cx="5120640" cy="384048"/>
          </a:xfrm>
          <a:prstGeom prst="rect">
            <a:avLst/>
          </a:prstGeom>
          <a:noFill/>
        </p:spPr>
        <p:txBody>
          <a:bodyPr wrap="square" lIns="0" tIns="0" rIns="0" bIns="0" anchor="t">
            <a:spAutoFit/>
          </a:bodyPr>
          <a:lstStyle/>
          <a:p>
            <a:pPr algn="l"/>
            <a:r>
              <a:rPr sz="1500" b="1">
                <a:solidFill>
                  <a:srgbClr val="2D1155"/>
                </a:solidFill>
                <a:latin typeface="Arial Black"/>
              </a:rPr>
              <a:t>Vibe Engineering</a:t>
            </a:r>
          </a:p>
        </p:txBody>
      </p:sp>
      <p:sp>
        <p:nvSpPr>
          <p:cNvPr id="13" name="TextBox 12"/>
          <p:cNvSpPr txBox="1"/>
          <p:nvPr/>
        </p:nvSpPr>
        <p:spPr>
          <a:xfrm>
            <a:off x="1691640" y="3054096"/>
            <a:ext cx="5303520" cy="347472"/>
          </a:xfrm>
          <a:prstGeom prst="rect">
            <a:avLst/>
          </a:prstGeom>
          <a:noFill/>
        </p:spPr>
        <p:txBody>
          <a:bodyPr wrap="square" lIns="0" tIns="0" rIns="0" bIns="0" anchor="t">
            <a:spAutoFit/>
          </a:bodyPr>
          <a:lstStyle/>
          <a:p>
            <a:pPr algn="l"/>
            <a:r>
              <a:rPr sz="1200" b="0">
                <a:solidFill>
                  <a:srgbClr val="6E6389"/>
                </a:solidFill>
                <a:latin typeface="Calibri"/>
              </a:rPr>
              <a:t>You stopped repeating yourself.</a:t>
            </a:r>
          </a:p>
        </p:txBody>
      </p:sp>
      <p:sp>
        <p:nvSpPr>
          <p:cNvPr id="14" name="TextBox 13"/>
          <p:cNvSpPr txBox="1"/>
          <p:nvPr/>
        </p:nvSpPr>
        <p:spPr>
          <a:xfrm>
            <a:off x="7086600" y="2834639"/>
            <a:ext cx="1417320" cy="310896"/>
          </a:xfrm>
          <a:prstGeom prst="rect">
            <a:avLst/>
          </a:prstGeom>
          <a:noFill/>
        </p:spPr>
        <p:txBody>
          <a:bodyPr wrap="square" lIns="0" tIns="0" rIns="0" bIns="0" anchor="ctr">
            <a:spAutoFit/>
          </a:bodyPr>
          <a:lstStyle/>
          <a:p>
            <a:pPr algn="ctr"/>
            <a:r>
              <a:rPr sz="900" b="1">
                <a:solidFill>
                  <a:srgbClr val="7C3AED"/>
                </a:solidFill>
                <a:latin typeface="Calibri"/>
              </a:rPr>
              <a:t>DONE</a:t>
            </a:r>
          </a:p>
        </p:txBody>
      </p:sp>
      <p:sp>
        <p:nvSpPr>
          <p:cNvPr id="15" name="Rectangle 14"/>
          <p:cNvSpPr/>
          <p:nvPr/>
        </p:nvSpPr>
        <p:spPr>
          <a:xfrm>
            <a:off x="457200" y="3566159"/>
            <a:ext cx="8229600" cy="93268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566159"/>
            <a:ext cx="914400" cy="932688"/>
          </a:xfrm>
          <a:prstGeom prst="rect">
            <a:avLst/>
          </a:prstGeom>
          <a:noFill/>
        </p:spPr>
        <p:txBody>
          <a:bodyPr wrap="square" lIns="0" tIns="0" rIns="0" bIns="0" anchor="ctr">
            <a:spAutoFit/>
          </a:bodyPr>
          <a:lstStyle/>
          <a:p>
            <a:pPr algn="ctr"/>
            <a:r>
              <a:rPr sz="3000" b="1">
                <a:solidFill>
                  <a:srgbClr val="F59E0B"/>
                </a:solidFill>
                <a:latin typeface="Arial Black"/>
              </a:rPr>
              <a:t>03</a:t>
            </a:r>
          </a:p>
        </p:txBody>
      </p:sp>
      <p:sp>
        <p:nvSpPr>
          <p:cNvPr id="17" name="TextBox 16"/>
          <p:cNvSpPr txBox="1"/>
          <p:nvPr/>
        </p:nvSpPr>
        <p:spPr>
          <a:xfrm>
            <a:off x="1691640" y="3712463"/>
            <a:ext cx="5120640" cy="384048"/>
          </a:xfrm>
          <a:prstGeom prst="rect">
            <a:avLst/>
          </a:prstGeom>
          <a:noFill/>
        </p:spPr>
        <p:txBody>
          <a:bodyPr wrap="square" lIns="0" tIns="0" rIns="0" bIns="0" anchor="t">
            <a:spAutoFit/>
          </a:bodyPr>
          <a:lstStyle/>
          <a:p>
            <a:pPr algn="l"/>
            <a:r>
              <a:rPr sz="1500" b="1">
                <a:solidFill>
                  <a:srgbClr val="FFFFFF"/>
                </a:solidFill>
                <a:latin typeface="Arial Black"/>
              </a:rPr>
              <a:t>Agentic Engineering</a:t>
            </a:r>
          </a:p>
        </p:txBody>
      </p:sp>
      <p:sp>
        <p:nvSpPr>
          <p:cNvPr id="18" name="TextBox 17"/>
          <p:cNvSpPr txBox="1"/>
          <p:nvPr/>
        </p:nvSpPr>
        <p:spPr>
          <a:xfrm>
            <a:off x="1691640" y="4096511"/>
            <a:ext cx="5303520" cy="347472"/>
          </a:xfrm>
          <a:prstGeom prst="rect">
            <a:avLst/>
          </a:prstGeom>
          <a:noFill/>
        </p:spPr>
        <p:txBody>
          <a:bodyPr wrap="square" lIns="0" tIns="0" rIns="0" bIns="0" anchor="t">
            <a:spAutoFit/>
          </a:bodyPr>
          <a:lstStyle/>
          <a:p>
            <a:pPr algn="l"/>
            <a:r>
              <a:rPr sz="1200" b="0">
                <a:solidFill>
                  <a:srgbClr val="DDD6FE"/>
                </a:solidFill>
                <a:latin typeface="Calibri"/>
              </a:rPr>
              <a:t>You stop trusting output by eye.</a:t>
            </a:r>
          </a:p>
        </p:txBody>
      </p:sp>
      <p:sp>
        <p:nvSpPr>
          <p:cNvPr id="19" name="Rectangle 18"/>
          <p:cNvSpPr/>
          <p:nvPr/>
        </p:nvSpPr>
        <p:spPr>
          <a:xfrm>
            <a:off x="7086600" y="3877055"/>
            <a:ext cx="1417320"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86600" y="3877055"/>
            <a:ext cx="1417320" cy="310896"/>
          </a:xfrm>
          <a:prstGeom prst="rect">
            <a:avLst/>
          </a:prstGeom>
          <a:noFill/>
        </p:spPr>
        <p:txBody>
          <a:bodyPr wrap="square" lIns="0" tIns="0" rIns="0" bIns="0" anchor="ctr">
            <a:spAutoFit/>
          </a:bodyPr>
          <a:lstStyle/>
          <a:p>
            <a:pPr algn="ctr"/>
            <a:r>
              <a:rPr sz="900" b="1">
                <a:solidFill>
                  <a:srgbClr val="2D1155"/>
                </a:solidFill>
                <a:latin typeface="Calibri"/>
              </a:rPr>
              <a:t>YOU ARE HERE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WHERE WE GOT TO</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Two things are fixed. One is still wide open.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54480"/>
            <a:ext cx="4023360" cy="157276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755648"/>
            <a:ext cx="3566160" cy="274320"/>
          </a:xfrm>
          <a:prstGeom prst="rect">
            <a:avLst/>
          </a:prstGeom>
          <a:noFill/>
        </p:spPr>
        <p:txBody>
          <a:bodyPr wrap="square" lIns="0" tIns="0" rIns="0" bIns="0" anchor="t">
            <a:spAutoFit/>
          </a:bodyPr>
          <a:lstStyle/>
          <a:p>
            <a:pPr algn="l"/>
            <a:r>
              <a:rPr sz="1050" b="1">
                <a:solidFill>
                  <a:srgbClr val="7C3AED"/>
                </a:solidFill>
                <a:latin typeface="Calibri"/>
              </a:rPr>
              <a:t>SECTION 1 GAVE YOU</a:t>
            </a:r>
          </a:p>
        </p:txBody>
      </p:sp>
      <p:sp>
        <p:nvSpPr>
          <p:cNvPr id="7" name="TextBox 6"/>
          <p:cNvSpPr txBox="1"/>
          <p:nvPr/>
        </p:nvSpPr>
        <p:spPr>
          <a:xfrm>
            <a:off x="685800" y="2066543"/>
            <a:ext cx="3566160" cy="365760"/>
          </a:xfrm>
          <a:prstGeom prst="rect">
            <a:avLst/>
          </a:prstGeom>
          <a:noFill/>
        </p:spPr>
        <p:txBody>
          <a:bodyPr wrap="square" lIns="0" tIns="0" rIns="0" bIns="0" anchor="t">
            <a:spAutoFit/>
          </a:bodyPr>
          <a:lstStyle/>
          <a:p>
            <a:pPr algn="l"/>
            <a:r>
              <a:rPr sz="1700" b="1">
                <a:solidFill>
                  <a:srgbClr val="2D1155"/>
                </a:solidFill>
                <a:latin typeface="Arial Black"/>
              </a:rPr>
              <a:t>Fast.</a:t>
            </a:r>
          </a:p>
        </p:txBody>
      </p:sp>
      <p:sp>
        <p:nvSpPr>
          <p:cNvPr id="8" name="TextBox 7"/>
          <p:cNvSpPr txBox="1"/>
          <p:nvPr/>
        </p:nvSpPr>
        <p:spPr>
          <a:xfrm>
            <a:off x="685800" y="2487168"/>
            <a:ext cx="3566160" cy="548640"/>
          </a:xfrm>
          <a:prstGeom prst="rect">
            <a:avLst/>
          </a:prstGeom>
          <a:noFill/>
        </p:spPr>
        <p:txBody>
          <a:bodyPr wrap="square" lIns="0" tIns="0" rIns="0" bIns="0" anchor="t">
            <a:spAutoFit/>
          </a:bodyPr>
          <a:lstStyle/>
          <a:p>
            <a:pPr algn="l">
              <a:lnSpc>
                <a:spcPct val="108000"/>
              </a:lnSpc>
            </a:pPr>
            <a:r>
              <a:rPr sz="1250" b="0">
                <a:solidFill>
                  <a:srgbClr val="6E6389"/>
                </a:solidFill>
                <a:latin typeface="Calibri"/>
              </a:rPr>
              <a:t>The agent writes, runs and fixes. You direct the loop.</a:t>
            </a:r>
          </a:p>
        </p:txBody>
      </p:sp>
      <p:sp>
        <p:nvSpPr>
          <p:cNvPr id="9" name="Rectangle 8"/>
          <p:cNvSpPr/>
          <p:nvPr/>
        </p:nvSpPr>
        <p:spPr>
          <a:xfrm>
            <a:off x="4663440" y="1554480"/>
            <a:ext cx="4023360" cy="157276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92040" y="1755648"/>
            <a:ext cx="3566160" cy="274320"/>
          </a:xfrm>
          <a:prstGeom prst="rect">
            <a:avLst/>
          </a:prstGeom>
          <a:noFill/>
        </p:spPr>
        <p:txBody>
          <a:bodyPr wrap="square" lIns="0" tIns="0" rIns="0" bIns="0" anchor="t">
            <a:spAutoFit/>
          </a:bodyPr>
          <a:lstStyle/>
          <a:p>
            <a:pPr algn="l"/>
            <a:r>
              <a:rPr sz="1050" b="1">
                <a:solidFill>
                  <a:srgbClr val="7C3AED"/>
                </a:solidFill>
                <a:latin typeface="Calibri"/>
              </a:rPr>
              <a:t>SECTION 2 GAVE YOU</a:t>
            </a:r>
          </a:p>
        </p:txBody>
      </p:sp>
      <p:sp>
        <p:nvSpPr>
          <p:cNvPr id="11" name="TextBox 10"/>
          <p:cNvSpPr txBox="1"/>
          <p:nvPr/>
        </p:nvSpPr>
        <p:spPr>
          <a:xfrm>
            <a:off x="4892040" y="2066543"/>
            <a:ext cx="3566160" cy="365760"/>
          </a:xfrm>
          <a:prstGeom prst="rect">
            <a:avLst/>
          </a:prstGeom>
          <a:noFill/>
        </p:spPr>
        <p:txBody>
          <a:bodyPr wrap="square" lIns="0" tIns="0" rIns="0" bIns="0" anchor="t">
            <a:spAutoFit/>
          </a:bodyPr>
          <a:lstStyle/>
          <a:p>
            <a:pPr algn="l"/>
            <a:r>
              <a:rPr sz="1700" b="1">
                <a:solidFill>
                  <a:srgbClr val="2D1155"/>
                </a:solidFill>
                <a:latin typeface="Arial Black"/>
              </a:rPr>
              <a:t>Consistent.</a:t>
            </a:r>
          </a:p>
        </p:txBody>
      </p:sp>
      <p:sp>
        <p:nvSpPr>
          <p:cNvPr id="12" name="TextBox 11"/>
          <p:cNvSpPr txBox="1"/>
          <p:nvPr/>
        </p:nvSpPr>
        <p:spPr>
          <a:xfrm>
            <a:off x="4892040" y="2487168"/>
            <a:ext cx="3566160" cy="548640"/>
          </a:xfrm>
          <a:prstGeom prst="rect">
            <a:avLst/>
          </a:prstGeom>
          <a:noFill/>
        </p:spPr>
        <p:txBody>
          <a:bodyPr wrap="square" lIns="0" tIns="0" rIns="0" bIns="0" anchor="t">
            <a:spAutoFit/>
          </a:bodyPr>
          <a:lstStyle/>
          <a:p>
            <a:pPr algn="l">
              <a:lnSpc>
                <a:spcPct val="108000"/>
              </a:lnSpc>
            </a:pPr>
            <a:r>
              <a:rPr sz="1250" b="0">
                <a:solidFill>
                  <a:srgbClr val="6E6389"/>
                </a:solidFill>
                <a:latin typeface="Calibri"/>
              </a:rPr>
              <a:t>A contract, reusable commands, deliberate context.</a:t>
            </a:r>
          </a:p>
        </p:txBody>
      </p:sp>
      <p:sp>
        <p:nvSpPr>
          <p:cNvPr id="13" name="Rectangle 12"/>
          <p:cNvSpPr/>
          <p:nvPr/>
        </p:nvSpPr>
        <p:spPr>
          <a:xfrm>
            <a:off x="457200" y="3364992"/>
            <a:ext cx="8229600" cy="102412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529584"/>
            <a:ext cx="7498079" cy="365760"/>
          </a:xfrm>
          <a:prstGeom prst="rect">
            <a:avLst/>
          </a:prstGeom>
          <a:noFill/>
        </p:spPr>
        <p:txBody>
          <a:bodyPr wrap="square" lIns="0" tIns="0" rIns="0" bIns="0" anchor="t">
            <a:spAutoFit/>
          </a:bodyPr>
          <a:lstStyle/>
          <a:p>
            <a:pPr algn="l"/>
            <a:r>
              <a:rPr sz="1700" b="1">
                <a:solidFill>
                  <a:srgbClr val="FFFFFF"/>
                </a:solidFill>
                <a:latin typeface="Arial Black"/>
              </a:rPr>
              <a:t>Neither made it </a:t>
            </a:r>
            <a:r>
              <a:rPr sz="1700" b="1">
                <a:solidFill>
                  <a:srgbClr val="F59E0B"/>
                </a:solidFill>
                <a:latin typeface="Arial Black"/>
              </a:rPr>
              <a:t>trustworthy.</a:t>
            </a:r>
          </a:p>
        </p:txBody>
      </p:sp>
      <p:sp>
        <p:nvSpPr>
          <p:cNvPr id="15" name="TextBox 14"/>
          <p:cNvSpPr txBox="1"/>
          <p:nvPr/>
        </p:nvSpPr>
        <p:spPr>
          <a:xfrm>
            <a:off x="822960" y="3931920"/>
            <a:ext cx="7498079" cy="365760"/>
          </a:xfrm>
          <a:prstGeom prst="rect">
            <a:avLst/>
          </a:prstGeom>
          <a:noFill/>
        </p:spPr>
        <p:txBody>
          <a:bodyPr wrap="square" lIns="0" tIns="0" rIns="0" bIns="0" anchor="t">
            <a:spAutoFit/>
          </a:bodyPr>
          <a:lstStyle/>
          <a:p>
            <a:pPr algn="l"/>
            <a:r>
              <a:rPr sz="1300" b="0">
                <a:solidFill>
                  <a:srgbClr val="DDD6FE"/>
                </a:solidFill>
                <a:latin typeface="Calibri"/>
              </a:rPr>
              <a:t>Would you put this in front of real users on Monday?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WHAT AGENTIC ENGINEERING IS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The one-line definition.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TextBox 4"/>
          <p:cNvSpPr txBox="1"/>
          <p:nvPr/>
        </p:nvSpPr>
        <p:spPr>
          <a:xfrm>
            <a:off x="457200" y="1536192"/>
            <a:ext cx="8229600" cy="868680"/>
          </a:xfrm>
          <a:prstGeom prst="rect">
            <a:avLst/>
          </a:prstGeom>
          <a:noFill/>
        </p:spPr>
        <p:txBody>
          <a:bodyPr wrap="square" lIns="0" tIns="0" rIns="0" bIns="0" anchor="t">
            <a:spAutoFit/>
          </a:bodyPr>
          <a:lstStyle/>
          <a:p>
            <a:pPr algn="l">
              <a:lnSpc>
                <a:spcPct val="112000"/>
              </a:lnSpc>
            </a:pPr>
            <a:r>
              <a:rPr sz="1900" b="0">
                <a:solidFill>
                  <a:srgbClr val="2D1155"/>
                </a:solidFill>
                <a:latin typeface="Calibri"/>
              </a:rPr>
              <a:t>Building systems where </a:t>
            </a:r>
            <a:r>
              <a:rPr sz="1900" b="1">
                <a:solidFill>
                  <a:srgbClr val="7C3AED"/>
                </a:solidFill>
                <a:latin typeface="Arial Black"/>
              </a:rPr>
              <a:t>agents do the work</a:t>
            </a:r>
            <a:r>
              <a:rPr sz="1900" b="0">
                <a:solidFill>
                  <a:srgbClr val="2D1155"/>
                </a:solidFill>
                <a:latin typeface="Calibri"/>
              </a:rPr>
              <a:t>, and the engineering goes into making that </a:t>
            </a:r>
            <a:r>
              <a:rPr sz="1900" b="1">
                <a:solidFill>
                  <a:srgbClr val="7C3AED"/>
                </a:solidFill>
                <a:latin typeface="Arial Black"/>
              </a:rPr>
              <a:t>trustworthy.</a:t>
            </a:r>
          </a:p>
        </p:txBody>
      </p:sp>
      <p:sp>
        <p:nvSpPr>
          <p:cNvPr id="6" name="Rectangle 5"/>
          <p:cNvSpPr/>
          <p:nvPr/>
        </p:nvSpPr>
        <p:spPr>
          <a:xfrm>
            <a:off x="457200" y="2697480"/>
            <a:ext cx="8229600" cy="16916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907792"/>
            <a:ext cx="7680960" cy="274320"/>
          </a:xfrm>
          <a:prstGeom prst="rect">
            <a:avLst/>
          </a:prstGeom>
          <a:noFill/>
        </p:spPr>
        <p:txBody>
          <a:bodyPr wrap="square" lIns="0" tIns="0" rIns="0" bIns="0" anchor="t">
            <a:spAutoFit/>
          </a:bodyPr>
          <a:lstStyle/>
          <a:p>
            <a:pPr algn="l"/>
            <a:r>
              <a:rPr sz="1050" b="1">
                <a:solidFill>
                  <a:srgbClr val="7C3AED"/>
                </a:solidFill>
                <a:latin typeface="Calibri"/>
              </a:rPr>
              <a:t>THE MINDSET SHIFT</a:t>
            </a:r>
          </a:p>
        </p:txBody>
      </p:sp>
      <p:sp>
        <p:nvSpPr>
          <p:cNvPr id="8" name="TextBox 7"/>
          <p:cNvSpPr txBox="1"/>
          <p:nvPr/>
        </p:nvSpPr>
        <p:spPr>
          <a:xfrm>
            <a:off x="731520" y="3310128"/>
            <a:ext cx="7680960" cy="411480"/>
          </a:xfrm>
          <a:prstGeom prst="rect">
            <a:avLst/>
          </a:prstGeom>
          <a:noFill/>
        </p:spPr>
        <p:txBody>
          <a:bodyPr wrap="square" lIns="0" tIns="0" rIns="0" bIns="0" anchor="t">
            <a:spAutoFit/>
          </a:bodyPr>
          <a:lstStyle/>
          <a:p>
            <a:pPr algn="l"/>
            <a:r>
              <a:rPr sz="1100" b="1">
                <a:solidFill>
                  <a:srgbClr val="6E6389"/>
                </a:solidFill>
                <a:latin typeface="Calibri"/>
              </a:rPr>
              <a:t>FROM   </a:t>
            </a:r>
            <a:r>
              <a:rPr sz="1550" b="0">
                <a:solidFill>
                  <a:srgbClr val="2D1155"/>
                </a:solidFill>
                <a:latin typeface="Calibri"/>
              </a:rPr>
              <a:t>“Did the agent write good code?”</a:t>
            </a:r>
          </a:p>
        </p:txBody>
      </p:sp>
      <p:sp>
        <p:nvSpPr>
          <p:cNvPr id="9" name="TextBox 8"/>
          <p:cNvSpPr txBox="1"/>
          <p:nvPr/>
        </p:nvSpPr>
        <p:spPr>
          <a:xfrm>
            <a:off x="731520" y="3803904"/>
            <a:ext cx="7680960" cy="411480"/>
          </a:xfrm>
          <a:prstGeom prst="rect">
            <a:avLst/>
          </a:prstGeom>
          <a:noFill/>
        </p:spPr>
        <p:txBody>
          <a:bodyPr wrap="square" lIns="0" tIns="0" rIns="0" bIns="0" anchor="t">
            <a:spAutoFit/>
          </a:bodyPr>
          <a:lstStyle/>
          <a:p>
            <a:pPr algn="l"/>
            <a:r>
              <a:rPr sz="1100" b="1">
                <a:solidFill>
                  <a:srgbClr val="F59E0B"/>
                </a:solidFill>
                <a:latin typeface="Calibri"/>
              </a:rPr>
              <a:t>TO   </a:t>
            </a:r>
            <a:r>
              <a:rPr sz="1550" b="1">
                <a:solidFill>
                  <a:srgbClr val="2D1155"/>
                </a:solidFill>
                <a:latin typeface="Calibri"/>
              </a:rPr>
              <a:t>“What would prove this code is right — without me reading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READING HARDER DOESN’T SCALE</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At agentic speed, line-by-line review is the bottleneck — and it still misses things.</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72768"/>
            <a:ext cx="4023360" cy="22860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72768"/>
            <a:ext cx="4023360" cy="475488"/>
          </a:xfrm>
          <a:prstGeom prst="rect">
            <a:avLst/>
          </a:prstGeom>
          <a:solidFill>
            <a:srgbClr val="9B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72768"/>
            <a:ext cx="4023360" cy="475488"/>
          </a:xfrm>
          <a:prstGeom prst="rect">
            <a:avLst/>
          </a:prstGeom>
          <a:noFill/>
        </p:spPr>
        <p:txBody>
          <a:bodyPr wrap="square" lIns="0" tIns="0" rIns="0" bIns="0" anchor="ctr">
            <a:spAutoFit/>
          </a:bodyPr>
          <a:lstStyle/>
          <a:p>
            <a:pPr algn="ctr"/>
            <a:r>
              <a:rPr sz="1100" b="1">
                <a:solidFill>
                  <a:srgbClr val="FFFFFF"/>
                </a:solidFill>
                <a:latin typeface="Calibri"/>
              </a:rPr>
              <a:t>✕   READ EVERY LINE</a:t>
            </a:r>
          </a:p>
        </p:txBody>
      </p:sp>
      <p:sp>
        <p:nvSpPr>
          <p:cNvPr id="8" name="TextBox 7"/>
          <p:cNvSpPr txBox="1"/>
          <p:nvPr/>
        </p:nvSpPr>
        <p:spPr>
          <a:xfrm>
            <a:off x="713232" y="2286000"/>
            <a:ext cx="3520440" cy="438912"/>
          </a:xfrm>
          <a:prstGeom prst="rect">
            <a:avLst/>
          </a:prstGeom>
          <a:noFill/>
        </p:spPr>
        <p:txBody>
          <a:bodyPr wrap="square" lIns="0" tIns="0" rIns="0" bIns="0" anchor="t">
            <a:spAutoFit/>
          </a:bodyPr>
          <a:lstStyle/>
          <a:p>
            <a:pPr algn="l">
              <a:lnSpc>
                <a:spcPct val="105000"/>
              </a:lnSpc>
            </a:pPr>
            <a:r>
              <a:rPr sz="1250" b="1">
                <a:solidFill>
                  <a:srgbClr val="6E6389"/>
                </a:solidFill>
                <a:latin typeface="Calibri"/>
              </a:rPr>
              <a:t>•  </a:t>
            </a:r>
            <a:r>
              <a:rPr sz="1250" b="0">
                <a:solidFill>
                  <a:srgbClr val="2D1155"/>
                </a:solidFill>
                <a:latin typeface="Calibri"/>
              </a:rPr>
              <a:t>The agent out-types you 50 to 1.</a:t>
            </a:r>
          </a:p>
        </p:txBody>
      </p:sp>
      <p:sp>
        <p:nvSpPr>
          <p:cNvPr id="9" name="TextBox 8"/>
          <p:cNvSpPr txBox="1"/>
          <p:nvPr/>
        </p:nvSpPr>
        <p:spPr>
          <a:xfrm>
            <a:off x="713232" y="2761488"/>
            <a:ext cx="3520440" cy="438912"/>
          </a:xfrm>
          <a:prstGeom prst="rect">
            <a:avLst/>
          </a:prstGeom>
          <a:noFill/>
        </p:spPr>
        <p:txBody>
          <a:bodyPr wrap="square" lIns="0" tIns="0" rIns="0" bIns="0" anchor="t">
            <a:spAutoFit/>
          </a:bodyPr>
          <a:lstStyle/>
          <a:p>
            <a:pPr algn="l">
              <a:lnSpc>
                <a:spcPct val="105000"/>
              </a:lnSpc>
            </a:pPr>
            <a:r>
              <a:rPr sz="1250" b="1">
                <a:solidFill>
                  <a:srgbClr val="6E6389"/>
                </a:solidFill>
                <a:latin typeface="Calibri"/>
              </a:rPr>
              <a:t>•  </a:t>
            </a:r>
            <a:r>
              <a:rPr sz="1250" b="0">
                <a:solidFill>
                  <a:srgbClr val="2D1155"/>
                </a:solidFill>
                <a:latin typeface="Calibri"/>
              </a:rPr>
              <a:t>Attention fades; you skim by the third diff.</a:t>
            </a:r>
          </a:p>
        </p:txBody>
      </p:sp>
      <p:sp>
        <p:nvSpPr>
          <p:cNvPr id="10" name="TextBox 9"/>
          <p:cNvSpPr txBox="1"/>
          <p:nvPr/>
        </p:nvSpPr>
        <p:spPr>
          <a:xfrm>
            <a:off x="713232" y="3236976"/>
            <a:ext cx="3520440" cy="438912"/>
          </a:xfrm>
          <a:prstGeom prst="rect">
            <a:avLst/>
          </a:prstGeom>
          <a:noFill/>
        </p:spPr>
        <p:txBody>
          <a:bodyPr wrap="square" lIns="0" tIns="0" rIns="0" bIns="0" anchor="t">
            <a:spAutoFit/>
          </a:bodyPr>
          <a:lstStyle/>
          <a:p>
            <a:pPr algn="l">
              <a:lnSpc>
                <a:spcPct val="105000"/>
              </a:lnSpc>
            </a:pPr>
            <a:r>
              <a:rPr sz="1250" b="1">
                <a:solidFill>
                  <a:srgbClr val="6E6389"/>
                </a:solidFill>
                <a:latin typeface="Calibri"/>
              </a:rPr>
              <a:t>•  </a:t>
            </a:r>
            <a:r>
              <a:rPr sz="1250" b="0">
                <a:solidFill>
                  <a:srgbClr val="2D1155"/>
                </a:solidFill>
                <a:latin typeface="Calibri"/>
              </a:rPr>
              <a:t>A confident, plausible bug reads as correct.</a:t>
            </a:r>
          </a:p>
        </p:txBody>
      </p:sp>
      <p:sp>
        <p:nvSpPr>
          <p:cNvPr id="11" name="Rectangle 10"/>
          <p:cNvSpPr/>
          <p:nvPr/>
        </p:nvSpPr>
        <p:spPr>
          <a:xfrm>
            <a:off x="4663440" y="1572768"/>
            <a:ext cx="4023360" cy="22860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572768"/>
            <a:ext cx="4023360" cy="47548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63440" y="1572768"/>
            <a:ext cx="4023360" cy="475488"/>
          </a:xfrm>
          <a:prstGeom prst="rect">
            <a:avLst/>
          </a:prstGeom>
          <a:noFill/>
        </p:spPr>
        <p:txBody>
          <a:bodyPr wrap="square" lIns="0" tIns="0" rIns="0" bIns="0" anchor="ctr">
            <a:spAutoFit/>
          </a:bodyPr>
          <a:lstStyle/>
          <a:p>
            <a:pPr algn="ctr"/>
            <a:r>
              <a:rPr sz="1100" b="1">
                <a:solidFill>
                  <a:srgbClr val="FFFFFF"/>
                </a:solidFill>
                <a:latin typeface="Calibri"/>
              </a:rPr>
              <a:t>✓   ENGINEER THE PROOF</a:t>
            </a:r>
          </a:p>
        </p:txBody>
      </p:sp>
      <p:sp>
        <p:nvSpPr>
          <p:cNvPr id="14" name="TextBox 13"/>
          <p:cNvSpPr txBox="1"/>
          <p:nvPr/>
        </p:nvSpPr>
        <p:spPr>
          <a:xfrm>
            <a:off x="4919472" y="2286000"/>
            <a:ext cx="3520440" cy="438912"/>
          </a:xfrm>
          <a:prstGeom prst="rect">
            <a:avLst/>
          </a:prstGeom>
          <a:noFill/>
        </p:spPr>
        <p:txBody>
          <a:bodyPr wrap="square" lIns="0" tIns="0" rIns="0" bIns="0" anchor="t">
            <a:spAutoFit/>
          </a:bodyPr>
          <a:lstStyle/>
          <a:p>
            <a:pPr algn="l">
              <a:lnSpc>
                <a:spcPct val="105000"/>
              </a:lnSpc>
            </a:pPr>
            <a:r>
              <a:rPr sz="1250" b="1">
                <a:solidFill>
                  <a:srgbClr val="7C3AED"/>
                </a:solidFill>
                <a:latin typeface="Calibri"/>
              </a:rPr>
              <a:t>•  </a:t>
            </a:r>
            <a:r>
              <a:rPr sz="1250" b="0">
                <a:solidFill>
                  <a:srgbClr val="2D1155"/>
                </a:solidFill>
                <a:latin typeface="Calibri"/>
              </a:rPr>
              <a:t>Tests the agent must pass every turn.</a:t>
            </a:r>
          </a:p>
        </p:txBody>
      </p:sp>
      <p:sp>
        <p:nvSpPr>
          <p:cNvPr id="15" name="TextBox 14"/>
          <p:cNvSpPr txBox="1"/>
          <p:nvPr/>
        </p:nvSpPr>
        <p:spPr>
          <a:xfrm>
            <a:off x="4919472" y="2761488"/>
            <a:ext cx="3520440" cy="438912"/>
          </a:xfrm>
          <a:prstGeom prst="rect">
            <a:avLst/>
          </a:prstGeom>
          <a:noFill/>
        </p:spPr>
        <p:txBody>
          <a:bodyPr wrap="square" lIns="0" tIns="0" rIns="0" bIns="0" anchor="t">
            <a:spAutoFit/>
          </a:bodyPr>
          <a:lstStyle/>
          <a:p>
            <a:pPr algn="l">
              <a:lnSpc>
                <a:spcPct val="105000"/>
              </a:lnSpc>
            </a:pPr>
            <a:r>
              <a:rPr sz="1250" b="1">
                <a:solidFill>
                  <a:srgbClr val="7C3AED"/>
                </a:solidFill>
                <a:latin typeface="Calibri"/>
              </a:rPr>
              <a:t>•  </a:t>
            </a:r>
            <a:r>
              <a:rPr sz="1250" b="0">
                <a:solidFill>
                  <a:srgbClr val="2D1155"/>
                </a:solidFill>
                <a:latin typeface="Calibri"/>
              </a:rPr>
              <a:t>Sub-agents whose only job is to check.</a:t>
            </a:r>
          </a:p>
        </p:txBody>
      </p:sp>
      <p:sp>
        <p:nvSpPr>
          <p:cNvPr id="16" name="TextBox 15"/>
          <p:cNvSpPr txBox="1"/>
          <p:nvPr/>
        </p:nvSpPr>
        <p:spPr>
          <a:xfrm>
            <a:off x="4919472" y="3236976"/>
            <a:ext cx="3520440" cy="438912"/>
          </a:xfrm>
          <a:prstGeom prst="rect">
            <a:avLst/>
          </a:prstGeom>
          <a:noFill/>
        </p:spPr>
        <p:txBody>
          <a:bodyPr wrap="square" lIns="0" tIns="0" rIns="0" bIns="0" anchor="t">
            <a:spAutoFit/>
          </a:bodyPr>
          <a:lstStyle/>
          <a:p>
            <a:pPr algn="l">
              <a:lnSpc>
                <a:spcPct val="105000"/>
              </a:lnSpc>
            </a:pPr>
            <a:r>
              <a:rPr sz="1250" b="1">
                <a:solidFill>
                  <a:srgbClr val="7C3AED"/>
                </a:solidFill>
                <a:latin typeface="Calibri"/>
              </a:rPr>
              <a:t>•  </a:t>
            </a:r>
            <a:r>
              <a:rPr sz="1250" b="0">
                <a:solidFill>
                  <a:srgbClr val="2D1155"/>
                </a:solidFill>
                <a:latin typeface="Calibri"/>
              </a:rPr>
              <a:t>Gates that block a change that fails.</a:t>
            </a:r>
          </a:p>
        </p:txBody>
      </p:sp>
      <p:sp>
        <p:nvSpPr>
          <p:cNvPr id="17" name="TextBox 16"/>
          <p:cNvSpPr txBox="1"/>
          <p:nvPr/>
        </p:nvSpPr>
        <p:spPr>
          <a:xfrm>
            <a:off x="457200" y="4069080"/>
            <a:ext cx="8229600" cy="457200"/>
          </a:xfrm>
          <a:prstGeom prst="rect">
            <a:avLst/>
          </a:prstGeom>
          <a:noFill/>
        </p:spPr>
        <p:txBody>
          <a:bodyPr wrap="square" lIns="0" tIns="0" rIns="0" bIns="0" anchor="t">
            <a:spAutoFit/>
          </a:bodyPr>
          <a:lstStyle/>
          <a:p>
            <a:pPr algn="l"/>
            <a:r>
              <a:rPr sz="1250" b="0">
                <a:solidFill>
                  <a:srgbClr val="6E6389"/>
                </a:solidFill>
                <a:latin typeface="Calibri"/>
              </a:rPr>
              <a:t>You stop being the line reviewer and become the person who designs how correctness gets proved.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FOUR MOVES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Everything in this section is one of these. Nothing else.</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7772400" cy="75895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81328"/>
            <a:ext cx="658368" cy="7589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81328"/>
            <a:ext cx="658368" cy="758952"/>
          </a:xfrm>
          <a:prstGeom prst="rect">
            <a:avLst/>
          </a:prstGeom>
          <a:noFill/>
        </p:spPr>
        <p:txBody>
          <a:bodyPr wrap="square" lIns="0" tIns="0" rIns="0" bIns="0" anchor="ctr">
            <a:spAutoFit/>
          </a:bodyPr>
          <a:lstStyle/>
          <a:p>
            <a:pPr algn="ctr"/>
            <a:r>
              <a:rPr sz="2000" b="1">
                <a:solidFill>
                  <a:srgbClr val="FFFFFF"/>
                </a:solidFill>
                <a:latin typeface="Arial Black"/>
              </a:rPr>
              <a:t>1</a:t>
            </a:r>
          </a:p>
        </p:txBody>
      </p:sp>
      <p:sp>
        <p:nvSpPr>
          <p:cNvPr id="8" name="TextBox 7"/>
          <p:cNvSpPr txBox="1"/>
          <p:nvPr/>
        </p:nvSpPr>
        <p:spPr>
          <a:xfrm>
            <a:off x="1325880" y="1609344"/>
            <a:ext cx="2743200" cy="292608"/>
          </a:xfrm>
          <a:prstGeom prst="rect">
            <a:avLst/>
          </a:prstGeom>
          <a:noFill/>
        </p:spPr>
        <p:txBody>
          <a:bodyPr wrap="square" lIns="0" tIns="0" rIns="0" bIns="0" anchor="t">
            <a:spAutoFit/>
          </a:bodyPr>
          <a:lstStyle/>
          <a:p>
            <a:pPr algn="l"/>
            <a:r>
              <a:rPr sz="1400" b="1">
                <a:solidFill>
                  <a:srgbClr val="2D1155"/>
                </a:solidFill>
                <a:latin typeface="Arial Black"/>
              </a:rPr>
              <a:t>Build the harness</a:t>
            </a:r>
          </a:p>
        </p:txBody>
      </p:sp>
      <p:sp>
        <p:nvSpPr>
          <p:cNvPr id="9" name="TextBox 8"/>
          <p:cNvSpPr txBox="1"/>
          <p:nvPr/>
        </p:nvSpPr>
        <p:spPr>
          <a:xfrm>
            <a:off x="1325880" y="1920240"/>
            <a:ext cx="6217920" cy="274320"/>
          </a:xfrm>
          <a:prstGeom prst="rect">
            <a:avLst/>
          </a:prstGeom>
          <a:noFill/>
        </p:spPr>
        <p:txBody>
          <a:bodyPr wrap="square" lIns="0" tIns="0" rIns="0" bIns="0" anchor="t">
            <a:spAutoFit/>
          </a:bodyPr>
          <a:lstStyle/>
          <a:p>
            <a:pPr algn="l"/>
            <a:r>
              <a:rPr sz="1200" b="0">
                <a:solidFill>
                  <a:srgbClr val="6E6389"/>
                </a:solidFill>
                <a:latin typeface="Calibri"/>
              </a:rPr>
              <a:t>One command that proves the code still works: lint, types, tests.</a:t>
            </a:r>
          </a:p>
        </p:txBody>
      </p:sp>
      <p:sp>
        <p:nvSpPr>
          <p:cNvPr id="10" name="Rectangle 9"/>
          <p:cNvSpPr/>
          <p:nvPr/>
        </p:nvSpPr>
        <p:spPr>
          <a:xfrm>
            <a:off x="457200" y="2340864"/>
            <a:ext cx="7772400" cy="75895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340864"/>
            <a:ext cx="658368" cy="7589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340864"/>
            <a:ext cx="658368" cy="758952"/>
          </a:xfrm>
          <a:prstGeom prst="rect">
            <a:avLst/>
          </a:prstGeom>
          <a:noFill/>
        </p:spPr>
        <p:txBody>
          <a:bodyPr wrap="square" lIns="0" tIns="0" rIns="0" bIns="0" anchor="ctr">
            <a:spAutoFit/>
          </a:bodyPr>
          <a:lstStyle/>
          <a:p>
            <a:pPr algn="ctr"/>
            <a:r>
              <a:rPr sz="2000" b="1">
                <a:solidFill>
                  <a:srgbClr val="FFFFFF"/>
                </a:solidFill>
                <a:latin typeface="Arial Black"/>
              </a:rPr>
              <a:t>2</a:t>
            </a:r>
          </a:p>
        </p:txBody>
      </p:sp>
      <p:sp>
        <p:nvSpPr>
          <p:cNvPr id="13" name="TextBox 12"/>
          <p:cNvSpPr txBox="1"/>
          <p:nvPr/>
        </p:nvSpPr>
        <p:spPr>
          <a:xfrm>
            <a:off x="1325880" y="2468880"/>
            <a:ext cx="2743200" cy="292608"/>
          </a:xfrm>
          <a:prstGeom prst="rect">
            <a:avLst/>
          </a:prstGeom>
          <a:noFill/>
        </p:spPr>
        <p:txBody>
          <a:bodyPr wrap="square" lIns="0" tIns="0" rIns="0" bIns="0" anchor="t">
            <a:spAutoFit/>
          </a:bodyPr>
          <a:lstStyle/>
          <a:p>
            <a:pPr algn="l"/>
            <a:r>
              <a:rPr sz="1400" b="1">
                <a:solidFill>
                  <a:srgbClr val="2D1155"/>
                </a:solidFill>
                <a:latin typeface="Arial Black"/>
              </a:rPr>
              <a:t>Split the jobs</a:t>
            </a:r>
          </a:p>
        </p:txBody>
      </p:sp>
      <p:sp>
        <p:nvSpPr>
          <p:cNvPr id="14" name="TextBox 13"/>
          <p:cNvSpPr txBox="1"/>
          <p:nvPr/>
        </p:nvSpPr>
        <p:spPr>
          <a:xfrm>
            <a:off x="1325880" y="2779776"/>
            <a:ext cx="6217920" cy="274320"/>
          </a:xfrm>
          <a:prstGeom prst="rect">
            <a:avLst/>
          </a:prstGeom>
          <a:noFill/>
        </p:spPr>
        <p:txBody>
          <a:bodyPr wrap="square" lIns="0" tIns="0" rIns="0" bIns="0" anchor="t">
            <a:spAutoFit/>
          </a:bodyPr>
          <a:lstStyle/>
          <a:p>
            <a:pPr algn="l"/>
            <a:r>
              <a:rPr sz="1200" b="0">
                <a:solidFill>
                  <a:srgbClr val="6E6389"/>
                </a:solidFill>
                <a:latin typeface="Calibri"/>
              </a:rPr>
              <a:t>Narrow sub-agents: one writes tests, one reviews, one verifies.</a:t>
            </a:r>
          </a:p>
        </p:txBody>
      </p:sp>
      <p:sp>
        <p:nvSpPr>
          <p:cNvPr id="15" name="Rectangle 14"/>
          <p:cNvSpPr/>
          <p:nvPr/>
        </p:nvSpPr>
        <p:spPr>
          <a:xfrm>
            <a:off x="457200" y="3200400"/>
            <a:ext cx="7772400" cy="75895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200400"/>
            <a:ext cx="658368" cy="7589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200400"/>
            <a:ext cx="658368" cy="758952"/>
          </a:xfrm>
          <a:prstGeom prst="rect">
            <a:avLst/>
          </a:prstGeom>
          <a:noFill/>
        </p:spPr>
        <p:txBody>
          <a:bodyPr wrap="square" lIns="0" tIns="0" rIns="0" bIns="0" anchor="ctr">
            <a:spAutoFit/>
          </a:bodyPr>
          <a:lstStyle/>
          <a:p>
            <a:pPr algn="ctr"/>
            <a:r>
              <a:rPr sz="2000" b="1">
                <a:solidFill>
                  <a:srgbClr val="FFFFFF"/>
                </a:solidFill>
                <a:latin typeface="Arial Black"/>
              </a:rPr>
              <a:t>3</a:t>
            </a:r>
          </a:p>
        </p:txBody>
      </p:sp>
      <p:sp>
        <p:nvSpPr>
          <p:cNvPr id="18" name="TextBox 17"/>
          <p:cNvSpPr txBox="1"/>
          <p:nvPr/>
        </p:nvSpPr>
        <p:spPr>
          <a:xfrm>
            <a:off x="1325880" y="3328416"/>
            <a:ext cx="2743200" cy="292608"/>
          </a:xfrm>
          <a:prstGeom prst="rect">
            <a:avLst/>
          </a:prstGeom>
          <a:noFill/>
        </p:spPr>
        <p:txBody>
          <a:bodyPr wrap="square" lIns="0" tIns="0" rIns="0" bIns="0" anchor="t">
            <a:spAutoFit/>
          </a:bodyPr>
          <a:lstStyle/>
          <a:p>
            <a:pPr algn="l"/>
            <a:r>
              <a:rPr sz="1400" b="1">
                <a:solidFill>
                  <a:srgbClr val="2D1155"/>
                </a:solidFill>
                <a:latin typeface="Arial Black"/>
              </a:rPr>
              <a:t>Run the team</a:t>
            </a:r>
          </a:p>
        </p:txBody>
      </p:sp>
      <p:sp>
        <p:nvSpPr>
          <p:cNvPr id="19" name="TextBox 18"/>
          <p:cNvSpPr txBox="1"/>
          <p:nvPr/>
        </p:nvSpPr>
        <p:spPr>
          <a:xfrm>
            <a:off x="1325880" y="3639312"/>
            <a:ext cx="6217920" cy="274320"/>
          </a:xfrm>
          <a:prstGeom prst="rect">
            <a:avLst/>
          </a:prstGeom>
          <a:noFill/>
        </p:spPr>
        <p:txBody>
          <a:bodyPr wrap="square" lIns="0" tIns="0" rIns="0" bIns="0" anchor="t">
            <a:spAutoFit/>
          </a:bodyPr>
          <a:lstStyle/>
          <a:p>
            <a:pPr algn="l"/>
            <a:r>
              <a:rPr sz="1200" b="0">
                <a:solidFill>
                  <a:srgbClr val="6E6389"/>
                </a:solidFill>
                <a:latin typeface="Calibri"/>
              </a:rPr>
              <a:t>They work in parallel while you orchestrate and arbitrate.</a:t>
            </a:r>
          </a:p>
        </p:txBody>
      </p:sp>
      <p:sp>
        <p:nvSpPr>
          <p:cNvPr id="20" name="Rectangle 19"/>
          <p:cNvSpPr/>
          <p:nvPr/>
        </p:nvSpPr>
        <p:spPr>
          <a:xfrm>
            <a:off x="457200" y="4059935"/>
            <a:ext cx="7772400" cy="75895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059935"/>
            <a:ext cx="658368" cy="7589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059935"/>
            <a:ext cx="658368" cy="758952"/>
          </a:xfrm>
          <a:prstGeom prst="rect">
            <a:avLst/>
          </a:prstGeom>
          <a:noFill/>
        </p:spPr>
        <p:txBody>
          <a:bodyPr wrap="square" lIns="0" tIns="0" rIns="0" bIns="0" anchor="ctr">
            <a:spAutoFit/>
          </a:bodyPr>
          <a:lstStyle/>
          <a:p>
            <a:pPr algn="ctr"/>
            <a:r>
              <a:rPr sz="2000" b="1">
                <a:solidFill>
                  <a:srgbClr val="FFFFFF"/>
                </a:solidFill>
                <a:latin typeface="Arial Black"/>
              </a:rPr>
              <a:t>4</a:t>
            </a:r>
          </a:p>
        </p:txBody>
      </p:sp>
      <p:sp>
        <p:nvSpPr>
          <p:cNvPr id="23" name="TextBox 22"/>
          <p:cNvSpPr txBox="1"/>
          <p:nvPr/>
        </p:nvSpPr>
        <p:spPr>
          <a:xfrm>
            <a:off x="1325880" y="4187951"/>
            <a:ext cx="2743200" cy="292608"/>
          </a:xfrm>
          <a:prstGeom prst="rect">
            <a:avLst/>
          </a:prstGeom>
          <a:noFill/>
        </p:spPr>
        <p:txBody>
          <a:bodyPr wrap="square" lIns="0" tIns="0" rIns="0" bIns="0" anchor="t">
            <a:spAutoFit/>
          </a:bodyPr>
          <a:lstStyle/>
          <a:p>
            <a:pPr algn="l"/>
            <a:r>
              <a:rPr sz="1400" b="1">
                <a:solidFill>
                  <a:srgbClr val="2D1155"/>
                </a:solidFill>
                <a:latin typeface="Arial Black"/>
              </a:rPr>
              <a:t>Make it non-optional</a:t>
            </a:r>
          </a:p>
        </p:txBody>
      </p:sp>
      <p:sp>
        <p:nvSpPr>
          <p:cNvPr id="24" name="TextBox 23"/>
          <p:cNvSpPr txBox="1"/>
          <p:nvPr/>
        </p:nvSpPr>
        <p:spPr>
          <a:xfrm>
            <a:off x="1325880" y="4498848"/>
            <a:ext cx="6217920" cy="274320"/>
          </a:xfrm>
          <a:prstGeom prst="rect">
            <a:avLst/>
          </a:prstGeom>
          <a:noFill/>
        </p:spPr>
        <p:txBody>
          <a:bodyPr wrap="square" lIns="0" tIns="0" rIns="0" bIns="0" anchor="t">
            <a:spAutoFit/>
          </a:bodyPr>
          <a:lstStyle/>
          <a:p>
            <a:pPr algn="l"/>
            <a:r>
              <a:rPr sz="1200" b="0">
                <a:solidFill>
                  <a:srgbClr val="6E6389"/>
                </a:solidFill>
                <a:latin typeface="Calibri"/>
              </a:rPr>
              <a:t>Hooks and CI, so the discipline survives a bad day.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MOVE 1 · THE HARNESS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One command the agent runs against itself, every single turn.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4892040" cy="1572768"/>
          </a:xfrm>
          <a:prstGeom prst="rect">
            <a:avLst/>
          </a:prstGeom>
          <a:solidFill>
            <a:srgbClr val="1E0B3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645920"/>
            <a:ext cx="4489703" cy="1243584"/>
          </a:xfrm>
          <a:prstGeom prst="rect">
            <a:avLst/>
          </a:prstGeom>
          <a:noFill/>
        </p:spPr>
        <p:txBody>
          <a:bodyPr wrap="square" lIns="0" tIns="0" rIns="0" bIns="0" anchor="t">
            <a:spAutoFit/>
          </a:bodyPr>
          <a:lstStyle/>
          <a:p>
            <a:pPr algn="l">
              <a:lnSpc>
                <a:spcPct val="132000"/>
              </a:lnSpc>
            </a:pPr>
            <a:r>
              <a:rPr sz="1150" b="0">
                <a:solidFill>
                  <a:srgbClr val="FFFFFF"/>
                </a:solidFill>
                <a:latin typeface="Courier New"/>
              </a:rPr>
              <a:t>$ make check</a:t>
            </a:r>
          </a:p>
          <a:p>
            <a:pPr algn="l">
              <a:lnSpc>
                <a:spcPct val="132000"/>
              </a:lnSpc>
            </a:pPr>
            <a:r>
              <a:rPr sz="1150" b="0">
                <a:solidFill>
                  <a:srgbClr val="C4B5E8"/>
                </a:solidFill>
                <a:latin typeface="Courier New"/>
              </a:rPr>
              <a:t>  ruff .            # lint  — style and dead code</a:t>
            </a:r>
          </a:p>
          <a:p>
            <a:pPr algn="l">
              <a:lnSpc>
                <a:spcPct val="132000"/>
              </a:lnSpc>
            </a:pPr>
            <a:r>
              <a:rPr sz="1150" b="0">
                <a:solidFill>
                  <a:srgbClr val="C4B5E8"/>
                </a:solidFill>
                <a:latin typeface="Courier New"/>
              </a:rPr>
              <a:t>  mypy backend/     # types — wrong shapes</a:t>
            </a:r>
          </a:p>
          <a:p>
            <a:pPr algn="l">
              <a:lnSpc>
                <a:spcPct val="132000"/>
              </a:lnSpc>
            </a:pPr>
            <a:r>
              <a:rPr sz="1150" b="0">
                <a:solidFill>
                  <a:srgbClr val="C4B5E8"/>
                </a:solidFill>
                <a:latin typeface="Courier New"/>
              </a:rPr>
              <a:t>  pytest tests -q   # tests — wrong behaviour</a:t>
            </a:r>
          </a:p>
        </p:txBody>
      </p:sp>
      <p:sp>
        <p:nvSpPr>
          <p:cNvPr id="7" name="Rectangle 6"/>
          <p:cNvSpPr/>
          <p:nvPr/>
        </p:nvSpPr>
        <p:spPr>
          <a:xfrm>
            <a:off x="5577840" y="1481328"/>
            <a:ext cx="3108960" cy="157276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06440" y="1682496"/>
            <a:ext cx="2651760" cy="274320"/>
          </a:xfrm>
          <a:prstGeom prst="rect">
            <a:avLst/>
          </a:prstGeom>
          <a:noFill/>
        </p:spPr>
        <p:txBody>
          <a:bodyPr wrap="square" lIns="0" tIns="0" rIns="0" bIns="0" anchor="t">
            <a:spAutoFit/>
          </a:bodyPr>
          <a:lstStyle/>
          <a:p>
            <a:pPr algn="l"/>
            <a:r>
              <a:rPr sz="1050" b="1">
                <a:solidFill>
                  <a:srgbClr val="7C3AED"/>
                </a:solidFill>
                <a:latin typeface="Calibri"/>
              </a:rPr>
              <a:t>WHY ONE COMMAND</a:t>
            </a:r>
          </a:p>
        </p:txBody>
      </p:sp>
      <p:sp>
        <p:nvSpPr>
          <p:cNvPr id="9" name="TextBox 8"/>
          <p:cNvSpPr txBox="1"/>
          <p:nvPr/>
        </p:nvSpPr>
        <p:spPr>
          <a:xfrm>
            <a:off x="5806440" y="2011680"/>
            <a:ext cx="2651760" cy="914400"/>
          </a:xfrm>
          <a:prstGeom prst="rect">
            <a:avLst/>
          </a:prstGeom>
          <a:noFill/>
        </p:spPr>
        <p:txBody>
          <a:bodyPr wrap="square" lIns="0" tIns="0" rIns="0" bIns="0" anchor="t">
            <a:spAutoFit/>
          </a:bodyPr>
          <a:lstStyle/>
          <a:p>
            <a:pPr algn="l">
              <a:lnSpc>
                <a:spcPct val="110000"/>
              </a:lnSpc>
            </a:pPr>
            <a:r>
              <a:rPr sz="1200" b="0">
                <a:solidFill>
                  <a:srgbClr val="2D1155"/>
                </a:solidFill>
                <a:latin typeface="Calibri"/>
              </a:rPr>
              <a:t>The agent can run it, read the failure, and fix itself — without asking you.</a:t>
            </a:r>
          </a:p>
        </p:txBody>
      </p:sp>
      <p:sp>
        <p:nvSpPr>
          <p:cNvPr id="10" name="TextBox 9"/>
          <p:cNvSpPr txBox="1"/>
          <p:nvPr/>
        </p:nvSpPr>
        <p:spPr>
          <a:xfrm>
            <a:off x="457200" y="3200400"/>
            <a:ext cx="8229600" cy="384048"/>
          </a:xfrm>
          <a:prstGeom prst="rect">
            <a:avLst/>
          </a:prstGeom>
          <a:noFill/>
        </p:spPr>
        <p:txBody>
          <a:bodyPr wrap="square" lIns="0" tIns="0" rIns="0" bIns="0" anchor="t">
            <a:spAutoFit/>
          </a:bodyPr>
          <a:lstStyle/>
          <a:p>
            <a:pPr algn="l">
              <a:lnSpc>
                <a:spcPct val="108000"/>
              </a:lnSpc>
            </a:pPr>
            <a:r>
              <a:rPr sz="900" b="1">
                <a:solidFill>
                  <a:srgbClr val="F59E0B"/>
                </a:solidFill>
                <a:latin typeface="Calibri"/>
              </a:rPr>
              <a:t>IN PLAIN TERMS   </a:t>
            </a:r>
            <a:r>
              <a:rPr sz="1200" b="0">
                <a:solidFill>
                  <a:srgbClr val="6E6389"/>
                </a:solidFill>
                <a:latin typeface="Calibri"/>
              </a:rPr>
              <a:t>A harness is just a single command that says yes or no. If it passes, the agent has proof. If it fails, it has a specific error to work from.</a:t>
            </a:r>
          </a:p>
        </p:txBody>
      </p:sp>
      <p:sp>
        <p:nvSpPr>
          <p:cNvPr id="11" name="Rectangle 10"/>
          <p:cNvSpPr/>
          <p:nvPr/>
        </p:nvSpPr>
        <p:spPr>
          <a:xfrm>
            <a:off x="457200" y="3794760"/>
            <a:ext cx="8229600" cy="713232"/>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794760"/>
            <a:ext cx="7498079" cy="713232"/>
          </a:xfrm>
          <a:prstGeom prst="rect">
            <a:avLst/>
          </a:prstGeom>
          <a:noFill/>
        </p:spPr>
        <p:txBody>
          <a:bodyPr wrap="square" lIns="0" tIns="0" rIns="0" bIns="0" anchor="ctr">
            <a:spAutoFit/>
          </a:bodyPr>
          <a:lstStyle/>
          <a:p>
            <a:pPr algn="l"/>
            <a:r>
              <a:rPr sz="1400" b="1">
                <a:solidFill>
                  <a:srgbClr val="FFFFFF"/>
                </a:solidFill>
                <a:latin typeface="Arial Black"/>
              </a:rPr>
              <a:t>The cheapest reliability win there is: the agent self-verifies at the end of every turn.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TESTS ARE THE SPEC</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Write them before the implementation — and make them fail first.</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8229600" cy="13716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664208"/>
            <a:ext cx="7772400" cy="256032"/>
          </a:xfrm>
          <a:prstGeom prst="rect">
            <a:avLst/>
          </a:prstGeom>
          <a:noFill/>
        </p:spPr>
        <p:txBody>
          <a:bodyPr wrap="square" lIns="0" tIns="0" rIns="0" bIns="0" anchor="t">
            <a:spAutoFit/>
          </a:bodyPr>
          <a:lstStyle/>
          <a:p>
            <a:pPr algn="l"/>
            <a:r>
              <a:rPr sz="1000" b="1">
                <a:solidFill>
                  <a:srgbClr val="7C3AED"/>
                </a:solidFill>
                <a:latin typeface="Calibri"/>
              </a:rPr>
              <a:t>PROMPT</a:t>
            </a:r>
          </a:p>
        </p:txBody>
      </p:sp>
      <p:sp>
        <p:nvSpPr>
          <p:cNvPr id="7" name="TextBox 6"/>
          <p:cNvSpPr txBox="1"/>
          <p:nvPr/>
        </p:nvSpPr>
        <p:spPr>
          <a:xfrm>
            <a:off x="713232" y="1956816"/>
            <a:ext cx="7772400" cy="8229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“Write a pytest suite for the streak logic, covering the edge cases we skipped: a missed scheduled day resets the streak; completing twice in one day is idempotent; a day still in progress doesn't reset it. Run them, show me one failing, then make it pass.”</a:t>
            </a:r>
          </a:p>
        </p:txBody>
      </p:sp>
      <p:sp>
        <p:nvSpPr>
          <p:cNvPr id="8" name="Rectangle 7"/>
          <p:cNvSpPr/>
          <p:nvPr/>
        </p:nvSpPr>
        <p:spPr>
          <a:xfrm>
            <a:off x="457200" y="2999232"/>
            <a:ext cx="2615184" cy="117043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3163824"/>
            <a:ext cx="2240280" cy="256032"/>
          </a:xfrm>
          <a:prstGeom prst="rect">
            <a:avLst/>
          </a:prstGeom>
          <a:noFill/>
        </p:spPr>
        <p:txBody>
          <a:bodyPr wrap="square" lIns="0" tIns="0" rIns="0" bIns="0" anchor="t">
            <a:spAutoFit/>
          </a:bodyPr>
          <a:lstStyle/>
          <a:p>
            <a:pPr algn="l"/>
            <a:r>
              <a:rPr sz="1050" b="1">
                <a:solidFill>
                  <a:srgbClr val="F59E0B"/>
                </a:solidFill>
                <a:latin typeface="Calibri"/>
              </a:rPr>
              <a:t>MISSED DAY</a:t>
            </a:r>
          </a:p>
        </p:txBody>
      </p:sp>
      <p:sp>
        <p:nvSpPr>
          <p:cNvPr id="10" name="TextBox 9"/>
          <p:cNvSpPr txBox="1"/>
          <p:nvPr/>
        </p:nvSpPr>
        <p:spPr>
          <a:xfrm>
            <a:off x="658368" y="3456432"/>
            <a:ext cx="2240280" cy="658368"/>
          </a:xfrm>
          <a:prstGeom prst="rect">
            <a:avLst/>
          </a:prstGeom>
          <a:noFill/>
        </p:spPr>
        <p:txBody>
          <a:bodyPr wrap="square" lIns="0" tIns="0" rIns="0" bIns="0" anchor="t">
            <a:spAutoFit/>
          </a:bodyPr>
          <a:lstStyle/>
          <a:p>
            <a:pPr algn="l">
              <a:lnSpc>
                <a:spcPct val="108000"/>
              </a:lnSpc>
            </a:pPr>
            <a:r>
              <a:rPr sz="1150" b="0">
                <a:solidFill>
                  <a:srgbClr val="2D1155"/>
                </a:solidFill>
                <a:latin typeface="Calibri"/>
              </a:rPr>
              <a:t>Streak resets to zero — the rule the whole app rests on.</a:t>
            </a:r>
          </a:p>
        </p:txBody>
      </p:sp>
      <p:sp>
        <p:nvSpPr>
          <p:cNvPr id="11" name="Rectangle 10"/>
          <p:cNvSpPr/>
          <p:nvPr/>
        </p:nvSpPr>
        <p:spPr>
          <a:xfrm>
            <a:off x="3264408" y="2999232"/>
            <a:ext cx="2615184" cy="117043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65576" y="3163824"/>
            <a:ext cx="2240280" cy="256032"/>
          </a:xfrm>
          <a:prstGeom prst="rect">
            <a:avLst/>
          </a:prstGeom>
          <a:noFill/>
        </p:spPr>
        <p:txBody>
          <a:bodyPr wrap="square" lIns="0" tIns="0" rIns="0" bIns="0" anchor="t">
            <a:spAutoFit/>
          </a:bodyPr>
          <a:lstStyle/>
          <a:p>
            <a:pPr algn="l"/>
            <a:r>
              <a:rPr sz="1050" b="1">
                <a:solidFill>
                  <a:srgbClr val="F59E0B"/>
                </a:solidFill>
                <a:latin typeface="Calibri"/>
              </a:rPr>
              <a:t>DOUBLE-TICK</a:t>
            </a:r>
          </a:p>
        </p:txBody>
      </p:sp>
      <p:sp>
        <p:nvSpPr>
          <p:cNvPr id="13" name="TextBox 12"/>
          <p:cNvSpPr txBox="1"/>
          <p:nvPr/>
        </p:nvSpPr>
        <p:spPr>
          <a:xfrm>
            <a:off x="3465576" y="3456432"/>
            <a:ext cx="2240280" cy="658368"/>
          </a:xfrm>
          <a:prstGeom prst="rect">
            <a:avLst/>
          </a:prstGeom>
          <a:noFill/>
        </p:spPr>
        <p:txBody>
          <a:bodyPr wrap="square" lIns="0" tIns="0" rIns="0" bIns="0" anchor="t">
            <a:spAutoFit/>
          </a:bodyPr>
          <a:lstStyle/>
          <a:p>
            <a:pPr algn="l">
              <a:lnSpc>
                <a:spcPct val="108000"/>
              </a:lnSpc>
            </a:pPr>
            <a:r>
              <a:rPr sz="1150" b="0">
                <a:solidFill>
                  <a:srgbClr val="2D1155"/>
                </a:solidFill>
                <a:latin typeface="Calibri"/>
              </a:rPr>
              <a:t>Two taps in one day is still one completion. (Idempotent.)</a:t>
            </a:r>
          </a:p>
        </p:txBody>
      </p:sp>
      <p:sp>
        <p:nvSpPr>
          <p:cNvPr id="14" name="Rectangle 13"/>
          <p:cNvSpPr/>
          <p:nvPr/>
        </p:nvSpPr>
        <p:spPr>
          <a:xfrm>
            <a:off x="6071616" y="2999232"/>
            <a:ext cx="2615184" cy="117043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72783" y="3163824"/>
            <a:ext cx="2240280" cy="256032"/>
          </a:xfrm>
          <a:prstGeom prst="rect">
            <a:avLst/>
          </a:prstGeom>
          <a:noFill/>
        </p:spPr>
        <p:txBody>
          <a:bodyPr wrap="square" lIns="0" tIns="0" rIns="0" bIns="0" anchor="t">
            <a:spAutoFit/>
          </a:bodyPr>
          <a:lstStyle/>
          <a:p>
            <a:pPr algn="l"/>
            <a:r>
              <a:rPr sz="1050" b="1">
                <a:solidFill>
                  <a:srgbClr val="F59E0B"/>
                </a:solidFill>
                <a:latin typeface="Calibri"/>
              </a:rPr>
              <a:t>MIDNIGHT</a:t>
            </a:r>
          </a:p>
        </p:txBody>
      </p:sp>
      <p:sp>
        <p:nvSpPr>
          <p:cNvPr id="16" name="TextBox 15"/>
          <p:cNvSpPr txBox="1"/>
          <p:nvPr/>
        </p:nvSpPr>
        <p:spPr>
          <a:xfrm>
            <a:off x="6272783" y="3456432"/>
            <a:ext cx="2240280" cy="658368"/>
          </a:xfrm>
          <a:prstGeom prst="rect">
            <a:avLst/>
          </a:prstGeom>
          <a:noFill/>
        </p:spPr>
        <p:txBody>
          <a:bodyPr wrap="square" lIns="0" tIns="0" rIns="0" bIns="0" anchor="t">
            <a:spAutoFit/>
          </a:bodyPr>
          <a:lstStyle/>
          <a:p>
            <a:pPr algn="l">
              <a:lnSpc>
                <a:spcPct val="108000"/>
              </a:lnSpc>
            </a:pPr>
            <a:r>
              <a:rPr sz="1150" b="0">
                <a:solidFill>
                  <a:srgbClr val="2D1155"/>
                </a:solidFill>
                <a:latin typeface="Calibri"/>
              </a:rPr>
              <a:t>Whose “today” is it? Nothing in this app knows. Record that gap, don't hide it.</a:t>
            </a:r>
          </a:p>
        </p:txBody>
      </p:sp>
      <p:sp>
        <p:nvSpPr>
          <p:cNvPr id="17" name="TextBox 16"/>
          <p:cNvSpPr txBox="1"/>
          <p:nvPr/>
        </p:nvSpPr>
        <p:spPr>
          <a:xfrm>
            <a:off x="457200" y="4315968"/>
            <a:ext cx="8229600" cy="320040"/>
          </a:xfrm>
          <a:prstGeom prst="rect">
            <a:avLst/>
          </a:prstGeom>
          <a:noFill/>
        </p:spPr>
        <p:txBody>
          <a:bodyPr wrap="square" lIns="0" tIns="0" rIns="0" bIns="0" anchor="t">
            <a:spAutoFit/>
          </a:bodyPr>
          <a:lstStyle/>
          <a:p>
            <a:pPr algn="l"/>
            <a:r>
              <a:rPr sz="1200" b="0">
                <a:solidFill>
                  <a:srgbClr val="6E6389"/>
                </a:solidFill>
                <a:latin typeface="Calibri"/>
              </a:rPr>
              <a:t>Seeing it fail first is the proof the test is real. A test that never failed proves nothing.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MOVE 2 · SUB-AGENTS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Three narrow jobs, each with its own fresh context and minimal tools.</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2615184"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81328"/>
            <a:ext cx="2615184"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81328"/>
            <a:ext cx="2615184" cy="457200"/>
          </a:xfrm>
          <a:prstGeom prst="rect">
            <a:avLst/>
          </a:prstGeom>
          <a:noFill/>
        </p:spPr>
        <p:txBody>
          <a:bodyPr wrap="square" lIns="0" tIns="0" rIns="0" bIns="0" anchor="ctr">
            <a:spAutoFit/>
          </a:bodyPr>
          <a:lstStyle/>
          <a:p>
            <a:pPr algn="ctr"/>
            <a:r>
              <a:rPr sz="1100" b="1">
                <a:solidFill>
                  <a:srgbClr val="FFFFFF"/>
                </a:solidFill>
                <a:latin typeface="Calibri"/>
              </a:rPr>
              <a:t>TEST-WRITER</a:t>
            </a:r>
          </a:p>
        </p:txBody>
      </p:sp>
      <p:sp>
        <p:nvSpPr>
          <p:cNvPr id="8" name="TextBox 7"/>
          <p:cNvSpPr txBox="1"/>
          <p:nvPr/>
        </p:nvSpPr>
        <p:spPr>
          <a:xfrm>
            <a:off x="658368" y="2121408"/>
            <a:ext cx="2240280" cy="100584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Writes failing tests from the requirement. Never implements.</a:t>
            </a:r>
          </a:p>
        </p:txBody>
      </p:sp>
      <p:sp>
        <p:nvSpPr>
          <p:cNvPr id="9" name="TextBox 8"/>
          <p:cNvSpPr txBox="1"/>
          <p:nvPr/>
        </p:nvSpPr>
        <p:spPr>
          <a:xfrm>
            <a:off x="658368" y="3200400"/>
            <a:ext cx="2240280" cy="292608"/>
          </a:xfrm>
          <a:prstGeom prst="rect">
            <a:avLst/>
          </a:prstGeom>
          <a:noFill/>
        </p:spPr>
        <p:txBody>
          <a:bodyPr wrap="square" lIns="0" tIns="0" rIns="0" bIns="0" anchor="t">
            <a:spAutoFit/>
          </a:bodyPr>
          <a:lstStyle/>
          <a:p>
            <a:pPr algn="l"/>
            <a:r>
              <a:rPr sz="900" b="1">
                <a:solidFill>
                  <a:srgbClr val="F59E0B"/>
                </a:solidFill>
                <a:latin typeface="Calibri"/>
              </a:rPr>
              <a:t>TOOLS:  </a:t>
            </a:r>
            <a:r>
              <a:rPr sz="1050" b="0">
                <a:solidFill>
                  <a:srgbClr val="6E6389"/>
                </a:solidFill>
                <a:latin typeface="Courier New"/>
              </a:rPr>
              <a:t>read + write tests</a:t>
            </a:r>
          </a:p>
        </p:txBody>
      </p:sp>
      <p:sp>
        <p:nvSpPr>
          <p:cNvPr id="10" name="Rectangle 9"/>
          <p:cNvSpPr/>
          <p:nvPr/>
        </p:nvSpPr>
        <p:spPr>
          <a:xfrm>
            <a:off x="3264408" y="1481328"/>
            <a:ext cx="2615184"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64408" y="1481328"/>
            <a:ext cx="2615184"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64408" y="1481328"/>
            <a:ext cx="2615184" cy="457200"/>
          </a:xfrm>
          <a:prstGeom prst="rect">
            <a:avLst/>
          </a:prstGeom>
          <a:noFill/>
        </p:spPr>
        <p:txBody>
          <a:bodyPr wrap="square" lIns="0" tIns="0" rIns="0" bIns="0" anchor="ctr">
            <a:spAutoFit/>
          </a:bodyPr>
          <a:lstStyle/>
          <a:p>
            <a:pPr algn="ctr"/>
            <a:r>
              <a:rPr sz="1100" b="1">
                <a:solidFill>
                  <a:srgbClr val="FFFFFF"/>
                </a:solidFill>
                <a:latin typeface="Calibri"/>
              </a:rPr>
              <a:t>REVIEWER</a:t>
            </a:r>
          </a:p>
        </p:txBody>
      </p:sp>
      <p:sp>
        <p:nvSpPr>
          <p:cNvPr id="13" name="TextBox 12"/>
          <p:cNvSpPr txBox="1"/>
          <p:nvPr/>
        </p:nvSpPr>
        <p:spPr>
          <a:xfrm>
            <a:off x="3465576" y="2121408"/>
            <a:ext cx="2240280" cy="100584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Reads the diff, reports bugs as a numbered list with file:line.</a:t>
            </a:r>
          </a:p>
        </p:txBody>
      </p:sp>
      <p:sp>
        <p:nvSpPr>
          <p:cNvPr id="14" name="TextBox 13"/>
          <p:cNvSpPr txBox="1"/>
          <p:nvPr/>
        </p:nvSpPr>
        <p:spPr>
          <a:xfrm>
            <a:off x="3465576" y="3200400"/>
            <a:ext cx="2240280" cy="292608"/>
          </a:xfrm>
          <a:prstGeom prst="rect">
            <a:avLst/>
          </a:prstGeom>
          <a:noFill/>
        </p:spPr>
        <p:txBody>
          <a:bodyPr wrap="square" lIns="0" tIns="0" rIns="0" bIns="0" anchor="t">
            <a:spAutoFit/>
          </a:bodyPr>
          <a:lstStyle/>
          <a:p>
            <a:pPr algn="l"/>
            <a:r>
              <a:rPr sz="900" b="1">
                <a:solidFill>
                  <a:srgbClr val="F59E0B"/>
                </a:solidFill>
                <a:latin typeface="Calibri"/>
              </a:rPr>
              <a:t>TOOLS:  </a:t>
            </a:r>
            <a:r>
              <a:rPr sz="1050" b="0">
                <a:solidFill>
                  <a:srgbClr val="6E6389"/>
                </a:solidFill>
                <a:latin typeface="Courier New"/>
              </a:rPr>
              <a:t>read-only — no edits</a:t>
            </a:r>
          </a:p>
        </p:txBody>
      </p:sp>
      <p:sp>
        <p:nvSpPr>
          <p:cNvPr id="15" name="Rectangle 14"/>
          <p:cNvSpPr/>
          <p:nvPr/>
        </p:nvSpPr>
        <p:spPr>
          <a:xfrm>
            <a:off x="6071616" y="1481328"/>
            <a:ext cx="2615184"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071616" y="1481328"/>
            <a:ext cx="2615184"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71616" y="1481328"/>
            <a:ext cx="2615184" cy="457200"/>
          </a:xfrm>
          <a:prstGeom prst="rect">
            <a:avLst/>
          </a:prstGeom>
          <a:noFill/>
        </p:spPr>
        <p:txBody>
          <a:bodyPr wrap="square" lIns="0" tIns="0" rIns="0" bIns="0" anchor="ctr">
            <a:spAutoFit/>
          </a:bodyPr>
          <a:lstStyle/>
          <a:p>
            <a:pPr algn="ctr"/>
            <a:r>
              <a:rPr sz="1100" b="1">
                <a:solidFill>
                  <a:srgbClr val="FFFFFF"/>
                </a:solidFill>
                <a:latin typeface="Calibri"/>
              </a:rPr>
              <a:t>VERIFIER</a:t>
            </a:r>
          </a:p>
        </p:txBody>
      </p:sp>
      <p:sp>
        <p:nvSpPr>
          <p:cNvPr id="18" name="TextBox 17"/>
          <p:cNvSpPr txBox="1"/>
          <p:nvPr/>
        </p:nvSpPr>
        <p:spPr>
          <a:xfrm>
            <a:off x="6272783" y="2121408"/>
            <a:ext cx="2240280" cy="100584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Runs make check and the app. Confirms green, or says why not.</a:t>
            </a:r>
          </a:p>
        </p:txBody>
      </p:sp>
      <p:sp>
        <p:nvSpPr>
          <p:cNvPr id="19" name="TextBox 18"/>
          <p:cNvSpPr txBox="1"/>
          <p:nvPr/>
        </p:nvSpPr>
        <p:spPr>
          <a:xfrm>
            <a:off x="6272783" y="3200400"/>
            <a:ext cx="2240280" cy="292608"/>
          </a:xfrm>
          <a:prstGeom prst="rect">
            <a:avLst/>
          </a:prstGeom>
          <a:noFill/>
        </p:spPr>
        <p:txBody>
          <a:bodyPr wrap="square" lIns="0" tIns="0" rIns="0" bIns="0" anchor="t">
            <a:spAutoFit/>
          </a:bodyPr>
          <a:lstStyle/>
          <a:p>
            <a:pPr algn="l"/>
            <a:r>
              <a:rPr sz="900" b="1">
                <a:solidFill>
                  <a:srgbClr val="F59E0B"/>
                </a:solidFill>
                <a:latin typeface="Calibri"/>
              </a:rPr>
              <a:t>TOOLS:  </a:t>
            </a:r>
            <a:r>
              <a:rPr sz="1050" b="0">
                <a:solidFill>
                  <a:srgbClr val="6E6389"/>
                </a:solidFill>
                <a:latin typeface="Courier New"/>
              </a:rPr>
              <a:t>read + run shell</a:t>
            </a:r>
          </a:p>
        </p:txBody>
      </p:sp>
      <p:sp>
        <p:nvSpPr>
          <p:cNvPr id="20" name="Rectangle 19"/>
          <p:cNvSpPr/>
          <p:nvPr/>
        </p:nvSpPr>
        <p:spPr>
          <a:xfrm>
            <a:off x="457200" y="3749039"/>
            <a:ext cx="7772400" cy="822960"/>
          </a:xfrm>
          <a:prstGeom prst="rect">
            <a:avLst/>
          </a:prstGeom>
          <a:solidFill>
            <a:srgbClr val="1E0B3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913631"/>
            <a:ext cx="7370064" cy="493776"/>
          </a:xfrm>
          <a:prstGeom prst="rect">
            <a:avLst/>
          </a:prstGeom>
          <a:noFill/>
        </p:spPr>
        <p:txBody>
          <a:bodyPr wrap="square" lIns="0" tIns="0" rIns="0" bIns="0" anchor="t">
            <a:spAutoFit/>
          </a:bodyPr>
          <a:lstStyle/>
          <a:p>
            <a:pPr algn="l">
              <a:lnSpc>
                <a:spcPct val="132000"/>
              </a:lnSpc>
            </a:pPr>
            <a:r>
              <a:rPr sz="1050" b="0">
                <a:solidFill>
                  <a:srgbClr val="C4B5E8"/>
                </a:solidFill>
                <a:latin typeface="Courier New"/>
              </a:rPr>
              <a:t>Claude Code   .claude/agents/reviewer.md     # markdown + frontmatter</a:t>
            </a:r>
            <a:br/>
            <a:r>
              <a:rPr sz="1050" b="0">
                <a:solidFill>
                  <a:srgbClr val="C4B5E8"/>
                </a:solidFill>
                <a:latin typeface="Courier New"/>
              </a:rPr>
              <a:t>Codex         .codex/agents/reviewer.toml   # sandbox_mode = "read-only"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WHY NARROW BEATS CAPABLE</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The counter-intuitive bit — give each agent less, not more.</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72768"/>
            <a:ext cx="4023360"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72768"/>
            <a:ext cx="4023360" cy="475488"/>
          </a:xfrm>
          <a:prstGeom prst="rect">
            <a:avLst/>
          </a:prstGeom>
          <a:solidFill>
            <a:srgbClr val="9B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72768"/>
            <a:ext cx="4023360" cy="475488"/>
          </a:xfrm>
          <a:prstGeom prst="rect">
            <a:avLst/>
          </a:prstGeom>
          <a:noFill/>
        </p:spPr>
        <p:txBody>
          <a:bodyPr wrap="square" lIns="0" tIns="0" rIns="0" bIns="0" anchor="ctr">
            <a:spAutoFit/>
          </a:bodyPr>
          <a:lstStyle/>
          <a:p>
            <a:pPr algn="ctr"/>
            <a:r>
              <a:rPr sz="1100" b="1">
                <a:solidFill>
                  <a:srgbClr val="FFFFFF"/>
                </a:solidFill>
                <a:latin typeface="Calibri"/>
              </a:rPr>
              <a:t>✕   ONE AGENT, ALL THE JOBS</a:t>
            </a:r>
          </a:p>
        </p:txBody>
      </p:sp>
      <p:sp>
        <p:nvSpPr>
          <p:cNvPr id="8" name="TextBox 7"/>
          <p:cNvSpPr txBox="1"/>
          <p:nvPr/>
        </p:nvSpPr>
        <p:spPr>
          <a:xfrm>
            <a:off x="713232" y="2267712"/>
            <a:ext cx="3520440" cy="132588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It wrote the code, so it reviews its own work kindly. Its context is full of the reasons it thought the code was fine — the same blind spot, twice.</a:t>
            </a:r>
          </a:p>
        </p:txBody>
      </p:sp>
      <p:sp>
        <p:nvSpPr>
          <p:cNvPr id="9" name="Rectangle 8"/>
          <p:cNvSpPr/>
          <p:nvPr/>
        </p:nvSpPr>
        <p:spPr>
          <a:xfrm>
            <a:off x="4663440" y="1572768"/>
            <a:ext cx="4023360"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63440" y="1572768"/>
            <a:ext cx="4023360" cy="47548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1572768"/>
            <a:ext cx="4023360" cy="475488"/>
          </a:xfrm>
          <a:prstGeom prst="rect">
            <a:avLst/>
          </a:prstGeom>
          <a:noFill/>
        </p:spPr>
        <p:txBody>
          <a:bodyPr wrap="square" lIns="0" tIns="0" rIns="0" bIns="0" anchor="ctr">
            <a:spAutoFit/>
          </a:bodyPr>
          <a:lstStyle/>
          <a:p>
            <a:pPr algn="ctr"/>
            <a:r>
              <a:rPr sz="1100" b="1">
                <a:solidFill>
                  <a:srgbClr val="FFFFFF"/>
                </a:solidFill>
                <a:latin typeface="Calibri"/>
              </a:rPr>
              <a:t>✓   SEPARATE, NARROW AGENTS</a:t>
            </a:r>
          </a:p>
        </p:txBody>
      </p:sp>
      <p:sp>
        <p:nvSpPr>
          <p:cNvPr id="12" name="TextBox 11"/>
          <p:cNvSpPr txBox="1"/>
          <p:nvPr/>
        </p:nvSpPr>
        <p:spPr>
          <a:xfrm>
            <a:off x="4919472" y="2267712"/>
            <a:ext cx="3520440" cy="132588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A reviewer that never saw the reasoning arrives fresh. And one with no write access can only report problems — it can’t quietly “fix” them into hiding.</a:t>
            </a:r>
          </a:p>
        </p:txBody>
      </p:sp>
      <p:sp>
        <p:nvSpPr>
          <p:cNvPr id="13" name="Rectangle 12"/>
          <p:cNvSpPr/>
          <p:nvPr/>
        </p:nvSpPr>
        <p:spPr>
          <a:xfrm>
            <a:off x="457200" y="3822191"/>
            <a:ext cx="8229600" cy="65836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822191"/>
            <a:ext cx="7498079" cy="658368"/>
          </a:xfrm>
          <a:prstGeom prst="rect">
            <a:avLst/>
          </a:prstGeom>
          <a:noFill/>
        </p:spPr>
        <p:txBody>
          <a:bodyPr wrap="square" lIns="0" tIns="0" rIns="0" bIns="0" anchor="ctr">
            <a:spAutoFit/>
          </a:bodyPr>
          <a:lstStyle/>
          <a:p>
            <a:pPr algn="l"/>
            <a:r>
              <a:rPr sz="1500" b="1">
                <a:solidFill>
                  <a:srgbClr val="FFFFFF"/>
                </a:solidFill>
                <a:latin typeface="Arial Black"/>
              </a:rPr>
              <a:t>A reviewer with no write access gives more honest reviews.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HOW THE HANDOFF WORKS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A sub-agent doesn't share your conversation. It gets a brief, and hands back a verdict.</a:t>
            </a:r>
          </a:p>
        </p:txBody>
      </p:sp>
      <p:pic>
        <p:nvPicPr>
          <p:cNvPr id="4" name="Picture 3" descr="image.jp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371600"/>
            <a:ext cx="2615184" cy="18288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71600"/>
            <a:ext cx="2615184"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71600"/>
            <a:ext cx="2615184" cy="457200"/>
          </a:xfrm>
          <a:prstGeom prst="rect">
            <a:avLst/>
          </a:prstGeom>
          <a:noFill/>
        </p:spPr>
        <p:txBody>
          <a:bodyPr wrap="square" lIns="0" tIns="0" rIns="0" bIns="0" anchor="ctr">
            <a:spAutoFit/>
          </a:bodyPr>
          <a:lstStyle/>
          <a:p>
            <a:pPr algn="ctr"/>
            <a:r>
              <a:rPr sz="1100" b="1">
                <a:solidFill>
                  <a:srgbClr val="FFFFFF"/>
                </a:solidFill>
                <a:latin typeface="Calibri"/>
              </a:rPr>
              <a:t>YOU BRIEF IT</a:t>
            </a:r>
          </a:p>
        </p:txBody>
      </p:sp>
      <p:sp>
        <p:nvSpPr>
          <p:cNvPr id="8" name="TextBox 7"/>
          <p:cNvSpPr txBox="1"/>
          <p:nvPr/>
        </p:nvSpPr>
        <p:spPr>
          <a:xfrm>
            <a:off x="658368" y="1965960"/>
            <a:ext cx="2240280" cy="8229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Only what you write in the prompt crosses over. It can't see the conversation that led here.</a:t>
            </a:r>
          </a:p>
        </p:txBody>
      </p:sp>
      <p:sp>
        <p:nvSpPr>
          <p:cNvPr id="9" name="TextBox 8"/>
          <p:cNvSpPr txBox="1"/>
          <p:nvPr/>
        </p:nvSpPr>
        <p:spPr>
          <a:xfrm>
            <a:off x="658368" y="2871216"/>
            <a:ext cx="2240280" cy="292608"/>
          </a:xfrm>
          <a:prstGeom prst="rect">
            <a:avLst/>
          </a:prstGeom>
          <a:noFill/>
        </p:spPr>
        <p:txBody>
          <a:bodyPr wrap="square" lIns="0" tIns="0" rIns="0" bIns="0" anchor="t">
            <a:spAutoFit/>
          </a:bodyPr>
          <a:lstStyle/>
          <a:p>
            <a:pPr algn="l"/>
            <a:r>
              <a:rPr sz="900" b="1">
                <a:solidFill>
                  <a:srgbClr val="F59E0B"/>
                </a:solidFill>
                <a:latin typeface="Calibri"/>
              </a:rPr>
              <a:t>CROSSES:  </a:t>
            </a:r>
            <a:r>
              <a:rPr sz="1050" b="0">
                <a:solidFill>
                  <a:srgbClr val="6E6389"/>
                </a:solidFill>
                <a:latin typeface="Courier New"/>
              </a:rPr>
              <a:t>the prompt only</a:t>
            </a:r>
          </a:p>
        </p:txBody>
      </p:sp>
      <p:sp>
        <p:nvSpPr>
          <p:cNvPr id="10" name="Rectangle 9"/>
          <p:cNvSpPr/>
          <p:nvPr/>
        </p:nvSpPr>
        <p:spPr>
          <a:xfrm>
            <a:off x="3264408" y="1371600"/>
            <a:ext cx="2615184" cy="18288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64408" y="1371600"/>
            <a:ext cx="2615184"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64408" y="1371600"/>
            <a:ext cx="2615184" cy="457200"/>
          </a:xfrm>
          <a:prstGeom prst="rect">
            <a:avLst/>
          </a:prstGeom>
          <a:noFill/>
        </p:spPr>
        <p:txBody>
          <a:bodyPr wrap="square" lIns="0" tIns="0" rIns="0" bIns="0" anchor="ctr">
            <a:spAutoFit/>
          </a:bodyPr>
          <a:lstStyle/>
          <a:p>
            <a:pPr algn="ctr"/>
            <a:r>
              <a:rPr sz="1100" b="1">
                <a:solidFill>
                  <a:srgbClr val="FFFFFF"/>
                </a:solidFill>
                <a:latin typeface="Calibri"/>
              </a:rPr>
              <a:t>IT WORKS ALONE</a:t>
            </a:r>
          </a:p>
        </p:txBody>
      </p:sp>
      <p:sp>
        <p:nvSpPr>
          <p:cNvPr id="13" name="TextBox 12"/>
          <p:cNvSpPr txBox="1"/>
          <p:nvPr/>
        </p:nvSpPr>
        <p:spPr>
          <a:xfrm>
            <a:off x="3465576" y="1965960"/>
            <a:ext cx="2240280" cy="8229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Its own context window, its own tool permissions. It fills up, then it's gone.</a:t>
            </a:r>
          </a:p>
        </p:txBody>
      </p:sp>
      <p:sp>
        <p:nvSpPr>
          <p:cNvPr id="14" name="TextBox 13"/>
          <p:cNvSpPr txBox="1"/>
          <p:nvPr/>
        </p:nvSpPr>
        <p:spPr>
          <a:xfrm>
            <a:off x="3465576" y="2871216"/>
            <a:ext cx="2240280" cy="292608"/>
          </a:xfrm>
          <a:prstGeom prst="rect">
            <a:avLst/>
          </a:prstGeom>
          <a:noFill/>
        </p:spPr>
        <p:txBody>
          <a:bodyPr wrap="square" lIns="0" tIns="0" rIns="0" bIns="0" anchor="t">
            <a:spAutoFit/>
          </a:bodyPr>
          <a:lstStyle/>
          <a:p>
            <a:pPr algn="l"/>
            <a:r>
              <a:rPr sz="900" b="1">
                <a:solidFill>
                  <a:srgbClr val="F59E0B"/>
                </a:solidFill>
                <a:latin typeface="Calibri"/>
              </a:rPr>
              <a:t>ITS OWN:  </a:t>
            </a:r>
            <a:r>
              <a:rPr sz="1050" b="0">
                <a:solidFill>
                  <a:srgbClr val="6E6389"/>
                </a:solidFill>
                <a:latin typeface="Courier New"/>
              </a:rPr>
              <a:t>context + tools</a:t>
            </a:r>
          </a:p>
        </p:txBody>
      </p:sp>
      <p:sp>
        <p:nvSpPr>
          <p:cNvPr id="15" name="Rectangle 14"/>
          <p:cNvSpPr/>
          <p:nvPr/>
        </p:nvSpPr>
        <p:spPr>
          <a:xfrm>
            <a:off x="6071616" y="1371600"/>
            <a:ext cx="2615184" cy="18288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071616" y="1371600"/>
            <a:ext cx="2615184"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71616" y="1371600"/>
            <a:ext cx="2615184" cy="457200"/>
          </a:xfrm>
          <a:prstGeom prst="rect">
            <a:avLst/>
          </a:prstGeom>
          <a:noFill/>
        </p:spPr>
        <p:txBody>
          <a:bodyPr wrap="square" lIns="0" tIns="0" rIns="0" bIns="0" anchor="ctr">
            <a:spAutoFit/>
          </a:bodyPr>
          <a:lstStyle/>
          <a:p>
            <a:pPr algn="ctr"/>
            <a:r>
              <a:rPr sz="1100" b="1">
                <a:solidFill>
                  <a:srgbClr val="FFFFFF"/>
                </a:solidFill>
                <a:latin typeface="Calibri"/>
              </a:rPr>
              <a:t>IT HANDS BACK</a:t>
            </a:r>
          </a:p>
        </p:txBody>
      </p:sp>
      <p:sp>
        <p:nvSpPr>
          <p:cNvPr id="18" name="TextBox 17"/>
          <p:cNvSpPr txBox="1"/>
          <p:nvPr/>
        </p:nvSpPr>
        <p:spPr>
          <a:xfrm>
            <a:off x="6272783" y="1965960"/>
            <a:ext cx="2240280" cy="8229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One summary comes back to your session. Not its reasoning, not the forty files it read.</a:t>
            </a:r>
          </a:p>
        </p:txBody>
      </p:sp>
      <p:sp>
        <p:nvSpPr>
          <p:cNvPr id="19" name="TextBox 18"/>
          <p:cNvSpPr txBox="1"/>
          <p:nvPr/>
        </p:nvSpPr>
        <p:spPr>
          <a:xfrm>
            <a:off x="6272783" y="2871216"/>
            <a:ext cx="2240280" cy="292608"/>
          </a:xfrm>
          <a:prstGeom prst="rect">
            <a:avLst/>
          </a:prstGeom>
          <a:noFill/>
        </p:spPr>
        <p:txBody>
          <a:bodyPr wrap="square" lIns="0" tIns="0" rIns="0" bIns="0" anchor="t">
            <a:spAutoFit/>
          </a:bodyPr>
          <a:lstStyle/>
          <a:p>
            <a:pPr algn="l"/>
            <a:r>
              <a:rPr sz="900" b="1">
                <a:solidFill>
                  <a:srgbClr val="F59E0B"/>
                </a:solidFill>
                <a:latin typeface="Calibri"/>
              </a:rPr>
              <a:t>RETURNS:  </a:t>
            </a:r>
            <a:r>
              <a:rPr sz="1050" b="0">
                <a:solidFill>
                  <a:srgbClr val="6E6389"/>
                </a:solidFill>
                <a:latin typeface="Courier New"/>
              </a:rPr>
              <a:t>one summary</a:t>
            </a:r>
          </a:p>
        </p:txBody>
      </p:sp>
      <p:sp>
        <p:nvSpPr>
          <p:cNvPr id="20" name="TextBox 19"/>
          <p:cNvSpPr txBox="1"/>
          <p:nvPr/>
        </p:nvSpPr>
        <p:spPr>
          <a:xfrm>
            <a:off x="457200" y="3310128"/>
            <a:ext cx="8229600" cy="384048"/>
          </a:xfrm>
          <a:prstGeom prst="rect">
            <a:avLst/>
          </a:prstGeom>
          <a:noFill/>
        </p:spPr>
        <p:txBody>
          <a:bodyPr wrap="square" lIns="0" tIns="0" rIns="0" bIns="0" anchor="t">
            <a:spAutoFit/>
          </a:bodyPr>
          <a:lstStyle/>
          <a:p>
            <a:pPr algn="l">
              <a:lnSpc>
                <a:spcPct val="108000"/>
              </a:lnSpc>
            </a:pPr>
            <a:r>
              <a:rPr sz="900" b="1">
                <a:solidFill>
                  <a:srgbClr val="F59E0B"/>
                </a:solidFill>
                <a:latin typeface="Calibri"/>
              </a:rPr>
              <a:t>IN PLAIN TERMS   </a:t>
            </a:r>
            <a:r>
              <a:rPr sz="1200" b="0">
                <a:solidFill>
                  <a:srgbClr val="6E6389"/>
                </a:solidFill>
                <a:latin typeface="Calibri"/>
              </a:rPr>
              <a:t>Every handoff needs a defined input and output. “Here is the diff, return numbered bugs with file:line and severity” works. “Reviewer, thoughts?” returns mush.</a:t>
            </a:r>
          </a:p>
        </p:txBody>
      </p:sp>
      <p:sp>
        <p:nvSpPr>
          <p:cNvPr id="21" name="Rectangle 20"/>
          <p:cNvSpPr/>
          <p:nvPr/>
        </p:nvSpPr>
        <p:spPr>
          <a:xfrm>
            <a:off x="457200" y="3767328"/>
            <a:ext cx="8229600" cy="65836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767328"/>
            <a:ext cx="7498079" cy="658368"/>
          </a:xfrm>
          <a:prstGeom prst="rect">
            <a:avLst/>
          </a:prstGeom>
          <a:noFill/>
        </p:spPr>
        <p:txBody>
          <a:bodyPr wrap="square" lIns="0" tIns="0" rIns="0" bIns="0" anchor="ctr">
            <a:spAutoFit/>
          </a:bodyPr>
          <a:lstStyle/>
          <a:p>
            <a:pPr algn="l">
              <a:lnSpc>
                <a:spcPct val="112000"/>
              </a:lnSpc>
            </a:pPr>
            <a:r>
              <a:rPr sz="1500" b="1">
                <a:solidFill>
                  <a:srgbClr val="FFFFFF"/>
                </a:solidFill>
                <a:latin typeface="Arial Black"/>
              </a:rPr>
              <a:t>Context isn't shared. It's passed, and only what you pass exists.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MOVE 3 · THE AGENT TEAM</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The centrepiece. Four roles in sequence, you at the top.</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72768"/>
            <a:ext cx="1828800" cy="10515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783080"/>
            <a:ext cx="1645920" cy="292608"/>
          </a:xfrm>
          <a:prstGeom prst="rect">
            <a:avLst/>
          </a:prstGeom>
          <a:noFill/>
        </p:spPr>
        <p:txBody>
          <a:bodyPr wrap="square" lIns="0" tIns="0" rIns="0" bIns="0" anchor="t">
            <a:spAutoFit/>
          </a:bodyPr>
          <a:lstStyle/>
          <a:p>
            <a:pPr algn="ctr"/>
            <a:r>
              <a:rPr sz="1150" b="1">
                <a:solidFill>
                  <a:srgbClr val="2D1155"/>
                </a:solidFill>
                <a:latin typeface="Arial Black"/>
              </a:rPr>
              <a:t>TEST-WRITER</a:t>
            </a:r>
          </a:p>
        </p:txBody>
      </p:sp>
      <p:sp>
        <p:nvSpPr>
          <p:cNvPr id="7" name="TextBox 6"/>
          <p:cNvSpPr txBox="1"/>
          <p:nvPr/>
        </p:nvSpPr>
        <p:spPr>
          <a:xfrm>
            <a:off x="548640" y="2121408"/>
            <a:ext cx="1645920" cy="411480"/>
          </a:xfrm>
          <a:prstGeom prst="rect">
            <a:avLst/>
          </a:prstGeom>
          <a:noFill/>
        </p:spPr>
        <p:txBody>
          <a:bodyPr wrap="square" lIns="0" tIns="0" rIns="0" bIns="0" anchor="t">
            <a:spAutoFit/>
          </a:bodyPr>
          <a:lstStyle/>
          <a:p>
            <a:pPr algn="ctr"/>
            <a:r>
              <a:rPr sz="1050" b="0">
                <a:solidFill>
                  <a:srgbClr val="6E6389"/>
                </a:solidFill>
                <a:latin typeface="Calibri"/>
              </a:rPr>
              <a:t>writes failing tests</a:t>
            </a:r>
          </a:p>
        </p:txBody>
      </p:sp>
      <p:sp>
        <p:nvSpPr>
          <p:cNvPr id="8" name="TextBox 7"/>
          <p:cNvSpPr txBox="1"/>
          <p:nvPr/>
        </p:nvSpPr>
        <p:spPr>
          <a:xfrm>
            <a:off x="2286000" y="1572768"/>
            <a:ext cx="301752" cy="1051560"/>
          </a:xfrm>
          <a:prstGeom prst="rect">
            <a:avLst/>
          </a:prstGeom>
          <a:noFill/>
        </p:spPr>
        <p:txBody>
          <a:bodyPr wrap="square" lIns="0" tIns="0" rIns="0" bIns="0" anchor="ctr">
            <a:spAutoFit/>
          </a:bodyPr>
          <a:lstStyle/>
          <a:p>
            <a:pPr algn="ctr"/>
            <a:r>
              <a:rPr sz="2400" b="1">
                <a:solidFill>
                  <a:srgbClr val="7C3AED"/>
                </a:solidFill>
                <a:latin typeface="Arial Black"/>
              </a:rPr>
              <a:t>›</a:t>
            </a:r>
          </a:p>
        </p:txBody>
      </p:sp>
      <p:sp>
        <p:nvSpPr>
          <p:cNvPr id="9" name="Rectangle 8"/>
          <p:cNvSpPr/>
          <p:nvPr/>
        </p:nvSpPr>
        <p:spPr>
          <a:xfrm>
            <a:off x="2587752" y="1572768"/>
            <a:ext cx="1828800" cy="10515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79192" y="1783080"/>
            <a:ext cx="1645920" cy="292608"/>
          </a:xfrm>
          <a:prstGeom prst="rect">
            <a:avLst/>
          </a:prstGeom>
          <a:noFill/>
        </p:spPr>
        <p:txBody>
          <a:bodyPr wrap="square" lIns="0" tIns="0" rIns="0" bIns="0" anchor="t">
            <a:spAutoFit/>
          </a:bodyPr>
          <a:lstStyle/>
          <a:p>
            <a:pPr algn="ctr"/>
            <a:r>
              <a:rPr sz="1150" b="1">
                <a:solidFill>
                  <a:srgbClr val="2D1155"/>
                </a:solidFill>
                <a:latin typeface="Arial Black"/>
              </a:rPr>
              <a:t>IMPLEMENTER</a:t>
            </a:r>
          </a:p>
        </p:txBody>
      </p:sp>
      <p:sp>
        <p:nvSpPr>
          <p:cNvPr id="11" name="TextBox 10"/>
          <p:cNvSpPr txBox="1"/>
          <p:nvPr/>
        </p:nvSpPr>
        <p:spPr>
          <a:xfrm>
            <a:off x="2679192" y="2121408"/>
            <a:ext cx="1645920" cy="411480"/>
          </a:xfrm>
          <a:prstGeom prst="rect">
            <a:avLst/>
          </a:prstGeom>
          <a:noFill/>
        </p:spPr>
        <p:txBody>
          <a:bodyPr wrap="square" lIns="0" tIns="0" rIns="0" bIns="0" anchor="t">
            <a:spAutoFit/>
          </a:bodyPr>
          <a:lstStyle/>
          <a:p>
            <a:pPr algn="ctr"/>
            <a:r>
              <a:rPr sz="1050" b="0">
                <a:solidFill>
                  <a:srgbClr val="6E6389"/>
                </a:solidFill>
                <a:latin typeface="Calibri"/>
              </a:rPr>
              <a:t>codes until green</a:t>
            </a:r>
          </a:p>
        </p:txBody>
      </p:sp>
      <p:sp>
        <p:nvSpPr>
          <p:cNvPr id="12" name="TextBox 11"/>
          <p:cNvSpPr txBox="1"/>
          <p:nvPr/>
        </p:nvSpPr>
        <p:spPr>
          <a:xfrm>
            <a:off x="4416552" y="1572768"/>
            <a:ext cx="301752" cy="1051560"/>
          </a:xfrm>
          <a:prstGeom prst="rect">
            <a:avLst/>
          </a:prstGeom>
          <a:noFill/>
        </p:spPr>
        <p:txBody>
          <a:bodyPr wrap="square" lIns="0" tIns="0" rIns="0" bIns="0" anchor="ctr">
            <a:spAutoFit/>
          </a:bodyPr>
          <a:lstStyle/>
          <a:p>
            <a:pPr algn="ctr"/>
            <a:r>
              <a:rPr sz="2400" b="1">
                <a:solidFill>
                  <a:srgbClr val="7C3AED"/>
                </a:solidFill>
                <a:latin typeface="Arial Black"/>
              </a:rPr>
              <a:t>›</a:t>
            </a:r>
          </a:p>
        </p:txBody>
      </p:sp>
      <p:sp>
        <p:nvSpPr>
          <p:cNvPr id="13" name="Rectangle 12"/>
          <p:cNvSpPr/>
          <p:nvPr/>
        </p:nvSpPr>
        <p:spPr>
          <a:xfrm>
            <a:off x="4718304" y="1572768"/>
            <a:ext cx="1828800" cy="10515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9744" y="1783080"/>
            <a:ext cx="1645920" cy="292608"/>
          </a:xfrm>
          <a:prstGeom prst="rect">
            <a:avLst/>
          </a:prstGeom>
          <a:noFill/>
        </p:spPr>
        <p:txBody>
          <a:bodyPr wrap="square" lIns="0" tIns="0" rIns="0" bIns="0" anchor="t">
            <a:spAutoFit/>
          </a:bodyPr>
          <a:lstStyle/>
          <a:p>
            <a:pPr algn="ctr"/>
            <a:r>
              <a:rPr sz="1150" b="1">
                <a:solidFill>
                  <a:srgbClr val="2D1155"/>
                </a:solidFill>
                <a:latin typeface="Arial Black"/>
              </a:rPr>
              <a:t>REVIEWER</a:t>
            </a:r>
          </a:p>
        </p:txBody>
      </p:sp>
      <p:sp>
        <p:nvSpPr>
          <p:cNvPr id="15" name="TextBox 14"/>
          <p:cNvSpPr txBox="1"/>
          <p:nvPr/>
        </p:nvSpPr>
        <p:spPr>
          <a:xfrm>
            <a:off x="4809744" y="2121408"/>
            <a:ext cx="1645920" cy="411480"/>
          </a:xfrm>
          <a:prstGeom prst="rect">
            <a:avLst/>
          </a:prstGeom>
          <a:noFill/>
        </p:spPr>
        <p:txBody>
          <a:bodyPr wrap="square" lIns="0" tIns="0" rIns="0" bIns="0" anchor="t">
            <a:spAutoFit/>
          </a:bodyPr>
          <a:lstStyle/>
          <a:p>
            <a:pPr algn="ctr"/>
            <a:r>
              <a:rPr sz="1050" b="0">
                <a:solidFill>
                  <a:srgbClr val="6E6389"/>
                </a:solidFill>
                <a:latin typeface="Calibri"/>
              </a:rPr>
              <a:t>critiques the diff</a:t>
            </a:r>
          </a:p>
        </p:txBody>
      </p:sp>
      <p:sp>
        <p:nvSpPr>
          <p:cNvPr id="16" name="TextBox 15"/>
          <p:cNvSpPr txBox="1"/>
          <p:nvPr/>
        </p:nvSpPr>
        <p:spPr>
          <a:xfrm>
            <a:off x="6547104" y="1572768"/>
            <a:ext cx="301752" cy="1051560"/>
          </a:xfrm>
          <a:prstGeom prst="rect">
            <a:avLst/>
          </a:prstGeom>
          <a:noFill/>
        </p:spPr>
        <p:txBody>
          <a:bodyPr wrap="square" lIns="0" tIns="0" rIns="0" bIns="0" anchor="ctr">
            <a:spAutoFit/>
          </a:bodyPr>
          <a:lstStyle/>
          <a:p>
            <a:pPr algn="ctr"/>
            <a:r>
              <a:rPr sz="2400" b="1">
                <a:solidFill>
                  <a:srgbClr val="7C3AED"/>
                </a:solidFill>
                <a:latin typeface="Arial Black"/>
              </a:rPr>
              <a:t>›</a:t>
            </a:r>
          </a:p>
        </p:txBody>
      </p:sp>
      <p:sp>
        <p:nvSpPr>
          <p:cNvPr id="17" name="Rectangle 16"/>
          <p:cNvSpPr/>
          <p:nvPr/>
        </p:nvSpPr>
        <p:spPr>
          <a:xfrm>
            <a:off x="6848856" y="1572768"/>
            <a:ext cx="1828800" cy="10515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0296" y="1783080"/>
            <a:ext cx="1645920" cy="292608"/>
          </a:xfrm>
          <a:prstGeom prst="rect">
            <a:avLst/>
          </a:prstGeom>
          <a:noFill/>
        </p:spPr>
        <p:txBody>
          <a:bodyPr wrap="square" lIns="0" tIns="0" rIns="0" bIns="0" anchor="t">
            <a:spAutoFit/>
          </a:bodyPr>
          <a:lstStyle/>
          <a:p>
            <a:pPr algn="ctr"/>
            <a:r>
              <a:rPr sz="1150" b="1">
                <a:solidFill>
                  <a:srgbClr val="2D1155"/>
                </a:solidFill>
                <a:latin typeface="Arial Black"/>
              </a:rPr>
              <a:t>VERIFIER</a:t>
            </a:r>
          </a:p>
        </p:txBody>
      </p:sp>
      <p:sp>
        <p:nvSpPr>
          <p:cNvPr id="19" name="TextBox 18"/>
          <p:cNvSpPr txBox="1"/>
          <p:nvPr/>
        </p:nvSpPr>
        <p:spPr>
          <a:xfrm>
            <a:off x="6940296" y="2121408"/>
            <a:ext cx="1645920" cy="411480"/>
          </a:xfrm>
          <a:prstGeom prst="rect">
            <a:avLst/>
          </a:prstGeom>
          <a:noFill/>
        </p:spPr>
        <p:txBody>
          <a:bodyPr wrap="square" lIns="0" tIns="0" rIns="0" bIns="0" anchor="t">
            <a:spAutoFit/>
          </a:bodyPr>
          <a:lstStyle/>
          <a:p>
            <a:pPr algn="ctr"/>
            <a:r>
              <a:rPr sz="1050" b="0">
                <a:solidFill>
                  <a:srgbClr val="6E6389"/>
                </a:solidFill>
                <a:latin typeface="Calibri"/>
              </a:rPr>
              <a:t>runs make check</a:t>
            </a:r>
          </a:p>
        </p:txBody>
      </p:sp>
      <p:sp>
        <p:nvSpPr>
          <p:cNvPr id="20" name="Rectangle 19"/>
          <p:cNvSpPr/>
          <p:nvPr/>
        </p:nvSpPr>
        <p:spPr>
          <a:xfrm>
            <a:off x="457200" y="2788920"/>
            <a:ext cx="8229600" cy="65836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2788920"/>
            <a:ext cx="7498079" cy="658368"/>
          </a:xfrm>
          <a:prstGeom prst="rect">
            <a:avLst/>
          </a:prstGeom>
          <a:noFill/>
        </p:spPr>
        <p:txBody>
          <a:bodyPr wrap="square" lIns="0" tIns="0" rIns="0" bIns="0" anchor="ctr">
            <a:spAutoFit/>
          </a:bodyPr>
          <a:lstStyle/>
          <a:p>
            <a:pPr algn="l"/>
            <a:r>
              <a:rPr sz="1450" b="1">
                <a:solidFill>
                  <a:srgbClr val="FFFFFF"/>
                </a:solidFill>
                <a:latin typeface="Arial Black"/>
              </a:rPr>
              <a:t>You orchestrate and arbitrate. You do not type the implementation.</a:t>
            </a:r>
          </a:p>
        </p:txBody>
      </p:sp>
      <p:sp>
        <p:nvSpPr>
          <p:cNvPr id="22" name="TextBox 21"/>
          <p:cNvSpPr txBox="1"/>
          <p:nvPr/>
        </p:nvSpPr>
        <p:spPr>
          <a:xfrm>
            <a:off x="457200" y="3611880"/>
            <a:ext cx="8229600" cy="384048"/>
          </a:xfrm>
          <a:prstGeom prst="rect">
            <a:avLst/>
          </a:prstGeom>
          <a:noFill/>
        </p:spPr>
        <p:txBody>
          <a:bodyPr wrap="square" lIns="0" tIns="0" rIns="0" bIns="0" anchor="t">
            <a:spAutoFit/>
          </a:bodyPr>
          <a:lstStyle/>
          <a:p>
            <a:pPr algn="l">
              <a:lnSpc>
                <a:spcPct val="108000"/>
              </a:lnSpc>
            </a:pPr>
            <a:r>
              <a:rPr sz="900" b="1">
                <a:solidFill>
                  <a:srgbClr val="F59E0B"/>
                </a:solidFill>
                <a:latin typeface="Calibri"/>
              </a:rPr>
              <a:t>IN PLAIN TERMS   </a:t>
            </a:r>
            <a:r>
              <a:rPr sz="1200" b="0">
                <a:solidFill>
                  <a:srgbClr val="6E6389"/>
                </a:solidFill>
                <a:latin typeface="Calibri"/>
              </a:rPr>
              <a:t>You are the tech lead, not the developer. You pick the feature, settle disagreements between agents, and decide when it’s done.</a:t>
            </a:r>
          </a:p>
        </p:txBody>
      </p:sp>
      <p:sp>
        <p:nvSpPr>
          <p:cNvPr id="23" name="TextBox 22"/>
          <p:cNvSpPr txBox="1"/>
          <p:nvPr/>
        </p:nvSpPr>
        <p:spPr>
          <a:xfrm>
            <a:off x="457200" y="4224528"/>
            <a:ext cx="8229600" cy="365760"/>
          </a:xfrm>
          <a:prstGeom prst="rect">
            <a:avLst/>
          </a:prstGeom>
          <a:noFill/>
        </p:spPr>
        <p:txBody>
          <a:bodyPr wrap="square" lIns="0" tIns="0" rIns="0" bIns="0" anchor="t">
            <a:spAutoFit/>
          </a:bodyPr>
          <a:lstStyle/>
          <a:p>
            <a:pPr algn="l"/>
            <a:r>
              <a:rPr sz="1200" b="0">
                <a:solidFill>
                  <a:srgbClr val="6E6389"/>
                </a:solidFill>
                <a:latin typeface="Calibri"/>
              </a:rPr>
              <a:t>If it stalls, the fix is almost never a better prompt — it’s a clearer definition of done.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MOVE 4 · MAKE IT NON-OPTIONAL</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A hook is a script the tool runs automatically at a defined moment. Not a reminder. Enforcement.</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08760"/>
            <a:ext cx="4023360" cy="19659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08760"/>
            <a:ext cx="4023360" cy="457200"/>
          </a:xfrm>
          <a:prstGeom prst="rect">
            <a:avLst/>
          </a:prstGeom>
          <a:solidFill>
            <a:srgbClr val="9B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08760"/>
            <a:ext cx="4023360" cy="457200"/>
          </a:xfrm>
          <a:prstGeom prst="rect">
            <a:avLst/>
          </a:prstGeom>
          <a:noFill/>
        </p:spPr>
        <p:txBody>
          <a:bodyPr wrap="square" lIns="0" tIns="0" rIns="0" bIns="0" anchor="ctr">
            <a:spAutoFit/>
          </a:bodyPr>
          <a:lstStyle/>
          <a:p>
            <a:pPr algn="ctr"/>
            <a:r>
              <a:rPr sz="1100" b="1">
                <a:solidFill>
                  <a:srgbClr val="FFFFFF"/>
                </a:solidFill>
                <a:latin typeface="Calibri"/>
              </a:rPr>
              <a:t>THE CONTRACT</a:t>
            </a:r>
          </a:p>
        </p:txBody>
      </p:sp>
      <p:sp>
        <p:nvSpPr>
          <p:cNvPr id="8" name="TextBox 7"/>
          <p:cNvSpPr txBox="1"/>
          <p:nvPr/>
        </p:nvSpPr>
        <p:spPr>
          <a:xfrm>
            <a:off x="685800" y="2084831"/>
            <a:ext cx="3566160" cy="256032"/>
          </a:xfrm>
          <a:prstGeom prst="rect">
            <a:avLst/>
          </a:prstGeom>
          <a:noFill/>
        </p:spPr>
        <p:txBody>
          <a:bodyPr wrap="square" lIns="0" tIns="0" rIns="0" bIns="0" anchor="t">
            <a:spAutoFit/>
          </a:bodyPr>
          <a:lstStyle/>
          <a:p>
            <a:pPr algn="l"/>
            <a:r>
              <a:rPr sz="1000" b="0">
                <a:solidFill>
                  <a:srgbClr val="7C3AED"/>
                </a:solidFill>
                <a:latin typeface="Courier New"/>
              </a:rPr>
              <a:t>AGENTS.md</a:t>
            </a:r>
          </a:p>
        </p:txBody>
      </p:sp>
      <p:sp>
        <p:nvSpPr>
          <p:cNvPr id="9" name="TextBox 8"/>
          <p:cNvSpPr txBox="1"/>
          <p:nvPr/>
        </p:nvSpPr>
        <p:spPr>
          <a:xfrm>
            <a:off x="685800" y="2395728"/>
            <a:ext cx="3566160" cy="329184"/>
          </a:xfrm>
          <a:prstGeom prst="rect">
            <a:avLst/>
          </a:prstGeom>
          <a:noFill/>
        </p:spPr>
        <p:txBody>
          <a:bodyPr wrap="square" lIns="0" tIns="0" rIns="0" bIns="0" anchor="t">
            <a:spAutoFit/>
          </a:bodyPr>
          <a:lstStyle/>
          <a:p>
            <a:pPr algn="l">
              <a:lnSpc>
                <a:spcPct val="105000"/>
              </a:lnSpc>
            </a:pPr>
            <a:r>
              <a:rPr sz="1200" b="1">
                <a:solidFill>
                  <a:srgbClr val="6E6389"/>
                </a:solidFill>
                <a:latin typeface="Calibri"/>
              </a:rPr>
              <a:t>·  </a:t>
            </a:r>
            <a:r>
              <a:rPr sz="1150" b="0">
                <a:solidFill>
                  <a:srgbClr val="2D1155"/>
                </a:solidFill>
                <a:latin typeface="Calibri"/>
              </a:rPr>
              <a:t>Read at the start of a session.</a:t>
            </a:r>
          </a:p>
        </p:txBody>
      </p:sp>
      <p:sp>
        <p:nvSpPr>
          <p:cNvPr id="10" name="TextBox 9"/>
          <p:cNvSpPr txBox="1"/>
          <p:nvPr/>
        </p:nvSpPr>
        <p:spPr>
          <a:xfrm>
            <a:off x="685800" y="2743200"/>
            <a:ext cx="3566160" cy="329184"/>
          </a:xfrm>
          <a:prstGeom prst="rect">
            <a:avLst/>
          </a:prstGeom>
          <a:noFill/>
        </p:spPr>
        <p:txBody>
          <a:bodyPr wrap="square" lIns="0" tIns="0" rIns="0" bIns="0" anchor="t">
            <a:spAutoFit/>
          </a:bodyPr>
          <a:lstStyle/>
          <a:p>
            <a:pPr algn="l">
              <a:lnSpc>
                <a:spcPct val="105000"/>
              </a:lnSpc>
            </a:pPr>
            <a:r>
              <a:rPr sz="1200" b="1">
                <a:solidFill>
                  <a:srgbClr val="6E6389"/>
                </a:solidFill>
                <a:latin typeface="Calibri"/>
              </a:rPr>
              <a:t>·  </a:t>
            </a:r>
            <a:r>
              <a:rPr sz="1150" b="0">
                <a:solidFill>
                  <a:srgbClr val="2D1155"/>
                </a:solidFill>
                <a:latin typeface="Calibri"/>
              </a:rPr>
              <a:t>Followed if the agent is paying attention.</a:t>
            </a:r>
          </a:p>
        </p:txBody>
      </p:sp>
      <p:sp>
        <p:nvSpPr>
          <p:cNvPr id="11" name="TextBox 10"/>
          <p:cNvSpPr txBox="1"/>
          <p:nvPr/>
        </p:nvSpPr>
        <p:spPr>
          <a:xfrm>
            <a:off x="685800" y="3090672"/>
            <a:ext cx="3566160" cy="329184"/>
          </a:xfrm>
          <a:prstGeom prst="rect">
            <a:avLst/>
          </a:prstGeom>
          <a:noFill/>
        </p:spPr>
        <p:txBody>
          <a:bodyPr wrap="square" lIns="0" tIns="0" rIns="0" bIns="0" anchor="t">
            <a:spAutoFit/>
          </a:bodyPr>
          <a:lstStyle/>
          <a:p>
            <a:pPr algn="l">
              <a:lnSpc>
                <a:spcPct val="105000"/>
              </a:lnSpc>
            </a:pPr>
            <a:r>
              <a:rPr sz="1200" b="1">
                <a:solidFill>
                  <a:srgbClr val="6E6389"/>
                </a:solidFill>
                <a:latin typeface="Calibri"/>
              </a:rPr>
              <a:t>·  </a:t>
            </a:r>
            <a:r>
              <a:rPr sz="1150" b="0">
                <a:solidFill>
                  <a:srgbClr val="2D1155"/>
                </a:solidFill>
                <a:latin typeface="Calibri"/>
              </a:rPr>
              <a:t>Quietly forgotten as context fills.</a:t>
            </a:r>
          </a:p>
        </p:txBody>
      </p:sp>
      <p:sp>
        <p:nvSpPr>
          <p:cNvPr id="12" name="Rectangle 11"/>
          <p:cNvSpPr/>
          <p:nvPr/>
        </p:nvSpPr>
        <p:spPr>
          <a:xfrm>
            <a:off x="4663440" y="1508760"/>
            <a:ext cx="4023360" cy="19659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63440" y="1508760"/>
            <a:ext cx="4023360"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1508760"/>
            <a:ext cx="4023360" cy="457200"/>
          </a:xfrm>
          <a:prstGeom prst="rect">
            <a:avLst/>
          </a:prstGeom>
          <a:noFill/>
        </p:spPr>
        <p:txBody>
          <a:bodyPr wrap="square" lIns="0" tIns="0" rIns="0" bIns="0" anchor="ctr">
            <a:spAutoFit/>
          </a:bodyPr>
          <a:lstStyle/>
          <a:p>
            <a:pPr algn="ctr"/>
            <a:r>
              <a:rPr sz="1100" b="1">
                <a:solidFill>
                  <a:srgbClr val="FFFFFF"/>
                </a:solidFill>
                <a:latin typeface="Calibri"/>
              </a:rPr>
              <a:t>THE HOOK</a:t>
            </a:r>
          </a:p>
        </p:txBody>
      </p:sp>
      <p:sp>
        <p:nvSpPr>
          <p:cNvPr id="15" name="TextBox 14"/>
          <p:cNvSpPr txBox="1"/>
          <p:nvPr/>
        </p:nvSpPr>
        <p:spPr>
          <a:xfrm>
            <a:off x="4892040" y="2084831"/>
            <a:ext cx="3566160" cy="256032"/>
          </a:xfrm>
          <a:prstGeom prst="rect">
            <a:avLst/>
          </a:prstGeom>
          <a:noFill/>
        </p:spPr>
        <p:txBody>
          <a:bodyPr wrap="square" lIns="0" tIns="0" rIns="0" bIns="0" anchor="t">
            <a:spAutoFit/>
          </a:bodyPr>
          <a:lstStyle/>
          <a:p>
            <a:pPr algn="l"/>
            <a:r>
              <a:rPr sz="1000" b="0">
                <a:solidFill>
                  <a:srgbClr val="7C3AED"/>
                </a:solidFill>
                <a:latin typeface="Courier New"/>
              </a:rPr>
              <a:t>.claude/settings.json</a:t>
            </a:r>
          </a:p>
        </p:txBody>
      </p:sp>
      <p:sp>
        <p:nvSpPr>
          <p:cNvPr id="16" name="TextBox 15"/>
          <p:cNvSpPr txBox="1"/>
          <p:nvPr/>
        </p:nvSpPr>
        <p:spPr>
          <a:xfrm>
            <a:off x="4892040" y="2395728"/>
            <a:ext cx="3566160" cy="329184"/>
          </a:xfrm>
          <a:prstGeom prst="rect">
            <a:avLst/>
          </a:prstGeom>
          <a:noFill/>
        </p:spPr>
        <p:txBody>
          <a:bodyPr wrap="square" lIns="0" tIns="0" rIns="0" bIns="0" anchor="t">
            <a:spAutoFit/>
          </a:bodyPr>
          <a:lstStyle/>
          <a:p>
            <a:pPr algn="l">
              <a:lnSpc>
                <a:spcPct val="105000"/>
              </a:lnSpc>
            </a:pPr>
            <a:r>
              <a:rPr sz="1200" b="1">
                <a:solidFill>
                  <a:srgbClr val="6E6389"/>
                </a:solidFill>
                <a:latin typeface="Calibri"/>
              </a:rPr>
              <a:t>·  </a:t>
            </a:r>
            <a:r>
              <a:rPr sz="1150" b="0">
                <a:solidFill>
                  <a:srgbClr val="2D1155"/>
                </a:solidFill>
                <a:latin typeface="Calibri"/>
              </a:rPr>
              <a:t>Runs every single time the event fires.</a:t>
            </a:r>
          </a:p>
        </p:txBody>
      </p:sp>
      <p:sp>
        <p:nvSpPr>
          <p:cNvPr id="17" name="TextBox 16"/>
          <p:cNvSpPr txBox="1"/>
          <p:nvPr/>
        </p:nvSpPr>
        <p:spPr>
          <a:xfrm>
            <a:off x="4892040" y="2743200"/>
            <a:ext cx="3566160" cy="329184"/>
          </a:xfrm>
          <a:prstGeom prst="rect">
            <a:avLst/>
          </a:prstGeom>
          <a:noFill/>
        </p:spPr>
        <p:txBody>
          <a:bodyPr wrap="square" lIns="0" tIns="0" rIns="0" bIns="0" anchor="t">
            <a:spAutoFit/>
          </a:bodyPr>
          <a:lstStyle/>
          <a:p>
            <a:pPr algn="l">
              <a:lnSpc>
                <a:spcPct val="105000"/>
              </a:lnSpc>
            </a:pPr>
            <a:r>
              <a:rPr sz="1200" b="1">
                <a:solidFill>
                  <a:srgbClr val="6E6389"/>
                </a:solidFill>
                <a:latin typeface="Calibri"/>
              </a:rPr>
              <a:t>·  </a:t>
            </a:r>
            <a:r>
              <a:rPr sz="1150" b="0">
                <a:solidFill>
                  <a:srgbClr val="2D1155"/>
                </a:solidFill>
                <a:latin typeface="Calibri"/>
              </a:rPr>
              <a:t>Its exit code decides what happens next.</a:t>
            </a:r>
          </a:p>
        </p:txBody>
      </p:sp>
      <p:sp>
        <p:nvSpPr>
          <p:cNvPr id="18" name="TextBox 17"/>
          <p:cNvSpPr txBox="1"/>
          <p:nvPr/>
        </p:nvSpPr>
        <p:spPr>
          <a:xfrm>
            <a:off x="4892040" y="3090672"/>
            <a:ext cx="3566160" cy="329184"/>
          </a:xfrm>
          <a:prstGeom prst="rect">
            <a:avLst/>
          </a:prstGeom>
          <a:noFill/>
        </p:spPr>
        <p:txBody>
          <a:bodyPr wrap="square" lIns="0" tIns="0" rIns="0" bIns="0" anchor="t">
            <a:spAutoFit/>
          </a:bodyPr>
          <a:lstStyle/>
          <a:p>
            <a:pPr algn="l">
              <a:lnSpc>
                <a:spcPct val="105000"/>
              </a:lnSpc>
            </a:pPr>
            <a:r>
              <a:rPr sz="1200" b="1">
                <a:solidFill>
                  <a:srgbClr val="6E6389"/>
                </a:solidFill>
                <a:latin typeface="Calibri"/>
              </a:rPr>
              <a:t>·  </a:t>
            </a:r>
            <a:r>
              <a:rPr sz="1150" b="0">
                <a:solidFill>
                  <a:srgbClr val="2D1155"/>
                </a:solidFill>
                <a:latin typeface="Calibri"/>
              </a:rPr>
              <a:t>Can block the action outright.</a:t>
            </a:r>
          </a:p>
        </p:txBody>
      </p:sp>
      <p:sp>
        <p:nvSpPr>
          <p:cNvPr id="19" name="Rectangle 18"/>
          <p:cNvSpPr/>
          <p:nvPr/>
        </p:nvSpPr>
        <p:spPr>
          <a:xfrm>
            <a:off x="457200" y="3675887"/>
            <a:ext cx="8229600" cy="713232"/>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3675887"/>
            <a:ext cx="7498079" cy="713232"/>
          </a:xfrm>
          <a:prstGeom prst="rect">
            <a:avLst/>
          </a:prstGeom>
          <a:noFill/>
        </p:spPr>
        <p:txBody>
          <a:bodyPr wrap="square" lIns="0" tIns="0" rIns="0" bIns="0" anchor="ctr">
            <a:spAutoFit/>
          </a:bodyPr>
          <a:lstStyle/>
          <a:p>
            <a:pPr algn="l"/>
            <a:r>
              <a:rPr sz="1600" b="1">
                <a:solidFill>
                  <a:srgbClr val="FFFFFF"/>
                </a:solidFill>
                <a:latin typeface="Arial Black"/>
              </a:rPr>
              <a:t>A contract is a promise. A hook is a fact.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WHEN A HOOK CAN FIRE</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Pick the cadence first, then the event. Three rhythms cover everything you'll actually wire.</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7772400" cy="877824"/>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81328"/>
            <a:ext cx="1417320" cy="877824"/>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81328"/>
            <a:ext cx="1417320" cy="877824"/>
          </a:xfrm>
          <a:prstGeom prst="rect">
            <a:avLst/>
          </a:prstGeom>
          <a:noFill/>
        </p:spPr>
        <p:txBody>
          <a:bodyPr wrap="square" lIns="0" tIns="0" rIns="0" bIns="0" anchor="ctr">
            <a:spAutoFit/>
          </a:bodyPr>
          <a:lstStyle/>
          <a:p>
            <a:pPr algn="ctr">
              <a:lnSpc>
                <a:spcPct val="110000"/>
              </a:lnSpc>
            </a:pPr>
            <a:r>
              <a:rPr sz="950" b="1">
                <a:solidFill>
                  <a:srgbClr val="F59E0B"/>
                </a:solidFill>
                <a:latin typeface="Calibri"/>
              </a:rPr>
              <a:t>ONCE PER</a:t>
            </a:r>
          </a:p>
          <a:p>
            <a:pPr algn="ctr">
              <a:lnSpc>
                <a:spcPct val="110000"/>
              </a:lnSpc>
            </a:pPr>
            <a:r>
              <a:rPr sz="950" b="1">
                <a:solidFill>
                  <a:srgbClr val="F59E0B"/>
                </a:solidFill>
                <a:latin typeface="Calibri"/>
              </a:rPr>
              <a:t>SESSION</a:t>
            </a:r>
          </a:p>
        </p:txBody>
      </p:sp>
      <p:sp>
        <p:nvSpPr>
          <p:cNvPr id="8" name="TextBox 7"/>
          <p:cNvSpPr txBox="1"/>
          <p:nvPr/>
        </p:nvSpPr>
        <p:spPr>
          <a:xfrm>
            <a:off x="2057400" y="1636776"/>
            <a:ext cx="5852160" cy="292608"/>
          </a:xfrm>
          <a:prstGeom prst="rect">
            <a:avLst/>
          </a:prstGeom>
          <a:noFill/>
        </p:spPr>
        <p:txBody>
          <a:bodyPr wrap="square" lIns="0" tIns="0" rIns="0" bIns="0" anchor="t">
            <a:spAutoFit/>
          </a:bodyPr>
          <a:lstStyle/>
          <a:p>
            <a:pPr algn="l"/>
            <a:r>
              <a:rPr sz="1250" b="1">
                <a:solidFill>
                  <a:srgbClr val="5B21B6"/>
                </a:solidFill>
                <a:latin typeface="Courier New"/>
              </a:rPr>
              <a:t>SessionStart   SessionEnd</a:t>
            </a:r>
          </a:p>
        </p:txBody>
      </p:sp>
      <p:sp>
        <p:nvSpPr>
          <p:cNvPr id="9" name="TextBox 8"/>
          <p:cNvSpPr txBox="1"/>
          <p:nvPr/>
        </p:nvSpPr>
        <p:spPr>
          <a:xfrm>
            <a:off x="2057400" y="1984248"/>
            <a:ext cx="5852160" cy="274320"/>
          </a:xfrm>
          <a:prstGeom prst="rect">
            <a:avLst/>
          </a:prstGeom>
          <a:noFill/>
        </p:spPr>
        <p:txBody>
          <a:bodyPr wrap="square" lIns="0" tIns="0" rIns="0" bIns="0" anchor="t">
            <a:spAutoFit/>
          </a:bodyPr>
          <a:lstStyle/>
          <a:p>
            <a:pPr algn="l"/>
            <a:r>
              <a:rPr sz="1150" b="0">
                <a:solidFill>
                  <a:srgbClr val="6E6389"/>
                </a:solidFill>
                <a:latin typeface="Calibri"/>
              </a:rPr>
              <a:t>Set the scene, or clean up after.</a:t>
            </a:r>
          </a:p>
        </p:txBody>
      </p:sp>
      <p:sp>
        <p:nvSpPr>
          <p:cNvPr id="10" name="Rectangle 9"/>
          <p:cNvSpPr/>
          <p:nvPr/>
        </p:nvSpPr>
        <p:spPr>
          <a:xfrm>
            <a:off x="457200" y="2450592"/>
            <a:ext cx="7772400" cy="877824"/>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450592"/>
            <a:ext cx="1417320" cy="877824"/>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450592"/>
            <a:ext cx="1417320" cy="877824"/>
          </a:xfrm>
          <a:prstGeom prst="rect">
            <a:avLst/>
          </a:prstGeom>
          <a:noFill/>
        </p:spPr>
        <p:txBody>
          <a:bodyPr wrap="square" lIns="0" tIns="0" rIns="0" bIns="0" anchor="ctr">
            <a:spAutoFit/>
          </a:bodyPr>
          <a:lstStyle/>
          <a:p>
            <a:pPr algn="ctr">
              <a:lnSpc>
                <a:spcPct val="110000"/>
              </a:lnSpc>
            </a:pPr>
            <a:r>
              <a:rPr sz="950" b="1">
                <a:solidFill>
                  <a:srgbClr val="F59E0B"/>
                </a:solidFill>
                <a:latin typeface="Calibri"/>
              </a:rPr>
              <a:t>ONCE PER</a:t>
            </a:r>
          </a:p>
          <a:p>
            <a:pPr algn="ctr">
              <a:lnSpc>
                <a:spcPct val="110000"/>
              </a:lnSpc>
            </a:pPr>
            <a:r>
              <a:rPr sz="950" b="1">
                <a:solidFill>
                  <a:srgbClr val="F59E0B"/>
                </a:solidFill>
                <a:latin typeface="Calibri"/>
              </a:rPr>
              <a:t>TURN</a:t>
            </a:r>
          </a:p>
        </p:txBody>
      </p:sp>
      <p:sp>
        <p:nvSpPr>
          <p:cNvPr id="13" name="TextBox 12"/>
          <p:cNvSpPr txBox="1"/>
          <p:nvPr/>
        </p:nvSpPr>
        <p:spPr>
          <a:xfrm>
            <a:off x="2057400" y="2606040"/>
            <a:ext cx="5852160" cy="292608"/>
          </a:xfrm>
          <a:prstGeom prst="rect">
            <a:avLst/>
          </a:prstGeom>
          <a:noFill/>
        </p:spPr>
        <p:txBody>
          <a:bodyPr wrap="square" lIns="0" tIns="0" rIns="0" bIns="0" anchor="t">
            <a:spAutoFit/>
          </a:bodyPr>
          <a:lstStyle/>
          <a:p>
            <a:pPr algn="l"/>
            <a:r>
              <a:rPr sz="1250" b="1">
                <a:solidFill>
                  <a:srgbClr val="5B21B6"/>
                </a:solidFill>
                <a:latin typeface="Courier New"/>
              </a:rPr>
              <a:t>UserPromptSubmit   Stop</a:t>
            </a:r>
          </a:p>
        </p:txBody>
      </p:sp>
      <p:sp>
        <p:nvSpPr>
          <p:cNvPr id="14" name="TextBox 13"/>
          <p:cNvSpPr txBox="1"/>
          <p:nvPr/>
        </p:nvSpPr>
        <p:spPr>
          <a:xfrm>
            <a:off x="2057400" y="2953512"/>
            <a:ext cx="5852160" cy="274320"/>
          </a:xfrm>
          <a:prstGeom prst="rect">
            <a:avLst/>
          </a:prstGeom>
          <a:noFill/>
        </p:spPr>
        <p:txBody>
          <a:bodyPr wrap="square" lIns="0" tIns="0" rIns="0" bIns="0" anchor="t">
            <a:spAutoFit/>
          </a:bodyPr>
          <a:lstStyle/>
          <a:p>
            <a:pPr algn="l"/>
            <a:r>
              <a:rPr sz="1150" b="0">
                <a:solidFill>
                  <a:srgbClr val="6E6389"/>
                </a:solidFill>
                <a:latin typeface="Calibri"/>
              </a:rPr>
              <a:t>Gate what goes in, and what counts as finished.</a:t>
            </a:r>
          </a:p>
        </p:txBody>
      </p:sp>
      <p:sp>
        <p:nvSpPr>
          <p:cNvPr id="15" name="Rectangle 14"/>
          <p:cNvSpPr/>
          <p:nvPr/>
        </p:nvSpPr>
        <p:spPr>
          <a:xfrm>
            <a:off x="457200" y="3419856"/>
            <a:ext cx="7772400" cy="877824"/>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419856"/>
            <a:ext cx="1417320" cy="877824"/>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419856"/>
            <a:ext cx="1417320" cy="877824"/>
          </a:xfrm>
          <a:prstGeom prst="rect">
            <a:avLst/>
          </a:prstGeom>
          <a:noFill/>
        </p:spPr>
        <p:txBody>
          <a:bodyPr wrap="square" lIns="0" tIns="0" rIns="0" bIns="0" anchor="ctr">
            <a:spAutoFit/>
          </a:bodyPr>
          <a:lstStyle/>
          <a:p>
            <a:pPr algn="ctr">
              <a:lnSpc>
                <a:spcPct val="110000"/>
              </a:lnSpc>
            </a:pPr>
            <a:r>
              <a:rPr sz="950" b="1">
                <a:solidFill>
                  <a:srgbClr val="F59E0B"/>
                </a:solidFill>
                <a:latin typeface="Calibri"/>
              </a:rPr>
              <a:t>EVERY</a:t>
            </a:r>
          </a:p>
          <a:p>
            <a:pPr algn="ctr">
              <a:lnSpc>
                <a:spcPct val="110000"/>
              </a:lnSpc>
            </a:pPr>
            <a:r>
              <a:rPr sz="950" b="1">
                <a:solidFill>
                  <a:srgbClr val="F59E0B"/>
                </a:solidFill>
                <a:latin typeface="Calibri"/>
              </a:rPr>
              <a:t>TOOL CALL</a:t>
            </a:r>
          </a:p>
        </p:txBody>
      </p:sp>
      <p:sp>
        <p:nvSpPr>
          <p:cNvPr id="18" name="TextBox 17"/>
          <p:cNvSpPr txBox="1"/>
          <p:nvPr/>
        </p:nvSpPr>
        <p:spPr>
          <a:xfrm>
            <a:off x="2057400" y="3575304"/>
            <a:ext cx="5852160" cy="292608"/>
          </a:xfrm>
          <a:prstGeom prst="rect">
            <a:avLst/>
          </a:prstGeom>
          <a:noFill/>
        </p:spPr>
        <p:txBody>
          <a:bodyPr wrap="square" lIns="0" tIns="0" rIns="0" bIns="0" anchor="t">
            <a:spAutoFit/>
          </a:bodyPr>
          <a:lstStyle/>
          <a:p>
            <a:pPr algn="l"/>
            <a:r>
              <a:rPr sz="1250" b="1">
                <a:solidFill>
                  <a:srgbClr val="5B21B6"/>
                </a:solidFill>
                <a:latin typeface="Courier New"/>
              </a:rPr>
              <a:t>PreToolUse   PostToolUse</a:t>
            </a:r>
          </a:p>
        </p:txBody>
      </p:sp>
      <p:sp>
        <p:nvSpPr>
          <p:cNvPr id="19" name="TextBox 18"/>
          <p:cNvSpPr txBox="1"/>
          <p:nvPr/>
        </p:nvSpPr>
        <p:spPr>
          <a:xfrm>
            <a:off x="2057400" y="3922776"/>
            <a:ext cx="5852160" cy="274320"/>
          </a:xfrm>
          <a:prstGeom prst="rect">
            <a:avLst/>
          </a:prstGeom>
          <a:noFill/>
        </p:spPr>
        <p:txBody>
          <a:bodyPr wrap="square" lIns="0" tIns="0" rIns="0" bIns="0" anchor="t">
            <a:spAutoFit/>
          </a:bodyPr>
          <a:lstStyle/>
          <a:p>
            <a:pPr algn="l"/>
            <a:r>
              <a:rPr sz="1150" b="0">
                <a:solidFill>
                  <a:srgbClr val="6E6389"/>
                </a:solidFill>
                <a:latin typeface="Calibri"/>
              </a:rPr>
              <a:t>The tight loop. Where guardrails actually live.</a:t>
            </a:r>
          </a:p>
        </p:txBody>
      </p:sp>
      <p:sp>
        <p:nvSpPr>
          <p:cNvPr id="20" name="TextBox 19"/>
          <p:cNvSpPr txBox="1"/>
          <p:nvPr/>
        </p:nvSpPr>
        <p:spPr>
          <a:xfrm>
            <a:off x="457200" y="4480560"/>
            <a:ext cx="7498079" cy="320040"/>
          </a:xfrm>
          <a:prstGeom prst="rect">
            <a:avLst/>
          </a:prstGeom>
          <a:noFill/>
        </p:spPr>
        <p:txBody>
          <a:bodyPr wrap="square" lIns="0" tIns="0" rIns="0" bIns="0" anchor="t">
            <a:spAutoFit/>
          </a:bodyPr>
          <a:lstStyle/>
          <a:p>
            <a:pPr algn="l"/>
            <a:r>
              <a:rPr sz="1200" b="0">
                <a:solidFill>
                  <a:srgbClr val="6E6389"/>
                </a:solidFill>
                <a:latin typeface="Calibri"/>
              </a:rPr>
              <a:t>Claude Code exposes 30 events, Codex 11. You will use about six of them.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SIX WORTH KNOWING</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Every one of these exists in both Claude Code and Codex.</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TextBox 4"/>
          <p:cNvSpPr txBox="1"/>
          <p:nvPr/>
        </p:nvSpPr>
        <p:spPr>
          <a:xfrm>
            <a:off x="566928" y="1572768"/>
            <a:ext cx="1554480" cy="237744"/>
          </a:xfrm>
          <a:prstGeom prst="rect">
            <a:avLst/>
          </a:prstGeom>
          <a:noFill/>
        </p:spPr>
        <p:txBody>
          <a:bodyPr wrap="square" lIns="0" tIns="0" rIns="0" bIns="0" anchor="t">
            <a:spAutoFit/>
          </a:bodyPr>
          <a:lstStyle/>
          <a:p>
            <a:pPr algn="l"/>
            <a:r>
              <a:rPr sz="850" b="1">
                <a:solidFill>
                  <a:srgbClr val="6E6389"/>
                </a:solidFill>
                <a:latin typeface="Calibri"/>
              </a:rPr>
              <a:t>EVENT</a:t>
            </a:r>
          </a:p>
        </p:txBody>
      </p:sp>
      <p:sp>
        <p:nvSpPr>
          <p:cNvPr id="6" name="TextBox 5"/>
          <p:cNvSpPr txBox="1"/>
          <p:nvPr/>
        </p:nvSpPr>
        <p:spPr>
          <a:xfrm>
            <a:off x="2212848" y="1572768"/>
            <a:ext cx="2148840" cy="237744"/>
          </a:xfrm>
          <a:prstGeom prst="rect">
            <a:avLst/>
          </a:prstGeom>
          <a:noFill/>
        </p:spPr>
        <p:txBody>
          <a:bodyPr wrap="square" lIns="0" tIns="0" rIns="0" bIns="0" anchor="t">
            <a:spAutoFit/>
          </a:bodyPr>
          <a:lstStyle/>
          <a:p>
            <a:pPr algn="l"/>
            <a:r>
              <a:rPr sz="850" b="1">
                <a:solidFill>
                  <a:srgbClr val="6E6389"/>
                </a:solidFill>
                <a:latin typeface="Calibri"/>
              </a:rPr>
              <a:t>FIRES WHEN</a:t>
            </a:r>
          </a:p>
        </p:txBody>
      </p:sp>
      <p:sp>
        <p:nvSpPr>
          <p:cNvPr id="7" name="TextBox 6"/>
          <p:cNvSpPr txBox="1"/>
          <p:nvPr/>
        </p:nvSpPr>
        <p:spPr>
          <a:xfrm>
            <a:off x="4434840" y="1572768"/>
            <a:ext cx="640080" cy="237744"/>
          </a:xfrm>
          <a:prstGeom prst="rect">
            <a:avLst/>
          </a:prstGeom>
          <a:noFill/>
        </p:spPr>
        <p:txBody>
          <a:bodyPr wrap="square" lIns="0" tIns="0" rIns="0" bIns="0" anchor="t">
            <a:spAutoFit/>
          </a:bodyPr>
          <a:lstStyle/>
          <a:p>
            <a:pPr algn="ctr"/>
            <a:r>
              <a:rPr sz="850" b="1">
                <a:solidFill>
                  <a:srgbClr val="6E6389"/>
                </a:solidFill>
                <a:latin typeface="Calibri"/>
              </a:rPr>
              <a:t>BLOCKS?</a:t>
            </a:r>
          </a:p>
        </p:txBody>
      </p:sp>
      <p:sp>
        <p:nvSpPr>
          <p:cNvPr id="8" name="TextBox 7"/>
          <p:cNvSpPr txBox="1"/>
          <p:nvPr/>
        </p:nvSpPr>
        <p:spPr>
          <a:xfrm>
            <a:off x="5166360" y="1572768"/>
            <a:ext cx="2926080" cy="237744"/>
          </a:xfrm>
          <a:prstGeom prst="rect">
            <a:avLst/>
          </a:prstGeom>
          <a:noFill/>
        </p:spPr>
        <p:txBody>
          <a:bodyPr wrap="square" lIns="0" tIns="0" rIns="0" bIns="0" anchor="t">
            <a:spAutoFit/>
          </a:bodyPr>
          <a:lstStyle/>
          <a:p>
            <a:pPr algn="l"/>
            <a:r>
              <a:rPr sz="850" b="1">
                <a:solidFill>
                  <a:srgbClr val="6E6389"/>
                </a:solidFill>
                <a:latin typeface="Calibri"/>
              </a:rPr>
              <a:t>WHAT YOU'D USE IT FOR</a:t>
            </a:r>
          </a:p>
        </p:txBody>
      </p:sp>
      <p:sp>
        <p:nvSpPr>
          <p:cNvPr id="9" name="Rectangle 8"/>
          <p:cNvSpPr/>
          <p:nvPr/>
        </p:nvSpPr>
        <p:spPr>
          <a:xfrm>
            <a:off x="457200" y="1865376"/>
            <a:ext cx="7772400" cy="420624"/>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1865376"/>
            <a:ext cx="1600200" cy="420624"/>
          </a:xfrm>
          <a:prstGeom prst="rect">
            <a:avLst/>
          </a:prstGeom>
          <a:noFill/>
        </p:spPr>
        <p:txBody>
          <a:bodyPr wrap="square" lIns="0" tIns="0" rIns="0" bIns="0" anchor="ctr">
            <a:spAutoFit/>
          </a:bodyPr>
          <a:lstStyle/>
          <a:p>
            <a:pPr algn="l"/>
            <a:r>
              <a:rPr sz="1000" b="1">
                <a:solidFill>
                  <a:srgbClr val="5B21B6"/>
                </a:solidFill>
                <a:latin typeface="Courier New"/>
              </a:rPr>
              <a:t>SessionStart</a:t>
            </a:r>
          </a:p>
        </p:txBody>
      </p:sp>
      <p:sp>
        <p:nvSpPr>
          <p:cNvPr id="11" name="TextBox 10"/>
          <p:cNvSpPr txBox="1"/>
          <p:nvPr/>
        </p:nvSpPr>
        <p:spPr>
          <a:xfrm>
            <a:off x="2212848" y="1865376"/>
            <a:ext cx="2148840" cy="420624"/>
          </a:xfrm>
          <a:prstGeom prst="rect">
            <a:avLst/>
          </a:prstGeom>
          <a:noFill/>
        </p:spPr>
        <p:txBody>
          <a:bodyPr wrap="square" lIns="0" tIns="0" rIns="0" bIns="0" anchor="ctr">
            <a:spAutoFit/>
          </a:bodyPr>
          <a:lstStyle/>
          <a:p>
            <a:pPr algn="l"/>
            <a:r>
              <a:rPr sz="950" b="0">
                <a:solidFill>
                  <a:srgbClr val="6E6389"/>
                </a:solidFill>
                <a:latin typeface="Calibri"/>
              </a:rPr>
              <a:t>a session begins or resumes</a:t>
            </a:r>
          </a:p>
        </p:txBody>
      </p:sp>
      <p:sp>
        <p:nvSpPr>
          <p:cNvPr id="12" name="TextBox 11"/>
          <p:cNvSpPr txBox="1"/>
          <p:nvPr/>
        </p:nvSpPr>
        <p:spPr>
          <a:xfrm>
            <a:off x="4434840" y="1865376"/>
            <a:ext cx="640080" cy="420624"/>
          </a:xfrm>
          <a:prstGeom prst="rect">
            <a:avLst/>
          </a:prstGeom>
          <a:noFill/>
        </p:spPr>
        <p:txBody>
          <a:bodyPr wrap="square" lIns="0" tIns="0" rIns="0" bIns="0" anchor="ctr">
            <a:spAutoFit/>
          </a:bodyPr>
          <a:lstStyle/>
          <a:p>
            <a:pPr algn="ctr"/>
            <a:r>
              <a:rPr sz="950" b="0">
                <a:solidFill>
                  <a:srgbClr val="6E6389"/>
                </a:solidFill>
                <a:latin typeface="Calibri"/>
              </a:rPr>
              <a:t>No</a:t>
            </a:r>
          </a:p>
        </p:txBody>
      </p:sp>
      <p:sp>
        <p:nvSpPr>
          <p:cNvPr id="13" name="TextBox 12"/>
          <p:cNvSpPr txBox="1"/>
          <p:nvPr/>
        </p:nvSpPr>
        <p:spPr>
          <a:xfrm>
            <a:off x="5166360" y="1865376"/>
            <a:ext cx="2926080" cy="420624"/>
          </a:xfrm>
          <a:prstGeom prst="rect">
            <a:avLst/>
          </a:prstGeom>
          <a:noFill/>
        </p:spPr>
        <p:txBody>
          <a:bodyPr wrap="square" lIns="0" tIns="0" rIns="0" bIns="0" anchor="ctr">
            <a:spAutoFit/>
          </a:bodyPr>
          <a:lstStyle/>
          <a:p>
            <a:pPr algn="l"/>
            <a:r>
              <a:rPr sz="950" b="0">
                <a:solidFill>
                  <a:srgbClr val="2D1155"/>
                </a:solidFill>
                <a:latin typeface="Calibri"/>
              </a:rPr>
              <a:t>Brief the agent: branch, ticket, what's failing</a:t>
            </a:r>
          </a:p>
        </p:txBody>
      </p:sp>
      <p:sp>
        <p:nvSpPr>
          <p:cNvPr id="14" name="Rectangle 13"/>
          <p:cNvSpPr/>
          <p:nvPr/>
        </p:nvSpPr>
        <p:spPr>
          <a:xfrm>
            <a:off x="457200" y="2322576"/>
            <a:ext cx="7772400" cy="420624"/>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2322576"/>
            <a:ext cx="1600200" cy="420624"/>
          </a:xfrm>
          <a:prstGeom prst="rect">
            <a:avLst/>
          </a:prstGeom>
          <a:noFill/>
        </p:spPr>
        <p:txBody>
          <a:bodyPr wrap="square" lIns="0" tIns="0" rIns="0" bIns="0" anchor="ctr">
            <a:spAutoFit/>
          </a:bodyPr>
          <a:lstStyle/>
          <a:p>
            <a:pPr algn="l"/>
            <a:r>
              <a:rPr sz="1000" b="1">
                <a:solidFill>
                  <a:srgbClr val="5B21B6"/>
                </a:solidFill>
                <a:latin typeface="Courier New"/>
              </a:rPr>
              <a:t>UserPromptSubmit</a:t>
            </a:r>
          </a:p>
        </p:txBody>
      </p:sp>
      <p:sp>
        <p:nvSpPr>
          <p:cNvPr id="16" name="TextBox 15"/>
          <p:cNvSpPr txBox="1"/>
          <p:nvPr/>
        </p:nvSpPr>
        <p:spPr>
          <a:xfrm>
            <a:off x="2212848" y="2322576"/>
            <a:ext cx="2148840" cy="420624"/>
          </a:xfrm>
          <a:prstGeom prst="rect">
            <a:avLst/>
          </a:prstGeom>
          <a:noFill/>
        </p:spPr>
        <p:txBody>
          <a:bodyPr wrap="square" lIns="0" tIns="0" rIns="0" bIns="0" anchor="ctr">
            <a:spAutoFit/>
          </a:bodyPr>
          <a:lstStyle/>
          <a:p>
            <a:pPr algn="l"/>
            <a:r>
              <a:rPr sz="950" b="0">
                <a:solidFill>
                  <a:srgbClr val="6E6389"/>
                </a:solidFill>
                <a:latin typeface="Calibri"/>
              </a:rPr>
              <a:t>you hit enter, before the model sees it</a:t>
            </a:r>
          </a:p>
        </p:txBody>
      </p:sp>
      <p:sp>
        <p:nvSpPr>
          <p:cNvPr id="17" name="TextBox 16"/>
          <p:cNvSpPr txBox="1"/>
          <p:nvPr/>
        </p:nvSpPr>
        <p:spPr>
          <a:xfrm>
            <a:off x="4434840" y="2322576"/>
            <a:ext cx="640080" cy="420624"/>
          </a:xfrm>
          <a:prstGeom prst="rect">
            <a:avLst/>
          </a:prstGeom>
          <a:noFill/>
        </p:spPr>
        <p:txBody>
          <a:bodyPr wrap="square" lIns="0" tIns="0" rIns="0" bIns="0" anchor="ctr">
            <a:spAutoFit/>
          </a:bodyPr>
          <a:lstStyle/>
          <a:p>
            <a:pPr algn="ctr"/>
            <a:r>
              <a:rPr sz="950" b="1">
                <a:solidFill>
                  <a:srgbClr val="F59E0B"/>
                </a:solidFill>
                <a:latin typeface="Calibri"/>
              </a:rPr>
              <a:t>Yes</a:t>
            </a:r>
          </a:p>
        </p:txBody>
      </p:sp>
      <p:sp>
        <p:nvSpPr>
          <p:cNvPr id="18" name="TextBox 17"/>
          <p:cNvSpPr txBox="1"/>
          <p:nvPr/>
        </p:nvSpPr>
        <p:spPr>
          <a:xfrm>
            <a:off x="5166360" y="2322576"/>
            <a:ext cx="2926080" cy="420624"/>
          </a:xfrm>
          <a:prstGeom prst="rect">
            <a:avLst/>
          </a:prstGeom>
          <a:noFill/>
        </p:spPr>
        <p:txBody>
          <a:bodyPr wrap="square" lIns="0" tIns="0" rIns="0" bIns="0" anchor="ctr">
            <a:spAutoFit/>
          </a:bodyPr>
          <a:lstStyle/>
          <a:p>
            <a:pPr algn="l"/>
            <a:r>
              <a:rPr sz="950" b="0">
                <a:solidFill>
                  <a:srgbClr val="2D1155"/>
                </a:solidFill>
                <a:latin typeface="Calibri"/>
              </a:rPr>
              <a:t>Append standards; reject a prompt with a secret in it</a:t>
            </a:r>
          </a:p>
        </p:txBody>
      </p:sp>
      <p:sp>
        <p:nvSpPr>
          <p:cNvPr id="19" name="Rectangle 18"/>
          <p:cNvSpPr/>
          <p:nvPr/>
        </p:nvSpPr>
        <p:spPr>
          <a:xfrm>
            <a:off x="457200" y="2779776"/>
            <a:ext cx="7772400" cy="420624"/>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2779776"/>
            <a:ext cx="1600200" cy="420624"/>
          </a:xfrm>
          <a:prstGeom prst="rect">
            <a:avLst/>
          </a:prstGeom>
          <a:noFill/>
        </p:spPr>
        <p:txBody>
          <a:bodyPr wrap="square" lIns="0" tIns="0" rIns="0" bIns="0" anchor="ctr">
            <a:spAutoFit/>
          </a:bodyPr>
          <a:lstStyle/>
          <a:p>
            <a:pPr algn="l"/>
            <a:r>
              <a:rPr sz="1000" b="1">
                <a:solidFill>
                  <a:srgbClr val="5B21B6"/>
                </a:solidFill>
                <a:latin typeface="Courier New"/>
              </a:rPr>
              <a:t>PreToolUse</a:t>
            </a:r>
          </a:p>
        </p:txBody>
      </p:sp>
      <p:sp>
        <p:nvSpPr>
          <p:cNvPr id="21" name="TextBox 20"/>
          <p:cNvSpPr txBox="1"/>
          <p:nvPr/>
        </p:nvSpPr>
        <p:spPr>
          <a:xfrm>
            <a:off x="2212848" y="2779776"/>
            <a:ext cx="2148840" cy="420624"/>
          </a:xfrm>
          <a:prstGeom prst="rect">
            <a:avLst/>
          </a:prstGeom>
          <a:noFill/>
        </p:spPr>
        <p:txBody>
          <a:bodyPr wrap="square" lIns="0" tIns="0" rIns="0" bIns="0" anchor="ctr">
            <a:spAutoFit/>
          </a:bodyPr>
          <a:lstStyle/>
          <a:p>
            <a:pPr algn="l"/>
            <a:r>
              <a:rPr sz="950" b="0">
                <a:solidFill>
                  <a:srgbClr val="6E6389"/>
                </a:solidFill>
                <a:latin typeface="Calibri"/>
              </a:rPr>
              <a:t>before a tool call runs</a:t>
            </a:r>
          </a:p>
        </p:txBody>
      </p:sp>
      <p:sp>
        <p:nvSpPr>
          <p:cNvPr id="22" name="TextBox 21"/>
          <p:cNvSpPr txBox="1"/>
          <p:nvPr/>
        </p:nvSpPr>
        <p:spPr>
          <a:xfrm>
            <a:off x="4434840" y="2779776"/>
            <a:ext cx="640080" cy="420624"/>
          </a:xfrm>
          <a:prstGeom prst="rect">
            <a:avLst/>
          </a:prstGeom>
          <a:noFill/>
        </p:spPr>
        <p:txBody>
          <a:bodyPr wrap="square" lIns="0" tIns="0" rIns="0" bIns="0" anchor="ctr">
            <a:spAutoFit/>
          </a:bodyPr>
          <a:lstStyle/>
          <a:p>
            <a:pPr algn="ctr"/>
            <a:r>
              <a:rPr sz="950" b="1">
                <a:solidFill>
                  <a:srgbClr val="F59E0B"/>
                </a:solidFill>
                <a:latin typeface="Calibri"/>
              </a:rPr>
              <a:t>Yes</a:t>
            </a:r>
          </a:p>
        </p:txBody>
      </p:sp>
      <p:sp>
        <p:nvSpPr>
          <p:cNvPr id="23" name="TextBox 22"/>
          <p:cNvSpPr txBox="1"/>
          <p:nvPr/>
        </p:nvSpPr>
        <p:spPr>
          <a:xfrm>
            <a:off x="5166360" y="2779776"/>
            <a:ext cx="2926080" cy="420624"/>
          </a:xfrm>
          <a:prstGeom prst="rect">
            <a:avLst/>
          </a:prstGeom>
          <a:noFill/>
        </p:spPr>
        <p:txBody>
          <a:bodyPr wrap="square" lIns="0" tIns="0" rIns="0" bIns="0" anchor="ctr">
            <a:spAutoFit/>
          </a:bodyPr>
          <a:lstStyle/>
          <a:p>
            <a:pPr algn="l"/>
            <a:r>
              <a:rPr sz="950" b="0">
                <a:solidFill>
                  <a:srgbClr val="2D1155"/>
                </a:solidFill>
                <a:latin typeface="Calibri"/>
              </a:rPr>
              <a:t>Block edits to protected files; refuse rm in a real repo</a:t>
            </a:r>
          </a:p>
        </p:txBody>
      </p:sp>
      <p:sp>
        <p:nvSpPr>
          <p:cNvPr id="24" name="Rectangle 23"/>
          <p:cNvSpPr/>
          <p:nvPr/>
        </p:nvSpPr>
        <p:spPr>
          <a:xfrm>
            <a:off x="457200" y="3236976"/>
            <a:ext cx="7772400" cy="420624"/>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236976"/>
            <a:ext cx="1600200" cy="420624"/>
          </a:xfrm>
          <a:prstGeom prst="rect">
            <a:avLst/>
          </a:prstGeom>
          <a:noFill/>
        </p:spPr>
        <p:txBody>
          <a:bodyPr wrap="square" lIns="0" tIns="0" rIns="0" bIns="0" anchor="ctr">
            <a:spAutoFit/>
          </a:bodyPr>
          <a:lstStyle/>
          <a:p>
            <a:pPr algn="l"/>
            <a:r>
              <a:rPr sz="1000" b="1">
                <a:solidFill>
                  <a:srgbClr val="5B21B6"/>
                </a:solidFill>
                <a:latin typeface="Courier New"/>
              </a:rPr>
              <a:t>PostToolUse</a:t>
            </a:r>
          </a:p>
        </p:txBody>
      </p:sp>
      <p:sp>
        <p:nvSpPr>
          <p:cNvPr id="26" name="TextBox 25"/>
          <p:cNvSpPr txBox="1"/>
          <p:nvPr/>
        </p:nvSpPr>
        <p:spPr>
          <a:xfrm>
            <a:off x="2212848" y="3236976"/>
            <a:ext cx="2148840" cy="420624"/>
          </a:xfrm>
          <a:prstGeom prst="rect">
            <a:avLst/>
          </a:prstGeom>
          <a:noFill/>
        </p:spPr>
        <p:txBody>
          <a:bodyPr wrap="square" lIns="0" tIns="0" rIns="0" bIns="0" anchor="ctr">
            <a:spAutoFit/>
          </a:bodyPr>
          <a:lstStyle/>
          <a:p>
            <a:pPr algn="l"/>
            <a:r>
              <a:rPr sz="950" b="0">
                <a:solidFill>
                  <a:srgbClr val="6E6389"/>
                </a:solidFill>
                <a:latin typeface="Calibri"/>
              </a:rPr>
              <a:t>after a tool call succeeds</a:t>
            </a:r>
          </a:p>
        </p:txBody>
      </p:sp>
      <p:sp>
        <p:nvSpPr>
          <p:cNvPr id="27" name="TextBox 26"/>
          <p:cNvSpPr txBox="1"/>
          <p:nvPr/>
        </p:nvSpPr>
        <p:spPr>
          <a:xfrm>
            <a:off x="4434840" y="3236976"/>
            <a:ext cx="640080" cy="420624"/>
          </a:xfrm>
          <a:prstGeom prst="rect">
            <a:avLst/>
          </a:prstGeom>
          <a:noFill/>
        </p:spPr>
        <p:txBody>
          <a:bodyPr wrap="square" lIns="0" tIns="0" rIns="0" bIns="0" anchor="ctr">
            <a:spAutoFit/>
          </a:bodyPr>
          <a:lstStyle/>
          <a:p>
            <a:pPr algn="ctr"/>
            <a:r>
              <a:rPr sz="950" b="0">
                <a:solidFill>
                  <a:srgbClr val="6E6389"/>
                </a:solidFill>
                <a:latin typeface="Calibri"/>
              </a:rPr>
              <a:t>No</a:t>
            </a:r>
          </a:p>
        </p:txBody>
      </p:sp>
      <p:sp>
        <p:nvSpPr>
          <p:cNvPr id="28" name="TextBox 27"/>
          <p:cNvSpPr txBox="1"/>
          <p:nvPr/>
        </p:nvSpPr>
        <p:spPr>
          <a:xfrm>
            <a:off x="5166360" y="3236976"/>
            <a:ext cx="2926080" cy="420624"/>
          </a:xfrm>
          <a:prstGeom prst="rect">
            <a:avLst/>
          </a:prstGeom>
          <a:noFill/>
        </p:spPr>
        <p:txBody>
          <a:bodyPr wrap="square" lIns="0" tIns="0" rIns="0" bIns="0" anchor="ctr">
            <a:spAutoFit/>
          </a:bodyPr>
          <a:lstStyle/>
          <a:p>
            <a:pPr algn="l"/>
            <a:r>
              <a:rPr sz="950" b="0">
                <a:solidFill>
                  <a:srgbClr val="2D1155"/>
                </a:solidFill>
                <a:latin typeface="Calibri"/>
              </a:rPr>
              <a:t>Auto-format the file just written; log the diff</a:t>
            </a:r>
          </a:p>
        </p:txBody>
      </p:sp>
      <p:sp>
        <p:nvSpPr>
          <p:cNvPr id="29" name="Rectangle 28"/>
          <p:cNvSpPr/>
          <p:nvPr/>
        </p:nvSpPr>
        <p:spPr>
          <a:xfrm>
            <a:off x="457200" y="3694176"/>
            <a:ext cx="7772400" cy="420624"/>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3694176"/>
            <a:ext cx="1600200" cy="420624"/>
          </a:xfrm>
          <a:prstGeom prst="rect">
            <a:avLst/>
          </a:prstGeom>
          <a:noFill/>
        </p:spPr>
        <p:txBody>
          <a:bodyPr wrap="square" lIns="0" tIns="0" rIns="0" bIns="0" anchor="ctr">
            <a:spAutoFit/>
          </a:bodyPr>
          <a:lstStyle/>
          <a:p>
            <a:pPr algn="l"/>
            <a:r>
              <a:rPr sz="1000" b="1">
                <a:solidFill>
                  <a:srgbClr val="5B21B6"/>
                </a:solidFill>
                <a:latin typeface="Courier New"/>
              </a:rPr>
              <a:t>Stop</a:t>
            </a:r>
          </a:p>
        </p:txBody>
      </p:sp>
      <p:sp>
        <p:nvSpPr>
          <p:cNvPr id="31" name="TextBox 30"/>
          <p:cNvSpPr txBox="1"/>
          <p:nvPr/>
        </p:nvSpPr>
        <p:spPr>
          <a:xfrm>
            <a:off x="2212848" y="3694176"/>
            <a:ext cx="2148840" cy="420624"/>
          </a:xfrm>
          <a:prstGeom prst="rect">
            <a:avLst/>
          </a:prstGeom>
          <a:noFill/>
        </p:spPr>
        <p:txBody>
          <a:bodyPr wrap="square" lIns="0" tIns="0" rIns="0" bIns="0" anchor="ctr">
            <a:spAutoFit/>
          </a:bodyPr>
          <a:lstStyle/>
          <a:p>
            <a:pPr algn="l"/>
            <a:r>
              <a:rPr sz="950" b="0">
                <a:solidFill>
                  <a:srgbClr val="6E6389"/>
                </a:solidFill>
                <a:latin typeface="Calibri"/>
              </a:rPr>
              <a:t>the agent thinks it has finished</a:t>
            </a:r>
          </a:p>
        </p:txBody>
      </p:sp>
      <p:sp>
        <p:nvSpPr>
          <p:cNvPr id="32" name="TextBox 31"/>
          <p:cNvSpPr txBox="1"/>
          <p:nvPr/>
        </p:nvSpPr>
        <p:spPr>
          <a:xfrm>
            <a:off x="4434840" y="3694176"/>
            <a:ext cx="640080" cy="420624"/>
          </a:xfrm>
          <a:prstGeom prst="rect">
            <a:avLst/>
          </a:prstGeom>
          <a:noFill/>
        </p:spPr>
        <p:txBody>
          <a:bodyPr wrap="square" lIns="0" tIns="0" rIns="0" bIns="0" anchor="ctr">
            <a:spAutoFit/>
          </a:bodyPr>
          <a:lstStyle/>
          <a:p>
            <a:pPr algn="ctr"/>
            <a:r>
              <a:rPr sz="950" b="1">
                <a:solidFill>
                  <a:srgbClr val="F59E0B"/>
                </a:solidFill>
                <a:latin typeface="Calibri"/>
              </a:rPr>
              <a:t>Yes</a:t>
            </a:r>
          </a:p>
        </p:txBody>
      </p:sp>
      <p:sp>
        <p:nvSpPr>
          <p:cNvPr id="33" name="TextBox 32"/>
          <p:cNvSpPr txBox="1"/>
          <p:nvPr/>
        </p:nvSpPr>
        <p:spPr>
          <a:xfrm>
            <a:off x="5166360" y="3694176"/>
            <a:ext cx="2926080" cy="420624"/>
          </a:xfrm>
          <a:prstGeom prst="rect">
            <a:avLst/>
          </a:prstGeom>
          <a:noFill/>
        </p:spPr>
        <p:txBody>
          <a:bodyPr wrap="square" lIns="0" tIns="0" rIns="0" bIns="0" anchor="ctr">
            <a:spAutoFit/>
          </a:bodyPr>
          <a:lstStyle/>
          <a:p>
            <a:pPr algn="l"/>
            <a:r>
              <a:rPr sz="950" b="0">
                <a:solidFill>
                  <a:srgbClr val="2D1155"/>
                </a:solidFill>
                <a:latin typeface="Calibri"/>
              </a:rPr>
              <a:t>Run make check. Refuse to stop while it is red</a:t>
            </a:r>
          </a:p>
        </p:txBody>
      </p:sp>
      <p:sp>
        <p:nvSpPr>
          <p:cNvPr id="34" name="Rectangle 33"/>
          <p:cNvSpPr/>
          <p:nvPr/>
        </p:nvSpPr>
        <p:spPr>
          <a:xfrm>
            <a:off x="457200" y="4151376"/>
            <a:ext cx="7772400" cy="420624"/>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4151376"/>
            <a:ext cx="1600200" cy="420624"/>
          </a:xfrm>
          <a:prstGeom prst="rect">
            <a:avLst/>
          </a:prstGeom>
          <a:noFill/>
        </p:spPr>
        <p:txBody>
          <a:bodyPr wrap="square" lIns="0" tIns="0" rIns="0" bIns="0" anchor="ctr">
            <a:spAutoFit/>
          </a:bodyPr>
          <a:lstStyle/>
          <a:p>
            <a:pPr algn="l"/>
            <a:r>
              <a:rPr sz="1000" b="1">
                <a:solidFill>
                  <a:srgbClr val="5B21B6"/>
                </a:solidFill>
                <a:latin typeface="Courier New"/>
              </a:rPr>
              <a:t>SubagentStop</a:t>
            </a:r>
          </a:p>
        </p:txBody>
      </p:sp>
      <p:sp>
        <p:nvSpPr>
          <p:cNvPr id="36" name="TextBox 35"/>
          <p:cNvSpPr txBox="1"/>
          <p:nvPr/>
        </p:nvSpPr>
        <p:spPr>
          <a:xfrm>
            <a:off x="2212848" y="4151376"/>
            <a:ext cx="2148840" cy="420624"/>
          </a:xfrm>
          <a:prstGeom prst="rect">
            <a:avLst/>
          </a:prstGeom>
          <a:noFill/>
        </p:spPr>
        <p:txBody>
          <a:bodyPr wrap="square" lIns="0" tIns="0" rIns="0" bIns="0" anchor="ctr">
            <a:spAutoFit/>
          </a:bodyPr>
          <a:lstStyle/>
          <a:p>
            <a:pPr algn="l"/>
            <a:r>
              <a:rPr sz="950" b="0">
                <a:solidFill>
                  <a:srgbClr val="6E6389"/>
                </a:solidFill>
                <a:latin typeface="Calibri"/>
              </a:rPr>
              <a:t>a sub-agent finishes</a:t>
            </a:r>
          </a:p>
        </p:txBody>
      </p:sp>
      <p:sp>
        <p:nvSpPr>
          <p:cNvPr id="37" name="TextBox 36"/>
          <p:cNvSpPr txBox="1"/>
          <p:nvPr/>
        </p:nvSpPr>
        <p:spPr>
          <a:xfrm>
            <a:off x="4434840" y="4151376"/>
            <a:ext cx="640080" cy="420624"/>
          </a:xfrm>
          <a:prstGeom prst="rect">
            <a:avLst/>
          </a:prstGeom>
          <a:noFill/>
        </p:spPr>
        <p:txBody>
          <a:bodyPr wrap="square" lIns="0" tIns="0" rIns="0" bIns="0" anchor="ctr">
            <a:spAutoFit/>
          </a:bodyPr>
          <a:lstStyle/>
          <a:p>
            <a:pPr algn="ctr"/>
            <a:r>
              <a:rPr sz="950" b="1">
                <a:solidFill>
                  <a:srgbClr val="F59E0B"/>
                </a:solidFill>
                <a:latin typeface="Calibri"/>
              </a:rPr>
              <a:t>Yes</a:t>
            </a:r>
          </a:p>
        </p:txBody>
      </p:sp>
      <p:sp>
        <p:nvSpPr>
          <p:cNvPr id="38" name="TextBox 37"/>
          <p:cNvSpPr txBox="1"/>
          <p:nvPr/>
        </p:nvSpPr>
        <p:spPr>
          <a:xfrm>
            <a:off x="5166360" y="4151376"/>
            <a:ext cx="2926080" cy="420624"/>
          </a:xfrm>
          <a:prstGeom prst="rect">
            <a:avLst/>
          </a:prstGeom>
          <a:noFill/>
        </p:spPr>
        <p:txBody>
          <a:bodyPr wrap="square" lIns="0" tIns="0" rIns="0" bIns="0" anchor="ctr">
            <a:spAutoFit/>
          </a:bodyPr>
          <a:lstStyle/>
          <a:p>
            <a:pPr algn="l"/>
            <a:r>
              <a:rPr sz="950" b="0">
                <a:solidFill>
                  <a:srgbClr val="2D1155"/>
                </a:solidFill>
                <a:latin typeface="Calibri"/>
              </a:rPr>
              <a:t>Check the sub-agent actually did its job</a:t>
            </a:r>
          </a:p>
        </p:txBody>
      </p:sp>
      <p:sp>
        <p:nvSpPr>
          <p:cNvPr id="39" name="TextBox 38"/>
          <p:cNvSpPr txBox="1"/>
          <p:nvPr/>
        </p:nvSpPr>
        <p:spPr>
          <a:xfrm>
            <a:off x="457200" y="4681728"/>
            <a:ext cx="7498079" cy="292608"/>
          </a:xfrm>
          <a:prstGeom prst="rect">
            <a:avLst/>
          </a:prstGeom>
          <a:noFill/>
        </p:spPr>
        <p:txBody>
          <a:bodyPr wrap="square" lIns="0" tIns="0" rIns="0" bIns="0" anchor="t">
            <a:spAutoFit/>
          </a:bodyPr>
          <a:lstStyle/>
          <a:p>
            <a:pPr algn="l"/>
            <a:r>
              <a:rPr sz="1150" b="0">
                <a:solidFill>
                  <a:srgbClr val="6E6389"/>
                </a:solidFill>
                <a:latin typeface="Calibri"/>
              </a:rPr>
              <a:t>“Blocks?” is the column that matters: only some events can stop the thing that is about to happen.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FOUR WORTH WIRING TODAY</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Concrete, and all four are useful on TCA Habits before you leave.</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08760"/>
            <a:ext cx="4023360" cy="13258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73351"/>
            <a:ext cx="2377440" cy="274320"/>
          </a:xfrm>
          <a:prstGeom prst="rect">
            <a:avLst/>
          </a:prstGeom>
          <a:noFill/>
        </p:spPr>
        <p:txBody>
          <a:bodyPr wrap="square" lIns="0" tIns="0" rIns="0" bIns="0" anchor="t">
            <a:spAutoFit/>
          </a:bodyPr>
          <a:lstStyle/>
          <a:p>
            <a:pPr algn="l"/>
            <a:r>
              <a:rPr sz="1150" b="1">
                <a:solidFill>
                  <a:srgbClr val="2D1155"/>
                </a:solidFill>
                <a:latin typeface="Arial Black"/>
              </a:rPr>
              <a:t>THE VERIFIER</a:t>
            </a:r>
          </a:p>
        </p:txBody>
      </p:sp>
      <p:sp>
        <p:nvSpPr>
          <p:cNvPr id="7" name="Rectangle 6"/>
          <p:cNvSpPr/>
          <p:nvPr/>
        </p:nvSpPr>
        <p:spPr>
          <a:xfrm>
            <a:off x="3200400" y="1655063"/>
            <a:ext cx="1097280" cy="31089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0" y="1655063"/>
            <a:ext cx="1097280" cy="310896"/>
          </a:xfrm>
          <a:prstGeom prst="rect">
            <a:avLst/>
          </a:prstGeom>
          <a:noFill/>
        </p:spPr>
        <p:txBody>
          <a:bodyPr wrap="square" lIns="0" tIns="0" rIns="0" bIns="0" anchor="ctr">
            <a:spAutoFit/>
          </a:bodyPr>
          <a:lstStyle/>
          <a:p>
            <a:pPr algn="ctr"/>
            <a:r>
              <a:rPr sz="850" b="0">
                <a:solidFill>
                  <a:srgbClr val="C4B5E8"/>
                </a:solidFill>
                <a:latin typeface="Courier New"/>
              </a:rPr>
              <a:t>Stop</a:t>
            </a:r>
          </a:p>
        </p:txBody>
      </p:sp>
      <p:sp>
        <p:nvSpPr>
          <p:cNvPr id="9" name="TextBox 8"/>
          <p:cNvSpPr txBox="1"/>
          <p:nvPr/>
        </p:nvSpPr>
        <p:spPr>
          <a:xfrm>
            <a:off x="685800" y="2057400"/>
            <a:ext cx="3566160" cy="640080"/>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Run make check when the agent says it's done. Red means not done.</a:t>
            </a:r>
          </a:p>
        </p:txBody>
      </p:sp>
      <p:sp>
        <p:nvSpPr>
          <p:cNvPr id="10" name="Rectangle 9"/>
          <p:cNvSpPr/>
          <p:nvPr/>
        </p:nvSpPr>
        <p:spPr>
          <a:xfrm>
            <a:off x="4663440" y="1508760"/>
            <a:ext cx="4023360" cy="13258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92040" y="1673351"/>
            <a:ext cx="2377440" cy="274320"/>
          </a:xfrm>
          <a:prstGeom prst="rect">
            <a:avLst/>
          </a:prstGeom>
          <a:noFill/>
        </p:spPr>
        <p:txBody>
          <a:bodyPr wrap="square" lIns="0" tIns="0" rIns="0" bIns="0" anchor="t">
            <a:spAutoFit/>
          </a:bodyPr>
          <a:lstStyle/>
          <a:p>
            <a:pPr algn="l"/>
            <a:r>
              <a:rPr sz="1150" b="1">
                <a:solidFill>
                  <a:srgbClr val="2D1155"/>
                </a:solidFill>
                <a:latin typeface="Arial Black"/>
              </a:rPr>
              <a:t>THE GUARDRAIL</a:t>
            </a:r>
          </a:p>
        </p:txBody>
      </p:sp>
      <p:sp>
        <p:nvSpPr>
          <p:cNvPr id="12" name="Rectangle 11"/>
          <p:cNvSpPr/>
          <p:nvPr/>
        </p:nvSpPr>
        <p:spPr>
          <a:xfrm>
            <a:off x="7406640" y="1655063"/>
            <a:ext cx="1097280" cy="31089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06640" y="1655063"/>
            <a:ext cx="1097280" cy="310896"/>
          </a:xfrm>
          <a:prstGeom prst="rect">
            <a:avLst/>
          </a:prstGeom>
          <a:noFill/>
        </p:spPr>
        <p:txBody>
          <a:bodyPr wrap="square" lIns="0" tIns="0" rIns="0" bIns="0" anchor="ctr">
            <a:spAutoFit/>
          </a:bodyPr>
          <a:lstStyle/>
          <a:p>
            <a:pPr algn="ctr"/>
            <a:r>
              <a:rPr sz="850" b="0">
                <a:solidFill>
                  <a:srgbClr val="C4B5E8"/>
                </a:solidFill>
                <a:latin typeface="Courier New"/>
              </a:rPr>
              <a:t>PreToolUse</a:t>
            </a:r>
          </a:p>
        </p:txBody>
      </p:sp>
      <p:sp>
        <p:nvSpPr>
          <p:cNvPr id="14" name="TextBox 13"/>
          <p:cNvSpPr txBox="1"/>
          <p:nvPr/>
        </p:nvSpPr>
        <p:spPr>
          <a:xfrm>
            <a:off x="4892040" y="2057400"/>
            <a:ext cx="3566160" cy="640080"/>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Block an edit to the streak logic unless a test changes in the same turn.</a:t>
            </a:r>
          </a:p>
        </p:txBody>
      </p:sp>
      <p:sp>
        <p:nvSpPr>
          <p:cNvPr id="15" name="Rectangle 14"/>
          <p:cNvSpPr/>
          <p:nvPr/>
        </p:nvSpPr>
        <p:spPr>
          <a:xfrm>
            <a:off x="457200" y="2944368"/>
            <a:ext cx="4023360" cy="13258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108960"/>
            <a:ext cx="2377440" cy="274320"/>
          </a:xfrm>
          <a:prstGeom prst="rect">
            <a:avLst/>
          </a:prstGeom>
          <a:noFill/>
        </p:spPr>
        <p:txBody>
          <a:bodyPr wrap="square" lIns="0" tIns="0" rIns="0" bIns="0" anchor="t">
            <a:spAutoFit/>
          </a:bodyPr>
          <a:lstStyle/>
          <a:p>
            <a:pPr algn="l"/>
            <a:r>
              <a:rPr sz="1150" b="1">
                <a:solidFill>
                  <a:srgbClr val="2D1155"/>
                </a:solidFill>
                <a:latin typeface="Arial Black"/>
              </a:rPr>
              <a:t>THE TIDIER</a:t>
            </a:r>
          </a:p>
        </p:txBody>
      </p:sp>
      <p:sp>
        <p:nvSpPr>
          <p:cNvPr id="17" name="Rectangle 16"/>
          <p:cNvSpPr/>
          <p:nvPr/>
        </p:nvSpPr>
        <p:spPr>
          <a:xfrm>
            <a:off x="3200400" y="3090672"/>
            <a:ext cx="1097280" cy="31089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0" y="3090672"/>
            <a:ext cx="1097280" cy="310896"/>
          </a:xfrm>
          <a:prstGeom prst="rect">
            <a:avLst/>
          </a:prstGeom>
          <a:noFill/>
        </p:spPr>
        <p:txBody>
          <a:bodyPr wrap="square" lIns="0" tIns="0" rIns="0" bIns="0" anchor="ctr">
            <a:spAutoFit/>
          </a:bodyPr>
          <a:lstStyle/>
          <a:p>
            <a:pPr algn="ctr"/>
            <a:r>
              <a:rPr sz="850" b="0">
                <a:solidFill>
                  <a:srgbClr val="C4B5E8"/>
                </a:solidFill>
                <a:latin typeface="Courier New"/>
              </a:rPr>
              <a:t>PostToolUse</a:t>
            </a:r>
          </a:p>
        </p:txBody>
      </p:sp>
      <p:sp>
        <p:nvSpPr>
          <p:cNvPr id="19" name="TextBox 18"/>
          <p:cNvSpPr txBox="1"/>
          <p:nvPr/>
        </p:nvSpPr>
        <p:spPr>
          <a:xfrm>
            <a:off x="685800" y="3493008"/>
            <a:ext cx="3566160" cy="640080"/>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Run the formatter on whatever file was just written. Style never reaches review.</a:t>
            </a:r>
          </a:p>
        </p:txBody>
      </p:sp>
      <p:sp>
        <p:nvSpPr>
          <p:cNvPr id="20" name="Rectangle 19"/>
          <p:cNvSpPr/>
          <p:nvPr/>
        </p:nvSpPr>
        <p:spPr>
          <a:xfrm>
            <a:off x="4663440" y="2944368"/>
            <a:ext cx="4023360" cy="13258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92040" y="3108960"/>
            <a:ext cx="2377440" cy="274320"/>
          </a:xfrm>
          <a:prstGeom prst="rect">
            <a:avLst/>
          </a:prstGeom>
          <a:noFill/>
        </p:spPr>
        <p:txBody>
          <a:bodyPr wrap="square" lIns="0" tIns="0" rIns="0" bIns="0" anchor="t">
            <a:spAutoFit/>
          </a:bodyPr>
          <a:lstStyle/>
          <a:p>
            <a:pPr algn="l"/>
            <a:r>
              <a:rPr sz="1150" b="1">
                <a:solidFill>
                  <a:srgbClr val="2D1155"/>
                </a:solidFill>
                <a:latin typeface="Arial Black"/>
              </a:rPr>
              <a:t>THE BRIEFER</a:t>
            </a:r>
          </a:p>
        </p:txBody>
      </p:sp>
      <p:sp>
        <p:nvSpPr>
          <p:cNvPr id="22" name="Rectangle 21"/>
          <p:cNvSpPr/>
          <p:nvPr/>
        </p:nvSpPr>
        <p:spPr>
          <a:xfrm>
            <a:off x="7406640" y="3090672"/>
            <a:ext cx="1097280" cy="31089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06640" y="3090672"/>
            <a:ext cx="1097280" cy="310896"/>
          </a:xfrm>
          <a:prstGeom prst="rect">
            <a:avLst/>
          </a:prstGeom>
          <a:noFill/>
        </p:spPr>
        <p:txBody>
          <a:bodyPr wrap="square" lIns="0" tIns="0" rIns="0" bIns="0" anchor="ctr">
            <a:spAutoFit/>
          </a:bodyPr>
          <a:lstStyle/>
          <a:p>
            <a:pPr algn="ctr"/>
            <a:r>
              <a:rPr sz="850" b="0">
                <a:solidFill>
                  <a:srgbClr val="C4B5E8"/>
                </a:solidFill>
                <a:latin typeface="Courier New"/>
              </a:rPr>
              <a:t>SessionStart</a:t>
            </a:r>
          </a:p>
        </p:txBody>
      </p:sp>
      <p:sp>
        <p:nvSpPr>
          <p:cNvPr id="24" name="TextBox 23"/>
          <p:cNvSpPr txBox="1"/>
          <p:nvPr/>
        </p:nvSpPr>
        <p:spPr>
          <a:xfrm>
            <a:off x="4892040" y="3493008"/>
            <a:ext cx="3566160" cy="640080"/>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Echo the branch and any failing tests, so the agent starts already oriented.</a:t>
            </a:r>
          </a:p>
        </p:txBody>
      </p:sp>
      <p:sp>
        <p:nvSpPr>
          <p:cNvPr id="25" name="TextBox 24"/>
          <p:cNvSpPr txBox="1"/>
          <p:nvPr/>
        </p:nvSpPr>
        <p:spPr>
          <a:xfrm>
            <a:off x="457200" y="4434840"/>
            <a:ext cx="7498079" cy="320040"/>
          </a:xfrm>
          <a:prstGeom prst="rect">
            <a:avLst/>
          </a:prstGeom>
          <a:noFill/>
        </p:spPr>
        <p:txBody>
          <a:bodyPr wrap="square" lIns="0" tIns="0" rIns="0" bIns="0" anchor="t">
            <a:spAutoFit/>
          </a:bodyPr>
          <a:lstStyle/>
          <a:p>
            <a:pPr algn="l"/>
            <a:r>
              <a:rPr sz="1200" b="0">
                <a:solidFill>
                  <a:srgbClr val="6E6389"/>
                </a:solidFill>
                <a:latin typeface="Calibri"/>
              </a:rPr>
              <a:t>The first two are today's lab. The other two take about a minute each.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ONE THING THAT WILL CATCH YOU</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A hook signals its decision through the exit code. The numbers are not what you'd guess.</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36192"/>
            <a:ext cx="7772400" cy="5486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36192"/>
            <a:ext cx="1051560" cy="548640"/>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36192"/>
            <a:ext cx="1051560" cy="548640"/>
          </a:xfrm>
          <a:prstGeom prst="rect">
            <a:avLst/>
          </a:prstGeom>
          <a:noFill/>
        </p:spPr>
        <p:txBody>
          <a:bodyPr wrap="square" lIns="0" tIns="0" rIns="0" bIns="0" anchor="ctr">
            <a:spAutoFit/>
          </a:bodyPr>
          <a:lstStyle/>
          <a:p>
            <a:pPr algn="ctr"/>
            <a:r>
              <a:rPr sz="1100" b="0">
                <a:solidFill>
                  <a:srgbClr val="C4B5E8"/>
                </a:solidFill>
                <a:latin typeface="Courier New"/>
              </a:rPr>
              <a:t>exit 0</a:t>
            </a:r>
          </a:p>
        </p:txBody>
      </p:sp>
      <p:sp>
        <p:nvSpPr>
          <p:cNvPr id="8" name="TextBox 7"/>
          <p:cNvSpPr txBox="1"/>
          <p:nvPr/>
        </p:nvSpPr>
        <p:spPr>
          <a:xfrm>
            <a:off x="1691640" y="1536192"/>
            <a:ext cx="1920240" cy="548640"/>
          </a:xfrm>
          <a:prstGeom prst="rect">
            <a:avLst/>
          </a:prstGeom>
          <a:noFill/>
        </p:spPr>
        <p:txBody>
          <a:bodyPr wrap="square" lIns="0" tIns="0" rIns="0" bIns="0" anchor="ctr">
            <a:spAutoFit/>
          </a:bodyPr>
          <a:lstStyle/>
          <a:p>
            <a:pPr algn="l"/>
            <a:r>
              <a:rPr sz="1250" b="0">
                <a:solidFill>
                  <a:srgbClr val="6E6389"/>
                </a:solidFill>
                <a:latin typeface="Arial Black"/>
              </a:rPr>
              <a:t>Fine, carry on.</a:t>
            </a:r>
          </a:p>
        </p:txBody>
      </p:sp>
      <p:sp>
        <p:nvSpPr>
          <p:cNvPr id="9" name="TextBox 8"/>
          <p:cNvSpPr txBox="1"/>
          <p:nvPr/>
        </p:nvSpPr>
        <p:spPr>
          <a:xfrm>
            <a:off x="3749039" y="1536192"/>
            <a:ext cx="4297680" cy="548640"/>
          </a:xfrm>
          <a:prstGeom prst="rect">
            <a:avLst/>
          </a:prstGeom>
          <a:noFill/>
        </p:spPr>
        <p:txBody>
          <a:bodyPr wrap="square" lIns="0" tIns="0" rIns="0" bIns="0" anchor="ctr">
            <a:spAutoFit/>
          </a:bodyPr>
          <a:lstStyle/>
          <a:p>
            <a:pPr algn="l"/>
            <a:r>
              <a:rPr sz="1150" b="0">
                <a:solidFill>
                  <a:srgbClr val="2D1155"/>
                </a:solidFill>
                <a:latin typeface="Calibri"/>
              </a:rPr>
              <a:t>Success. Anything on stdout can add context.</a:t>
            </a:r>
          </a:p>
        </p:txBody>
      </p:sp>
      <p:sp>
        <p:nvSpPr>
          <p:cNvPr id="10" name="Rectangle 9"/>
          <p:cNvSpPr/>
          <p:nvPr/>
        </p:nvSpPr>
        <p:spPr>
          <a:xfrm>
            <a:off x="457200" y="2157984"/>
            <a:ext cx="7772400" cy="5486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157984"/>
            <a:ext cx="1051560" cy="548640"/>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157984"/>
            <a:ext cx="1051560" cy="548640"/>
          </a:xfrm>
          <a:prstGeom prst="rect">
            <a:avLst/>
          </a:prstGeom>
          <a:noFill/>
        </p:spPr>
        <p:txBody>
          <a:bodyPr wrap="square" lIns="0" tIns="0" rIns="0" bIns="0" anchor="ctr">
            <a:spAutoFit/>
          </a:bodyPr>
          <a:lstStyle/>
          <a:p>
            <a:pPr algn="ctr"/>
            <a:r>
              <a:rPr sz="1100" b="0">
                <a:solidFill>
                  <a:srgbClr val="C4B5E8"/>
                </a:solidFill>
                <a:latin typeface="Courier New"/>
              </a:rPr>
              <a:t>exit 2</a:t>
            </a:r>
          </a:p>
        </p:txBody>
      </p:sp>
      <p:sp>
        <p:nvSpPr>
          <p:cNvPr id="13" name="TextBox 12"/>
          <p:cNvSpPr txBox="1"/>
          <p:nvPr/>
        </p:nvSpPr>
        <p:spPr>
          <a:xfrm>
            <a:off x="1691640" y="2157984"/>
            <a:ext cx="1920240" cy="548640"/>
          </a:xfrm>
          <a:prstGeom prst="rect">
            <a:avLst/>
          </a:prstGeom>
          <a:noFill/>
        </p:spPr>
        <p:txBody>
          <a:bodyPr wrap="square" lIns="0" tIns="0" rIns="0" bIns="0" anchor="ctr">
            <a:spAutoFit/>
          </a:bodyPr>
          <a:lstStyle/>
          <a:p>
            <a:pPr algn="l"/>
            <a:r>
              <a:rPr sz="1250" b="1">
                <a:solidFill>
                  <a:srgbClr val="5B21B6"/>
                </a:solidFill>
                <a:latin typeface="Arial Black"/>
              </a:rPr>
              <a:t>BLOCK IT.</a:t>
            </a:r>
          </a:p>
        </p:txBody>
      </p:sp>
      <p:sp>
        <p:nvSpPr>
          <p:cNvPr id="14" name="TextBox 13"/>
          <p:cNvSpPr txBox="1"/>
          <p:nvPr/>
        </p:nvSpPr>
        <p:spPr>
          <a:xfrm>
            <a:off x="3749039" y="2157984"/>
            <a:ext cx="4297680" cy="548640"/>
          </a:xfrm>
          <a:prstGeom prst="rect">
            <a:avLst/>
          </a:prstGeom>
          <a:noFill/>
        </p:spPr>
        <p:txBody>
          <a:bodyPr wrap="square" lIns="0" tIns="0" rIns="0" bIns="0" anchor="ctr">
            <a:spAutoFit/>
          </a:bodyPr>
          <a:lstStyle/>
          <a:p>
            <a:pPr algn="l"/>
            <a:r>
              <a:rPr sz="1150" b="0">
                <a:solidFill>
                  <a:srgbClr val="2D1155"/>
                </a:solidFill>
                <a:latin typeface="Calibri"/>
              </a:rPr>
              <a:t>stderr is handed back to the agent as the reason.</a:t>
            </a:r>
          </a:p>
        </p:txBody>
      </p:sp>
      <p:sp>
        <p:nvSpPr>
          <p:cNvPr id="15" name="Rectangle 14"/>
          <p:cNvSpPr/>
          <p:nvPr/>
        </p:nvSpPr>
        <p:spPr>
          <a:xfrm>
            <a:off x="457200" y="2779776"/>
            <a:ext cx="7772400" cy="5486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779776"/>
            <a:ext cx="1051560" cy="548640"/>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779776"/>
            <a:ext cx="1051560" cy="548640"/>
          </a:xfrm>
          <a:prstGeom prst="rect">
            <a:avLst/>
          </a:prstGeom>
          <a:noFill/>
        </p:spPr>
        <p:txBody>
          <a:bodyPr wrap="square" lIns="0" tIns="0" rIns="0" bIns="0" anchor="ctr">
            <a:spAutoFit/>
          </a:bodyPr>
          <a:lstStyle/>
          <a:p>
            <a:pPr algn="ctr"/>
            <a:r>
              <a:rPr sz="1100" b="0">
                <a:solidFill>
                  <a:srgbClr val="C4B5E8"/>
                </a:solidFill>
                <a:latin typeface="Courier New"/>
              </a:rPr>
              <a:t>exit 1</a:t>
            </a:r>
          </a:p>
        </p:txBody>
      </p:sp>
      <p:sp>
        <p:nvSpPr>
          <p:cNvPr id="18" name="TextBox 17"/>
          <p:cNvSpPr txBox="1"/>
          <p:nvPr/>
        </p:nvSpPr>
        <p:spPr>
          <a:xfrm>
            <a:off x="1691640" y="2779776"/>
            <a:ext cx="1920240" cy="548640"/>
          </a:xfrm>
          <a:prstGeom prst="rect">
            <a:avLst/>
          </a:prstGeom>
          <a:noFill/>
        </p:spPr>
        <p:txBody>
          <a:bodyPr wrap="square" lIns="0" tIns="0" rIns="0" bIns="0" anchor="ctr">
            <a:spAutoFit/>
          </a:bodyPr>
          <a:lstStyle/>
          <a:p>
            <a:pPr algn="l"/>
            <a:r>
              <a:rPr sz="1250" b="1">
                <a:solidFill>
                  <a:srgbClr val="9B1C1C"/>
                </a:solidFill>
                <a:latin typeface="Arial Black"/>
              </a:rPr>
              <a:t>Nothing happens.</a:t>
            </a:r>
          </a:p>
        </p:txBody>
      </p:sp>
      <p:sp>
        <p:nvSpPr>
          <p:cNvPr id="19" name="TextBox 18"/>
          <p:cNvSpPr txBox="1"/>
          <p:nvPr/>
        </p:nvSpPr>
        <p:spPr>
          <a:xfrm>
            <a:off x="3749039" y="2779776"/>
            <a:ext cx="4297680" cy="548640"/>
          </a:xfrm>
          <a:prstGeom prst="rect">
            <a:avLst/>
          </a:prstGeom>
          <a:noFill/>
        </p:spPr>
        <p:txBody>
          <a:bodyPr wrap="square" lIns="0" tIns="0" rIns="0" bIns="0" anchor="ctr">
            <a:spAutoFit/>
          </a:bodyPr>
          <a:lstStyle/>
          <a:p>
            <a:pPr algn="l"/>
            <a:r>
              <a:rPr sz="1150" b="0">
                <a:solidFill>
                  <a:srgbClr val="2D1155"/>
                </a:solidFill>
                <a:latin typeface="Calibri"/>
              </a:rPr>
              <a:t>A non-blocking error. The action proceeds anyway.</a:t>
            </a:r>
          </a:p>
        </p:txBody>
      </p:sp>
      <p:sp>
        <p:nvSpPr>
          <p:cNvPr id="20" name="TextBox 19"/>
          <p:cNvSpPr txBox="1"/>
          <p:nvPr/>
        </p:nvSpPr>
        <p:spPr>
          <a:xfrm>
            <a:off x="457200" y="3438144"/>
            <a:ext cx="7680960" cy="320040"/>
          </a:xfrm>
          <a:prstGeom prst="rect">
            <a:avLst/>
          </a:prstGeom>
          <a:noFill/>
        </p:spPr>
        <p:txBody>
          <a:bodyPr wrap="square" lIns="0" tIns="0" rIns="0" bIns="0" anchor="t">
            <a:spAutoFit/>
          </a:bodyPr>
          <a:lstStyle/>
          <a:p>
            <a:pPr algn="l"/>
            <a:r>
              <a:rPr sz="1200" b="1">
                <a:solidFill>
                  <a:srgbClr val="2D1155"/>
                </a:solidFill>
                <a:latin typeface="Calibri"/>
              </a:rPr>
              <a:t>Unix says 1 means failure. A policy hook that exits 1 enforces nothing at all.</a:t>
            </a:r>
          </a:p>
        </p:txBody>
      </p:sp>
      <p:sp>
        <p:nvSpPr>
          <p:cNvPr id="21" name="Rectangle 20"/>
          <p:cNvSpPr/>
          <p:nvPr/>
        </p:nvSpPr>
        <p:spPr>
          <a:xfrm>
            <a:off x="457200" y="3840480"/>
            <a:ext cx="7772400" cy="841248"/>
          </a:xfrm>
          <a:prstGeom prst="rect">
            <a:avLst/>
          </a:prstGeom>
          <a:solidFill>
            <a:srgbClr val="1E0B3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4005072"/>
            <a:ext cx="7370064" cy="512064"/>
          </a:xfrm>
          <a:prstGeom prst="rect">
            <a:avLst/>
          </a:prstGeom>
          <a:noFill/>
        </p:spPr>
        <p:txBody>
          <a:bodyPr wrap="square" lIns="0" tIns="0" rIns="0" bIns="0" anchor="t">
            <a:spAutoFit/>
          </a:bodyPr>
          <a:lstStyle/>
          <a:p>
            <a:pPr algn="l">
              <a:lnSpc>
                <a:spcPct val="132000"/>
              </a:lnSpc>
            </a:pPr>
            <a:r>
              <a:rPr sz="950" b="0">
                <a:solidFill>
                  <a:srgbClr val="C4B5E8"/>
                </a:solidFill>
                <a:latin typeface="Courier New"/>
              </a:rPr>
              <a:t>Claude Code   .claude/settings.json + .claude/hooks/     ·  manage with /hooks</a:t>
            </a:r>
            <a:br/>
            <a:r>
              <a:rPr sz="950" b="0">
                <a:solidFill>
                  <a:srgbClr val="C4B5E8"/>
                </a:solidFill>
                <a:latin typeface="Courier New"/>
              </a:rPr>
              <a:t>Codex         ~/.codex/hooks.json, or [hooks] in config.toml   ·  on by default; [features] hooks = false turns them off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FULL CATALOGUE</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Reference, not memorisation. Know the six; know this page exists.</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5074920" cy="27432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45920"/>
            <a:ext cx="4617720" cy="256032"/>
          </a:xfrm>
          <a:prstGeom prst="rect">
            <a:avLst/>
          </a:prstGeom>
          <a:noFill/>
        </p:spPr>
        <p:txBody>
          <a:bodyPr wrap="square" lIns="0" tIns="0" rIns="0" bIns="0" anchor="t">
            <a:spAutoFit/>
          </a:bodyPr>
          <a:lstStyle/>
          <a:p>
            <a:pPr algn="l"/>
            <a:r>
              <a:rPr sz="1000" b="1">
                <a:solidFill>
                  <a:srgbClr val="7C3AED"/>
                </a:solidFill>
                <a:latin typeface="Calibri"/>
              </a:rPr>
              <a:t>CLAUDE CODE  ·  30 EVENTS</a:t>
            </a:r>
          </a:p>
        </p:txBody>
      </p:sp>
      <p:sp>
        <p:nvSpPr>
          <p:cNvPr id="7" name="TextBox 6"/>
          <p:cNvSpPr txBox="1"/>
          <p:nvPr/>
        </p:nvSpPr>
        <p:spPr>
          <a:xfrm>
            <a:off x="685800" y="1956816"/>
            <a:ext cx="1005840" cy="219456"/>
          </a:xfrm>
          <a:prstGeom prst="rect">
            <a:avLst/>
          </a:prstGeom>
          <a:noFill/>
        </p:spPr>
        <p:txBody>
          <a:bodyPr wrap="square" lIns="0" tIns="0" rIns="0" bIns="0" anchor="t">
            <a:spAutoFit/>
          </a:bodyPr>
          <a:lstStyle/>
          <a:p>
            <a:pPr algn="l"/>
            <a:r>
              <a:rPr sz="850" b="1">
                <a:solidFill>
                  <a:srgbClr val="F59E0B"/>
                </a:solidFill>
                <a:latin typeface="Calibri"/>
              </a:rPr>
              <a:t>Session</a:t>
            </a:r>
          </a:p>
        </p:txBody>
      </p:sp>
      <p:sp>
        <p:nvSpPr>
          <p:cNvPr id="8" name="TextBox 7"/>
          <p:cNvSpPr txBox="1"/>
          <p:nvPr/>
        </p:nvSpPr>
        <p:spPr>
          <a:xfrm>
            <a:off x="1783080" y="1956816"/>
            <a:ext cx="3566160" cy="365760"/>
          </a:xfrm>
          <a:prstGeom prst="rect">
            <a:avLst/>
          </a:prstGeom>
          <a:noFill/>
        </p:spPr>
        <p:txBody>
          <a:bodyPr wrap="square" lIns="0" tIns="0" rIns="0" bIns="0" anchor="t">
            <a:spAutoFit/>
          </a:bodyPr>
          <a:lstStyle/>
          <a:p>
            <a:pPr algn="l">
              <a:lnSpc>
                <a:spcPct val="112000"/>
              </a:lnSpc>
            </a:pPr>
            <a:r>
              <a:rPr sz="800" b="0">
                <a:solidFill>
                  <a:srgbClr val="2D1155"/>
                </a:solidFill>
                <a:latin typeface="Courier New"/>
              </a:rPr>
              <a:t>SessionStart · Setup · SessionEnd</a:t>
            </a:r>
          </a:p>
        </p:txBody>
      </p:sp>
      <p:sp>
        <p:nvSpPr>
          <p:cNvPr id="9" name="TextBox 8"/>
          <p:cNvSpPr txBox="1"/>
          <p:nvPr/>
        </p:nvSpPr>
        <p:spPr>
          <a:xfrm>
            <a:off x="685800" y="2272284"/>
            <a:ext cx="1005840" cy="219456"/>
          </a:xfrm>
          <a:prstGeom prst="rect">
            <a:avLst/>
          </a:prstGeom>
          <a:noFill/>
        </p:spPr>
        <p:txBody>
          <a:bodyPr wrap="square" lIns="0" tIns="0" rIns="0" bIns="0" anchor="t">
            <a:spAutoFit/>
          </a:bodyPr>
          <a:lstStyle/>
          <a:p>
            <a:pPr algn="l"/>
            <a:r>
              <a:rPr sz="850" b="1">
                <a:solidFill>
                  <a:srgbClr val="F59E0B"/>
                </a:solidFill>
                <a:latin typeface="Calibri"/>
              </a:rPr>
              <a:t>Turn</a:t>
            </a:r>
          </a:p>
        </p:txBody>
      </p:sp>
      <p:sp>
        <p:nvSpPr>
          <p:cNvPr id="10" name="TextBox 9"/>
          <p:cNvSpPr txBox="1"/>
          <p:nvPr/>
        </p:nvSpPr>
        <p:spPr>
          <a:xfrm>
            <a:off x="1783080" y="2272284"/>
            <a:ext cx="3566160" cy="365760"/>
          </a:xfrm>
          <a:prstGeom prst="rect">
            <a:avLst/>
          </a:prstGeom>
          <a:noFill/>
        </p:spPr>
        <p:txBody>
          <a:bodyPr wrap="square" lIns="0" tIns="0" rIns="0" bIns="0" anchor="t">
            <a:spAutoFit/>
          </a:bodyPr>
          <a:lstStyle/>
          <a:p>
            <a:pPr algn="l">
              <a:lnSpc>
                <a:spcPct val="112000"/>
              </a:lnSpc>
            </a:pPr>
            <a:r>
              <a:rPr sz="800" b="0">
                <a:solidFill>
                  <a:srgbClr val="2D1155"/>
                </a:solidFill>
                <a:latin typeface="Courier New"/>
              </a:rPr>
              <a:t>UserPromptSubmit · UserPromptExpansion · Stop · StopFailure</a:t>
            </a:r>
          </a:p>
        </p:txBody>
      </p:sp>
      <p:sp>
        <p:nvSpPr>
          <p:cNvPr id="11" name="TextBox 10"/>
          <p:cNvSpPr txBox="1"/>
          <p:nvPr/>
        </p:nvSpPr>
        <p:spPr>
          <a:xfrm>
            <a:off x="685800" y="2587752"/>
            <a:ext cx="1005840" cy="219456"/>
          </a:xfrm>
          <a:prstGeom prst="rect">
            <a:avLst/>
          </a:prstGeom>
          <a:noFill/>
        </p:spPr>
        <p:txBody>
          <a:bodyPr wrap="square" lIns="0" tIns="0" rIns="0" bIns="0" anchor="t">
            <a:spAutoFit/>
          </a:bodyPr>
          <a:lstStyle/>
          <a:p>
            <a:pPr algn="l"/>
            <a:r>
              <a:rPr sz="850" b="1">
                <a:solidFill>
                  <a:srgbClr val="F59E0B"/>
                </a:solidFill>
                <a:latin typeface="Calibri"/>
              </a:rPr>
              <a:t>Tools</a:t>
            </a:r>
          </a:p>
        </p:txBody>
      </p:sp>
      <p:sp>
        <p:nvSpPr>
          <p:cNvPr id="12" name="TextBox 11"/>
          <p:cNvSpPr txBox="1"/>
          <p:nvPr/>
        </p:nvSpPr>
        <p:spPr>
          <a:xfrm>
            <a:off x="1783080" y="2587752"/>
            <a:ext cx="3566160" cy="365760"/>
          </a:xfrm>
          <a:prstGeom prst="rect">
            <a:avLst/>
          </a:prstGeom>
          <a:noFill/>
        </p:spPr>
        <p:txBody>
          <a:bodyPr wrap="square" lIns="0" tIns="0" rIns="0" bIns="0" anchor="t">
            <a:spAutoFit/>
          </a:bodyPr>
          <a:lstStyle/>
          <a:p>
            <a:pPr algn="l">
              <a:lnSpc>
                <a:spcPct val="112000"/>
              </a:lnSpc>
            </a:pPr>
            <a:r>
              <a:rPr sz="800" b="0">
                <a:solidFill>
                  <a:srgbClr val="2D1155"/>
                </a:solidFill>
                <a:latin typeface="Courier New"/>
              </a:rPr>
              <a:t>PreToolUse · PostToolUse · PostToolUseFailure · PostToolBatch · PermissionRequest · PermissionDenied</a:t>
            </a:r>
          </a:p>
        </p:txBody>
      </p:sp>
      <p:sp>
        <p:nvSpPr>
          <p:cNvPr id="13" name="TextBox 12"/>
          <p:cNvSpPr txBox="1"/>
          <p:nvPr/>
        </p:nvSpPr>
        <p:spPr>
          <a:xfrm>
            <a:off x="685800" y="2903220"/>
            <a:ext cx="1005840" cy="219456"/>
          </a:xfrm>
          <a:prstGeom prst="rect">
            <a:avLst/>
          </a:prstGeom>
          <a:noFill/>
        </p:spPr>
        <p:txBody>
          <a:bodyPr wrap="square" lIns="0" tIns="0" rIns="0" bIns="0" anchor="t">
            <a:spAutoFit/>
          </a:bodyPr>
          <a:lstStyle/>
          <a:p>
            <a:pPr algn="l"/>
            <a:r>
              <a:rPr sz="850" b="1">
                <a:solidFill>
                  <a:srgbClr val="F59E0B"/>
                </a:solidFill>
                <a:latin typeface="Calibri"/>
              </a:rPr>
              <a:t>Agents &amp; tasks</a:t>
            </a:r>
          </a:p>
        </p:txBody>
      </p:sp>
      <p:sp>
        <p:nvSpPr>
          <p:cNvPr id="14" name="TextBox 13"/>
          <p:cNvSpPr txBox="1"/>
          <p:nvPr/>
        </p:nvSpPr>
        <p:spPr>
          <a:xfrm>
            <a:off x="1783080" y="2903220"/>
            <a:ext cx="3566160" cy="365760"/>
          </a:xfrm>
          <a:prstGeom prst="rect">
            <a:avLst/>
          </a:prstGeom>
          <a:noFill/>
        </p:spPr>
        <p:txBody>
          <a:bodyPr wrap="square" lIns="0" tIns="0" rIns="0" bIns="0" anchor="t">
            <a:spAutoFit/>
          </a:bodyPr>
          <a:lstStyle/>
          <a:p>
            <a:pPr algn="l">
              <a:lnSpc>
                <a:spcPct val="112000"/>
              </a:lnSpc>
            </a:pPr>
            <a:r>
              <a:rPr sz="800" b="0">
                <a:solidFill>
                  <a:srgbClr val="2D1155"/>
                </a:solidFill>
                <a:latin typeface="Courier New"/>
              </a:rPr>
              <a:t>SubagentStart · SubagentStop · TaskCreated · TaskCompleted · TeammateIdle</a:t>
            </a:r>
          </a:p>
        </p:txBody>
      </p:sp>
      <p:sp>
        <p:nvSpPr>
          <p:cNvPr id="15" name="TextBox 14"/>
          <p:cNvSpPr txBox="1"/>
          <p:nvPr/>
        </p:nvSpPr>
        <p:spPr>
          <a:xfrm>
            <a:off x="685800" y="3218687"/>
            <a:ext cx="1005840" cy="219456"/>
          </a:xfrm>
          <a:prstGeom prst="rect">
            <a:avLst/>
          </a:prstGeom>
          <a:noFill/>
        </p:spPr>
        <p:txBody>
          <a:bodyPr wrap="square" lIns="0" tIns="0" rIns="0" bIns="0" anchor="t">
            <a:spAutoFit/>
          </a:bodyPr>
          <a:lstStyle/>
          <a:p>
            <a:pPr algn="l"/>
            <a:r>
              <a:rPr sz="850" b="1">
                <a:solidFill>
                  <a:srgbClr val="F59E0B"/>
                </a:solidFill>
                <a:latin typeface="Calibri"/>
              </a:rPr>
              <a:t>Context</a:t>
            </a:r>
          </a:p>
        </p:txBody>
      </p:sp>
      <p:sp>
        <p:nvSpPr>
          <p:cNvPr id="16" name="TextBox 15"/>
          <p:cNvSpPr txBox="1"/>
          <p:nvPr/>
        </p:nvSpPr>
        <p:spPr>
          <a:xfrm>
            <a:off x="1783080" y="3218687"/>
            <a:ext cx="3566160" cy="365760"/>
          </a:xfrm>
          <a:prstGeom prst="rect">
            <a:avLst/>
          </a:prstGeom>
          <a:noFill/>
        </p:spPr>
        <p:txBody>
          <a:bodyPr wrap="square" lIns="0" tIns="0" rIns="0" bIns="0" anchor="t">
            <a:spAutoFit/>
          </a:bodyPr>
          <a:lstStyle/>
          <a:p>
            <a:pPr algn="l">
              <a:lnSpc>
                <a:spcPct val="112000"/>
              </a:lnSpc>
            </a:pPr>
            <a:r>
              <a:rPr sz="800" b="0">
                <a:solidFill>
                  <a:srgbClr val="2D1155"/>
                </a:solidFill>
                <a:latin typeface="Courier New"/>
              </a:rPr>
              <a:t>PreCompact · PostCompact · InstructionsLoaded</a:t>
            </a:r>
          </a:p>
        </p:txBody>
      </p:sp>
      <p:sp>
        <p:nvSpPr>
          <p:cNvPr id="17" name="TextBox 16"/>
          <p:cNvSpPr txBox="1"/>
          <p:nvPr/>
        </p:nvSpPr>
        <p:spPr>
          <a:xfrm>
            <a:off x="685800" y="3534155"/>
            <a:ext cx="1005840" cy="219456"/>
          </a:xfrm>
          <a:prstGeom prst="rect">
            <a:avLst/>
          </a:prstGeom>
          <a:noFill/>
        </p:spPr>
        <p:txBody>
          <a:bodyPr wrap="square" lIns="0" tIns="0" rIns="0" bIns="0" anchor="t">
            <a:spAutoFit/>
          </a:bodyPr>
          <a:lstStyle/>
          <a:p>
            <a:pPr algn="l"/>
            <a:r>
              <a:rPr sz="850" b="1">
                <a:solidFill>
                  <a:srgbClr val="F59E0B"/>
                </a:solidFill>
                <a:latin typeface="Calibri"/>
              </a:rPr>
              <a:t>Environment</a:t>
            </a:r>
          </a:p>
        </p:txBody>
      </p:sp>
      <p:sp>
        <p:nvSpPr>
          <p:cNvPr id="18" name="TextBox 17"/>
          <p:cNvSpPr txBox="1"/>
          <p:nvPr/>
        </p:nvSpPr>
        <p:spPr>
          <a:xfrm>
            <a:off x="1783080" y="3534155"/>
            <a:ext cx="3566160" cy="365760"/>
          </a:xfrm>
          <a:prstGeom prst="rect">
            <a:avLst/>
          </a:prstGeom>
          <a:noFill/>
        </p:spPr>
        <p:txBody>
          <a:bodyPr wrap="square" lIns="0" tIns="0" rIns="0" bIns="0" anchor="t">
            <a:spAutoFit/>
          </a:bodyPr>
          <a:lstStyle/>
          <a:p>
            <a:pPr algn="l">
              <a:lnSpc>
                <a:spcPct val="112000"/>
              </a:lnSpc>
            </a:pPr>
            <a:r>
              <a:rPr sz="800" b="0">
                <a:solidFill>
                  <a:srgbClr val="2D1155"/>
                </a:solidFill>
                <a:latin typeface="Courier New"/>
              </a:rPr>
              <a:t>ConfigChange · CwdChanged · FileChanged · WorktreeCreate · WorktreeRemove</a:t>
            </a:r>
          </a:p>
        </p:txBody>
      </p:sp>
      <p:sp>
        <p:nvSpPr>
          <p:cNvPr id="19" name="TextBox 18"/>
          <p:cNvSpPr txBox="1"/>
          <p:nvPr/>
        </p:nvSpPr>
        <p:spPr>
          <a:xfrm>
            <a:off x="685800" y="3849623"/>
            <a:ext cx="1005840" cy="219456"/>
          </a:xfrm>
          <a:prstGeom prst="rect">
            <a:avLst/>
          </a:prstGeom>
          <a:noFill/>
        </p:spPr>
        <p:txBody>
          <a:bodyPr wrap="square" lIns="0" tIns="0" rIns="0" bIns="0" anchor="t">
            <a:spAutoFit/>
          </a:bodyPr>
          <a:lstStyle/>
          <a:p>
            <a:pPr algn="l"/>
            <a:r>
              <a:rPr sz="850" b="1">
                <a:solidFill>
                  <a:srgbClr val="F59E0B"/>
                </a:solidFill>
                <a:latin typeface="Calibri"/>
              </a:rPr>
              <a:t>MCP &amp; display</a:t>
            </a:r>
          </a:p>
        </p:txBody>
      </p:sp>
      <p:sp>
        <p:nvSpPr>
          <p:cNvPr id="20" name="TextBox 19"/>
          <p:cNvSpPr txBox="1"/>
          <p:nvPr/>
        </p:nvSpPr>
        <p:spPr>
          <a:xfrm>
            <a:off x="1783080" y="3849623"/>
            <a:ext cx="3566160" cy="365760"/>
          </a:xfrm>
          <a:prstGeom prst="rect">
            <a:avLst/>
          </a:prstGeom>
          <a:noFill/>
        </p:spPr>
        <p:txBody>
          <a:bodyPr wrap="square" lIns="0" tIns="0" rIns="0" bIns="0" anchor="t">
            <a:spAutoFit/>
          </a:bodyPr>
          <a:lstStyle/>
          <a:p>
            <a:pPr algn="l">
              <a:lnSpc>
                <a:spcPct val="112000"/>
              </a:lnSpc>
            </a:pPr>
            <a:r>
              <a:rPr sz="800" b="0">
                <a:solidFill>
                  <a:srgbClr val="2D1155"/>
                </a:solidFill>
                <a:latin typeface="Courier New"/>
              </a:rPr>
              <a:t>Elicitation · ElicitationResult · Notification · MessageDisplay</a:t>
            </a:r>
          </a:p>
        </p:txBody>
      </p:sp>
      <p:sp>
        <p:nvSpPr>
          <p:cNvPr id="21" name="Rectangle 20"/>
          <p:cNvSpPr/>
          <p:nvPr/>
        </p:nvSpPr>
        <p:spPr>
          <a:xfrm>
            <a:off x="5715000" y="1481328"/>
            <a:ext cx="2514600" cy="27432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0" y="1645920"/>
            <a:ext cx="2103120" cy="256032"/>
          </a:xfrm>
          <a:prstGeom prst="rect">
            <a:avLst/>
          </a:prstGeom>
          <a:noFill/>
        </p:spPr>
        <p:txBody>
          <a:bodyPr wrap="square" lIns="0" tIns="0" rIns="0" bIns="0" anchor="t">
            <a:spAutoFit/>
          </a:bodyPr>
          <a:lstStyle/>
          <a:p>
            <a:pPr algn="l"/>
            <a:r>
              <a:rPr sz="1000" b="1">
                <a:solidFill>
                  <a:srgbClr val="7C3AED"/>
                </a:solidFill>
                <a:latin typeface="Calibri"/>
              </a:rPr>
              <a:t>CODEX  ·  11 EVENTS</a:t>
            </a:r>
          </a:p>
        </p:txBody>
      </p:sp>
      <p:sp>
        <p:nvSpPr>
          <p:cNvPr id="23" name="TextBox 22"/>
          <p:cNvSpPr txBox="1"/>
          <p:nvPr/>
        </p:nvSpPr>
        <p:spPr>
          <a:xfrm>
            <a:off x="5943600" y="1956816"/>
            <a:ext cx="2103120" cy="219456"/>
          </a:xfrm>
          <a:prstGeom prst="rect">
            <a:avLst/>
          </a:prstGeom>
          <a:noFill/>
        </p:spPr>
        <p:txBody>
          <a:bodyPr wrap="square" lIns="0" tIns="0" rIns="0" bIns="0" anchor="t">
            <a:spAutoFit/>
          </a:bodyPr>
          <a:lstStyle/>
          <a:p>
            <a:pPr algn="l"/>
            <a:r>
              <a:rPr sz="850" b="0">
                <a:solidFill>
                  <a:srgbClr val="2D1155"/>
                </a:solidFill>
                <a:latin typeface="Courier New"/>
              </a:rPr>
              <a:t>PreToolUse</a:t>
            </a:r>
          </a:p>
        </p:txBody>
      </p:sp>
      <p:sp>
        <p:nvSpPr>
          <p:cNvPr id="24" name="TextBox 23"/>
          <p:cNvSpPr txBox="1"/>
          <p:nvPr/>
        </p:nvSpPr>
        <p:spPr>
          <a:xfrm>
            <a:off x="5943600" y="2162556"/>
            <a:ext cx="2103120" cy="219456"/>
          </a:xfrm>
          <a:prstGeom prst="rect">
            <a:avLst/>
          </a:prstGeom>
          <a:noFill/>
        </p:spPr>
        <p:txBody>
          <a:bodyPr wrap="square" lIns="0" tIns="0" rIns="0" bIns="0" anchor="t">
            <a:spAutoFit/>
          </a:bodyPr>
          <a:lstStyle/>
          <a:p>
            <a:pPr algn="l"/>
            <a:r>
              <a:rPr sz="850" b="0">
                <a:solidFill>
                  <a:srgbClr val="2D1155"/>
                </a:solidFill>
                <a:latin typeface="Courier New"/>
              </a:rPr>
              <a:t>PostToolUse</a:t>
            </a:r>
          </a:p>
        </p:txBody>
      </p:sp>
      <p:sp>
        <p:nvSpPr>
          <p:cNvPr id="25" name="TextBox 24"/>
          <p:cNvSpPr txBox="1"/>
          <p:nvPr/>
        </p:nvSpPr>
        <p:spPr>
          <a:xfrm>
            <a:off x="5943600" y="2368296"/>
            <a:ext cx="2103120" cy="219456"/>
          </a:xfrm>
          <a:prstGeom prst="rect">
            <a:avLst/>
          </a:prstGeom>
          <a:noFill/>
        </p:spPr>
        <p:txBody>
          <a:bodyPr wrap="square" lIns="0" tIns="0" rIns="0" bIns="0" anchor="t">
            <a:spAutoFit/>
          </a:bodyPr>
          <a:lstStyle/>
          <a:p>
            <a:pPr algn="l"/>
            <a:r>
              <a:rPr sz="850" b="0">
                <a:solidFill>
                  <a:srgbClr val="2D1155"/>
                </a:solidFill>
                <a:latin typeface="Courier New"/>
              </a:rPr>
              <a:t>PermissionRequest</a:t>
            </a:r>
          </a:p>
        </p:txBody>
      </p:sp>
      <p:sp>
        <p:nvSpPr>
          <p:cNvPr id="26" name="TextBox 25"/>
          <p:cNvSpPr txBox="1"/>
          <p:nvPr/>
        </p:nvSpPr>
        <p:spPr>
          <a:xfrm>
            <a:off x="5943600" y="2574036"/>
            <a:ext cx="2103120" cy="219456"/>
          </a:xfrm>
          <a:prstGeom prst="rect">
            <a:avLst/>
          </a:prstGeom>
          <a:noFill/>
        </p:spPr>
        <p:txBody>
          <a:bodyPr wrap="square" lIns="0" tIns="0" rIns="0" bIns="0" anchor="t">
            <a:spAutoFit/>
          </a:bodyPr>
          <a:lstStyle/>
          <a:p>
            <a:pPr algn="l"/>
            <a:r>
              <a:rPr sz="850" b="0">
                <a:solidFill>
                  <a:srgbClr val="2D1155"/>
                </a:solidFill>
                <a:latin typeface="Courier New"/>
              </a:rPr>
              <a:t>UserPromptSubmit</a:t>
            </a:r>
          </a:p>
        </p:txBody>
      </p:sp>
      <p:sp>
        <p:nvSpPr>
          <p:cNvPr id="27" name="TextBox 26"/>
          <p:cNvSpPr txBox="1"/>
          <p:nvPr/>
        </p:nvSpPr>
        <p:spPr>
          <a:xfrm>
            <a:off x="5943600" y="2779776"/>
            <a:ext cx="2103120" cy="219456"/>
          </a:xfrm>
          <a:prstGeom prst="rect">
            <a:avLst/>
          </a:prstGeom>
          <a:noFill/>
        </p:spPr>
        <p:txBody>
          <a:bodyPr wrap="square" lIns="0" tIns="0" rIns="0" bIns="0" anchor="t">
            <a:spAutoFit/>
          </a:bodyPr>
          <a:lstStyle/>
          <a:p>
            <a:pPr algn="l"/>
            <a:r>
              <a:rPr sz="850" b="0">
                <a:solidFill>
                  <a:srgbClr val="2D1155"/>
                </a:solidFill>
                <a:latin typeface="Courier New"/>
              </a:rPr>
              <a:t>Stop</a:t>
            </a:r>
          </a:p>
        </p:txBody>
      </p:sp>
      <p:sp>
        <p:nvSpPr>
          <p:cNvPr id="28" name="TextBox 27"/>
          <p:cNvSpPr txBox="1"/>
          <p:nvPr/>
        </p:nvSpPr>
        <p:spPr>
          <a:xfrm>
            <a:off x="5943600" y="2985516"/>
            <a:ext cx="2103120" cy="219456"/>
          </a:xfrm>
          <a:prstGeom prst="rect">
            <a:avLst/>
          </a:prstGeom>
          <a:noFill/>
        </p:spPr>
        <p:txBody>
          <a:bodyPr wrap="square" lIns="0" tIns="0" rIns="0" bIns="0" anchor="t">
            <a:spAutoFit/>
          </a:bodyPr>
          <a:lstStyle/>
          <a:p>
            <a:pPr algn="l"/>
            <a:r>
              <a:rPr sz="850" b="0">
                <a:solidFill>
                  <a:srgbClr val="2D1155"/>
                </a:solidFill>
                <a:latin typeface="Courier New"/>
              </a:rPr>
              <a:t>SubagentStart</a:t>
            </a:r>
          </a:p>
        </p:txBody>
      </p:sp>
      <p:sp>
        <p:nvSpPr>
          <p:cNvPr id="29" name="TextBox 28"/>
          <p:cNvSpPr txBox="1"/>
          <p:nvPr/>
        </p:nvSpPr>
        <p:spPr>
          <a:xfrm>
            <a:off x="5943600" y="3191256"/>
            <a:ext cx="2103120" cy="219456"/>
          </a:xfrm>
          <a:prstGeom prst="rect">
            <a:avLst/>
          </a:prstGeom>
          <a:noFill/>
        </p:spPr>
        <p:txBody>
          <a:bodyPr wrap="square" lIns="0" tIns="0" rIns="0" bIns="0" anchor="t">
            <a:spAutoFit/>
          </a:bodyPr>
          <a:lstStyle/>
          <a:p>
            <a:pPr algn="l"/>
            <a:r>
              <a:rPr sz="850" b="0">
                <a:solidFill>
                  <a:srgbClr val="2D1155"/>
                </a:solidFill>
                <a:latin typeface="Courier New"/>
              </a:rPr>
              <a:t>SubagentStop</a:t>
            </a:r>
          </a:p>
        </p:txBody>
      </p:sp>
      <p:sp>
        <p:nvSpPr>
          <p:cNvPr id="30" name="TextBox 29"/>
          <p:cNvSpPr txBox="1"/>
          <p:nvPr/>
        </p:nvSpPr>
        <p:spPr>
          <a:xfrm>
            <a:off x="5943600" y="3396996"/>
            <a:ext cx="2103120" cy="219456"/>
          </a:xfrm>
          <a:prstGeom prst="rect">
            <a:avLst/>
          </a:prstGeom>
          <a:noFill/>
        </p:spPr>
        <p:txBody>
          <a:bodyPr wrap="square" lIns="0" tIns="0" rIns="0" bIns="0" anchor="t">
            <a:spAutoFit/>
          </a:bodyPr>
          <a:lstStyle/>
          <a:p>
            <a:pPr algn="l"/>
            <a:r>
              <a:rPr sz="850" b="0">
                <a:solidFill>
                  <a:srgbClr val="2D1155"/>
                </a:solidFill>
                <a:latin typeface="Courier New"/>
              </a:rPr>
              <a:t>SessionStart</a:t>
            </a:r>
          </a:p>
        </p:txBody>
      </p:sp>
      <p:sp>
        <p:nvSpPr>
          <p:cNvPr id="31" name="TextBox 30"/>
          <p:cNvSpPr txBox="1"/>
          <p:nvPr/>
        </p:nvSpPr>
        <p:spPr>
          <a:xfrm>
            <a:off x="5943600" y="3602736"/>
            <a:ext cx="2103120" cy="219456"/>
          </a:xfrm>
          <a:prstGeom prst="rect">
            <a:avLst/>
          </a:prstGeom>
          <a:noFill/>
        </p:spPr>
        <p:txBody>
          <a:bodyPr wrap="square" lIns="0" tIns="0" rIns="0" bIns="0" anchor="t">
            <a:spAutoFit/>
          </a:bodyPr>
          <a:lstStyle/>
          <a:p>
            <a:pPr algn="l"/>
            <a:r>
              <a:rPr sz="850" b="0">
                <a:solidFill>
                  <a:srgbClr val="2D1155"/>
                </a:solidFill>
                <a:latin typeface="Courier New"/>
              </a:rPr>
              <a:t>SessionEnd</a:t>
            </a:r>
          </a:p>
        </p:txBody>
      </p:sp>
      <p:sp>
        <p:nvSpPr>
          <p:cNvPr id="32" name="TextBox 31"/>
          <p:cNvSpPr txBox="1"/>
          <p:nvPr/>
        </p:nvSpPr>
        <p:spPr>
          <a:xfrm>
            <a:off x="5943600" y="3808476"/>
            <a:ext cx="2103120" cy="219456"/>
          </a:xfrm>
          <a:prstGeom prst="rect">
            <a:avLst/>
          </a:prstGeom>
          <a:noFill/>
        </p:spPr>
        <p:txBody>
          <a:bodyPr wrap="square" lIns="0" tIns="0" rIns="0" bIns="0" anchor="t">
            <a:spAutoFit/>
          </a:bodyPr>
          <a:lstStyle/>
          <a:p>
            <a:pPr algn="l"/>
            <a:r>
              <a:rPr sz="850" b="0">
                <a:solidFill>
                  <a:srgbClr val="2D1155"/>
                </a:solidFill>
                <a:latin typeface="Courier New"/>
              </a:rPr>
              <a:t>PreCompact</a:t>
            </a:r>
          </a:p>
        </p:txBody>
      </p:sp>
      <p:sp>
        <p:nvSpPr>
          <p:cNvPr id="33" name="TextBox 32"/>
          <p:cNvSpPr txBox="1"/>
          <p:nvPr/>
        </p:nvSpPr>
        <p:spPr>
          <a:xfrm>
            <a:off x="5943600" y="4014216"/>
            <a:ext cx="2103120" cy="219456"/>
          </a:xfrm>
          <a:prstGeom prst="rect">
            <a:avLst/>
          </a:prstGeom>
          <a:noFill/>
        </p:spPr>
        <p:txBody>
          <a:bodyPr wrap="square" lIns="0" tIns="0" rIns="0" bIns="0" anchor="t">
            <a:spAutoFit/>
          </a:bodyPr>
          <a:lstStyle/>
          <a:p>
            <a:pPr algn="l"/>
            <a:r>
              <a:rPr sz="850" b="0">
                <a:solidFill>
                  <a:srgbClr val="2D1155"/>
                </a:solidFill>
                <a:latin typeface="Courier New"/>
              </a:rPr>
              <a:t>PostCompact</a:t>
            </a:r>
          </a:p>
        </p:txBody>
      </p:sp>
      <p:sp>
        <p:nvSpPr>
          <p:cNvPr id="34" name="Rectangle 33"/>
          <p:cNvSpPr/>
          <p:nvPr/>
        </p:nvSpPr>
        <p:spPr>
          <a:xfrm>
            <a:off x="457200" y="4343400"/>
            <a:ext cx="7772400" cy="566928"/>
          </a:xfrm>
          <a:prstGeom prst="rect">
            <a:avLst/>
          </a:prstGeom>
          <a:solidFill>
            <a:srgbClr val="1E0B3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368" y="4507992"/>
            <a:ext cx="7370064" cy="237744"/>
          </a:xfrm>
          <a:prstGeom prst="rect">
            <a:avLst/>
          </a:prstGeom>
          <a:noFill/>
        </p:spPr>
        <p:txBody>
          <a:bodyPr wrap="square" lIns="0" tIns="0" rIns="0" bIns="0" anchor="t">
            <a:spAutoFit/>
          </a:bodyPr>
          <a:lstStyle/>
          <a:p>
            <a:pPr algn="l">
              <a:lnSpc>
                <a:spcPct val="132000"/>
              </a:lnSpc>
            </a:pPr>
            <a:r>
              <a:rPr sz="950" b="0">
                <a:solidFill>
                  <a:srgbClr val="C4B5E8"/>
                </a:solidFill>
                <a:latin typeface="Courier New"/>
              </a:rPr>
              <a:t>code.claude.com/docs/en/hooks        developers.openai.com/codex/hooks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EVALS · SCORING WHAT TESTS CAN’T</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Back to Move 1. The harness proves correctness, but some output has no correct answer.</a:t>
            </a:r>
          </a:p>
        </p:txBody>
      </p:sp>
      <p:pic>
        <p:nvPicPr>
          <p:cNvPr id="4" name="Picture 3" descr="image.jp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298448"/>
            <a:ext cx="8229600" cy="5486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298448"/>
            <a:ext cx="7827264" cy="548640"/>
          </a:xfrm>
          <a:prstGeom prst="rect">
            <a:avLst/>
          </a:prstGeom>
          <a:noFill/>
        </p:spPr>
        <p:txBody>
          <a:bodyPr wrap="square" lIns="0" tIns="0" rIns="0" bIns="0" anchor="ctr">
            <a:spAutoFit/>
          </a:bodyPr>
          <a:lstStyle/>
          <a:p>
            <a:pPr algn="l"/>
            <a:r>
              <a:rPr sz="1100" b="1">
                <a:solidFill>
                  <a:srgbClr val="2D1155"/>
                </a:solidFill>
                <a:latin typeface="Calibri"/>
              </a:rPr>
              <a:t>A TEST</a:t>
            </a:r>
            <a:r>
              <a:rPr sz="1200" b="0">
                <a:solidFill>
                  <a:srgbClr val="6E6389"/>
                </a:solidFill>
                <a:latin typeface="Calibri"/>
              </a:rPr>
              <a:t> asks “is this correct?” and answers pass or fail.        </a:t>
            </a:r>
            <a:r>
              <a:rPr sz="1100" b="1">
                <a:solidFill>
                  <a:srgbClr val="F59E0B"/>
                </a:solidFill>
                <a:latin typeface="Calibri"/>
              </a:rPr>
              <a:t>AN EVAL</a:t>
            </a:r>
            <a:r>
              <a:rPr sz="1200" b="0">
                <a:solidFill>
                  <a:srgbClr val="6E6389"/>
                </a:solidFill>
                <a:latin typeface="Calibri"/>
              </a:rPr>
              <a:t> asks “is this good enough?” and answers with a number.</a:t>
            </a:r>
          </a:p>
        </p:txBody>
      </p:sp>
      <p:sp>
        <p:nvSpPr>
          <p:cNvPr id="7" name="Rectangle 6"/>
          <p:cNvSpPr/>
          <p:nvPr/>
        </p:nvSpPr>
        <p:spPr>
          <a:xfrm>
            <a:off x="457200" y="1956816"/>
            <a:ext cx="2615184" cy="15544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139696"/>
            <a:ext cx="2240280" cy="411480"/>
          </a:xfrm>
          <a:prstGeom prst="rect">
            <a:avLst/>
          </a:prstGeom>
          <a:noFill/>
        </p:spPr>
        <p:txBody>
          <a:bodyPr wrap="square" lIns="0" tIns="0" rIns="0" bIns="0" anchor="t">
            <a:spAutoFit/>
          </a:bodyPr>
          <a:lstStyle/>
          <a:p>
            <a:pPr algn="l"/>
            <a:r>
              <a:rPr sz="2200" b="1">
                <a:solidFill>
                  <a:srgbClr val="F59E0B"/>
                </a:solidFill>
                <a:latin typeface="Arial Black"/>
              </a:rPr>
              <a:t>1</a:t>
            </a:r>
          </a:p>
        </p:txBody>
      </p:sp>
      <p:sp>
        <p:nvSpPr>
          <p:cNvPr id="9" name="TextBox 8"/>
          <p:cNvSpPr txBox="1"/>
          <p:nvPr/>
        </p:nvSpPr>
        <p:spPr>
          <a:xfrm>
            <a:off x="658368" y="2578608"/>
            <a:ext cx="2240280" cy="292608"/>
          </a:xfrm>
          <a:prstGeom prst="rect">
            <a:avLst/>
          </a:prstGeom>
          <a:noFill/>
        </p:spPr>
        <p:txBody>
          <a:bodyPr wrap="square" lIns="0" tIns="0" rIns="0" bIns="0" anchor="t">
            <a:spAutoFit/>
          </a:bodyPr>
          <a:lstStyle/>
          <a:p>
            <a:pPr algn="l"/>
            <a:r>
              <a:rPr sz="1300" b="1">
                <a:solidFill>
                  <a:srgbClr val="2D1155"/>
                </a:solidFill>
                <a:latin typeface="Arial Black"/>
              </a:rPr>
              <a:t>Write a rubric</a:t>
            </a:r>
          </a:p>
        </p:txBody>
      </p:sp>
      <p:sp>
        <p:nvSpPr>
          <p:cNvPr id="10" name="TextBox 9"/>
          <p:cNvSpPr txBox="1"/>
          <p:nvPr/>
        </p:nvSpPr>
        <p:spPr>
          <a:xfrm>
            <a:off x="658368" y="2907792"/>
            <a:ext cx="2240280" cy="530352"/>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5 cases, each with what a good answer must contain.</a:t>
            </a:r>
          </a:p>
        </p:txBody>
      </p:sp>
      <p:sp>
        <p:nvSpPr>
          <p:cNvPr id="11" name="Rectangle 10"/>
          <p:cNvSpPr/>
          <p:nvPr/>
        </p:nvSpPr>
        <p:spPr>
          <a:xfrm>
            <a:off x="3264408" y="1956816"/>
            <a:ext cx="2615184" cy="15544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65576" y="2139696"/>
            <a:ext cx="2240280" cy="411480"/>
          </a:xfrm>
          <a:prstGeom prst="rect">
            <a:avLst/>
          </a:prstGeom>
          <a:noFill/>
        </p:spPr>
        <p:txBody>
          <a:bodyPr wrap="square" lIns="0" tIns="0" rIns="0" bIns="0" anchor="t">
            <a:spAutoFit/>
          </a:bodyPr>
          <a:lstStyle/>
          <a:p>
            <a:pPr algn="l"/>
            <a:r>
              <a:rPr sz="2200" b="1">
                <a:solidFill>
                  <a:srgbClr val="F59E0B"/>
                </a:solidFill>
                <a:latin typeface="Arial Black"/>
              </a:rPr>
              <a:t>2</a:t>
            </a:r>
          </a:p>
        </p:txBody>
      </p:sp>
      <p:sp>
        <p:nvSpPr>
          <p:cNvPr id="13" name="TextBox 12"/>
          <p:cNvSpPr txBox="1"/>
          <p:nvPr/>
        </p:nvSpPr>
        <p:spPr>
          <a:xfrm>
            <a:off x="3465576" y="2578608"/>
            <a:ext cx="2240280" cy="292608"/>
          </a:xfrm>
          <a:prstGeom prst="rect">
            <a:avLst/>
          </a:prstGeom>
          <a:noFill/>
        </p:spPr>
        <p:txBody>
          <a:bodyPr wrap="square" lIns="0" tIns="0" rIns="0" bIns="0" anchor="t">
            <a:spAutoFit/>
          </a:bodyPr>
          <a:lstStyle/>
          <a:p>
            <a:pPr algn="l"/>
            <a:r>
              <a:rPr sz="1300" b="1">
                <a:solidFill>
                  <a:srgbClr val="2D1155"/>
                </a:solidFill>
                <a:latin typeface="Arial Black"/>
              </a:rPr>
              <a:t>Let a model grade</a:t>
            </a:r>
          </a:p>
        </p:txBody>
      </p:sp>
      <p:sp>
        <p:nvSpPr>
          <p:cNvPr id="14" name="TextBox 13"/>
          <p:cNvSpPr txBox="1"/>
          <p:nvPr/>
        </p:nvSpPr>
        <p:spPr>
          <a:xfrm>
            <a:off x="3465576" y="2907792"/>
            <a:ext cx="2240280" cy="530352"/>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A sub-agent scores each output against the rubric.</a:t>
            </a:r>
          </a:p>
        </p:txBody>
      </p:sp>
      <p:sp>
        <p:nvSpPr>
          <p:cNvPr id="15" name="Rectangle 14"/>
          <p:cNvSpPr/>
          <p:nvPr/>
        </p:nvSpPr>
        <p:spPr>
          <a:xfrm>
            <a:off x="6071616" y="1956816"/>
            <a:ext cx="2615184" cy="15544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72783" y="2139696"/>
            <a:ext cx="2240280" cy="411480"/>
          </a:xfrm>
          <a:prstGeom prst="rect">
            <a:avLst/>
          </a:prstGeom>
          <a:noFill/>
        </p:spPr>
        <p:txBody>
          <a:bodyPr wrap="square" lIns="0" tIns="0" rIns="0" bIns="0" anchor="t">
            <a:spAutoFit/>
          </a:bodyPr>
          <a:lstStyle/>
          <a:p>
            <a:pPr algn="l"/>
            <a:r>
              <a:rPr sz="2200" b="1">
                <a:solidFill>
                  <a:srgbClr val="F59E0B"/>
                </a:solidFill>
                <a:latin typeface="Arial Black"/>
              </a:rPr>
              <a:t>3</a:t>
            </a:r>
          </a:p>
        </p:txBody>
      </p:sp>
      <p:sp>
        <p:nvSpPr>
          <p:cNvPr id="17" name="TextBox 16"/>
          <p:cNvSpPr txBox="1"/>
          <p:nvPr/>
        </p:nvSpPr>
        <p:spPr>
          <a:xfrm>
            <a:off x="6272783" y="2578608"/>
            <a:ext cx="2240280" cy="292608"/>
          </a:xfrm>
          <a:prstGeom prst="rect">
            <a:avLst/>
          </a:prstGeom>
          <a:noFill/>
        </p:spPr>
        <p:txBody>
          <a:bodyPr wrap="square" lIns="0" tIns="0" rIns="0" bIns="0" anchor="t">
            <a:spAutoFit/>
          </a:bodyPr>
          <a:lstStyle/>
          <a:p>
            <a:pPr algn="l"/>
            <a:r>
              <a:rPr sz="1300" b="1">
                <a:solidFill>
                  <a:srgbClr val="2D1155"/>
                </a:solidFill>
                <a:latin typeface="Arial Black"/>
              </a:rPr>
              <a:t>Gate on the score</a:t>
            </a:r>
          </a:p>
        </p:txBody>
      </p:sp>
      <p:sp>
        <p:nvSpPr>
          <p:cNvPr id="18" name="TextBox 17"/>
          <p:cNvSpPr txBox="1"/>
          <p:nvPr/>
        </p:nvSpPr>
        <p:spPr>
          <a:xfrm>
            <a:off x="6272783" y="2907792"/>
            <a:ext cx="2240280" cy="530352"/>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CI blocks any change that drops the score.</a:t>
            </a:r>
          </a:p>
        </p:txBody>
      </p:sp>
      <p:sp>
        <p:nvSpPr>
          <p:cNvPr id="19" name="TextBox 18"/>
          <p:cNvSpPr txBox="1"/>
          <p:nvPr/>
        </p:nvSpPr>
        <p:spPr>
          <a:xfrm>
            <a:off x="457200" y="3584448"/>
            <a:ext cx="8229600" cy="384048"/>
          </a:xfrm>
          <a:prstGeom prst="rect">
            <a:avLst/>
          </a:prstGeom>
          <a:noFill/>
        </p:spPr>
        <p:txBody>
          <a:bodyPr wrap="square" lIns="0" tIns="0" rIns="0" bIns="0" anchor="t">
            <a:spAutoFit/>
          </a:bodyPr>
          <a:lstStyle/>
          <a:p>
            <a:pPr algn="l">
              <a:lnSpc>
                <a:spcPct val="108000"/>
              </a:lnSpc>
            </a:pPr>
            <a:r>
              <a:rPr sz="900" b="1">
                <a:solidFill>
                  <a:srgbClr val="F59E0B"/>
                </a:solidFill>
                <a:latin typeface="Calibri"/>
              </a:rPr>
              <a:t>IN PLAIN TERMS   </a:t>
            </a:r>
            <a:r>
              <a:rPr sz="1200" b="0">
                <a:solidFill>
                  <a:srgbClr val="6E6389"/>
                </a:solidFill>
                <a:latin typeface="Calibri"/>
              </a:rPr>
              <a:t>Gate on the score dropping, not on perfection. Block anything that scores worse than what you already had.</a:t>
            </a:r>
          </a:p>
        </p:txBody>
      </p:sp>
      <p:sp>
        <p:nvSpPr>
          <p:cNvPr id="20" name="Rectangle 19"/>
          <p:cNvSpPr/>
          <p:nvPr/>
        </p:nvSpPr>
        <p:spPr>
          <a:xfrm>
            <a:off x="457200" y="3858768"/>
            <a:ext cx="8229600" cy="621792"/>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858768"/>
            <a:ext cx="7498079" cy="621792"/>
          </a:xfrm>
          <a:prstGeom prst="rect">
            <a:avLst/>
          </a:prstGeom>
          <a:noFill/>
        </p:spPr>
        <p:txBody>
          <a:bodyPr wrap="square" lIns="0" tIns="0" rIns="0" bIns="0" anchor="ctr">
            <a:spAutoFit/>
          </a:bodyPr>
          <a:lstStyle/>
          <a:p>
            <a:pPr algn="l">
              <a:lnSpc>
                <a:spcPct val="112000"/>
              </a:lnSpc>
            </a:pPr>
            <a:r>
              <a:rPr sz="1500" b="1">
                <a:solidFill>
                  <a:srgbClr val="FFFFFF"/>
                </a:solidFill>
                <a:latin typeface="Arial Black"/>
              </a:rPr>
              <a:t>If you can’t test it, score it. If you can’t score it, don’t automate 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MAKING IT STICK AFTER TODAY</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Everything so far lives on your laptop. These three make it survive Monday, and survive other people.</a:t>
            </a:r>
          </a:p>
        </p:txBody>
      </p:sp>
      <p:pic>
        <p:nvPicPr>
          <p:cNvPr id="4" name="Picture 3" descr="image.jp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389888"/>
            <a:ext cx="2615184" cy="257860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572768"/>
            <a:ext cx="2240280" cy="292608"/>
          </a:xfrm>
          <a:prstGeom prst="rect">
            <a:avLst/>
          </a:prstGeom>
          <a:noFill/>
        </p:spPr>
        <p:txBody>
          <a:bodyPr wrap="square" lIns="0" tIns="0" rIns="0" bIns="0" anchor="t">
            <a:spAutoFit/>
          </a:bodyPr>
          <a:lstStyle/>
          <a:p>
            <a:pPr algn="l"/>
            <a:r>
              <a:rPr sz="1250" b="1">
                <a:solidFill>
                  <a:srgbClr val="7C3AED"/>
                </a:solidFill>
                <a:latin typeface="Arial Black"/>
              </a:rPr>
              <a:t>CI</a:t>
            </a:r>
          </a:p>
        </p:txBody>
      </p:sp>
      <p:sp>
        <p:nvSpPr>
          <p:cNvPr id="7" name="TextBox 6"/>
          <p:cNvSpPr txBox="1"/>
          <p:nvPr/>
        </p:nvSpPr>
        <p:spPr>
          <a:xfrm>
            <a:off x="658368" y="1920240"/>
            <a:ext cx="2240280" cy="8229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GitHub Actions runs the harness and the build on every push and pull request.</a:t>
            </a:r>
          </a:p>
        </p:txBody>
      </p:sp>
      <p:sp>
        <p:nvSpPr>
          <p:cNvPr id="8" name="TextBox 7"/>
          <p:cNvSpPr txBox="1"/>
          <p:nvPr/>
        </p:nvSpPr>
        <p:spPr>
          <a:xfrm>
            <a:off x="658368" y="2798064"/>
            <a:ext cx="2240280" cy="603504"/>
          </a:xfrm>
          <a:prstGeom prst="rect">
            <a:avLst/>
          </a:prstGeom>
          <a:noFill/>
        </p:spPr>
        <p:txBody>
          <a:bodyPr wrap="square" lIns="0" tIns="0" rIns="0" bIns="0" anchor="t">
            <a:spAutoFit/>
          </a:bodyPr>
          <a:lstStyle/>
          <a:p>
            <a:pPr algn="l">
              <a:lnSpc>
                <a:spcPct val="112000"/>
              </a:lnSpc>
            </a:pPr>
            <a:r>
              <a:rPr sz="900" b="1">
                <a:solidFill>
                  <a:srgbClr val="F59E0B"/>
                </a:solidFill>
                <a:latin typeface="Calibri"/>
              </a:rPr>
              <a:t>SO THAT  </a:t>
            </a:r>
            <a:r>
              <a:rPr sz="1100" b="0">
                <a:solidFill>
                  <a:srgbClr val="6E6389"/>
                </a:solidFill>
                <a:latin typeface="Calibri"/>
              </a:rPr>
              <a:t>a teammate who was never in this room still can’t break it.</a:t>
            </a:r>
          </a:p>
        </p:txBody>
      </p:sp>
      <p:sp>
        <p:nvSpPr>
          <p:cNvPr id="9" name="Rectangle 8"/>
          <p:cNvSpPr/>
          <p:nvPr/>
        </p:nvSpPr>
        <p:spPr>
          <a:xfrm>
            <a:off x="658368" y="3493008"/>
            <a:ext cx="2240280" cy="40233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493008"/>
            <a:ext cx="2103120" cy="402336"/>
          </a:xfrm>
          <a:prstGeom prst="rect">
            <a:avLst/>
          </a:prstGeom>
          <a:noFill/>
        </p:spPr>
        <p:txBody>
          <a:bodyPr wrap="square" lIns="0" tIns="0" rIns="0" bIns="0" anchor="ctr">
            <a:spAutoFit/>
          </a:bodyPr>
          <a:lstStyle/>
          <a:p>
            <a:pPr algn="l"/>
            <a:r>
              <a:rPr sz="900" b="0">
                <a:solidFill>
                  <a:srgbClr val="C4B5E8"/>
                </a:solidFill>
                <a:latin typeface="Courier New"/>
              </a:rPr>
              <a:t>.github/workflows/ci.yml</a:t>
            </a:r>
          </a:p>
        </p:txBody>
      </p:sp>
      <p:sp>
        <p:nvSpPr>
          <p:cNvPr id="11" name="Rectangle 10"/>
          <p:cNvSpPr/>
          <p:nvPr/>
        </p:nvSpPr>
        <p:spPr>
          <a:xfrm>
            <a:off x="3264408" y="1389888"/>
            <a:ext cx="2615184" cy="257860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65576" y="1572768"/>
            <a:ext cx="2240280" cy="292608"/>
          </a:xfrm>
          <a:prstGeom prst="rect">
            <a:avLst/>
          </a:prstGeom>
          <a:noFill/>
        </p:spPr>
        <p:txBody>
          <a:bodyPr wrap="square" lIns="0" tIns="0" rIns="0" bIns="0" anchor="t">
            <a:spAutoFit/>
          </a:bodyPr>
          <a:lstStyle/>
          <a:p>
            <a:pPr algn="l"/>
            <a:r>
              <a:rPr sz="1250" b="1">
                <a:solidFill>
                  <a:srgbClr val="7C3AED"/>
                </a:solidFill>
                <a:latin typeface="Arial Black"/>
              </a:rPr>
              <a:t>HEADLESS</a:t>
            </a:r>
          </a:p>
        </p:txBody>
      </p:sp>
      <p:sp>
        <p:nvSpPr>
          <p:cNvPr id="13" name="TextBox 12"/>
          <p:cNvSpPr txBox="1"/>
          <p:nvPr/>
        </p:nvSpPr>
        <p:spPr>
          <a:xfrm>
            <a:off x="3465576" y="1920240"/>
            <a:ext cx="2240280" cy="8229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Run the agent one-shot from a script, inside a verification loop.</a:t>
            </a:r>
          </a:p>
        </p:txBody>
      </p:sp>
      <p:sp>
        <p:nvSpPr>
          <p:cNvPr id="14" name="TextBox 13"/>
          <p:cNvSpPr txBox="1"/>
          <p:nvPr/>
        </p:nvSpPr>
        <p:spPr>
          <a:xfrm>
            <a:off x="3465576" y="2798064"/>
            <a:ext cx="2240280" cy="603504"/>
          </a:xfrm>
          <a:prstGeom prst="rect">
            <a:avLst/>
          </a:prstGeom>
          <a:noFill/>
        </p:spPr>
        <p:txBody>
          <a:bodyPr wrap="square" lIns="0" tIns="0" rIns="0" bIns="0" anchor="t">
            <a:spAutoFit/>
          </a:bodyPr>
          <a:lstStyle/>
          <a:p>
            <a:pPr algn="l">
              <a:lnSpc>
                <a:spcPct val="112000"/>
              </a:lnSpc>
            </a:pPr>
            <a:r>
              <a:rPr sz="900" b="1">
                <a:solidFill>
                  <a:srgbClr val="F59E0B"/>
                </a:solidFill>
                <a:latin typeface="Calibri"/>
              </a:rPr>
              <a:t>SO THAT  </a:t>
            </a:r>
            <a:r>
              <a:rPr sz="1100" b="0">
                <a:solidFill>
                  <a:srgbClr val="6E6389"/>
                </a:solidFill>
                <a:latin typeface="Calibri"/>
              </a:rPr>
              <a:t>the routine work happens without you in a conversation.</a:t>
            </a:r>
          </a:p>
        </p:txBody>
      </p:sp>
      <p:sp>
        <p:nvSpPr>
          <p:cNvPr id="15" name="Rectangle 14"/>
          <p:cNvSpPr/>
          <p:nvPr/>
        </p:nvSpPr>
        <p:spPr>
          <a:xfrm>
            <a:off x="3465576" y="3493008"/>
            <a:ext cx="2240280" cy="40233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38727" y="3493008"/>
            <a:ext cx="2103120" cy="402336"/>
          </a:xfrm>
          <a:prstGeom prst="rect">
            <a:avLst/>
          </a:prstGeom>
          <a:noFill/>
        </p:spPr>
        <p:txBody>
          <a:bodyPr wrap="square" lIns="0" tIns="0" rIns="0" bIns="0" anchor="ctr">
            <a:spAutoFit/>
          </a:bodyPr>
          <a:lstStyle/>
          <a:p>
            <a:pPr algn="l"/>
            <a:r>
              <a:rPr sz="900" b="0">
                <a:solidFill>
                  <a:srgbClr val="C4B5E8"/>
                </a:solidFill>
                <a:latin typeface="Courier New"/>
              </a:rPr>
              <a:t>claude -p   /   codex exec</a:t>
            </a:r>
          </a:p>
        </p:txBody>
      </p:sp>
      <p:sp>
        <p:nvSpPr>
          <p:cNvPr id="17" name="Rectangle 16"/>
          <p:cNvSpPr/>
          <p:nvPr/>
        </p:nvSpPr>
        <p:spPr>
          <a:xfrm>
            <a:off x="6071616" y="1389888"/>
            <a:ext cx="2615184" cy="257860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72783" y="1572768"/>
            <a:ext cx="2240280" cy="292608"/>
          </a:xfrm>
          <a:prstGeom prst="rect">
            <a:avLst/>
          </a:prstGeom>
          <a:noFill/>
        </p:spPr>
        <p:txBody>
          <a:bodyPr wrap="square" lIns="0" tIns="0" rIns="0" bIns="0" anchor="t">
            <a:spAutoFit/>
          </a:bodyPr>
          <a:lstStyle/>
          <a:p>
            <a:pPr algn="l"/>
            <a:r>
              <a:rPr sz="1250" b="1">
                <a:solidFill>
                  <a:srgbClr val="7C3AED"/>
                </a:solidFill>
                <a:latin typeface="Arial Black"/>
              </a:rPr>
              <a:t>SECURITY PASS</a:t>
            </a:r>
          </a:p>
        </p:txBody>
      </p:sp>
      <p:sp>
        <p:nvSpPr>
          <p:cNvPr id="19" name="TextBox 18"/>
          <p:cNvSpPr txBox="1"/>
          <p:nvPr/>
        </p:nvSpPr>
        <p:spPr>
          <a:xfrm>
            <a:off x="6272783" y="1920240"/>
            <a:ext cx="2240280" cy="8229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Correctness, secrets and licensing, reviewed over the diff before merge.</a:t>
            </a:r>
          </a:p>
        </p:txBody>
      </p:sp>
      <p:sp>
        <p:nvSpPr>
          <p:cNvPr id="20" name="TextBox 19"/>
          <p:cNvSpPr txBox="1"/>
          <p:nvPr/>
        </p:nvSpPr>
        <p:spPr>
          <a:xfrm>
            <a:off x="6272783" y="2798064"/>
            <a:ext cx="2240280" cy="603504"/>
          </a:xfrm>
          <a:prstGeom prst="rect">
            <a:avLst/>
          </a:prstGeom>
          <a:noFill/>
        </p:spPr>
        <p:txBody>
          <a:bodyPr wrap="square" lIns="0" tIns="0" rIns="0" bIns="0" anchor="t">
            <a:spAutoFit/>
          </a:bodyPr>
          <a:lstStyle/>
          <a:p>
            <a:pPr algn="l">
              <a:lnSpc>
                <a:spcPct val="112000"/>
              </a:lnSpc>
            </a:pPr>
            <a:r>
              <a:rPr sz="900" b="1">
                <a:solidFill>
                  <a:srgbClr val="F59E0B"/>
                </a:solidFill>
                <a:latin typeface="Calibri"/>
              </a:rPr>
              <a:t>SO THAT  </a:t>
            </a:r>
            <a:r>
              <a:rPr sz="1100" b="0">
                <a:solidFill>
                  <a:srgbClr val="6E6389"/>
                </a:solidFill>
                <a:latin typeface="Calibri"/>
              </a:rPr>
              <a:t>nothing ships that you couldn’t explain to someone else.</a:t>
            </a:r>
          </a:p>
        </p:txBody>
      </p:sp>
      <p:sp>
        <p:nvSpPr>
          <p:cNvPr id="21" name="Rectangle 20"/>
          <p:cNvSpPr/>
          <p:nvPr/>
        </p:nvSpPr>
        <p:spPr>
          <a:xfrm>
            <a:off x="6272783" y="3493008"/>
            <a:ext cx="2240280" cy="40233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45936" y="3493008"/>
            <a:ext cx="2103120" cy="402336"/>
          </a:xfrm>
          <a:prstGeom prst="rect">
            <a:avLst/>
          </a:prstGeom>
          <a:noFill/>
        </p:spPr>
        <p:txBody>
          <a:bodyPr wrap="square" lIns="0" tIns="0" rIns="0" bIns="0" anchor="ctr">
            <a:spAutoFit/>
          </a:bodyPr>
          <a:lstStyle/>
          <a:p>
            <a:pPr algn="l"/>
            <a:r>
              <a:rPr sz="900" b="0">
                <a:solidFill>
                  <a:srgbClr val="C4B5E8"/>
                </a:solidFill>
                <a:latin typeface="Courier New"/>
              </a:rPr>
              <a:t>/security-review  ·  /code-review    /    /review</a:t>
            </a:r>
          </a:p>
        </p:txBody>
      </p:sp>
      <p:sp>
        <p:nvSpPr>
          <p:cNvPr id="23" name="TextBox 22"/>
          <p:cNvSpPr txBox="1"/>
          <p:nvPr/>
        </p:nvSpPr>
        <p:spPr>
          <a:xfrm>
            <a:off x="457200" y="4078224"/>
            <a:ext cx="8229600" cy="548640"/>
          </a:xfrm>
          <a:prstGeom prst="rect">
            <a:avLst/>
          </a:prstGeom>
          <a:noFill/>
        </p:spPr>
        <p:txBody>
          <a:bodyPr wrap="square" lIns="0" tIns="0" rIns="0" bIns="0" anchor="t">
            <a:spAutoFit/>
          </a:bodyPr>
          <a:lstStyle/>
          <a:p>
            <a:pPr algn="l">
              <a:lnSpc>
                <a:spcPct val="112000"/>
              </a:lnSpc>
            </a:pPr>
            <a:r>
              <a:rPr sz="1250" b="0">
                <a:solidFill>
                  <a:srgbClr val="6E6389"/>
                </a:solidFill>
                <a:latin typeface="Calibri"/>
              </a:rPr>
              <a:t>Automate the generation, automate the verification, and keep the sign-off human. Accountability doesn’t delegate.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D1155"/>
        </a:solidFill>
        <a:effectLst/>
      </p:bgPr>
    </p:bg>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051560"/>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97280"/>
            <a:ext cx="5486400" cy="274320"/>
          </a:xfrm>
          <a:prstGeom prst="rect">
            <a:avLst/>
          </a:prstGeom>
          <a:noFill/>
        </p:spPr>
        <p:txBody>
          <a:bodyPr wrap="square" lIns="0" tIns="0" rIns="0" bIns="0" anchor="t">
            <a:spAutoFit/>
          </a:bodyPr>
          <a:lstStyle/>
          <a:p>
            <a:pPr algn="l"/>
            <a:r>
              <a:rPr sz="1200" b="1">
                <a:solidFill>
                  <a:srgbClr val="F59E0B"/>
                </a:solidFill>
                <a:latin typeface="Calibri"/>
              </a:rPr>
              <a:t>THE ONE RULE FOR THIS AFTERNOON</a:t>
            </a:r>
          </a:p>
        </p:txBody>
      </p:sp>
      <p:sp>
        <p:nvSpPr>
          <p:cNvPr id="7" name="TextBox 6"/>
          <p:cNvSpPr txBox="1"/>
          <p:nvPr/>
        </p:nvSpPr>
        <p:spPr>
          <a:xfrm>
            <a:off x="658368" y="1463040"/>
            <a:ext cx="5623560" cy="1188720"/>
          </a:xfrm>
          <a:prstGeom prst="rect">
            <a:avLst/>
          </a:prstGeom>
          <a:noFill/>
        </p:spPr>
        <p:txBody>
          <a:bodyPr wrap="square" lIns="0" tIns="0" rIns="0" bIns="0" anchor="t">
            <a:spAutoFit/>
          </a:bodyPr>
          <a:lstStyle/>
          <a:p>
            <a:pPr algn="l">
              <a:lnSpc>
                <a:spcPct val="100000"/>
              </a:lnSpc>
            </a:pPr>
            <a:r>
              <a:rPr sz="3600" b="1">
                <a:solidFill>
                  <a:srgbClr val="FFFFFF"/>
                </a:solidFill>
                <a:latin typeface="Arial Black"/>
              </a:rPr>
              <a:t>Don’t read harder.</a:t>
            </a:r>
          </a:p>
          <a:p>
            <a:pPr algn="l">
              <a:lnSpc>
                <a:spcPct val="100000"/>
              </a:lnSpc>
            </a:pPr>
            <a:r>
              <a:rPr sz="3600" b="1">
                <a:solidFill>
                  <a:srgbClr val="F59E0B"/>
                </a:solidFill>
                <a:latin typeface="Arial Black"/>
              </a:rPr>
              <a:t>Build the proof.</a:t>
            </a:r>
          </a:p>
        </p:txBody>
      </p:sp>
      <p:sp>
        <p:nvSpPr>
          <p:cNvPr id="8" name="TextBox 7"/>
          <p:cNvSpPr txBox="1"/>
          <p:nvPr/>
        </p:nvSpPr>
        <p:spPr>
          <a:xfrm>
            <a:off x="676656" y="2880360"/>
            <a:ext cx="5486400" cy="822960"/>
          </a:xfrm>
          <a:prstGeom prst="rect">
            <a:avLst/>
          </a:prstGeom>
          <a:noFill/>
        </p:spPr>
        <p:txBody>
          <a:bodyPr wrap="square" lIns="0" tIns="0" rIns="0" bIns="0" anchor="t">
            <a:spAutoFit/>
          </a:bodyPr>
          <a:lstStyle/>
          <a:p>
            <a:pPr algn="l">
              <a:lnSpc>
                <a:spcPct val="112000"/>
              </a:lnSpc>
            </a:pPr>
            <a:r>
              <a:rPr sz="1300" b="0">
                <a:solidFill>
                  <a:srgbClr val="DDD6FE"/>
                </a:solidFill>
                <a:latin typeface="Calibri"/>
              </a:rPr>
              <a:t>Every time you feel the urge to scroll the diff looking for the bug, ask instead: what test, what sub-agent, or what gate would have caught this for me?</a:t>
            </a:r>
          </a:p>
        </p:txBody>
      </p:sp>
      <p:sp>
        <p:nvSpPr>
          <p:cNvPr id="9" name="TextBox 8"/>
          <p:cNvSpPr txBox="1"/>
          <p:nvPr/>
        </p:nvSpPr>
        <p:spPr>
          <a:xfrm>
            <a:off x="676656" y="3886200"/>
            <a:ext cx="5486400" cy="292608"/>
          </a:xfrm>
          <a:prstGeom prst="rect">
            <a:avLst/>
          </a:prstGeom>
          <a:noFill/>
        </p:spPr>
        <p:txBody>
          <a:bodyPr wrap="square" lIns="0" tIns="0" rIns="0" bIns="0" anchor="t">
            <a:spAutoFit/>
          </a:bodyPr>
          <a:lstStyle/>
          <a:p>
            <a:pPr algn="l"/>
            <a:r>
              <a:rPr sz="1150" b="0">
                <a:solidFill>
                  <a:srgbClr val="C4B5E8"/>
                </a:solidFill>
                <a:latin typeface="Calibri"/>
              </a:rPr>
              <a:t>Rusty: you never trusted the output by eye anyway — this is your advantage.</a:t>
            </a:r>
          </a:p>
        </p:txBody>
      </p:sp>
      <p:sp>
        <p:nvSpPr>
          <p:cNvPr id="10" name="TextBox 9"/>
          <p:cNvSpPr txBox="1"/>
          <p:nvPr/>
        </p:nvSpPr>
        <p:spPr>
          <a:xfrm>
            <a:off x="676656" y="4224528"/>
            <a:ext cx="5486400" cy="292608"/>
          </a:xfrm>
          <a:prstGeom prst="rect">
            <a:avLst/>
          </a:prstGeom>
          <a:noFill/>
        </p:spPr>
        <p:txBody>
          <a:bodyPr wrap="square" lIns="0" tIns="0" rIns="0" bIns="0" anchor="t">
            <a:spAutoFit/>
          </a:bodyPr>
          <a:lstStyle/>
          <a:p>
            <a:pPr algn="l"/>
            <a:r>
              <a:rPr sz="1150" b="0">
                <a:solidFill>
                  <a:srgbClr val="C4B5E8"/>
                </a:solidFill>
                <a:latin typeface="Calibri"/>
              </a:rPr>
              <a:t>Confident: your reading is good. It still isn’t fast enough. This one’s for you.</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IN THE LAB — 60 MINUTES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Four blocks. You orchestrate; you don’t type implementation.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63040"/>
            <a:ext cx="7772400" cy="676656"/>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63040"/>
            <a:ext cx="585216" cy="676656"/>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63040"/>
            <a:ext cx="585216" cy="676656"/>
          </a:xfrm>
          <a:prstGeom prst="rect">
            <a:avLst/>
          </a:prstGeom>
          <a:noFill/>
        </p:spPr>
        <p:txBody>
          <a:bodyPr wrap="square" lIns="0" tIns="0" rIns="0" bIns="0" anchor="ctr">
            <a:spAutoFit/>
          </a:bodyPr>
          <a:lstStyle/>
          <a:p>
            <a:pPr algn="ctr"/>
            <a:r>
              <a:rPr sz="1800" b="1">
                <a:solidFill>
                  <a:srgbClr val="F59E0B"/>
                </a:solidFill>
                <a:latin typeface="Arial Black"/>
              </a:rPr>
              <a:t>A</a:t>
            </a:r>
          </a:p>
        </p:txBody>
      </p:sp>
      <p:sp>
        <p:nvSpPr>
          <p:cNvPr id="8" name="TextBox 7"/>
          <p:cNvSpPr txBox="1"/>
          <p:nvPr/>
        </p:nvSpPr>
        <p:spPr>
          <a:xfrm>
            <a:off x="1234440" y="1563624"/>
            <a:ext cx="2194560" cy="274320"/>
          </a:xfrm>
          <a:prstGeom prst="rect">
            <a:avLst/>
          </a:prstGeom>
          <a:noFill/>
        </p:spPr>
        <p:txBody>
          <a:bodyPr wrap="square" lIns="0" tIns="0" rIns="0" bIns="0" anchor="t">
            <a:spAutoFit/>
          </a:bodyPr>
          <a:lstStyle/>
          <a:p>
            <a:pPr algn="l"/>
            <a:r>
              <a:rPr sz="1300" b="1">
                <a:solidFill>
                  <a:srgbClr val="2D1155"/>
                </a:solidFill>
                <a:latin typeface="Arial Black"/>
              </a:rPr>
              <a:t>The harness</a:t>
            </a:r>
          </a:p>
        </p:txBody>
      </p:sp>
      <p:sp>
        <p:nvSpPr>
          <p:cNvPr id="9" name="TextBox 8"/>
          <p:cNvSpPr txBox="1"/>
          <p:nvPr/>
        </p:nvSpPr>
        <p:spPr>
          <a:xfrm>
            <a:off x="1234440" y="1847088"/>
            <a:ext cx="5486400" cy="274320"/>
          </a:xfrm>
          <a:prstGeom prst="rect">
            <a:avLst/>
          </a:prstGeom>
          <a:noFill/>
        </p:spPr>
        <p:txBody>
          <a:bodyPr wrap="square" lIns="0" tIns="0" rIns="0" bIns="0" anchor="t">
            <a:spAutoFit/>
          </a:bodyPr>
          <a:lstStyle/>
          <a:p>
            <a:pPr algn="l"/>
            <a:r>
              <a:rPr sz="1150" b="0">
                <a:solidFill>
                  <a:srgbClr val="6E6389"/>
                </a:solidFill>
                <a:latin typeface="Calibri"/>
              </a:rPr>
              <a:t>Tests for the edge cases we skipped. See one fail, then make it pass.</a:t>
            </a:r>
          </a:p>
        </p:txBody>
      </p:sp>
      <p:sp>
        <p:nvSpPr>
          <p:cNvPr id="10" name="TextBox 9"/>
          <p:cNvSpPr txBox="1"/>
          <p:nvPr/>
        </p:nvSpPr>
        <p:spPr>
          <a:xfrm>
            <a:off x="6949440" y="1563624"/>
            <a:ext cx="1005840" cy="274320"/>
          </a:xfrm>
          <a:prstGeom prst="rect">
            <a:avLst/>
          </a:prstGeom>
          <a:noFill/>
        </p:spPr>
        <p:txBody>
          <a:bodyPr wrap="square" lIns="0" tIns="0" rIns="0" bIns="0" anchor="t">
            <a:spAutoFit/>
          </a:bodyPr>
          <a:lstStyle/>
          <a:p>
            <a:pPr algn="r"/>
            <a:r>
              <a:rPr sz="1100" b="1">
                <a:solidFill>
                  <a:srgbClr val="7C3AED"/>
                </a:solidFill>
                <a:latin typeface="Calibri"/>
              </a:rPr>
              <a:t>15 min</a:t>
            </a:r>
          </a:p>
        </p:txBody>
      </p:sp>
      <p:sp>
        <p:nvSpPr>
          <p:cNvPr id="11" name="Rectangle 10"/>
          <p:cNvSpPr/>
          <p:nvPr/>
        </p:nvSpPr>
        <p:spPr>
          <a:xfrm>
            <a:off x="457200" y="2231136"/>
            <a:ext cx="7772400" cy="676656"/>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231136"/>
            <a:ext cx="585216" cy="676656"/>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231136"/>
            <a:ext cx="585216" cy="676656"/>
          </a:xfrm>
          <a:prstGeom prst="rect">
            <a:avLst/>
          </a:prstGeom>
          <a:noFill/>
        </p:spPr>
        <p:txBody>
          <a:bodyPr wrap="square" lIns="0" tIns="0" rIns="0" bIns="0" anchor="ctr">
            <a:spAutoFit/>
          </a:bodyPr>
          <a:lstStyle/>
          <a:p>
            <a:pPr algn="ctr"/>
            <a:r>
              <a:rPr sz="1800" b="1">
                <a:solidFill>
                  <a:srgbClr val="F59E0B"/>
                </a:solidFill>
                <a:latin typeface="Arial Black"/>
              </a:rPr>
              <a:t>B</a:t>
            </a:r>
          </a:p>
        </p:txBody>
      </p:sp>
      <p:sp>
        <p:nvSpPr>
          <p:cNvPr id="14" name="TextBox 13"/>
          <p:cNvSpPr txBox="1"/>
          <p:nvPr/>
        </p:nvSpPr>
        <p:spPr>
          <a:xfrm>
            <a:off x="1234440" y="2331720"/>
            <a:ext cx="2194560" cy="274320"/>
          </a:xfrm>
          <a:prstGeom prst="rect">
            <a:avLst/>
          </a:prstGeom>
          <a:noFill/>
        </p:spPr>
        <p:txBody>
          <a:bodyPr wrap="square" lIns="0" tIns="0" rIns="0" bIns="0" anchor="t">
            <a:spAutoFit/>
          </a:bodyPr>
          <a:lstStyle/>
          <a:p>
            <a:pPr algn="l"/>
            <a:r>
              <a:rPr sz="1300" b="1">
                <a:solidFill>
                  <a:srgbClr val="2D1155"/>
                </a:solidFill>
                <a:latin typeface="Arial Black"/>
              </a:rPr>
              <a:t>The sub-agents</a:t>
            </a:r>
          </a:p>
        </p:txBody>
      </p:sp>
      <p:sp>
        <p:nvSpPr>
          <p:cNvPr id="15" name="TextBox 14"/>
          <p:cNvSpPr txBox="1"/>
          <p:nvPr/>
        </p:nvSpPr>
        <p:spPr>
          <a:xfrm>
            <a:off x="1234440" y="2615184"/>
            <a:ext cx="5486400" cy="274320"/>
          </a:xfrm>
          <a:prstGeom prst="rect">
            <a:avLst/>
          </a:prstGeom>
          <a:noFill/>
        </p:spPr>
        <p:txBody>
          <a:bodyPr wrap="square" lIns="0" tIns="0" rIns="0" bIns="0" anchor="t">
            <a:spAutoFit/>
          </a:bodyPr>
          <a:lstStyle/>
          <a:p>
            <a:pPr algn="l"/>
            <a:r>
              <a:rPr sz="1150" b="0">
                <a:solidFill>
                  <a:srgbClr val="6E6389"/>
                </a:solidFill>
                <a:latin typeface="Calibri"/>
              </a:rPr>
              <a:t>Create the test-writer, the read-only reviewer, and the verifier.</a:t>
            </a:r>
          </a:p>
        </p:txBody>
      </p:sp>
      <p:sp>
        <p:nvSpPr>
          <p:cNvPr id="16" name="TextBox 15"/>
          <p:cNvSpPr txBox="1"/>
          <p:nvPr/>
        </p:nvSpPr>
        <p:spPr>
          <a:xfrm>
            <a:off x="6949440" y="2331720"/>
            <a:ext cx="1005840" cy="274320"/>
          </a:xfrm>
          <a:prstGeom prst="rect">
            <a:avLst/>
          </a:prstGeom>
          <a:noFill/>
        </p:spPr>
        <p:txBody>
          <a:bodyPr wrap="square" lIns="0" tIns="0" rIns="0" bIns="0" anchor="t">
            <a:spAutoFit/>
          </a:bodyPr>
          <a:lstStyle/>
          <a:p>
            <a:pPr algn="r"/>
            <a:r>
              <a:rPr sz="1100" b="1">
                <a:solidFill>
                  <a:srgbClr val="7C3AED"/>
                </a:solidFill>
                <a:latin typeface="Calibri"/>
              </a:rPr>
              <a:t>15 min</a:t>
            </a:r>
          </a:p>
        </p:txBody>
      </p:sp>
      <p:sp>
        <p:nvSpPr>
          <p:cNvPr id="17" name="Rectangle 16"/>
          <p:cNvSpPr/>
          <p:nvPr/>
        </p:nvSpPr>
        <p:spPr>
          <a:xfrm>
            <a:off x="457200" y="2999232"/>
            <a:ext cx="7772400" cy="676656"/>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2999232"/>
            <a:ext cx="585216" cy="676656"/>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2999232"/>
            <a:ext cx="585216" cy="676656"/>
          </a:xfrm>
          <a:prstGeom prst="rect">
            <a:avLst/>
          </a:prstGeom>
          <a:noFill/>
        </p:spPr>
        <p:txBody>
          <a:bodyPr wrap="square" lIns="0" tIns="0" rIns="0" bIns="0" anchor="ctr">
            <a:spAutoFit/>
          </a:bodyPr>
          <a:lstStyle/>
          <a:p>
            <a:pPr algn="ctr"/>
            <a:r>
              <a:rPr sz="1800" b="1">
                <a:solidFill>
                  <a:srgbClr val="F59E0B"/>
                </a:solidFill>
                <a:latin typeface="Arial Black"/>
              </a:rPr>
              <a:t>C</a:t>
            </a:r>
          </a:p>
        </p:txBody>
      </p:sp>
      <p:sp>
        <p:nvSpPr>
          <p:cNvPr id="20" name="TextBox 19"/>
          <p:cNvSpPr txBox="1"/>
          <p:nvPr/>
        </p:nvSpPr>
        <p:spPr>
          <a:xfrm>
            <a:off x="1234440" y="3099815"/>
            <a:ext cx="2194560" cy="274320"/>
          </a:xfrm>
          <a:prstGeom prst="rect">
            <a:avLst/>
          </a:prstGeom>
          <a:noFill/>
        </p:spPr>
        <p:txBody>
          <a:bodyPr wrap="square" lIns="0" tIns="0" rIns="0" bIns="0" anchor="t">
            <a:spAutoFit/>
          </a:bodyPr>
          <a:lstStyle/>
          <a:p>
            <a:pPr algn="l"/>
            <a:r>
              <a:rPr sz="1300" b="1">
                <a:solidFill>
                  <a:srgbClr val="2D1155"/>
                </a:solidFill>
                <a:latin typeface="Arial Black"/>
              </a:rPr>
              <a:t>The team</a:t>
            </a:r>
          </a:p>
        </p:txBody>
      </p:sp>
      <p:sp>
        <p:nvSpPr>
          <p:cNvPr id="21" name="TextBox 20"/>
          <p:cNvSpPr txBox="1"/>
          <p:nvPr/>
        </p:nvSpPr>
        <p:spPr>
          <a:xfrm>
            <a:off x="1234440" y="3383279"/>
            <a:ext cx="5486400" cy="274320"/>
          </a:xfrm>
          <a:prstGeom prst="rect">
            <a:avLst/>
          </a:prstGeom>
          <a:noFill/>
        </p:spPr>
        <p:txBody>
          <a:bodyPr wrap="square" lIns="0" tIns="0" rIns="0" bIns="0" anchor="t">
            <a:spAutoFit/>
          </a:bodyPr>
          <a:lstStyle/>
          <a:p>
            <a:pPr algn="l"/>
            <a:r>
              <a:rPr sz="1150" b="0">
                <a:solidFill>
                  <a:srgbClr val="6E6389"/>
                </a:solidFill>
                <a:latin typeface="Calibri"/>
              </a:rPr>
              <a:t>Ship a monthly progress ring end to end, under TDD.</a:t>
            </a:r>
          </a:p>
        </p:txBody>
      </p:sp>
      <p:sp>
        <p:nvSpPr>
          <p:cNvPr id="22" name="TextBox 21"/>
          <p:cNvSpPr txBox="1"/>
          <p:nvPr/>
        </p:nvSpPr>
        <p:spPr>
          <a:xfrm>
            <a:off x="6949440" y="3099815"/>
            <a:ext cx="1005840" cy="274320"/>
          </a:xfrm>
          <a:prstGeom prst="rect">
            <a:avLst/>
          </a:prstGeom>
          <a:noFill/>
        </p:spPr>
        <p:txBody>
          <a:bodyPr wrap="square" lIns="0" tIns="0" rIns="0" bIns="0" anchor="t">
            <a:spAutoFit/>
          </a:bodyPr>
          <a:lstStyle/>
          <a:p>
            <a:pPr algn="r"/>
            <a:r>
              <a:rPr sz="1100" b="1">
                <a:solidFill>
                  <a:srgbClr val="7C3AED"/>
                </a:solidFill>
                <a:latin typeface="Calibri"/>
              </a:rPr>
              <a:t>20 min</a:t>
            </a:r>
          </a:p>
        </p:txBody>
      </p:sp>
      <p:sp>
        <p:nvSpPr>
          <p:cNvPr id="23" name="Rectangle 22"/>
          <p:cNvSpPr/>
          <p:nvPr/>
        </p:nvSpPr>
        <p:spPr>
          <a:xfrm>
            <a:off x="457200" y="3767328"/>
            <a:ext cx="7772400" cy="676656"/>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3767328"/>
            <a:ext cx="585216" cy="676656"/>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3767328"/>
            <a:ext cx="585216" cy="676656"/>
          </a:xfrm>
          <a:prstGeom prst="rect">
            <a:avLst/>
          </a:prstGeom>
          <a:noFill/>
        </p:spPr>
        <p:txBody>
          <a:bodyPr wrap="square" lIns="0" tIns="0" rIns="0" bIns="0" anchor="ctr">
            <a:spAutoFit/>
          </a:bodyPr>
          <a:lstStyle/>
          <a:p>
            <a:pPr algn="ctr"/>
            <a:r>
              <a:rPr sz="1800" b="1">
                <a:solidFill>
                  <a:srgbClr val="F59E0B"/>
                </a:solidFill>
                <a:latin typeface="Arial Black"/>
              </a:rPr>
              <a:t>D</a:t>
            </a:r>
          </a:p>
        </p:txBody>
      </p:sp>
      <p:sp>
        <p:nvSpPr>
          <p:cNvPr id="26" name="TextBox 25"/>
          <p:cNvSpPr txBox="1"/>
          <p:nvPr/>
        </p:nvSpPr>
        <p:spPr>
          <a:xfrm>
            <a:off x="1234440" y="3867912"/>
            <a:ext cx="2194560" cy="274320"/>
          </a:xfrm>
          <a:prstGeom prst="rect">
            <a:avLst/>
          </a:prstGeom>
          <a:noFill/>
        </p:spPr>
        <p:txBody>
          <a:bodyPr wrap="square" lIns="0" tIns="0" rIns="0" bIns="0" anchor="t">
            <a:spAutoFit/>
          </a:bodyPr>
          <a:lstStyle/>
          <a:p>
            <a:pPr algn="l"/>
            <a:r>
              <a:rPr sz="1300" b="1">
                <a:solidFill>
                  <a:srgbClr val="2D1155"/>
                </a:solidFill>
                <a:latin typeface="Arial Black"/>
              </a:rPr>
              <a:t>Lock it in</a:t>
            </a:r>
          </a:p>
        </p:txBody>
      </p:sp>
      <p:sp>
        <p:nvSpPr>
          <p:cNvPr id="27" name="TextBox 26"/>
          <p:cNvSpPr txBox="1"/>
          <p:nvPr/>
        </p:nvSpPr>
        <p:spPr>
          <a:xfrm>
            <a:off x="1234440" y="4151376"/>
            <a:ext cx="5486400" cy="274320"/>
          </a:xfrm>
          <a:prstGeom prst="rect">
            <a:avLst/>
          </a:prstGeom>
          <a:noFill/>
        </p:spPr>
        <p:txBody>
          <a:bodyPr wrap="square" lIns="0" tIns="0" rIns="0" bIns="0" anchor="t">
            <a:spAutoFit/>
          </a:bodyPr>
          <a:lstStyle/>
          <a:p>
            <a:pPr algn="l"/>
            <a:r>
              <a:rPr sz="1150" b="0">
                <a:solidFill>
                  <a:srgbClr val="6E6389"/>
                </a:solidFill>
                <a:latin typeface="Calibri"/>
              </a:rPr>
              <a:t>Hooks, CI, and a security pass. Commit and tag.</a:t>
            </a:r>
          </a:p>
        </p:txBody>
      </p:sp>
      <p:sp>
        <p:nvSpPr>
          <p:cNvPr id="28" name="TextBox 27"/>
          <p:cNvSpPr txBox="1"/>
          <p:nvPr/>
        </p:nvSpPr>
        <p:spPr>
          <a:xfrm>
            <a:off x="6949440" y="3867912"/>
            <a:ext cx="1005840" cy="274320"/>
          </a:xfrm>
          <a:prstGeom prst="rect">
            <a:avLst/>
          </a:prstGeom>
          <a:noFill/>
        </p:spPr>
        <p:txBody>
          <a:bodyPr wrap="square" lIns="0" tIns="0" rIns="0" bIns="0" anchor="t">
            <a:spAutoFit/>
          </a:bodyPr>
          <a:lstStyle/>
          <a:p>
            <a:pPr algn="r"/>
            <a:r>
              <a:rPr sz="1100" b="1">
                <a:solidFill>
                  <a:srgbClr val="7C3AED"/>
                </a:solidFill>
                <a:latin typeface="Calibri"/>
              </a:rPr>
              <a:t>10 min</a:t>
            </a:r>
          </a:p>
        </p:txBody>
      </p:sp>
      <p:sp>
        <p:nvSpPr>
          <p:cNvPr id="29" name="TextBox 28"/>
          <p:cNvSpPr txBox="1"/>
          <p:nvPr/>
        </p:nvSpPr>
        <p:spPr>
          <a:xfrm>
            <a:off x="457200" y="4553712"/>
            <a:ext cx="7315200" cy="274320"/>
          </a:xfrm>
          <a:prstGeom prst="rect">
            <a:avLst/>
          </a:prstGeom>
          <a:noFill/>
        </p:spPr>
        <p:txBody>
          <a:bodyPr wrap="square" lIns="0" tIns="0" rIns="0" bIns="0" anchor="t">
            <a:spAutoFit/>
          </a:bodyPr>
          <a:lstStyle/>
          <a:p>
            <a:pPr algn="l"/>
            <a:r>
              <a:rPr sz="1150" b="0">
                <a:solidFill>
                  <a:srgbClr val="6E6389"/>
                </a:solidFill>
                <a:latin typeface="Calibri"/>
              </a:rPr>
              <a:t>Behind? Drop into the reference repo at checkpoint-2-features and start the block clean.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FIVE GOLDEN RULES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Carry these into the lab.</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44752"/>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44752"/>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44752"/>
            <a:ext cx="530352" cy="566928"/>
          </a:xfrm>
          <a:prstGeom prst="rect">
            <a:avLst/>
          </a:prstGeom>
          <a:noFill/>
        </p:spPr>
        <p:txBody>
          <a:bodyPr wrap="square" lIns="0" tIns="0" rIns="0" bIns="0" anchor="ctr">
            <a:spAutoFit/>
          </a:bodyPr>
          <a:lstStyle/>
          <a:p>
            <a:pPr algn="ctr"/>
            <a:r>
              <a:rPr sz="1600" b="1">
                <a:solidFill>
                  <a:srgbClr val="2D1155"/>
                </a:solidFill>
                <a:latin typeface="Arial Black"/>
              </a:rPr>
              <a:t>1</a:t>
            </a:r>
          </a:p>
        </p:txBody>
      </p:sp>
      <p:sp>
        <p:nvSpPr>
          <p:cNvPr id="8" name="TextBox 7"/>
          <p:cNvSpPr txBox="1"/>
          <p:nvPr/>
        </p:nvSpPr>
        <p:spPr>
          <a:xfrm>
            <a:off x="1188720" y="1444752"/>
            <a:ext cx="6858000" cy="566928"/>
          </a:xfrm>
          <a:prstGeom prst="rect">
            <a:avLst/>
          </a:prstGeom>
          <a:noFill/>
        </p:spPr>
        <p:txBody>
          <a:bodyPr wrap="square" lIns="0" tIns="0" rIns="0" bIns="0" anchor="ctr">
            <a:spAutoFit/>
          </a:bodyPr>
          <a:lstStyle/>
          <a:p>
            <a:pPr algn="l"/>
            <a:r>
              <a:rPr sz="1250" b="1">
                <a:solidFill>
                  <a:srgbClr val="2D1155"/>
                </a:solidFill>
                <a:latin typeface="Arial Black"/>
              </a:rPr>
              <a:t>Harness first.   </a:t>
            </a:r>
            <a:r>
              <a:rPr sz="1150" b="0">
                <a:solidFill>
                  <a:srgbClr val="6E6389"/>
                </a:solidFill>
                <a:latin typeface="Calibri"/>
              </a:rPr>
              <a:t>Write the check before the feature. Green is the definition of done.</a:t>
            </a:r>
          </a:p>
        </p:txBody>
      </p:sp>
      <p:sp>
        <p:nvSpPr>
          <p:cNvPr id="9" name="Rectangle 8"/>
          <p:cNvSpPr/>
          <p:nvPr/>
        </p:nvSpPr>
        <p:spPr>
          <a:xfrm>
            <a:off x="457200" y="2103120"/>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103120"/>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103120"/>
            <a:ext cx="530352" cy="566928"/>
          </a:xfrm>
          <a:prstGeom prst="rect">
            <a:avLst/>
          </a:prstGeom>
          <a:noFill/>
        </p:spPr>
        <p:txBody>
          <a:bodyPr wrap="square" lIns="0" tIns="0" rIns="0" bIns="0" anchor="ctr">
            <a:spAutoFit/>
          </a:bodyPr>
          <a:lstStyle/>
          <a:p>
            <a:pPr algn="ctr"/>
            <a:r>
              <a:rPr sz="1600" b="1">
                <a:solidFill>
                  <a:srgbClr val="2D1155"/>
                </a:solidFill>
                <a:latin typeface="Arial Black"/>
              </a:rPr>
              <a:t>2</a:t>
            </a:r>
          </a:p>
        </p:txBody>
      </p:sp>
      <p:sp>
        <p:nvSpPr>
          <p:cNvPr id="12" name="TextBox 11"/>
          <p:cNvSpPr txBox="1"/>
          <p:nvPr/>
        </p:nvSpPr>
        <p:spPr>
          <a:xfrm>
            <a:off x="1188720" y="2103120"/>
            <a:ext cx="6858000" cy="566928"/>
          </a:xfrm>
          <a:prstGeom prst="rect">
            <a:avLst/>
          </a:prstGeom>
          <a:noFill/>
        </p:spPr>
        <p:txBody>
          <a:bodyPr wrap="square" lIns="0" tIns="0" rIns="0" bIns="0" anchor="ctr">
            <a:spAutoFit/>
          </a:bodyPr>
          <a:lstStyle/>
          <a:p>
            <a:pPr algn="l"/>
            <a:r>
              <a:rPr sz="1250" b="1">
                <a:solidFill>
                  <a:srgbClr val="2D1155"/>
                </a:solidFill>
                <a:latin typeface="Arial Black"/>
              </a:rPr>
              <a:t>Fail it once.   </a:t>
            </a:r>
            <a:r>
              <a:rPr sz="1150" b="0">
                <a:solidFill>
                  <a:srgbClr val="6E6389"/>
                </a:solidFill>
                <a:latin typeface="Calibri"/>
              </a:rPr>
              <a:t>A test that has never failed is decoration, not proof.</a:t>
            </a:r>
          </a:p>
        </p:txBody>
      </p:sp>
      <p:sp>
        <p:nvSpPr>
          <p:cNvPr id="13" name="Rectangle 12"/>
          <p:cNvSpPr/>
          <p:nvPr/>
        </p:nvSpPr>
        <p:spPr>
          <a:xfrm>
            <a:off x="457200" y="2761487"/>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761487"/>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761487"/>
            <a:ext cx="530352" cy="566928"/>
          </a:xfrm>
          <a:prstGeom prst="rect">
            <a:avLst/>
          </a:prstGeom>
          <a:noFill/>
        </p:spPr>
        <p:txBody>
          <a:bodyPr wrap="square" lIns="0" tIns="0" rIns="0" bIns="0" anchor="ctr">
            <a:spAutoFit/>
          </a:bodyPr>
          <a:lstStyle/>
          <a:p>
            <a:pPr algn="ctr"/>
            <a:r>
              <a:rPr sz="1600" b="1">
                <a:solidFill>
                  <a:srgbClr val="2D1155"/>
                </a:solidFill>
                <a:latin typeface="Arial Black"/>
              </a:rPr>
              <a:t>3</a:t>
            </a:r>
          </a:p>
        </p:txBody>
      </p:sp>
      <p:sp>
        <p:nvSpPr>
          <p:cNvPr id="16" name="TextBox 15"/>
          <p:cNvSpPr txBox="1"/>
          <p:nvPr/>
        </p:nvSpPr>
        <p:spPr>
          <a:xfrm>
            <a:off x="1188720" y="2761487"/>
            <a:ext cx="6858000" cy="566928"/>
          </a:xfrm>
          <a:prstGeom prst="rect">
            <a:avLst/>
          </a:prstGeom>
          <a:noFill/>
        </p:spPr>
        <p:txBody>
          <a:bodyPr wrap="square" lIns="0" tIns="0" rIns="0" bIns="0" anchor="ctr">
            <a:spAutoFit/>
          </a:bodyPr>
          <a:lstStyle/>
          <a:p>
            <a:pPr algn="l"/>
            <a:r>
              <a:rPr sz="1250" b="1">
                <a:solidFill>
                  <a:srgbClr val="2D1155"/>
                </a:solidFill>
                <a:latin typeface="Arial Black"/>
              </a:rPr>
              <a:t>Narrow the agents.   </a:t>
            </a:r>
            <a:r>
              <a:rPr sz="1150" b="0">
                <a:solidFill>
                  <a:srgbClr val="6E6389"/>
                </a:solidFill>
                <a:latin typeface="Calibri"/>
              </a:rPr>
              <a:t>One job, minimal tools. The reviewer never gets write access.</a:t>
            </a:r>
          </a:p>
        </p:txBody>
      </p:sp>
      <p:sp>
        <p:nvSpPr>
          <p:cNvPr id="17" name="Rectangle 16"/>
          <p:cNvSpPr/>
          <p:nvPr/>
        </p:nvSpPr>
        <p:spPr>
          <a:xfrm>
            <a:off x="457200" y="3419855"/>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419855"/>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419855"/>
            <a:ext cx="530352" cy="566928"/>
          </a:xfrm>
          <a:prstGeom prst="rect">
            <a:avLst/>
          </a:prstGeom>
          <a:noFill/>
        </p:spPr>
        <p:txBody>
          <a:bodyPr wrap="square" lIns="0" tIns="0" rIns="0" bIns="0" anchor="ctr">
            <a:spAutoFit/>
          </a:bodyPr>
          <a:lstStyle/>
          <a:p>
            <a:pPr algn="ctr"/>
            <a:r>
              <a:rPr sz="1600" b="1">
                <a:solidFill>
                  <a:srgbClr val="2D1155"/>
                </a:solidFill>
                <a:latin typeface="Arial Black"/>
              </a:rPr>
              <a:t>4</a:t>
            </a:r>
          </a:p>
        </p:txBody>
      </p:sp>
      <p:sp>
        <p:nvSpPr>
          <p:cNvPr id="20" name="TextBox 19"/>
          <p:cNvSpPr txBox="1"/>
          <p:nvPr/>
        </p:nvSpPr>
        <p:spPr>
          <a:xfrm>
            <a:off x="1188720" y="3419855"/>
            <a:ext cx="6858000" cy="566928"/>
          </a:xfrm>
          <a:prstGeom prst="rect">
            <a:avLst/>
          </a:prstGeom>
          <a:noFill/>
        </p:spPr>
        <p:txBody>
          <a:bodyPr wrap="square" lIns="0" tIns="0" rIns="0" bIns="0" anchor="ctr">
            <a:spAutoFit/>
          </a:bodyPr>
          <a:lstStyle/>
          <a:p>
            <a:pPr algn="l"/>
            <a:r>
              <a:rPr sz="1250" b="1">
                <a:solidFill>
                  <a:srgbClr val="2D1155"/>
                </a:solidFill>
                <a:latin typeface="Arial Black"/>
              </a:rPr>
              <a:t>Orchestrate, don’t type.   </a:t>
            </a:r>
            <a:r>
              <a:rPr sz="1150" b="0">
                <a:solidFill>
                  <a:srgbClr val="6E6389"/>
                </a:solidFill>
                <a:latin typeface="Calibri"/>
              </a:rPr>
              <a:t>Pick the work, arbitrate disputes, decide when it’s finished.</a:t>
            </a:r>
          </a:p>
        </p:txBody>
      </p:sp>
      <p:sp>
        <p:nvSpPr>
          <p:cNvPr id="21" name="Rectangle 20"/>
          <p:cNvSpPr/>
          <p:nvPr/>
        </p:nvSpPr>
        <p:spPr>
          <a:xfrm>
            <a:off x="457200" y="4078223"/>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4078223"/>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078223"/>
            <a:ext cx="530352" cy="566928"/>
          </a:xfrm>
          <a:prstGeom prst="rect">
            <a:avLst/>
          </a:prstGeom>
          <a:noFill/>
        </p:spPr>
        <p:txBody>
          <a:bodyPr wrap="square" lIns="0" tIns="0" rIns="0" bIns="0" anchor="ctr">
            <a:spAutoFit/>
          </a:bodyPr>
          <a:lstStyle/>
          <a:p>
            <a:pPr algn="ctr"/>
            <a:r>
              <a:rPr sz="1600" b="1">
                <a:solidFill>
                  <a:srgbClr val="2D1155"/>
                </a:solidFill>
                <a:latin typeface="Arial Black"/>
              </a:rPr>
              <a:t>5</a:t>
            </a:r>
          </a:p>
        </p:txBody>
      </p:sp>
      <p:sp>
        <p:nvSpPr>
          <p:cNvPr id="24" name="TextBox 23"/>
          <p:cNvSpPr txBox="1"/>
          <p:nvPr/>
        </p:nvSpPr>
        <p:spPr>
          <a:xfrm>
            <a:off x="1188720" y="4078223"/>
            <a:ext cx="6858000" cy="566928"/>
          </a:xfrm>
          <a:prstGeom prst="rect">
            <a:avLst/>
          </a:prstGeom>
          <a:noFill/>
        </p:spPr>
        <p:txBody>
          <a:bodyPr wrap="square" lIns="0" tIns="0" rIns="0" bIns="0" anchor="ctr">
            <a:spAutoFit/>
          </a:bodyPr>
          <a:lstStyle/>
          <a:p>
            <a:pPr algn="l"/>
            <a:r>
              <a:rPr sz="1250" b="1">
                <a:solidFill>
                  <a:srgbClr val="2D1155"/>
                </a:solidFill>
                <a:latin typeface="Arial Black"/>
              </a:rPr>
              <a:t>Enforce it in the tool.   </a:t>
            </a:r>
            <a:r>
              <a:rPr sz="1150" b="0">
                <a:solidFill>
                  <a:srgbClr val="6E6389"/>
                </a:solidFill>
                <a:latin typeface="Calibri"/>
              </a:rPr>
              <a:t>Hooks and CI, not good intentions.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WHEN YOU GET BACK TO YOUR OWN REPO</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Today was a toy app on a projector. This is the order to do it in on work that matters.</a:t>
            </a:r>
          </a:p>
        </p:txBody>
      </p:sp>
      <p:pic>
        <p:nvPicPr>
          <p:cNvPr id="4" name="Picture 3" descr="image.jp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316736"/>
            <a:ext cx="7772400" cy="74980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16736"/>
            <a:ext cx="585216" cy="749808"/>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16736"/>
            <a:ext cx="585216" cy="749808"/>
          </a:xfrm>
          <a:prstGeom prst="rect">
            <a:avLst/>
          </a:prstGeom>
          <a:noFill/>
        </p:spPr>
        <p:txBody>
          <a:bodyPr wrap="square" lIns="0" tIns="0" rIns="0" bIns="0" anchor="ctr">
            <a:spAutoFit/>
          </a:bodyPr>
          <a:lstStyle/>
          <a:p>
            <a:pPr algn="ctr"/>
            <a:r>
              <a:rPr sz="1500" b="1">
                <a:solidFill>
                  <a:srgbClr val="FFFFFF"/>
                </a:solidFill>
                <a:latin typeface="Arial Black"/>
              </a:rPr>
              <a:t>1</a:t>
            </a:r>
          </a:p>
        </p:txBody>
      </p:sp>
      <p:sp>
        <p:nvSpPr>
          <p:cNvPr id="8" name="TextBox 7"/>
          <p:cNvSpPr txBox="1"/>
          <p:nvPr/>
        </p:nvSpPr>
        <p:spPr>
          <a:xfrm>
            <a:off x="1234440" y="1389888"/>
            <a:ext cx="2926080" cy="274320"/>
          </a:xfrm>
          <a:prstGeom prst="rect">
            <a:avLst/>
          </a:prstGeom>
          <a:noFill/>
        </p:spPr>
        <p:txBody>
          <a:bodyPr wrap="square" lIns="0" tIns="0" rIns="0" bIns="0" anchor="t">
            <a:spAutoFit/>
          </a:bodyPr>
          <a:lstStyle/>
          <a:p>
            <a:pPr algn="l"/>
            <a:r>
              <a:rPr sz="1250" b="1">
                <a:solidFill>
                  <a:srgbClr val="2D1155"/>
                </a:solidFill>
                <a:latin typeface="Arial Black"/>
              </a:rPr>
              <a:t>Build the harness</a:t>
            </a:r>
          </a:p>
        </p:txBody>
      </p:sp>
      <p:sp>
        <p:nvSpPr>
          <p:cNvPr id="9" name="TextBox 8"/>
          <p:cNvSpPr txBox="1"/>
          <p:nvPr/>
        </p:nvSpPr>
        <p:spPr>
          <a:xfrm>
            <a:off x="1234440" y="1664207"/>
            <a:ext cx="5212080" cy="365760"/>
          </a:xfrm>
          <a:prstGeom prst="rect">
            <a:avLst/>
          </a:prstGeom>
          <a:noFill/>
        </p:spPr>
        <p:txBody>
          <a:bodyPr wrap="square" lIns="0" tIns="0" rIns="0" bIns="0" anchor="t">
            <a:spAutoFit/>
          </a:bodyPr>
          <a:lstStyle/>
          <a:p>
            <a:pPr algn="l">
              <a:lnSpc>
                <a:spcPct val="110000"/>
              </a:lnSpc>
            </a:pPr>
            <a:r>
              <a:rPr sz="1100" b="0">
                <a:solidFill>
                  <a:srgbClr val="6E6389"/>
                </a:solidFill>
                <a:latin typeface="Calibri"/>
              </a:rPr>
              <a:t>One repo you own. One command: lint, types, tests. Nothing clever, and see it fail once.</a:t>
            </a:r>
          </a:p>
        </p:txBody>
      </p:sp>
      <p:sp>
        <p:nvSpPr>
          <p:cNvPr id="10" name="TextBox 9"/>
          <p:cNvSpPr txBox="1"/>
          <p:nvPr/>
        </p:nvSpPr>
        <p:spPr>
          <a:xfrm>
            <a:off x="6583680" y="1408176"/>
            <a:ext cx="1508760" cy="274320"/>
          </a:xfrm>
          <a:prstGeom prst="rect">
            <a:avLst/>
          </a:prstGeom>
          <a:noFill/>
        </p:spPr>
        <p:txBody>
          <a:bodyPr wrap="square" lIns="0" tIns="0" rIns="0" bIns="0" anchor="t">
            <a:spAutoFit/>
          </a:bodyPr>
          <a:lstStyle/>
          <a:p>
            <a:pPr algn="r"/>
            <a:r>
              <a:rPr sz="950" b="1">
                <a:solidFill>
                  <a:srgbClr val="F59E0B"/>
                </a:solidFill>
                <a:latin typeface="Calibri"/>
              </a:rPr>
              <a:t>TOMORROW</a:t>
            </a:r>
          </a:p>
        </p:txBody>
      </p:sp>
      <p:sp>
        <p:nvSpPr>
          <p:cNvPr id="11" name="Rectangle 10"/>
          <p:cNvSpPr/>
          <p:nvPr/>
        </p:nvSpPr>
        <p:spPr>
          <a:xfrm>
            <a:off x="457200" y="2139696"/>
            <a:ext cx="7772400" cy="74980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139696"/>
            <a:ext cx="585216" cy="749808"/>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139696"/>
            <a:ext cx="585216" cy="749808"/>
          </a:xfrm>
          <a:prstGeom prst="rect">
            <a:avLst/>
          </a:prstGeom>
          <a:noFill/>
        </p:spPr>
        <p:txBody>
          <a:bodyPr wrap="square" lIns="0" tIns="0" rIns="0" bIns="0" anchor="ctr">
            <a:spAutoFit/>
          </a:bodyPr>
          <a:lstStyle/>
          <a:p>
            <a:pPr algn="ctr"/>
            <a:r>
              <a:rPr sz="1500" b="1">
                <a:solidFill>
                  <a:srgbClr val="FFFFFF"/>
                </a:solidFill>
                <a:latin typeface="Arial Black"/>
              </a:rPr>
              <a:t>2</a:t>
            </a:r>
          </a:p>
        </p:txBody>
      </p:sp>
      <p:sp>
        <p:nvSpPr>
          <p:cNvPr id="14" name="TextBox 13"/>
          <p:cNvSpPr txBox="1"/>
          <p:nvPr/>
        </p:nvSpPr>
        <p:spPr>
          <a:xfrm>
            <a:off x="1234440" y="2212848"/>
            <a:ext cx="2926080" cy="274320"/>
          </a:xfrm>
          <a:prstGeom prst="rect">
            <a:avLst/>
          </a:prstGeom>
          <a:noFill/>
        </p:spPr>
        <p:txBody>
          <a:bodyPr wrap="square" lIns="0" tIns="0" rIns="0" bIns="0" anchor="t">
            <a:spAutoFit/>
          </a:bodyPr>
          <a:lstStyle/>
          <a:p>
            <a:pPr algn="l"/>
            <a:r>
              <a:rPr sz="1250" b="1">
                <a:solidFill>
                  <a:srgbClr val="2D1155"/>
                </a:solidFill>
                <a:latin typeface="Arial Black"/>
              </a:rPr>
              <a:t>Add one agent, one hook</a:t>
            </a:r>
          </a:p>
        </p:txBody>
      </p:sp>
      <p:sp>
        <p:nvSpPr>
          <p:cNvPr id="15" name="TextBox 14"/>
          <p:cNvSpPr txBox="1"/>
          <p:nvPr/>
        </p:nvSpPr>
        <p:spPr>
          <a:xfrm>
            <a:off x="1234440" y="2487168"/>
            <a:ext cx="5212080" cy="365760"/>
          </a:xfrm>
          <a:prstGeom prst="rect">
            <a:avLst/>
          </a:prstGeom>
          <a:noFill/>
        </p:spPr>
        <p:txBody>
          <a:bodyPr wrap="square" lIns="0" tIns="0" rIns="0" bIns="0" anchor="t">
            <a:spAutoFit/>
          </a:bodyPr>
          <a:lstStyle/>
          <a:p>
            <a:pPr algn="l">
              <a:lnSpc>
                <a:spcPct val="110000"/>
              </a:lnSpc>
            </a:pPr>
            <a:r>
              <a:rPr sz="1100" b="0">
                <a:solidFill>
                  <a:srgbClr val="6E6389"/>
                </a:solidFill>
                <a:latin typeface="Calibri"/>
              </a:rPr>
              <a:t>A read-only reviewer sub-agent, plus one hook that blocks the mistake your team keeps making.</a:t>
            </a:r>
          </a:p>
        </p:txBody>
      </p:sp>
      <p:sp>
        <p:nvSpPr>
          <p:cNvPr id="16" name="TextBox 15"/>
          <p:cNvSpPr txBox="1"/>
          <p:nvPr/>
        </p:nvSpPr>
        <p:spPr>
          <a:xfrm>
            <a:off x="6583680" y="2231136"/>
            <a:ext cx="1508760" cy="274320"/>
          </a:xfrm>
          <a:prstGeom prst="rect">
            <a:avLst/>
          </a:prstGeom>
          <a:noFill/>
        </p:spPr>
        <p:txBody>
          <a:bodyPr wrap="square" lIns="0" tIns="0" rIns="0" bIns="0" anchor="t">
            <a:spAutoFit/>
          </a:bodyPr>
          <a:lstStyle/>
          <a:p>
            <a:pPr algn="r"/>
            <a:r>
              <a:rPr sz="950" b="1">
                <a:solidFill>
                  <a:srgbClr val="F59E0B"/>
                </a:solidFill>
                <a:latin typeface="Calibri"/>
              </a:rPr>
              <a:t>THIS WEEK</a:t>
            </a:r>
          </a:p>
        </p:txBody>
      </p:sp>
      <p:sp>
        <p:nvSpPr>
          <p:cNvPr id="17" name="Rectangle 16"/>
          <p:cNvSpPr/>
          <p:nvPr/>
        </p:nvSpPr>
        <p:spPr>
          <a:xfrm>
            <a:off x="457200" y="2962656"/>
            <a:ext cx="7772400" cy="74980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2962656"/>
            <a:ext cx="585216" cy="749808"/>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2962656"/>
            <a:ext cx="585216" cy="749808"/>
          </a:xfrm>
          <a:prstGeom prst="rect">
            <a:avLst/>
          </a:prstGeom>
          <a:noFill/>
        </p:spPr>
        <p:txBody>
          <a:bodyPr wrap="square" lIns="0" tIns="0" rIns="0" bIns="0" anchor="ctr">
            <a:spAutoFit/>
          </a:bodyPr>
          <a:lstStyle/>
          <a:p>
            <a:pPr algn="ctr"/>
            <a:r>
              <a:rPr sz="1500" b="1">
                <a:solidFill>
                  <a:srgbClr val="FFFFFF"/>
                </a:solidFill>
                <a:latin typeface="Arial Black"/>
              </a:rPr>
              <a:t>3</a:t>
            </a:r>
          </a:p>
        </p:txBody>
      </p:sp>
      <p:sp>
        <p:nvSpPr>
          <p:cNvPr id="20" name="TextBox 19"/>
          <p:cNvSpPr txBox="1"/>
          <p:nvPr/>
        </p:nvSpPr>
        <p:spPr>
          <a:xfrm>
            <a:off x="1234440" y="3035808"/>
            <a:ext cx="2926080" cy="274320"/>
          </a:xfrm>
          <a:prstGeom prst="rect">
            <a:avLst/>
          </a:prstGeom>
          <a:noFill/>
        </p:spPr>
        <p:txBody>
          <a:bodyPr wrap="square" lIns="0" tIns="0" rIns="0" bIns="0" anchor="t">
            <a:spAutoFit/>
          </a:bodyPr>
          <a:lstStyle/>
          <a:p>
            <a:pPr algn="l"/>
            <a:r>
              <a:rPr sz="1250" b="1">
                <a:solidFill>
                  <a:srgbClr val="2D1155"/>
                </a:solidFill>
                <a:latin typeface="Arial Black"/>
              </a:rPr>
              <a:t>Make it the team’s</a:t>
            </a:r>
          </a:p>
        </p:txBody>
      </p:sp>
      <p:sp>
        <p:nvSpPr>
          <p:cNvPr id="21" name="TextBox 20"/>
          <p:cNvSpPr txBox="1"/>
          <p:nvPr/>
        </p:nvSpPr>
        <p:spPr>
          <a:xfrm>
            <a:off x="1234440" y="3310128"/>
            <a:ext cx="5212080" cy="365760"/>
          </a:xfrm>
          <a:prstGeom prst="rect">
            <a:avLst/>
          </a:prstGeom>
          <a:noFill/>
        </p:spPr>
        <p:txBody>
          <a:bodyPr wrap="square" lIns="0" tIns="0" rIns="0" bIns="0" anchor="t">
            <a:spAutoFit/>
          </a:bodyPr>
          <a:lstStyle/>
          <a:p>
            <a:pPr algn="l">
              <a:lnSpc>
                <a:spcPct val="110000"/>
              </a:lnSpc>
            </a:pPr>
            <a:r>
              <a:rPr sz="1100" b="0">
                <a:solidFill>
                  <a:srgbClr val="6E6389"/>
                </a:solidFill>
                <a:latin typeface="Calibri"/>
              </a:rPr>
              <a:t>Harness into CI, an eval for anything fuzzy, and walk one teammate through the same two steps.</a:t>
            </a:r>
          </a:p>
        </p:txBody>
      </p:sp>
      <p:sp>
        <p:nvSpPr>
          <p:cNvPr id="22" name="TextBox 21"/>
          <p:cNvSpPr txBox="1"/>
          <p:nvPr/>
        </p:nvSpPr>
        <p:spPr>
          <a:xfrm>
            <a:off x="6583680" y="3054096"/>
            <a:ext cx="1508760" cy="274320"/>
          </a:xfrm>
          <a:prstGeom prst="rect">
            <a:avLst/>
          </a:prstGeom>
          <a:noFill/>
        </p:spPr>
        <p:txBody>
          <a:bodyPr wrap="square" lIns="0" tIns="0" rIns="0" bIns="0" anchor="t">
            <a:spAutoFit/>
          </a:bodyPr>
          <a:lstStyle/>
          <a:p>
            <a:pPr algn="r"/>
            <a:r>
              <a:rPr sz="950" b="1">
                <a:solidFill>
                  <a:srgbClr val="F59E0B"/>
                </a:solidFill>
                <a:latin typeface="Calibri"/>
              </a:rPr>
              <a:t>THIS MONTH</a:t>
            </a:r>
          </a:p>
        </p:txBody>
      </p:sp>
      <p:sp>
        <p:nvSpPr>
          <p:cNvPr id="23" name="Rectangle 22"/>
          <p:cNvSpPr/>
          <p:nvPr/>
        </p:nvSpPr>
        <p:spPr>
          <a:xfrm>
            <a:off x="457200" y="3895344"/>
            <a:ext cx="8229600" cy="585216"/>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3895344"/>
            <a:ext cx="7498079" cy="585216"/>
          </a:xfrm>
          <a:prstGeom prst="rect">
            <a:avLst/>
          </a:prstGeom>
          <a:noFill/>
        </p:spPr>
        <p:txBody>
          <a:bodyPr wrap="square" lIns="0" tIns="0" rIns="0" bIns="0" anchor="ctr">
            <a:spAutoFit/>
          </a:bodyPr>
          <a:lstStyle/>
          <a:p>
            <a:pPr algn="l">
              <a:lnSpc>
                <a:spcPct val="112000"/>
              </a:lnSpc>
            </a:pPr>
            <a:r>
              <a:rPr sz="1500" b="1">
                <a:solidFill>
                  <a:srgbClr val="FFFFFF"/>
                </a:solidFill>
                <a:latin typeface="Arial Black"/>
              </a:rPr>
              <a:t>Start where the diffs already make you nervous.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D1155"/>
        </a:solidFill>
        <a:effectLst/>
      </p:bgPr>
    </p:bg>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2.png"/>
          <p:cNvPicPr>
            <a:picLocks noChangeAspect="1"/>
          </p:cNvPicPr>
          <p:nvPr/>
        </p:nvPicPr>
        <p:blipFill>
          <a:blip r:embed="rId3"/>
          <a:stretch>
            <a:fillRect/>
          </a:stretch>
        </p:blipFill>
        <p:spPr>
          <a:xfrm>
            <a:off x="457200" y="384048"/>
            <a:ext cx="2148840" cy="484632"/>
          </a:xfrm>
          <a:prstGeom prst="rect">
            <a:avLst/>
          </a:prstGeom>
        </p:spPr>
      </p:pic>
      <p:sp>
        <p:nvSpPr>
          <p:cNvPr id="5" name="Rectangle 4"/>
          <p:cNvSpPr/>
          <p:nvPr/>
        </p:nvSpPr>
        <p:spPr>
          <a:xfrm>
            <a:off x="457200" y="1234440"/>
            <a:ext cx="82296"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1.jpeg"/>
          <p:cNvPicPr>
            <a:picLocks noChangeAspect="1"/>
          </p:cNvPicPr>
          <p:nvPr/>
        </p:nvPicPr>
        <p:blipFill>
          <a:blip r:embed="rId4"/>
          <a:stretch>
            <a:fillRect/>
          </a:stretch>
        </p:blipFill>
        <p:spPr>
          <a:xfrm>
            <a:off x="8366760" y="4526280"/>
            <a:ext cx="411480" cy="411480"/>
          </a:xfrm>
          <a:prstGeom prst="rect">
            <a:avLst/>
          </a:prstGeom>
        </p:spPr>
      </p:pic>
      <p:sp>
        <p:nvSpPr>
          <p:cNvPr id="7" name="TextBox 6"/>
          <p:cNvSpPr txBox="1"/>
          <p:nvPr/>
        </p:nvSpPr>
        <p:spPr>
          <a:xfrm>
            <a:off x="457200" y="4709160"/>
            <a:ext cx="5669280" cy="274320"/>
          </a:xfrm>
          <a:prstGeom prst="rect">
            <a:avLst/>
          </a:prstGeom>
          <a:noFill/>
        </p:spPr>
        <p:txBody>
          <a:bodyPr wrap="square" lIns="0" tIns="0" rIns="0" bIns="0" anchor="t">
            <a:spAutoFit/>
          </a:bodyPr>
          <a:lstStyle/>
          <a:p>
            <a:pPr algn="l"/>
            <a:r>
              <a:rPr sz="900" b="0">
                <a:solidFill>
                  <a:srgbClr val="C4B5E8"/>
                </a:solidFill>
                <a:latin typeface="Calibri"/>
              </a:rPr>
              <a:t>Tech Council of Australia  |  techcouncil.com.au</a:t>
            </a:r>
          </a:p>
        </p:txBody>
      </p:sp>
      <p:sp>
        <p:nvSpPr>
          <p:cNvPr id="8" name="TextBox 7"/>
          <p:cNvSpPr txBox="1"/>
          <p:nvPr/>
        </p:nvSpPr>
        <p:spPr>
          <a:xfrm>
            <a:off x="658368" y="1371600"/>
            <a:ext cx="5486400" cy="274320"/>
          </a:xfrm>
          <a:prstGeom prst="rect">
            <a:avLst/>
          </a:prstGeom>
          <a:noFill/>
        </p:spPr>
        <p:txBody>
          <a:bodyPr wrap="square" lIns="0" tIns="0" rIns="0" bIns="0" anchor="t">
            <a:spAutoFit/>
          </a:bodyPr>
          <a:lstStyle/>
          <a:p>
            <a:pPr algn="l"/>
            <a:r>
              <a:rPr sz="1000" b="1">
                <a:solidFill>
                  <a:srgbClr val="F59E0B"/>
                </a:solidFill>
                <a:latin typeface="Calibri"/>
              </a:rPr>
              <a:t>BY 4PM: A HARDENED APP AND A TEAM THAT BUILT IT</a:t>
            </a:r>
          </a:p>
        </p:txBody>
      </p:sp>
      <p:sp>
        <p:nvSpPr>
          <p:cNvPr id="9" name="TextBox 8"/>
          <p:cNvSpPr txBox="1"/>
          <p:nvPr/>
        </p:nvSpPr>
        <p:spPr>
          <a:xfrm>
            <a:off x="658368" y="1691640"/>
            <a:ext cx="5577840" cy="914400"/>
          </a:xfrm>
          <a:prstGeom prst="rect">
            <a:avLst/>
          </a:prstGeom>
          <a:noFill/>
        </p:spPr>
        <p:txBody>
          <a:bodyPr wrap="square" lIns="0" tIns="0" rIns="0" bIns="0" anchor="t">
            <a:spAutoFit/>
          </a:bodyPr>
          <a:lstStyle/>
          <a:p>
            <a:pPr algn="l"/>
            <a:r>
              <a:rPr sz="4200" b="1">
                <a:solidFill>
                  <a:srgbClr val="FFFFFF"/>
                </a:solidFill>
                <a:latin typeface="Arial Black"/>
              </a:rPr>
              <a:t>Let’s harden it.</a:t>
            </a:r>
          </a:p>
        </p:txBody>
      </p:sp>
      <p:sp>
        <p:nvSpPr>
          <p:cNvPr id="10" name="TextBox 9"/>
          <p:cNvSpPr txBox="1"/>
          <p:nvPr/>
        </p:nvSpPr>
        <p:spPr>
          <a:xfrm>
            <a:off x="676656" y="2834640"/>
            <a:ext cx="5486400" cy="1371600"/>
          </a:xfrm>
          <a:prstGeom prst="rect">
            <a:avLst/>
          </a:prstGeom>
          <a:noFill/>
        </p:spPr>
        <p:txBody>
          <a:bodyPr wrap="square" lIns="0" tIns="0" rIns="0" bIns="0" anchor="t">
            <a:spAutoFit/>
          </a:bodyPr>
          <a:lstStyle/>
          <a:p>
            <a:pPr algn="l">
              <a:lnSpc>
                <a:spcPct val="115000"/>
              </a:lnSpc>
            </a:pPr>
            <a:r>
              <a:rPr sz="1350" b="0">
                <a:solidFill>
                  <a:srgbClr val="DDD6FE"/>
                </a:solidFill>
                <a:latin typeface="Calibri"/>
              </a:rPr>
              <a:t>You ran the loop this morning. You made it repeatable before lunch. Now you build the system that produces the work and proves it — the same skills scale from a weekend project to a production service. Only the size of the harness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8365</Words>
  <Application>Microsoft Macintosh PowerPoint</Application>
  <PresentationFormat>On-screen Show (16:9)</PresentationFormat>
  <Paragraphs>614</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Paul Keen</cp:lastModifiedBy>
  <cp:revision>1</cp:revision>
  <dcterms:created xsi:type="dcterms:W3CDTF">2013-01-27T09:14:16Z</dcterms:created>
  <dcterms:modified xsi:type="dcterms:W3CDTF">2026-07-29T11:26:12Z</dcterms:modified>
  <cp:category/>
</cp:coreProperties>
</file>