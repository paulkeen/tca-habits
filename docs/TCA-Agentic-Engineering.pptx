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80" r:id="rId12"/>
    <p:sldId id="266" r:id="rId13"/>
    <p:sldId id="268" r:id="rId14"/>
    <p:sldId id="269" r:id="rId15"/>
    <p:sldId id="270" r:id="rId16"/>
    <p:sldId id="271" r:id="rId17"/>
    <p:sldId id="272" r:id="rId18"/>
    <p:sldId id="273" r:id="rId19"/>
    <p:sldId id="274" r:id="rId20"/>
    <p:sldId id="275" r:id="rId21"/>
    <p:sldId id="276" r:id="rId22"/>
    <p:sldId id="277" r:id="rId23"/>
    <p:sldId id="278" r:id="rId24"/>
    <p:sldId id="281" r:id="rId25"/>
    <p:sldId id="279" r:id="rId26"/>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373"/>
    <p:restoredTop sz="72520"/>
  </p:normalViewPr>
  <p:slideViewPr>
    <p:cSldViewPr snapToGrid="0" snapToObjects="1">
      <p:cViewPr varScale="1">
        <p:scale>
          <a:sx n="257" d="100"/>
          <a:sy n="257" d="100"/>
        </p:scale>
        <p:origin x="3616"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916880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 · 30 sec]  Post-lunch slot. Be brisk, get to the map on slide 6 quickly.</a:t>
            </a:r>
          </a:p>
          <a:p>
            <a:endParaRPr/>
          </a:p>
          <a:p>
            <a:r>
              <a:t>Landing point: this is the most technical section of the day, and nobody needs to be senior to follow it.</a:t>
            </a:r>
          </a:p>
          <a:p>
            <a:endParaRPr/>
          </a:p>
          <a:p>
            <a:r>
              <a:t>Say: "This morning you learned to fly the agent. Before lunch you made it behave the same way twice. Neither of those made the code trustworthy. That is the next hour and a half."</a:t>
            </a:r>
          </a:p>
          <a:p>
            <a:endParaRPr/>
          </a:p>
          <a:p>
            <a:r>
              <a:t>Do not define agentic engineering here. That is slide 4. Resist the urge to start explaining sub-agents; you have four slides of runway before anyone needs the term.</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 1 min]  Orient, then move.</a:t>
            </a:r>
          </a:p>
          <a:p>
            <a:endParaRPr/>
          </a:p>
          <a:p>
            <a:r>
              <a:t>Point at the amber row. Say: "Rung one, you stopped writing code by hand. Rung two, you stopped repeating yourself. Rung three is the awkward one. You stop trusting what you see."</a:t>
            </a:r>
          </a:p>
          <a:p>
            <a:endParaRPr/>
          </a:p>
          <a:p>
            <a:r>
              <a:t>Key message: every rung removed a crutch. The crutch this time is your own eyeballs.</a:t>
            </a:r>
          </a:p>
          <a:p>
            <a:endParaRPr/>
          </a:p>
          <a:p>
            <a:r>
              <a:t>If people reset to a checkpoint to get here, say plainly that they are on exactly the same rung as everyone else. Using the net is the design, not a confession.</a:t>
            </a:r>
          </a:p>
          <a:p>
            <a:endParaRPr/>
          </a:p>
          <a:p>
            <a:r>
              <a:t>Don't relitigate sections 1 and 2. If someone wants to, park it for the break.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 · 1 min]  This slide exists to create the itch the rest of the section scratches.</a:t>
            </a:r>
          </a:p>
          <a:p>
            <a:endParaRPr/>
          </a:p>
          <a:p>
            <a:r>
              <a:t>The distinction to draw: fast and consistent are properties of your process. Trustworthy is a property of the artefact. You can have the first two and still ship a streak calculation that quietly breaks on the first of the month.</a:t>
            </a:r>
          </a:p>
          <a:p>
            <a:endParaRPr/>
          </a:p>
          <a:p>
            <a:r>
              <a:t>Ask the room, rhetorically, and don't wait long: "Who has actually read every line the agent wrote today?" Expect no hands. That is the point, and it is not a moral failing.</a:t>
            </a:r>
          </a:p>
          <a:p>
            <a:endParaRPr/>
          </a:p>
          <a:p>
            <a:r>
              <a:t>Concrete hook into their own repo: the weekly summary and the AI encouragement feature both went in this morning without a single test. Neither has ever been run against a case anyone chose deliberately.</a:t>
            </a:r>
          </a:p>
          <a:p>
            <a:endParaRPr/>
          </a:p>
          <a:p>
            <a:r>
              <a:t>Say: "Nothing we have built today would survive a code review by someone who cares." </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[2:30 · 1.5 min]  Definition slide. Read the top line once, slowly, then work the FROM/TO.</a:t>
            </a:r>
          </a:p>
          <a:p>
            <a:endParaRPr/>
          </a:p>
          <a:p>
            <a:r>
              <a:t>The distinction that matters: vibe engineering configures the agent. Agentic engineering engineers the system around the agent. The agent is the one component you do not control. Everything else is yours to design.</a:t>
            </a:r>
          </a:p>
          <a:p>
            <a:endParaRPr/>
          </a:p>
          <a:p>
            <a:r>
              <a:t>The FROM/TO is the whole section in two lines. "Did the agent write good code?" is unanswerable at speed. "What would prove this is right?" is a design question, and design questions are what experienced engineers are already good at.</a:t>
            </a:r>
          </a:p>
          <a:p>
            <a:endParaRPr/>
          </a:p>
          <a:p>
            <a:r>
              <a:t>For anyone rusty, say this explicitly: this is the most transferable material of the day. Test design, contracts and CI did not change while you were away. Only who types the code changed.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[4:00 · 2 min]  This slide earns the rest of the section. Spend the time.</a:t>
            </a:r>
          </a:p>
          <a:p>
            <a:endParaRPr/>
          </a:p>
          <a:p>
            <a:r>
              <a:t>Left column, the arithmetic: an agent produces several hundred lines in a couple of minutes. Careful review runs at roughly a hundred lines an hour. That ratio is why review is the bottleneck, not the safety net.</a:t>
            </a:r>
          </a:p>
          <a:p>
            <a:endParaRPr/>
          </a:p>
          <a:p>
            <a:r>
              <a:t>Second bullet is the honest one. Attention decays. By the third diff you are pattern matching, not reading. Everyone here knew this about code review before they left.</a:t>
            </a:r>
          </a:p>
          <a:p>
            <a:endParaRPr/>
          </a:p>
          <a:p>
            <a:r>
              <a:t>Third bullet is the dangerous one and deserves a beat: models fail confidently. There is no hedge in the output, no "I'm unsure about this bit". A wrong streak calculation reads exactly as calm as a right one. That is the failure mode your eyes are worst at.</a:t>
            </a:r>
          </a:p>
          <a:p>
            <a:endParaRPr/>
          </a:p>
          <a:p>
            <a:r>
              <a:t>Right column: each item is one of the four moves. Point forward, do not explain yet.</a:t>
            </a:r>
          </a:p>
          <a:p>
            <a:endParaRPr/>
          </a:p>
          <a:p>
            <a:r>
              <a:t>Closing line is the reframe, and it is a promotion rather than a demotion: you stop being the line reviewer and become the person who designs how correctness gets proved.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[6:00 · 1 min]  Map slide. Do not teach here.</a:t>
            </a:r>
          </a:p>
          <a:p>
            <a:endParaRPr/>
          </a:p>
          <a:p>
            <a:r>
              <a:t>Read the four titles, promise that everything from here is one of them, move on.</a:t>
            </a:r>
          </a:p>
          <a:p>
            <a:endParaRPr/>
          </a:p>
          <a:p>
            <a:r>
              <a:t>Say: "Four moves. That is the entire section. If you lose the thread at any point, ask which of these four we are on."</a:t>
            </a:r>
          </a:p>
          <a:p>
            <a:endParaRPr/>
          </a:p>
          <a:p>
            <a:r>
              <a:t>This slide is mostly for the less-senior half of the room: it turns an intimidating topic into a checklist of four things. Say that out loud, because it gives people permission to stop worrying about the parts they haven't heard yet.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[7:00 · 2.5 min]  The most important technical slide in the section. If only one thing lands, make it this.</a:t>
            </a:r>
          </a:p>
          <a:p>
            <a:endParaRPr/>
          </a:p>
          <a:p>
            <a:r>
              <a:t>Walk the three lines and name the failure class each catches: lint finds style and dead code, types find wrong shapes (a None where a date belongs), tests find wrong behaviour. Three different classes, one command.</a:t>
            </a:r>
          </a:p>
          <a:p>
            <a:endParaRPr/>
          </a:p>
          <a:p>
            <a:r>
              <a:t>The bit people miss, so say it directly: the harness is not for you, it is for the agent. The agent can run make check, read the failure, and fix itself without asking you. A harness the agent cannot run is just documentation.</a:t>
            </a:r>
          </a:p>
          <a:p>
            <a:endParaRPr/>
          </a:p>
          <a:p>
            <a:r>
              <a:t>Technical point worth making: the failure output has to be specific. "FAILED test_missed_day_resets_streak" gives the agent something to act on. A bare exit code 1 gives it nothing and it will start guessing.</a:t>
            </a:r>
          </a:p>
          <a:p>
            <a:endParaRPr/>
          </a:p>
          <a:p>
            <a:r>
              <a:t>The tool names on screen (ruff, mypy, pytest) are the reference repo's. If your setup differs, say so now rather than in the lab.</a:t>
            </a:r>
          </a:p>
          <a:p>
            <a:endParaRPr/>
          </a:p>
          <a:p>
            <a:r>
              <a:t>The amber line is the takeaway: self-verification at the end of every turn is the cheapest reliability you will ever buy.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[9:30 · 2 min]  Key message: with agents, the test suite is where your intent lives. Prompts are transient; tests persist.</a:t>
            </a:r>
          </a:p>
          <a:p>
            <a:endParaRPr/>
          </a:p>
          <a:p>
            <a:r>
              <a:t>Read the prompt on screen, then highlight the last clause: "show me one failing, then make it pass." That is not ceremony. A test that has never failed may be asserting nothing, and an agent writing both the test and the code has an obvious incentive to write an easy test.</a:t>
            </a:r>
          </a:p>
          <a:p>
            <a:endParaRPr/>
          </a:p>
          <a:p>
            <a:r>
              <a:t>Walk the three edge cases. These are exactly the ones sections 1 and 2 skipped:</a:t>
            </a:r>
          </a:p>
          <a:p>
            <a:endParaRPr/>
          </a:p>
          <a:p>
            <a:r>
              <a:t>Missed day. This is the product promise. If it breaks, the app is lying to the user about their streak.</a:t>
            </a:r>
          </a:p>
          <a:p>
            <a:endParaRPr/>
          </a:p>
          <a:p>
            <a:r>
              <a:t>Double tick. Idempotency. Two taps, one completion. Everyone has double-tapped a button on a phone.</a:t>
            </a:r>
          </a:p>
          <a:p>
            <a:endParaRPr/>
          </a:p>
          <a:p>
            <a:r>
              <a:t>Midnight. Timezones. Whose "today" is it, the server's or the user's? This one has bitten every engineer in the room at some point.</a:t>
            </a:r>
          </a:p>
          <a:p>
            <a:endParaRPr/>
          </a:p>
          <a:p>
            <a:r>
              <a:t>Say: "These are pure functions. Unit tests on pure logic are the cheapest tests that exist, and they are where the real bugs live." </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[11:30 · 2.5 min]  Define the term before anything else: a sub-agent is a separate agent with its own context window, its own instructions, and its own tool permissions. It is not a prompt. It is a configured worker.</a:t>
            </a:r>
          </a:p>
          <a:p>
            <a:endParaRPr/>
          </a:p>
          <a:p>
            <a:r>
              <a:t>Walk the three roles, but the important detail is the TOOLS line on each card, not the description.</a:t>
            </a:r>
          </a:p>
          <a:p>
            <a:endParaRPr/>
          </a:p>
          <a:p>
            <a:r>
              <a:t>Test-writer: writes tests, never implements. That constraint stops it helpfully making a test pass by editing the code instead.</a:t>
            </a:r>
          </a:p>
          <a:p>
            <a:endParaRPr/>
          </a:p>
          <a:p>
            <a:r>
              <a:t>Reviewer: read-only. No Write, no Edit. This is the one that matters and slide 10 explains why.</a:t>
            </a:r>
          </a:p>
          <a:p>
            <a:endParaRPr/>
          </a:p>
          <a:p>
            <a:r>
              <a:t>Verifier: can run the shell. Reports green, or explains precisely why not.</a:t>
            </a:r>
          </a:p>
          <a:p>
            <a:endParaRPr/>
          </a:p>
          <a:p>
            <a:r>
              <a:t>The real technical benefit is fresh context. The reviewer is not carrying forty thousand tokens of the implementer's reasoning, so it is not primed to agree with it.</a:t>
            </a:r>
          </a:p>
          <a:p>
            <a:endParaRPr/>
          </a:p>
          <a:p>
            <a:r>
              <a:t>The code card shows where these live: Claude Code uses markdown with frontmatter and /agents to manage them; Codex uses TOML with an explicit sandbox_mode. Same three roles, different plumbing.</a:t>
            </a:r>
          </a:p>
          <a:p>
            <a:endParaRPr/>
          </a:p>
          <a:p>
            <a:r>
              <a:t>Don't dictate file contents. They generate these in Block B.</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[14:00 · 2 min]  The counter-intuitive one. Keep it concrete.</a:t>
            </a:r>
          </a:p>
          <a:p>
            <a:endParaRPr/>
          </a:p>
          <a:p>
            <a:r>
              <a:t>Left: an agent reviewing its own work is not lying to you, it is sincerely convinced. Its context is full of the reasoning that produced the code, so asked to review, it re-derives the same conclusions from the same premises. Same blind spot, twice.</a:t>
            </a:r>
          </a:p>
          <a:p>
            <a:endParaRPr/>
          </a:p>
          <a:p>
            <a:r>
              <a:t>Right: a fresh reviewer has none of that history. It sees a diff and nothing else. It behaves like the colleague who wasn't in the design meeting, which is precisely who catches the thing everyone else assumed.</a:t>
            </a:r>
          </a:p>
          <a:p>
            <a:endParaRPr/>
          </a:p>
          <a:p>
            <a:r>
              <a:t>The write-access point is the sharpest idea on the slide. If the reviewer can edit files, it will sometimes fix a problem instead of reporting it. You wanted a list of defects and you got a silent patch. You lose the signal, which was the only thing you asked for.</a:t>
            </a:r>
          </a:p>
          <a:p>
            <a:endParaRPr/>
          </a:p>
          <a:p>
            <a:r>
              <a:t>Analogy that works without being twee: you don't ask the author to copy-edit their own chapter. Not because they're careless, but because they read what they meant to write.</a:t>
            </a:r>
          </a:p>
          <a:p>
            <a:endParaRPr/>
          </a:p>
          <a:p>
            <a:r>
              <a:t>Say: "Instinct says give the agent every tool available. The instinct is wrong. Permissions are a design decision."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[16:00 · 1.5 min · SKIPPABLE IF YOU ARE OVER]  This slide answers the question the room is already holding after slide 10: if the reviewer never saw the reasoning, how does it know anything at all?</a:t>
            </a:r>
          </a:p>
          <a:p>
            <a:endParaRPr/>
          </a:p>
          <a:p>
            <a:r>
              <a:t>The one sentence that has to land: a sub-agent is not a participant in your conversation. It is a function call. You pass arguments in, you get a return value out.</a:t>
            </a:r>
          </a:p>
          <a:p>
            <a:endParaRPr/>
          </a:p>
          <a:p>
            <a:r>
              <a:t>Card 1, you brief it. The sub-agent starts with an empty context window. Your chat history, the files you looked at, the decision you made twenty minutes ago, none of it is there. Only the prompt you hand it. This is a feature, not a limitation, and it is exactly why the fresh reviewer works.</a:t>
            </a:r>
          </a:p>
          <a:p>
            <a:endParaRPr/>
          </a:p>
          <a:p>
            <a:r>
              <a:t>Card 2, it works alone. Its own context, its own tool permissions. That is where the read-only constraint from slide 10 is actually enforced. When it finishes, its context is discarded.</a:t>
            </a:r>
          </a:p>
          <a:p>
            <a:endParaRPr/>
          </a:p>
          <a:p>
            <a:r>
              <a:t>Card 3, it hands back. One summary returns. You do not get its forty tool calls or its internal deliberation, and you do not want them. Compressing the work into a summary is how the main session survives a long task without filling up.</a:t>
            </a:r>
          </a:p>
          <a:p>
            <a:endParaRPr/>
          </a:p>
          <a:p>
            <a:r>
              <a:t>Then the handoff point, which is the practical one. The failure mode is under-briefing. "Reviewer, thoughts?" gives the agent no definition of done, so it invents one. Specify the input and the shape of the output: here is the diff, return a numbered list with file:line and severity. Nothing more mystical than a good Jira ticket.</a:t>
            </a:r>
          </a:p>
          <a:p>
            <a:endParaRPr/>
          </a:p>
          <a:p>
            <a:r>
              <a:t>Say the amber line and let it sit: "Context isn't shared, it's passed."</a:t>
            </a:r>
          </a:p>
          <a:p>
            <a:endParaRPr/>
          </a:p>
          <a:p>
            <a:r>
              <a:t>IF ASKED about several agents working the same repo at once: git worktree add ../feature -b feature gives each agent its own folder on its own branch, sharing one git history. Two agents, two directories, no fighting over the same file. Then git diff main feature --stat to compare and merge the better one. Do not teach it from the front unless someone asks.</a:t>
            </a:r>
          </a:p>
          <a:p>
            <a:endParaRPr/>
          </a:p>
          <a:p>
            <a:r>
              <a:t>IF YOU ARE OVER TIME: skip the slide and say one sentence on the way past Move 3 — "sub-agents don't inherit your context, so whatever they need has to be in the brief." That preserves the idea and costs you fifteen seconds.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[17:30 · 2.5 min]  The centrepiece. Walk left to right once, then land the dark band.</a:t>
            </a:r>
          </a:p>
          <a:p>
            <a:endParaRPr/>
          </a:p>
          <a:p>
            <a:r>
              <a:t>Sequence: test-writer produces failing tests, implementer codes until green, reviewer critiques the diff, verifier runs make check and the app. Ordinary TDD, except you are none of the four roles.</a:t>
            </a:r>
          </a:p>
          <a:p>
            <a:endParaRPr/>
          </a:p>
          <a:p>
            <a:r>
              <a:t>Your job is the two verbs on the band. Orchestrate: pick the work and the order. Arbitrate: when the reviewer and the implementer disagree, you decide who is right. Both are lead-level work and neither involves typing implementation.</a:t>
            </a:r>
          </a:p>
          <a:p>
            <a:endParaRPr/>
          </a:p>
          <a:p>
            <a:r>
              <a:t>Technical point: handoffs are where this breaks. Each role needs a defined input and output. "Reviewer, here is the diff, give me a numbered list with file:line and severity" works. "Reviewer, thoughts?" produces mush.</a:t>
            </a:r>
          </a:p>
          <a:p>
            <a:endParaRPr/>
          </a:p>
          <a:p>
            <a:r>
              <a:t>The last line is aimed at the seniors: when a team stalls, the instinct is to write a cleverer prompt. Nine times out of ten the actual problem is that "done" was never defined. Fix the definition, not the wording.</a:t>
            </a:r>
          </a:p>
          <a:p>
            <a:endParaRPr/>
          </a:p>
          <a:p>
            <a:r>
              <a:t>Set expectations for the lab: the first run through feels slow. It is still faster than doing it yourself, and it is much faster the second time.</a:t>
            </a:r>
          </a:p>
          <a:p>
            <a:endParaRPr/>
          </a:p>
          <a:p>
            <a:r>
              <a:t>WORKTREES — ANSWER ON DEMAND, DO NOT TEACH FROM THE FRONT (this used to be its own slide):</a:t>
            </a:r>
          </a:p>
          <a:p>
            <a:r>
              <a:t>Someone will ask how two agents work the same repo without clobbering each other. The answer is four commands.</a:t>
            </a:r>
          </a:p>
          <a:p>
            <a:r>
              <a:t>  git worktree add ../tca-feature -b feature   # its own folder, its own branch</a:t>
            </a:r>
          </a:p>
          <a:p>
            <a:r>
              <a:t>  cd tca-habits &amp;&amp; claude                      # Terminal 1</a:t>
            </a:r>
          </a:p>
          <a:p>
            <a:r>
              <a:t>  cd ../tca-feature &amp;&amp; codex                   # Terminal 2, same prompt</a:t>
            </a:r>
          </a:p>
          <a:p>
            <a:r>
              <a:t>  git diff main feature --stat                 # compare, then merge the better one</a:t>
            </a:r>
          </a:p>
          <a:p>
            <a:r>
              <a:t>A worktree is a second working directory for the same repository, on a different branch, sharing one .git history. Not a clone. Two agents, two folders, and the collision problem stops existing.</a:t>
            </a:r>
          </a:p>
          <a:p>
            <a:r>
              <a:t>Two hygiene rules if you go there: name the branch and the folder the same thing, or you will lose track of which terminal you are in. Commit small and labelled in each tree, or the merge becomes archaeology.</a:t>
            </a:r>
          </a:p>
          <a:p>
            <a:r>
              <a:t>It is also in the handout, so it is fine to say "handout, page on parallel work" and keep moving.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[20:00 · 1.5 min]  This is the "why" slide for the whole hooks block. Resist naming events yet; that is the next slide.</a:t>
            </a:r>
          </a:p>
          <a:p>
            <a:endParaRPr/>
          </a:p>
          <a:p>
            <a:r>
              <a:t>Define it plainly: a hook is a script the tool runs automatically at a defined moment in its lifecycle. It is configuration, not conversation. The agent does not get a vote on whether to honour it.</a:t>
            </a:r>
          </a:p>
          <a:p>
            <a:endParaRPr/>
          </a:p>
          <a:p>
            <a:r>
              <a:t>The two cards are the comparison that lands. AGENTS.md is read at the start of a session and followed while the agent is paying attention. It is genuinely useful. It is also the first thing to slip when the context window fills, when someone opens a fresh session, or when the task gets interesting. A hook does not have moods.</a:t>
            </a:r>
          </a:p>
          <a:p>
            <a:endParaRPr/>
          </a:p>
          <a:p>
            <a:r>
              <a:t>Say the amber line, then let it sit for a beat: "A contract is a promise. A hook is a fact."</a:t>
            </a:r>
          </a:p>
          <a:p>
            <a:endParaRPr/>
          </a:p>
          <a:p>
            <a:r>
              <a:t>Do not oversell. Hooks are not a replacement for the contract: the contract explains intent, which a hook cannot do. You want both, doing different jobs.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[21:30 · 1.5 min]  Purpose: give people a filing system before any event names land on them.</a:t>
            </a:r>
          </a:p>
          <a:p>
            <a:endParaRPr/>
          </a:p>
          <a:p>
            <a:r>
              <a:t>Three cadences, straight from the docs. Once per session. Once per turn. On every tool call. Almost everything worth automating hangs off one of those three rhythms.</a:t>
            </a:r>
          </a:p>
          <a:p>
            <a:endParaRPr/>
          </a:p>
          <a:p>
            <a:r>
              <a:t>Teach the selection rule, because it is the actual skill: pick the cadence first, then the event. If you want something to happen every time the agent touches a file, that is a tool-call event, not a turn event.</a:t>
            </a:r>
          </a:p>
          <a:p>
            <a:endParaRPr/>
          </a:p>
          <a:p>
            <a:r>
              <a:t>The classic beginner error is worth naming: wiring a formatter to Stop instead of PostToolUse. It runs once at the end of the turn rather than after each write, and then people conclude hooks are unreliable when in fact it did exactly what they asked.</a:t>
            </a:r>
          </a:p>
          <a:p>
            <a:endParaRPr/>
          </a:p>
          <a:p>
            <a:r>
              <a:t>The counts calibrate expectations, so say them: Claude Code exposes 28 events, Codex 11. You will use about six. The long tail is real, but it is platform work, not today's work.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[23:00 · 2 min]  Walk the table briskly. The detail is on the slide and they keep the deck; your job is the shape, not the recital.</a:t>
            </a:r>
          </a:p>
          <a:p>
            <a:endParaRPr/>
          </a:p>
          <a:p>
            <a:r>
              <a:t>The column that matters is BLOCKS?. Some events describe something that is about to happen, so a hook can stop it. Others describe something that already happened, so the hook can only react, log, or complain. PostToolUse cannot un-run the tool.</a:t>
            </a:r>
          </a:p>
          <a:p>
            <a:endParaRPr/>
          </a:p>
          <a:p>
            <a:r>
              <a:t>The three blockers to actually remember: PreToolUse stops a tool call, Stop refuses to let the turn end, UserPromptSubmit can reject your own prompt before the model ever sees it.</a:t>
            </a:r>
          </a:p>
          <a:p>
            <a:endParaRPr/>
          </a:p>
          <a:p>
            <a:r>
              <a:t>That last one is worth a sentence for the security-minded: UserPromptSubmit fires before the model reads the text, which is how you stop a pasted secret or customer record reaching the API at all.</a:t>
            </a:r>
          </a:p>
          <a:p>
            <a:endParaRPr/>
          </a:p>
          <a:p>
            <a:r>
              <a:t>SubagentStop matters specifically because of what we built in Move 2. It is how you check a sub-agent actually did its job instead of just declaring victory.</a:t>
            </a:r>
          </a:p>
          <a:p>
            <a:endParaRPr/>
          </a:p>
          <a:p>
            <a:r>
              <a:t>Say plainly: all six exist in both Claude Code and Codex. Nothing on this slide is tool-specific, which matters because the room is split across two tools.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[25:00 · 2 min]  Concrete slide. All four are useful on the app they already have, which is the point.</a:t>
            </a:r>
          </a:p>
          <a:p>
            <a:endParaRPr/>
          </a:p>
          <a:p>
            <a:r>
              <a:t>The Verifier, on Stop. This is the harness from Move 1, now enforced rather than hoped for. The agent says done; the hook says prove it. If make check fails, the turn does not end.</a:t>
            </a:r>
          </a:p>
          <a:p>
            <a:endParaRPr/>
          </a:p>
          <a:p>
            <a:r>
              <a:t>The Guardrail, on PreToolUse. The contract rule from section 2, made physical. No edit to the streak logic unless a test changes in the same turn. Match on Edit and Write.</a:t>
            </a:r>
          </a:p>
          <a:p>
            <a:endParaRPr/>
          </a:p>
          <a:p>
            <a:r>
              <a:t>The Tidier, on PostToolUse. Run the formatter over whatever file was just written. Small, but it means style never reaches a review conversation again, and it costs nothing to maintain.</a:t>
            </a:r>
          </a:p>
          <a:p>
            <a:endParaRPr/>
          </a:p>
          <a:p>
            <a:r>
              <a:t>The Briefer, on SessionStart. Echo the current branch and any failing tests into context so the agent starts oriented instead of asking. About a minute to wire.</a:t>
            </a:r>
          </a:p>
          <a:p>
            <a:endParaRPr/>
          </a:p>
          <a:p>
            <a:r>
              <a:t>Blocks A and D of the lab cover the first two. Point out that the other two are quick wins for anyone who finishes early, and are probably the two most likely to survive into their real job on Monday.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[27:00 · 1 min]  This slide saves someone forty minutes in the lab. Deliver it as the punchline it is.</a:t>
            </a:r>
          </a:p>
          <a:p>
            <a:endParaRPr/>
          </a:p>
          <a:p>
            <a:r>
              <a:t>Exit 0: fine, carry on. Exit 2: block, and stderr is handed back to the agent as the reason. That second half matters more than people expect. Whatever you write to stderr is what the agent reads, so make it instructive: "Blocked: add a test under backend/tests/ before editing the streak logic" tells it what to do next. A bare "Blocked" starts a guessing game.</a:t>
            </a:r>
          </a:p>
          <a:p>
            <a:endParaRPr/>
          </a:p>
          <a:p>
            <a:r>
              <a:t>Then the trap. Exit 1 does not block. Unix convention says 1 means failure, so this is exactly the mistake a competent engineer makes on the first try. The hook runs, reports an error, and the action proceeds anyway. Your guardrail is decoration and you will not notice.</a:t>
            </a:r>
          </a:p>
          <a:p>
            <a:endParaRPr/>
          </a:p>
          <a:p>
            <a:r>
              <a:t>Say it directly: "If your hook is meant to enforce a policy, exit 2. Not 1."</a:t>
            </a:r>
          </a:p>
          <a:p>
            <a:endParaRPr/>
          </a:p>
          <a:p>
            <a:r>
              <a:t>Wiring is on the card. Claude Code has a /hooks menu, so nobody needs to hand-edit JSON. One practical warning for the Codex half of the room: hooks are still experimental and off by default. They need [features] hooks = true in config.toml before anything fires at all. If a Codex hook appears to do nothing in the lab, check that before debugging the script.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[28:00 · 30 sec]  Do not teach this slide. It is a reference page, and saying so out loud is the entire point.</a:t>
            </a:r>
          </a:p>
          <a:p>
            <a:endParaRPr/>
          </a:p>
          <a:p>
            <a:r>
              <a:t>Say: "Twenty-eight events on the left, eleven on the right. You need six. This page exists so you know where the ceiling is, not so you learn it."</a:t>
            </a:r>
          </a:p>
          <a:p>
            <a:endParaRPr/>
          </a:p>
          <a:p>
            <a:r>
              <a:t>If someone asks, the useful observations are: tool events are where guardrails live; the environment events (FileChanged, CwdChanged, WorktreeCreate) are how people wire agents into real development setups; and the compaction events are how you preserve state when a long session gets summarised out from under you.</a:t>
            </a:r>
          </a:p>
          <a:p>
            <a:endParaRPr/>
          </a:p>
          <a:p>
            <a:r>
              <a:t>Both doc URLs are on the slide. Tell them these pages move, and to check the docs rather than trusting a deck from a workshop.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[28:30 · 2 min]  FLOW FIX: you have just come off a reference page of hook events, so say the bridge out loud before anything else. "That was move four. One loose end from move one: there are things your harness can't check."</a:t>
            </a:r>
          </a:p>
          <a:p>
            <a:endParaRPr/>
          </a:p>
          <a:p>
            <a:r>
              <a:t>Then the concrete example, because the abstraction is useless without it: the weekly summary in the app is a paragraph of prose. There is no assertEqual for "reads like a human wrote it". Tests genuinely cannot help you, and that is not a gap in your discipline.</a:t>
            </a:r>
          </a:p>
          <a:p>
            <a:endParaRPr/>
          </a:p>
          <a:p>
            <a:r>
              <a:t>The word is on the title now, so name it plainly and use the strip: a test asks "is this correct" and answers pass or fail. An eval asks "is this good enough" and answers with a number. That is the whole distinction. Do not let it get more complicated than that.</a:t>
            </a:r>
          </a:p>
          <a:p>
            <a:endParaRPr/>
          </a:p>
          <a:p>
            <a:r>
              <a:t>Only then walk the three steps. Rubric of about five cases with what a good answer must contain. A sub-agent scores each output against it, which is the same read-only-narrow-agent pattern from move two doing a different job. CI gates on the result, which is move four. Point that out: evals are not a fifth move, they are the first four pointed at fuzzy output.</a:t>
            </a:r>
          </a:p>
          <a:p>
            <a:endParaRPr/>
          </a:p>
          <a:p>
            <a:r>
              <a:t>The practical detail that makes evals survive contact with reality: gate on the score dropping, not on an absolute bar. Nobody can agree on what perfect looks like, and everybody can agree that today should not be worse than yesterday.</a:t>
            </a:r>
          </a:p>
          <a:p>
            <a:endParaRPr/>
          </a:p>
          <a:p>
            <a:r>
              <a:t>State the caveat honestly, because the seniors are already thinking it: a model grading a model is imperfect and slightly circular. It is still far better than a vibe check, and it runs every time instead of when somebody remembers to look.</a:t>
            </a:r>
          </a:p>
          <a:p>
            <a:endParaRPr/>
          </a:p>
          <a:p>
            <a:r>
              <a:t>The amber line is the real boundary. If you can't test it and can't score it, do not put it behind an automated gate. Keep a human there and say so.</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[30:30 · 1.5 min]  TONE: this is the friendliest slide in the section, so deliver it that way. The three previous slides told people their instincts were wrong. This one just hands them three things that make their life easier on Monday.</a:t>
            </a:r>
          </a:p>
          <a:p>
            <a:endParaRPr/>
          </a:p>
          <a:p>
            <a:r>
              <a:t>Open with the honest framing: "Everything we have built today is on your laptop, and your laptop is a single point of failure. These three make it other people's problem too, in the good sense."</a:t>
            </a:r>
          </a:p>
          <a:p>
            <a:endParaRPr/>
          </a:p>
          <a:p>
            <a:r>
              <a:t>Each card now has a purple "so that" line under it. Read the purple line, not the description. The description is what it is; the purple line is why anyone would bother.</a:t>
            </a:r>
          </a:p>
          <a:p>
            <a:endParaRPr/>
          </a:p>
          <a:p>
            <a:r>
              <a:t>CI: GitHub Actions runs make check and the frontend build on every push and pull request. The point of the purple line is generosity, not policing. The harness you wrote this afternoon now protects a teammate who has never heard of this workshop and never will.</a:t>
            </a:r>
          </a:p>
          <a:p>
            <a:endParaRPr/>
          </a:p>
          <a:p>
            <a:r>
              <a:t>HEADLESS: the agent as a command rather than a conversation. claude -p, or codex exec. Useful for scripted one-shot work in a pipeline, and it must be wrapped in a verification gate so a failure stops the line rather than getting merged. If someone asks for a use case: nightly dependency bumps, changelog generation, mechanical refactors across many files.</a:t>
            </a:r>
          </a:p>
          <a:p>
            <a:endParaRPr/>
          </a:p>
          <a:p>
            <a:r>
              <a:t>SECURITY PASS: correctness, leaked secrets, and licensing, over the diff, before merge. Claude Code has /security-review. Codex has no dedicated command, so use /review with an explicit prompt naming security, secrets and licensing. Say the licensing part out loud; it is the one people forget and the one that creates real problems.</a:t>
            </a:r>
          </a:p>
          <a:p>
            <a:endParaRPr/>
          </a:p>
          <a:p>
            <a:r>
              <a:t>Close on the bottom line, and say it warmly rather than sternly: automate the generation, automate the verification, keep the sign-off human. Not because a tool couldn't do it, but because accountability doesn't delegate. Then say plainly: "That last part is the job. It is still yours, and that is a good thing."</a:t>
            </a:r>
          </a:p>
          <a:p>
            <a:endParaRPr/>
          </a:p>
          <a:p>
            <a:r>
              <a:t>Next slide is the one-rule slide, so do not editorialise here.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[32:00 · 1.5 min]  Slow down. This is the sentence you want people repeating to themselves in the lab.</a:t>
            </a:r>
          </a:p>
          <a:p>
            <a:endParaRPr/>
          </a:p>
          <a:p>
            <a:r>
              <a:t>Say it, then pause: "Don't read harder. Build the proof."</a:t>
            </a:r>
          </a:p>
          <a:p>
            <a:endParaRPr/>
          </a:p>
          <a:p>
            <a:r>
              <a:t>Give them the trigger to watch for: the moment they catch themselves scrolling a diff hunting for the bug. That instinct isn't wrong, it is just the expensive option. Convert it into a question. What test, what sub-agent, or what gate would have caught this without me?</a:t>
            </a:r>
          </a:p>
          <a:p>
            <a:endParaRPr/>
          </a:p>
          <a:p>
            <a:r>
              <a:t>Read both audience lines aloud; they are doing real work.</a:t>
            </a:r>
          </a:p>
          <a:p>
            <a:endParaRPr/>
          </a:p>
          <a:p>
            <a:r>
              <a:t>Rusty: never having trusted the output by eye is an advantage today, not a gap.</a:t>
            </a:r>
          </a:p>
          <a:p>
            <a:endParaRPr/>
          </a:p>
          <a:p>
            <a:r>
              <a:t>Confident: your reading genuinely is good. It is also now the slowest step in your workflow, which is uncomfortable. Be honest that this section asks more of the seniors in the room than of anyone else.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[33:30 · 45 sec]  Logistics, quick. Four blocks, sixty minutes, times on the right.</a:t>
            </a:r>
          </a:p>
          <a:p>
            <a:endParaRPr/>
          </a:p>
          <a:p>
            <a:r>
              <a:t>FACILITATOR NOTE — TEACH TIME: 36.5 minutes as it stands, against a 30-minute budget. The arithmetic: the original 35, minus 1.5 for the worktree slide that has been cut, plus 1.5 for the handoff slide after Move 2, plus 1.5 for the post-class slide after the golden rules. Both new slides are marked SKIPPABLE in their own notes, and skipping both puts you back at 33.5.</a:t>
            </a:r>
          </a:p>
          <a:p>
            <a:r>
              <a:t>Decide before the day which way you are paying for it. Option one, skip the handoff slide and fold its one sentence into Move 3, which costs you nothing if nobody asks how sub-agent context works. Option two, take Block C down to 15 minutes and lose the second team iteration. Option three, let Section 3 run to 110 and start the showcase five minutes late. Do not discover this at 15:40.</a:t>
            </a:r>
          </a:p>
          <a:p>
            <a:r>
              <a:t>Note the knock-on: Move 3 now stamps at 17:30 rather than 16:00, and the closer at 36:15. Everything from Move 4 onward keeps its original stamp, because the cut and the insertion cancel out.</a:t>
            </a:r>
          </a:p>
          <a:p>
            <a:endParaRPr/>
          </a:p>
          <a:p>
            <a:r>
              <a:t>A, the harness: tests for the edge cases we skipped, and see one fail before it passes.</a:t>
            </a:r>
          </a:p>
          <a:p>
            <a:r>
              <a:t>B, the sub-agents: create the test-writer, the read-only reviewer, and the verifier.</a:t>
            </a:r>
          </a:p>
          <a:p>
            <a:r>
              <a:t>C, the team: ship the monthly progress ring end to end. You arbitrate, you do not type.</a:t>
            </a:r>
          </a:p>
          <a:p>
            <a:r>
              <a:t>D, lock it in: hooks, CI, a security pass, then commit and tag.</a:t>
            </a:r>
          </a:p>
          <a:p>
            <a:endParaRPr/>
          </a:p>
          <a:p>
            <a:r>
              <a:t>Two things to say plainly. Facilitators will not help for the first three minutes of any block, because the struggle is the lesson. And the net is there: reset to checkpoint-2-features and start the block clean. Using it is expected.</a:t>
            </a:r>
          </a:p>
          <a:p>
            <a:endParaRPr/>
          </a:p>
          <a:p>
            <a:r>
              <a:t>Stretch goals for anyone flying: a five-case eval graded by a sub-agent, a docs-writer sub-agent that updates the README from the diff, or run the team across a Codex branch and a Claude branch and reconcile the two.</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[34:15 · 30 sec]  Read them, don't explain them. Each one has a slide behind it and they are a reference card for the lab.</a:t>
            </a:r>
          </a:p>
          <a:p>
            <a:endParaRPr/>
          </a:p>
          <a:p>
            <a:r>
              <a:t>Rule 5, "enforce it in the tool", is now carrying the whole hooks section. If you only have time to gesture at one, make it that one.</a:t>
            </a:r>
          </a:p>
          <a:p>
            <a:endParaRPr/>
          </a:p>
          <a:p>
            <a:r>
              <a:t>If you are over time, this is the slide to take at pace. Rules 1 and 4 are the two that actually change behaviour: harness first, and orchestrate rather than type.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[34:45 · 1.5 min · COMPRESS TO 30 SEC IF YOU ARE OVER — read the three headings and the amber line only]</a:t>
            </a:r>
          </a:p>
          <a:p>
            <a:endParaRPr/>
          </a:p>
          <a:p>
            <a:r>
              <a:t>This is the slide that decides whether the day changes anything. Everything before it happened in a sandbox with facilitators in the room. Say that out loud, and say it without apology: "Nothing you did today was real. Here is how it becomes real."</a:t>
            </a:r>
          </a:p>
          <a:p>
            <a:endParaRPr/>
          </a:p>
          <a:p>
            <a:r>
              <a:t>Row 1, tomorrow, and the word tomorrow is deliberate. One repo, one command, three checks. The constraint that matters is "nothing clever" — the failure mode is people designing the perfect harness for six weeks and shipping nothing. And they must watch it fail once, per golden rule two, or they have written decoration.</a:t>
            </a:r>
          </a:p>
          <a:p>
            <a:endParaRPr/>
          </a:p>
          <a:p>
            <a:r>
              <a:t>Row 2, this week. Exactly one sub-agent and exactly one hook. Pick the reviewer because it is the one with the clearest payoff, and pick the hook by asking "what does my team keep getting wrong in review?" That question turns an abstract feature into an obvious script. Anyone who tries to build all six hooks in week one will bounce off it.</a:t>
            </a:r>
          </a:p>
          <a:p>
            <a:endParaRPr/>
          </a:p>
          <a:p>
            <a:r>
              <a:t>Row 3, this month. Now it stops being a personal habit and becomes how the team works: harness into CI, an eval for anything fuzzy, and one other person walked through it. Teaching it to one teammate is the step that makes it survive you going on leave.</a:t>
            </a:r>
          </a:p>
          <a:p>
            <a:endParaRPr/>
          </a:p>
          <a:p>
            <a:r>
              <a:t>The amber line is the answer to "which repo?" Not the greenfield side project, and not the terrifying monolith. The one where reviewing the diff already makes you uneasy. That discomfort is a measurement, and it is telling you where the harness has the most work to do.</a:t>
            </a:r>
          </a:p>
          <a:p>
            <a:endParaRPr/>
          </a:p>
          <a:p>
            <a:r>
              <a:t>IF THEY WANT MORE, in rough order of value:</a:t>
            </a:r>
          </a:p>
          <a:p>
            <a:r>
              <a:t>· Turn the AGENTS.md you wrote today into a real one for a real repo, then keep it under fifty lines.</a:t>
            </a:r>
          </a:p>
          <a:p>
            <a:r>
              <a:t>· Write the five-case eval for the fuzziest output your service produces.</a:t>
            </a:r>
          </a:p>
          <a:p>
            <a:r>
              <a:t>· Run the same feature down a Claude branch and a Codex branch in separate worktrees, then reconcile.</a:t>
            </a:r>
          </a:p>
          <a:p>
            <a:r>
              <a:t>· A docs-writer sub-agent that updates the README from the diff.</a:t>
            </a:r>
          </a:p>
          <a:p>
            <a:r>
              <a:t>· Bring the sharpest sceptic on your team to the next session, not the keenest volunteer.</a:t>
            </a:r>
          </a:p>
          <a:p>
            <a:endParaRPr/>
          </a:p>
          <a:p>
            <a:r>
              <a:t>DOCS, and tell them these pages move so trust the docs over this deck: code.claude.com/docs/en/hooks and developers.openai.com/codex/hooks.</a:t>
            </a:r>
          </a:p>
          <a:p>
            <a:endParaRPr/>
          </a:p>
          <a:p>
            <a:r>
              <a:t>Land on this and then go to the closer: "The harness is the only artefact from today that keeps working after you forget the workshop."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[36:15 · 15 sec]  One line, then into the lab.</a:t>
            </a:r>
          </a:p>
          <a:p>
            <a:endParaRPr/>
          </a:p>
          <a:p>
            <a:r>
              <a:t>Say: "This morning you ran the loop. Before lunch you made it repeatable. Now you build the system that produces the work and proves it."</a:t>
            </a:r>
          </a:p>
          <a:p>
            <a:endParaRPr/>
          </a:p>
          <a:p>
            <a:r>
              <a:t>The part worth believing: the difference between this and a production service is the size of the harness, not its nature.</a:t>
            </a:r>
          </a:p>
          <a:p>
            <a:endParaRPr/>
          </a:p>
          <a:p>
            <a:r>
              <a:t>Then stop talking and start the timer on Block 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D1155"/>
        </a:solidFill>
        <a:effectLst/>
      </p:bgPr>
    </p:bg>
    <p:spTree>
      <p:nvGrpSpPr>
        <p:cNvPr id="1" name=""/>
        <p:cNvGrpSpPr/>
        <p:nvPr/>
      </p:nvGrpSpPr>
      <p:grpSpPr>
        <a:xfrm>
          <a:off x="0" y="0"/>
          <a:ext cx="0" cy="0"/>
          <a:chOff x="0" y="0"/>
          <a:chExt cx="0" cy="0"/>
        </a:xfrm>
      </p:grpSpPr>
      <p:sp>
        <p:nvSpPr>
          <p:cNvPr id="2" name="Rectangle 1"/>
          <p:cNvSpPr/>
          <p:nvPr/>
        </p:nvSpPr>
        <p:spPr>
          <a:xfrm>
            <a:off x="6400800" y="0"/>
            <a:ext cx="2743200" cy="51435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0" y="0"/>
            <a:ext cx="128016" cy="51435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2.png"/>
          <p:cNvPicPr>
            <a:picLocks noChangeAspect="1"/>
          </p:cNvPicPr>
          <p:nvPr/>
        </p:nvPicPr>
        <p:blipFill>
          <a:blip r:embed="rId3"/>
          <a:stretch>
            <a:fillRect/>
          </a:stretch>
        </p:blipFill>
        <p:spPr>
          <a:xfrm>
            <a:off x="457200" y="384048"/>
            <a:ext cx="2148840" cy="484632"/>
          </a:xfrm>
          <a:prstGeom prst="rect">
            <a:avLst/>
          </a:prstGeom>
        </p:spPr>
      </p:pic>
      <p:sp>
        <p:nvSpPr>
          <p:cNvPr id="5" name="Rectangle 4"/>
          <p:cNvSpPr/>
          <p:nvPr/>
        </p:nvSpPr>
        <p:spPr>
          <a:xfrm>
            <a:off x="457200" y="1234440"/>
            <a:ext cx="82296"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mage1.jpeg"/>
          <p:cNvPicPr>
            <a:picLocks noChangeAspect="1"/>
          </p:cNvPicPr>
          <p:nvPr/>
        </p:nvPicPr>
        <p:blipFill>
          <a:blip r:embed="rId4"/>
          <a:stretch>
            <a:fillRect/>
          </a:stretch>
        </p:blipFill>
        <p:spPr>
          <a:xfrm>
            <a:off x="8366760" y="4526280"/>
            <a:ext cx="411480" cy="411480"/>
          </a:xfrm>
          <a:prstGeom prst="rect">
            <a:avLst/>
          </a:prstGeom>
        </p:spPr>
      </p:pic>
      <p:sp>
        <p:nvSpPr>
          <p:cNvPr id="7" name="TextBox 6"/>
          <p:cNvSpPr txBox="1"/>
          <p:nvPr/>
        </p:nvSpPr>
        <p:spPr>
          <a:xfrm>
            <a:off x="457200" y="4709160"/>
            <a:ext cx="5669280" cy="274320"/>
          </a:xfrm>
          <a:prstGeom prst="rect">
            <a:avLst/>
          </a:prstGeom>
          <a:noFill/>
        </p:spPr>
        <p:txBody>
          <a:bodyPr wrap="square" lIns="0" tIns="0" rIns="0" bIns="0" anchor="t">
            <a:spAutoFit/>
          </a:bodyPr>
          <a:lstStyle/>
          <a:p>
            <a:pPr algn="l"/>
            <a:r>
              <a:rPr sz="900" b="0">
                <a:solidFill>
                  <a:srgbClr val="C4B5E8"/>
                </a:solidFill>
                <a:latin typeface="Calibri"/>
              </a:rPr>
              <a:t>Tech Council of Australia  |  techcouncil.com.au</a:t>
            </a:r>
          </a:p>
        </p:txBody>
      </p:sp>
      <p:sp>
        <p:nvSpPr>
          <p:cNvPr id="8" name="TextBox 7"/>
          <p:cNvSpPr txBox="1"/>
          <p:nvPr/>
        </p:nvSpPr>
        <p:spPr>
          <a:xfrm>
            <a:off x="658368" y="1325880"/>
            <a:ext cx="5486400" cy="274320"/>
          </a:xfrm>
          <a:prstGeom prst="rect">
            <a:avLst/>
          </a:prstGeom>
          <a:noFill/>
        </p:spPr>
        <p:txBody>
          <a:bodyPr wrap="square" lIns="0" tIns="0" rIns="0" bIns="0" anchor="t">
            <a:spAutoFit/>
          </a:bodyPr>
          <a:lstStyle/>
          <a:p>
            <a:pPr algn="l"/>
            <a:r>
              <a:rPr sz="1200" b="1">
                <a:solidFill>
                  <a:srgbClr val="F59E0B"/>
                </a:solidFill>
                <a:latin typeface="Calibri"/>
              </a:rPr>
              <a:t>SECTION 03  ·  THE HARNESS</a:t>
            </a:r>
          </a:p>
        </p:txBody>
      </p:sp>
      <p:sp>
        <p:nvSpPr>
          <p:cNvPr id="9" name="TextBox 8"/>
          <p:cNvSpPr txBox="1"/>
          <p:nvPr/>
        </p:nvSpPr>
        <p:spPr>
          <a:xfrm>
            <a:off x="658368" y="1691640"/>
            <a:ext cx="5760720" cy="822960"/>
          </a:xfrm>
          <a:prstGeom prst="rect">
            <a:avLst/>
          </a:prstGeom>
          <a:noFill/>
        </p:spPr>
        <p:txBody>
          <a:bodyPr wrap="square" lIns="0" tIns="0" rIns="0" bIns="0" anchor="t">
            <a:spAutoFit/>
          </a:bodyPr>
          <a:lstStyle/>
          <a:p>
            <a:pPr algn="l"/>
            <a:r>
              <a:rPr sz="3100" b="1">
                <a:solidFill>
                  <a:srgbClr val="FFFFFF"/>
                </a:solidFill>
                <a:latin typeface="Arial Black"/>
              </a:rPr>
              <a:t>Agentic Engineering</a:t>
            </a:r>
          </a:p>
        </p:txBody>
      </p:sp>
      <p:sp>
        <p:nvSpPr>
          <p:cNvPr id="10" name="TextBox 9"/>
          <p:cNvSpPr txBox="1"/>
          <p:nvPr/>
        </p:nvSpPr>
        <p:spPr>
          <a:xfrm>
            <a:off x="676656" y="2697480"/>
            <a:ext cx="5486400" cy="731520"/>
          </a:xfrm>
          <a:prstGeom prst="rect">
            <a:avLst/>
          </a:prstGeom>
          <a:noFill/>
        </p:spPr>
        <p:txBody>
          <a:bodyPr wrap="square" lIns="0" tIns="0" rIns="0" bIns="0" anchor="t">
            <a:spAutoFit/>
          </a:bodyPr>
          <a:lstStyle/>
          <a:p>
            <a:pPr algn="l"/>
            <a:r>
              <a:rPr sz="1500" b="0">
                <a:solidFill>
                  <a:srgbClr val="DDD6FE"/>
                </a:solidFill>
                <a:latin typeface="Calibri"/>
              </a:rPr>
              <a:t>How to trust the work when you can’t read every line.</a:t>
            </a:r>
          </a:p>
        </p:txBody>
      </p:sp>
      <p:sp>
        <p:nvSpPr>
          <p:cNvPr id="11" name="Rectangle 10"/>
          <p:cNvSpPr/>
          <p:nvPr/>
        </p:nvSpPr>
        <p:spPr>
          <a:xfrm>
            <a:off x="676656" y="3566160"/>
            <a:ext cx="484632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76656" y="3566160"/>
            <a:ext cx="4846320" cy="384048"/>
          </a:xfrm>
          <a:prstGeom prst="rect">
            <a:avLst/>
          </a:prstGeom>
          <a:noFill/>
        </p:spPr>
        <p:txBody>
          <a:bodyPr wrap="square" lIns="0" tIns="0" rIns="0" bIns="0" anchor="ctr">
            <a:spAutoFit/>
          </a:bodyPr>
          <a:lstStyle/>
          <a:p>
            <a:pPr algn="ctr"/>
            <a:r>
              <a:rPr sz="900" b="1">
                <a:solidFill>
                  <a:srgbClr val="FFFFFF"/>
                </a:solidFill>
                <a:latin typeface="Calibri"/>
              </a:rPr>
              <a:t>30 MINUTES   ·   FOUR MOVES   ·   ONE TEAM OF AGENTS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pic>
        <p:nvPicPr>
          <p:cNvPr id="2" name="Picture 1" descr="image1.jpeg"/>
          <p:cNvPicPr>
            <a:picLocks noChangeAspect="1"/>
          </p:cNvPicPr>
          <p:nvPr/>
        </p:nvPicPr>
        <p:blipFill>
          <a:blip r:embed="rId3"/>
          <a:stretch>
            <a:fillRect/>
          </a:stretch>
        </p:blipFill>
        <p:spPr>
          <a:xfrm>
            <a:off x="8366760" y="4526280"/>
            <a:ext cx="411480" cy="411480"/>
          </a:xfrm>
          <a:prstGeom prst="rect">
            <a:avLst/>
          </a:prstGeom>
        </p:spPr>
      </p:pic>
      <p:sp>
        <p:nvSpPr>
          <p:cNvPr id="3" name="TextBox 2"/>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THE TOP OF THE LADDER</a:t>
            </a:r>
          </a:p>
        </p:txBody>
      </p:sp>
      <p:sp>
        <p:nvSpPr>
          <p:cNvPr id="4" name="TextBox 3"/>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Two crutches gone. This is the last one: trusting output by eye.</a:t>
            </a:r>
          </a:p>
        </p:txBody>
      </p:sp>
      <p:sp>
        <p:nvSpPr>
          <p:cNvPr id="5" name="Rectangle 4"/>
          <p:cNvSpPr/>
          <p:nvPr/>
        </p:nvSpPr>
        <p:spPr>
          <a:xfrm>
            <a:off x="457200" y="1481328"/>
            <a:ext cx="8229600" cy="93268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481328"/>
            <a:ext cx="914400" cy="932688"/>
          </a:xfrm>
          <a:prstGeom prst="rect">
            <a:avLst/>
          </a:prstGeom>
          <a:noFill/>
        </p:spPr>
        <p:txBody>
          <a:bodyPr wrap="square" lIns="0" tIns="0" rIns="0" bIns="0" anchor="ctr">
            <a:spAutoFit/>
          </a:bodyPr>
          <a:lstStyle/>
          <a:p>
            <a:pPr algn="ctr"/>
            <a:r>
              <a:rPr sz="3000" b="1">
                <a:solidFill>
                  <a:srgbClr val="DDD6FE"/>
                </a:solidFill>
                <a:latin typeface="Arial Black"/>
              </a:rPr>
              <a:t>01</a:t>
            </a:r>
          </a:p>
        </p:txBody>
      </p:sp>
      <p:sp>
        <p:nvSpPr>
          <p:cNvPr id="7" name="TextBox 6"/>
          <p:cNvSpPr txBox="1"/>
          <p:nvPr/>
        </p:nvSpPr>
        <p:spPr>
          <a:xfrm>
            <a:off x="1691640" y="1627632"/>
            <a:ext cx="5120640" cy="384048"/>
          </a:xfrm>
          <a:prstGeom prst="rect">
            <a:avLst/>
          </a:prstGeom>
          <a:noFill/>
        </p:spPr>
        <p:txBody>
          <a:bodyPr wrap="square" lIns="0" tIns="0" rIns="0" bIns="0" anchor="t">
            <a:spAutoFit/>
          </a:bodyPr>
          <a:lstStyle/>
          <a:p>
            <a:pPr algn="l"/>
            <a:r>
              <a:rPr sz="1500" b="1">
                <a:solidFill>
                  <a:srgbClr val="2D1155"/>
                </a:solidFill>
                <a:latin typeface="Arial Black"/>
              </a:rPr>
              <a:t>Vibe Coding</a:t>
            </a:r>
          </a:p>
        </p:txBody>
      </p:sp>
      <p:sp>
        <p:nvSpPr>
          <p:cNvPr id="8" name="TextBox 7"/>
          <p:cNvSpPr txBox="1"/>
          <p:nvPr/>
        </p:nvSpPr>
        <p:spPr>
          <a:xfrm>
            <a:off x="1691640" y="2011680"/>
            <a:ext cx="5303520" cy="347472"/>
          </a:xfrm>
          <a:prstGeom prst="rect">
            <a:avLst/>
          </a:prstGeom>
          <a:noFill/>
        </p:spPr>
        <p:txBody>
          <a:bodyPr wrap="square" lIns="0" tIns="0" rIns="0" bIns="0" anchor="t">
            <a:spAutoFit/>
          </a:bodyPr>
          <a:lstStyle/>
          <a:p>
            <a:pPr algn="l"/>
            <a:r>
              <a:rPr sz="1200" b="0">
                <a:solidFill>
                  <a:srgbClr val="6E6389"/>
                </a:solidFill>
                <a:latin typeface="Calibri"/>
              </a:rPr>
              <a:t>You stopped writing code by hand.</a:t>
            </a:r>
          </a:p>
        </p:txBody>
      </p:sp>
      <p:sp>
        <p:nvSpPr>
          <p:cNvPr id="9" name="TextBox 8"/>
          <p:cNvSpPr txBox="1"/>
          <p:nvPr/>
        </p:nvSpPr>
        <p:spPr>
          <a:xfrm>
            <a:off x="7086600" y="1792224"/>
            <a:ext cx="1417320" cy="310896"/>
          </a:xfrm>
          <a:prstGeom prst="rect">
            <a:avLst/>
          </a:prstGeom>
          <a:noFill/>
        </p:spPr>
        <p:txBody>
          <a:bodyPr wrap="square" lIns="0" tIns="0" rIns="0" bIns="0" anchor="ctr">
            <a:spAutoFit/>
          </a:bodyPr>
          <a:lstStyle/>
          <a:p>
            <a:pPr algn="ctr"/>
            <a:r>
              <a:rPr sz="900" b="1">
                <a:solidFill>
                  <a:srgbClr val="7C3AED"/>
                </a:solidFill>
                <a:latin typeface="Calibri"/>
              </a:rPr>
              <a:t>DONE</a:t>
            </a:r>
          </a:p>
        </p:txBody>
      </p:sp>
      <p:sp>
        <p:nvSpPr>
          <p:cNvPr id="10" name="Rectangle 9"/>
          <p:cNvSpPr/>
          <p:nvPr/>
        </p:nvSpPr>
        <p:spPr>
          <a:xfrm>
            <a:off x="457200" y="2523744"/>
            <a:ext cx="8229600" cy="93268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523744"/>
            <a:ext cx="914400" cy="932688"/>
          </a:xfrm>
          <a:prstGeom prst="rect">
            <a:avLst/>
          </a:prstGeom>
          <a:noFill/>
        </p:spPr>
        <p:txBody>
          <a:bodyPr wrap="square" lIns="0" tIns="0" rIns="0" bIns="0" anchor="ctr">
            <a:spAutoFit/>
          </a:bodyPr>
          <a:lstStyle/>
          <a:p>
            <a:pPr algn="ctr"/>
            <a:r>
              <a:rPr sz="3000" b="1">
                <a:solidFill>
                  <a:srgbClr val="DDD6FE"/>
                </a:solidFill>
                <a:latin typeface="Arial Black"/>
              </a:rPr>
              <a:t>02</a:t>
            </a:r>
          </a:p>
        </p:txBody>
      </p:sp>
      <p:sp>
        <p:nvSpPr>
          <p:cNvPr id="12" name="TextBox 11"/>
          <p:cNvSpPr txBox="1"/>
          <p:nvPr/>
        </p:nvSpPr>
        <p:spPr>
          <a:xfrm>
            <a:off x="1691640" y="2670048"/>
            <a:ext cx="5120640" cy="384048"/>
          </a:xfrm>
          <a:prstGeom prst="rect">
            <a:avLst/>
          </a:prstGeom>
          <a:noFill/>
        </p:spPr>
        <p:txBody>
          <a:bodyPr wrap="square" lIns="0" tIns="0" rIns="0" bIns="0" anchor="t">
            <a:spAutoFit/>
          </a:bodyPr>
          <a:lstStyle/>
          <a:p>
            <a:pPr algn="l"/>
            <a:r>
              <a:rPr sz="1500" b="1">
                <a:solidFill>
                  <a:srgbClr val="2D1155"/>
                </a:solidFill>
                <a:latin typeface="Arial Black"/>
              </a:rPr>
              <a:t>Vibe Engineering</a:t>
            </a:r>
          </a:p>
        </p:txBody>
      </p:sp>
      <p:sp>
        <p:nvSpPr>
          <p:cNvPr id="13" name="TextBox 12"/>
          <p:cNvSpPr txBox="1"/>
          <p:nvPr/>
        </p:nvSpPr>
        <p:spPr>
          <a:xfrm>
            <a:off x="1691640" y="3054096"/>
            <a:ext cx="5303520" cy="347472"/>
          </a:xfrm>
          <a:prstGeom prst="rect">
            <a:avLst/>
          </a:prstGeom>
          <a:noFill/>
        </p:spPr>
        <p:txBody>
          <a:bodyPr wrap="square" lIns="0" tIns="0" rIns="0" bIns="0" anchor="t">
            <a:spAutoFit/>
          </a:bodyPr>
          <a:lstStyle/>
          <a:p>
            <a:pPr algn="l"/>
            <a:r>
              <a:rPr sz="1200" b="0">
                <a:solidFill>
                  <a:srgbClr val="6E6389"/>
                </a:solidFill>
                <a:latin typeface="Calibri"/>
              </a:rPr>
              <a:t>You stopped repeating yourself.</a:t>
            </a:r>
          </a:p>
        </p:txBody>
      </p:sp>
      <p:sp>
        <p:nvSpPr>
          <p:cNvPr id="14" name="TextBox 13"/>
          <p:cNvSpPr txBox="1"/>
          <p:nvPr/>
        </p:nvSpPr>
        <p:spPr>
          <a:xfrm>
            <a:off x="7086600" y="2834639"/>
            <a:ext cx="1417320" cy="310896"/>
          </a:xfrm>
          <a:prstGeom prst="rect">
            <a:avLst/>
          </a:prstGeom>
          <a:noFill/>
        </p:spPr>
        <p:txBody>
          <a:bodyPr wrap="square" lIns="0" tIns="0" rIns="0" bIns="0" anchor="ctr">
            <a:spAutoFit/>
          </a:bodyPr>
          <a:lstStyle/>
          <a:p>
            <a:pPr algn="ctr"/>
            <a:r>
              <a:rPr sz="900" b="1">
                <a:solidFill>
                  <a:srgbClr val="7C3AED"/>
                </a:solidFill>
                <a:latin typeface="Calibri"/>
              </a:rPr>
              <a:t>DONE</a:t>
            </a:r>
          </a:p>
        </p:txBody>
      </p:sp>
      <p:sp>
        <p:nvSpPr>
          <p:cNvPr id="15" name="Rectangle 14"/>
          <p:cNvSpPr/>
          <p:nvPr/>
        </p:nvSpPr>
        <p:spPr>
          <a:xfrm>
            <a:off x="457200" y="3566159"/>
            <a:ext cx="8229600" cy="932688"/>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 y="3566159"/>
            <a:ext cx="914400" cy="932688"/>
          </a:xfrm>
          <a:prstGeom prst="rect">
            <a:avLst/>
          </a:prstGeom>
          <a:noFill/>
        </p:spPr>
        <p:txBody>
          <a:bodyPr wrap="square" lIns="0" tIns="0" rIns="0" bIns="0" anchor="ctr">
            <a:spAutoFit/>
          </a:bodyPr>
          <a:lstStyle/>
          <a:p>
            <a:pPr algn="ctr"/>
            <a:r>
              <a:rPr sz="3000" b="1">
                <a:solidFill>
                  <a:srgbClr val="F59E0B"/>
                </a:solidFill>
                <a:latin typeface="Arial Black"/>
              </a:rPr>
              <a:t>03</a:t>
            </a:r>
          </a:p>
        </p:txBody>
      </p:sp>
      <p:sp>
        <p:nvSpPr>
          <p:cNvPr id="17" name="TextBox 16"/>
          <p:cNvSpPr txBox="1"/>
          <p:nvPr/>
        </p:nvSpPr>
        <p:spPr>
          <a:xfrm>
            <a:off x="1691640" y="3712463"/>
            <a:ext cx="5120640" cy="384048"/>
          </a:xfrm>
          <a:prstGeom prst="rect">
            <a:avLst/>
          </a:prstGeom>
          <a:noFill/>
        </p:spPr>
        <p:txBody>
          <a:bodyPr wrap="square" lIns="0" tIns="0" rIns="0" bIns="0" anchor="t">
            <a:spAutoFit/>
          </a:bodyPr>
          <a:lstStyle/>
          <a:p>
            <a:pPr algn="l"/>
            <a:r>
              <a:rPr sz="1500" b="1">
                <a:solidFill>
                  <a:srgbClr val="FFFFFF"/>
                </a:solidFill>
                <a:latin typeface="Arial Black"/>
              </a:rPr>
              <a:t>Agentic Engineering</a:t>
            </a:r>
          </a:p>
        </p:txBody>
      </p:sp>
      <p:sp>
        <p:nvSpPr>
          <p:cNvPr id="18" name="TextBox 17"/>
          <p:cNvSpPr txBox="1"/>
          <p:nvPr/>
        </p:nvSpPr>
        <p:spPr>
          <a:xfrm>
            <a:off x="1691640" y="4096511"/>
            <a:ext cx="5303520" cy="347472"/>
          </a:xfrm>
          <a:prstGeom prst="rect">
            <a:avLst/>
          </a:prstGeom>
          <a:noFill/>
        </p:spPr>
        <p:txBody>
          <a:bodyPr wrap="square" lIns="0" tIns="0" rIns="0" bIns="0" anchor="t">
            <a:spAutoFit/>
          </a:bodyPr>
          <a:lstStyle/>
          <a:p>
            <a:pPr algn="l"/>
            <a:r>
              <a:rPr sz="1200" b="0">
                <a:solidFill>
                  <a:srgbClr val="DDD6FE"/>
                </a:solidFill>
                <a:latin typeface="Calibri"/>
              </a:rPr>
              <a:t>You stop trusting output by eye.</a:t>
            </a:r>
          </a:p>
        </p:txBody>
      </p:sp>
      <p:sp>
        <p:nvSpPr>
          <p:cNvPr id="19" name="Rectangle 18"/>
          <p:cNvSpPr/>
          <p:nvPr/>
        </p:nvSpPr>
        <p:spPr>
          <a:xfrm>
            <a:off x="7086600" y="3877055"/>
            <a:ext cx="1417320" cy="3108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86600" y="3877055"/>
            <a:ext cx="1417320" cy="310896"/>
          </a:xfrm>
          <a:prstGeom prst="rect">
            <a:avLst/>
          </a:prstGeom>
          <a:noFill/>
        </p:spPr>
        <p:txBody>
          <a:bodyPr wrap="square" lIns="0" tIns="0" rIns="0" bIns="0" anchor="ctr">
            <a:spAutoFit/>
          </a:bodyPr>
          <a:lstStyle/>
          <a:p>
            <a:pPr algn="ctr"/>
            <a:r>
              <a:rPr sz="900" b="1">
                <a:solidFill>
                  <a:srgbClr val="2D1155"/>
                </a:solidFill>
                <a:latin typeface="Calibri"/>
              </a:rPr>
              <a:t>YOU ARE 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WHERE WE GOT TO</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Two things are fixed. One is still wide open.</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554480"/>
            <a:ext cx="4023360" cy="157276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755648"/>
            <a:ext cx="3566160" cy="274320"/>
          </a:xfrm>
          <a:prstGeom prst="rect">
            <a:avLst/>
          </a:prstGeom>
          <a:noFill/>
        </p:spPr>
        <p:txBody>
          <a:bodyPr wrap="square" lIns="0" tIns="0" rIns="0" bIns="0" anchor="t">
            <a:spAutoFit/>
          </a:bodyPr>
          <a:lstStyle/>
          <a:p>
            <a:pPr algn="l"/>
            <a:r>
              <a:rPr sz="1050" b="1">
                <a:solidFill>
                  <a:srgbClr val="7C3AED"/>
                </a:solidFill>
                <a:latin typeface="Calibri"/>
              </a:rPr>
              <a:t>SECTION 1 GAVE YOU</a:t>
            </a:r>
          </a:p>
        </p:txBody>
      </p:sp>
      <p:sp>
        <p:nvSpPr>
          <p:cNvPr id="7" name="TextBox 6"/>
          <p:cNvSpPr txBox="1"/>
          <p:nvPr/>
        </p:nvSpPr>
        <p:spPr>
          <a:xfrm>
            <a:off x="685800" y="2066543"/>
            <a:ext cx="3566160" cy="365760"/>
          </a:xfrm>
          <a:prstGeom prst="rect">
            <a:avLst/>
          </a:prstGeom>
          <a:noFill/>
        </p:spPr>
        <p:txBody>
          <a:bodyPr wrap="square" lIns="0" tIns="0" rIns="0" bIns="0" anchor="t">
            <a:spAutoFit/>
          </a:bodyPr>
          <a:lstStyle/>
          <a:p>
            <a:pPr algn="l"/>
            <a:r>
              <a:rPr sz="1700" b="1">
                <a:solidFill>
                  <a:srgbClr val="2D1155"/>
                </a:solidFill>
                <a:latin typeface="Arial Black"/>
              </a:rPr>
              <a:t>Fast.</a:t>
            </a:r>
          </a:p>
        </p:txBody>
      </p:sp>
      <p:sp>
        <p:nvSpPr>
          <p:cNvPr id="8" name="TextBox 7"/>
          <p:cNvSpPr txBox="1"/>
          <p:nvPr/>
        </p:nvSpPr>
        <p:spPr>
          <a:xfrm>
            <a:off x="685800" y="2487168"/>
            <a:ext cx="3566160" cy="548640"/>
          </a:xfrm>
          <a:prstGeom prst="rect">
            <a:avLst/>
          </a:prstGeom>
          <a:noFill/>
        </p:spPr>
        <p:txBody>
          <a:bodyPr wrap="square" lIns="0" tIns="0" rIns="0" bIns="0" anchor="t">
            <a:spAutoFit/>
          </a:bodyPr>
          <a:lstStyle/>
          <a:p>
            <a:pPr algn="l">
              <a:lnSpc>
                <a:spcPct val="108000"/>
              </a:lnSpc>
            </a:pPr>
            <a:r>
              <a:rPr sz="1250" b="0">
                <a:solidFill>
                  <a:srgbClr val="6E6389"/>
                </a:solidFill>
                <a:latin typeface="Calibri"/>
              </a:rPr>
              <a:t>The agent writes, runs and fixes. You direct the loop.</a:t>
            </a:r>
          </a:p>
        </p:txBody>
      </p:sp>
      <p:sp>
        <p:nvSpPr>
          <p:cNvPr id="9" name="Rectangle 8"/>
          <p:cNvSpPr/>
          <p:nvPr/>
        </p:nvSpPr>
        <p:spPr>
          <a:xfrm>
            <a:off x="4663440" y="1554480"/>
            <a:ext cx="4023360" cy="157276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92040" y="1755648"/>
            <a:ext cx="3566160" cy="274320"/>
          </a:xfrm>
          <a:prstGeom prst="rect">
            <a:avLst/>
          </a:prstGeom>
          <a:noFill/>
        </p:spPr>
        <p:txBody>
          <a:bodyPr wrap="square" lIns="0" tIns="0" rIns="0" bIns="0" anchor="t">
            <a:spAutoFit/>
          </a:bodyPr>
          <a:lstStyle/>
          <a:p>
            <a:pPr algn="l"/>
            <a:r>
              <a:rPr sz="1050" b="1">
                <a:solidFill>
                  <a:srgbClr val="7C3AED"/>
                </a:solidFill>
                <a:latin typeface="Calibri"/>
              </a:rPr>
              <a:t>SECTION 2 GAVE YOU</a:t>
            </a:r>
          </a:p>
        </p:txBody>
      </p:sp>
      <p:sp>
        <p:nvSpPr>
          <p:cNvPr id="11" name="TextBox 10"/>
          <p:cNvSpPr txBox="1"/>
          <p:nvPr/>
        </p:nvSpPr>
        <p:spPr>
          <a:xfrm>
            <a:off x="4892040" y="2066543"/>
            <a:ext cx="3566160" cy="365760"/>
          </a:xfrm>
          <a:prstGeom prst="rect">
            <a:avLst/>
          </a:prstGeom>
          <a:noFill/>
        </p:spPr>
        <p:txBody>
          <a:bodyPr wrap="square" lIns="0" tIns="0" rIns="0" bIns="0" anchor="t">
            <a:spAutoFit/>
          </a:bodyPr>
          <a:lstStyle/>
          <a:p>
            <a:pPr algn="l"/>
            <a:r>
              <a:rPr sz="1700" b="1">
                <a:solidFill>
                  <a:srgbClr val="2D1155"/>
                </a:solidFill>
                <a:latin typeface="Arial Black"/>
              </a:rPr>
              <a:t>Consistent.</a:t>
            </a:r>
          </a:p>
        </p:txBody>
      </p:sp>
      <p:sp>
        <p:nvSpPr>
          <p:cNvPr id="12" name="TextBox 11"/>
          <p:cNvSpPr txBox="1"/>
          <p:nvPr/>
        </p:nvSpPr>
        <p:spPr>
          <a:xfrm>
            <a:off x="4892040" y="2487168"/>
            <a:ext cx="3566160" cy="548640"/>
          </a:xfrm>
          <a:prstGeom prst="rect">
            <a:avLst/>
          </a:prstGeom>
          <a:noFill/>
        </p:spPr>
        <p:txBody>
          <a:bodyPr wrap="square" lIns="0" tIns="0" rIns="0" bIns="0" anchor="t">
            <a:spAutoFit/>
          </a:bodyPr>
          <a:lstStyle/>
          <a:p>
            <a:pPr algn="l">
              <a:lnSpc>
                <a:spcPct val="108000"/>
              </a:lnSpc>
            </a:pPr>
            <a:r>
              <a:rPr sz="1250" b="0">
                <a:solidFill>
                  <a:srgbClr val="6E6389"/>
                </a:solidFill>
                <a:latin typeface="Calibri"/>
              </a:rPr>
              <a:t>A contract, reusable commands, deliberate context.</a:t>
            </a:r>
          </a:p>
        </p:txBody>
      </p:sp>
      <p:sp>
        <p:nvSpPr>
          <p:cNvPr id="13" name="Rectangle 12"/>
          <p:cNvSpPr/>
          <p:nvPr/>
        </p:nvSpPr>
        <p:spPr>
          <a:xfrm>
            <a:off x="457200" y="3364992"/>
            <a:ext cx="8229600" cy="1024128"/>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529584"/>
            <a:ext cx="7498079" cy="365760"/>
          </a:xfrm>
          <a:prstGeom prst="rect">
            <a:avLst/>
          </a:prstGeom>
          <a:noFill/>
        </p:spPr>
        <p:txBody>
          <a:bodyPr wrap="square" lIns="0" tIns="0" rIns="0" bIns="0" anchor="t">
            <a:spAutoFit/>
          </a:bodyPr>
          <a:lstStyle/>
          <a:p>
            <a:pPr algn="l"/>
            <a:r>
              <a:rPr sz="1700" b="1">
                <a:solidFill>
                  <a:srgbClr val="FFFFFF"/>
                </a:solidFill>
                <a:latin typeface="Arial Black"/>
              </a:rPr>
              <a:t>Neither made it </a:t>
            </a:r>
            <a:r>
              <a:rPr sz="1700" b="1">
                <a:solidFill>
                  <a:srgbClr val="F59E0B"/>
                </a:solidFill>
                <a:latin typeface="Arial Black"/>
              </a:rPr>
              <a:t>trustworthy.</a:t>
            </a:r>
          </a:p>
        </p:txBody>
      </p:sp>
      <p:sp>
        <p:nvSpPr>
          <p:cNvPr id="15" name="TextBox 14"/>
          <p:cNvSpPr txBox="1"/>
          <p:nvPr/>
        </p:nvSpPr>
        <p:spPr>
          <a:xfrm>
            <a:off x="822960" y="3931920"/>
            <a:ext cx="7498079" cy="365760"/>
          </a:xfrm>
          <a:prstGeom prst="rect">
            <a:avLst/>
          </a:prstGeom>
          <a:noFill/>
        </p:spPr>
        <p:txBody>
          <a:bodyPr wrap="square" lIns="0" tIns="0" rIns="0" bIns="0" anchor="t">
            <a:spAutoFit/>
          </a:bodyPr>
          <a:lstStyle/>
          <a:p>
            <a:pPr algn="l"/>
            <a:r>
              <a:rPr sz="1300" b="0">
                <a:solidFill>
                  <a:srgbClr val="DDD6FE"/>
                </a:solidFill>
                <a:latin typeface="Calibri"/>
              </a:rPr>
              <a:t>Would you put this in front of real users on Monday?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WHAT AGENTIC ENGINEERING IS</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The one-line definition.</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TextBox 4"/>
          <p:cNvSpPr txBox="1"/>
          <p:nvPr/>
        </p:nvSpPr>
        <p:spPr>
          <a:xfrm>
            <a:off x="457200" y="1536192"/>
            <a:ext cx="8229600" cy="868680"/>
          </a:xfrm>
          <a:prstGeom prst="rect">
            <a:avLst/>
          </a:prstGeom>
          <a:noFill/>
        </p:spPr>
        <p:txBody>
          <a:bodyPr wrap="square" lIns="0" tIns="0" rIns="0" bIns="0" anchor="t">
            <a:spAutoFit/>
          </a:bodyPr>
          <a:lstStyle/>
          <a:p>
            <a:pPr algn="l">
              <a:lnSpc>
                <a:spcPct val="112000"/>
              </a:lnSpc>
            </a:pPr>
            <a:r>
              <a:rPr sz="1900" b="0">
                <a:solidFill>
                  <a:srgbClr val="2D1155"/>
                </a:solidFill>
                <a:latin typeface="Calibri"/>
              </a:rPr>
              <a:t>Building systems where </a:t>
            </a:r>
            <a:r>
              <a:rPr sz="1900" b="1">
                <a:solidFill>
                  <a:srgbClr val="7C3AED"/>
                </a:solidFill>
                <a:latin typeface="Arial Black"/>
              </a:rPr>
              <a:t>agents do the work</a:t>
            </a:r>
            <a:r>
              <a:rPr sz="1900" b="0">
                <a:solidFill>
                  <a:srgbClr val="2D1155"/>
                </a:solidFill>
                <a:latin typeface="Calibri"/>
              </a:rPr>
              <a:t>, and the engineering goes into making that </a:t>
            </a:r>
            <a:r>
              <a:rPr sz="1900" b="1">
                <a:solidFill>
                  <a:srgbClr val="7C3AED"/>
                </a:solidFill>
                <a:latin typeface="Arial Black"/>
              </a:rPr>
              <a:t>trustworthy.</a:t>
            </a:r>
          </a:p>
        </p:txBody>
      </p:sp>
      <p:sp>
        <p:nvSpPr>
          <p:cNvPr id="6" name="Rectangle 5"/>
          <p:cNvSpPr/>
          <p:nvPr/>
        </p:nvSpPr>
        <p:spPr>
          <a:xfrm>
            <a:off x="457200" y="2697480"/>
            <a:ext cx="8229600" cy="16916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907792"/>
            <a:ext cx="7680960" cy="274320"/>
          </a:xfrm>
          <a:prstGeom prst="rect">
            <a:avLst/>
          </a:prstGeom>
          <a:noFill/>
        </p:spPr>
        <p:txBody>
          <a:bodyPr wrap="square" lIns="0" tIns="0" rIns="0" bIns="0" anchor="t">
            <a:spAutoFit/>
          </a:bodyPr>
          <a:lstStyle/>
          <a:p>
            <a:pPr algn="l"/>
            <a:r>
              <a:rPr sz="1050" b="1">
                <a:solidFill>
                  <a:srgbClr val="7C3AED"/>
                </a:solidFill>
                <a:latin typeface="Calibri"/>
              </a:rPr>
              <a:t>THE MINDSET SHIFT</a:t>
            </a:r>
          </a:p>
        </p:txBody>
      </p:sp>
      <p:sp>
        <p:nvSpPr>
          <p:cNvPr id="8" name="TextBox 7"/>
          <p:cNvSpPr txBox="1"/>
          <p:nvPr/>
        </p:nvSpPr>
        <p:spPr>
          <a:xfrm>
            <a:off x="731520" y="3310128"/>
            <a:ext cx="7680960" cy="411480"/>
          </a:xfrm>
          <a:prstGeom prst="rect">
            <a:avLst/>
          </a:prstGeom>
          <a:noFill/>
        </p:spPr>
        <p:txBody>
          <a:bodyPr wrap="square" lIns="0" tIns="0" rIns="0" bIns="0" anchor="t">
            <a:spAutoFit/>
          </a:bodyPr>
          <a:lstStyle/>
          <a:p>
            <a:pPr algn="l"/>
            <a:r>
              <a:rPr sz="1100" b="1">
                <a:solidFill>
                  <a:srgbClr val="6E6389"/>
                </a:solidFill>
                <a:latin typeface="Calibri"/>
              </a:rPr>
              <a:t>FROM   </a:t>
            </a:r>
            <a:r>
              <a:rPr sz="1550" b="0">
                <a:solidFill>
                  <a:srgbClr val="2D1155"/>
                </a:solidFill>
                <a:latin typeface="Calibri"/>
              </a:rPr>
              <a:t>“Did the agent write good code?”</a:t>
            </a:r>
          </a:p>
        </p:txBody>
      </p:sp>
      <p:sp>
        <p:nvSpPr>
          <p:cNvPr id="9" name="TextBox 8"/>
          <p:cNvSpPr txBox="1"/>
          <p:nvPr/>
        </p:nvSpPr>
        <p:spPr>
          <a:xfrm>
            <a:off x="731520" y="3803904"/>
            <a:ext cx="7680960" cy="411480"/>
          </a:xfrm>
          <a:prstGeom prst="rect">
            <a:avLst/>
          </a:prstGeom>
          <a:noFill/>
        </p:spPr>
        <p:txBody>
          <a:bodyPr wrap="square" lIns="0" tIns="0" rIns="0" bIns="0" anchor="t">
            <a:spAutoFit/>
          </a:bodyPr>
          <a:lstStyle/>
          <a:p>
            <a:pPr algn="l"/>
            <a:r>
              <a:rPr sz="1100" b="1">
                <a:solidFill>
                  <a:srgbClr val="F59E0B"/>
                </a:solidFill>
                <a:latin typeface="Calibri"/>
              </a:rPr>
              <a:t>TO   </a:t>
            </a:r>
            <a:r>
              <a:rPr sz="1550" b="1">
                <a:solidFill>
                  <a:srgbClr val="2D1155"/>
                </a:solidFill>
                <a:latin typeface="Calibri"/>
              </a:rPr>
              <a:t>“What would prove this code is right — without me reading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READING HARDER DOESN’T SCALE</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At agentic speed, line-by-line review is the bottleneck — and it still misses things.</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572768"/>
            <a:ext cx="4023360" cy="22860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572768"/>
            <a:ext cx="4023360" cy="475488"/>
          </a:xfrm>
          <a:prstGeom prst="rect">
            <a:avLst/>
          </a:prstGeom>
          <a:solidFill>
            <a:srgbClr val="9B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572768"/>
            <a:ext cx="4023360" cy="475488"/>
          </a:xfrm>
          <a:prstGeom prst="rect">
            <a:avLst/>
          </a:prstGeom>
          <a:noFill/>
        </p:spPr>
        <p:txBody>
          <a:bodyPr wrap="square" lIns="0" tIns="0" rIns="0" bIns="0" anchor="ctr">
            <a:spAutoFit/>
          </a:bodyPr>
          <a:lstStyle/>
          <a:p>
            <a:pPr algn="ctr"/>
            <a:r>
              <a:rPr sz="1100" b="1">
                <a:solidFill>
                  <a:srgbClr val="FFFFFF"/>
                </a:solidFill>
                <a:latin typeface="Calibri"/>
              </a:rPr>
              <a:t>✕   READ EVERY LINE</a:t>
            </a:r>
          </a:p>
        </p:txBody>
      </p:sp>
      <p:sp>
        <p:nvSpPr>
          <p:cNvPr id="8" name="TextBox 7"/>
          <p:cNvSpPr txBox="1"/>
          <p:nvPr/>
        </p:nvSpPr>
        <p:spPr>
          <a:xfrm>
            <a:off x="713232" y="2286000"/>
            <a:ext cx="3520440" cy="438912"/>
          </a:xfrm>
          <a:prstGeom prst="rect">
            <a:avLst/>
          </a:prstGeom>
          <a:noFill/>
        </p:spPr>
        <p:txBody>
          <a:bodyPr wrap="square" lIns="0" tIns="0" rIns="0" bIns="0" anchor="t">
            <a:spAutoFit/>
          </a:bodyPr>
          <a:lstStyle/>
          <a:p>
            <a:pPr algn="l">
              <a:lnSpc>
                <a:spcPct val="105000"/>
              </a:lnSpc>
            </a:pPr>
            <a:r>
              <a:rPr sz="1250" b="1">
                <a:solidFill>
                  <a:srgbClr val="6E6389"/>
                </a:solidFill>
                <a:latin typeface="Calibri"/>
              </a:rPr>
              <a:t>•  </a:t>
            </a:r>
            <a:r>
              <a:rPr sz="1250" b="0">
                <a:solidFill>
                  <a:srgbClr val="2D1155"/>
                </a:solidFill>
                <a:latin typeface="Calibri"/>
              </a:rPr>
              <a:t>The agent out-types you 50 to 1.</a:t>
            </a:r>
          </a:p>
        </p:txBody>
      </p:sp>
      <p:sp>
        <p:nvSpPr>
          <p:cNvPr id="9" name="TextBox 8"/>
          <p:cNvSpPr txBox="1"/>
          <p:nvPr/>
        </p:nvSpPr>
        <p:spPr>
          <a:xfrm>
            <a:off x="713232" y="2761488"/>
            <a:ext cx="3520440" cy="438912"/>
          </a:xfrm>
          <a:prstGeom prst="rect">
            <a:avLst/>
          </a:prstGeom>
          <a:noFill/>
        </p:spPr>
        <p:txBody>
          <a:bodyPr wrap="square" lIns="0" tIns="0" rIns="0" bIns="0" anchor="t">
            <a:spAutoFit/>
          </a:bodyPr>
          <a:lstStyle/>
          <a:p>
            <a:pPr algn="l">
              <a:lnSpc>
                <a:spcPct val="105000"/>
              </a:lnSpc>
            </a:pPr>
            <a:r>
              <a:rPr sz="1250" b="1">
                <a:solidFill>
                  <a:srgbClr val="6E6389"/>
                </a:solidFill>
                <a:latin typeface="Calibri"/>
              </a:rPr>
              <a:t>•  </a:t>
            </a:r>
            <a:r>
              <a:rPr sz="1250" b="0">
                <a:solidFill>
                  <a:srgbClr val="2D1155"/>
                </a:solidFill>
                <a:latin typeface="Calibri"/>
              </a:rPr>
              <a:t>Attention fades; you skim by the third diff.</a:t>
            </a:r>
          </a:p>
        </p:txBody>
      </p:sp>
      <p:sp>
        <p:nvSpPr>
          <p:cNvPr id="10" name="TextBox 9"/>
          <p:cNvSpPr txBox="1"/>
          <p:nvPr/>
        </p:nvSpPr>
        <p:spPr>
          <a:xfrm>
            <a:off x="713232" y="3236976"/>
            <a:ext cx="3520440" cy="438912"/>
          </a:xfrm>
          <a:prstGeom prst="rect">
            <a:avLst/>
          </a:prstGeom>
          <a:noFill/>
        </p:spPr>
        <p:txBody>
          <a:bodyPr wrap="square" lIns="0" tIns="0" rIns="0" bIns="0" anchor="t">
            <a:spAutoFit/>
          </a:bodyPr>
          <a:lstStyle/>
          <a:p>
            <a:pPr algn="l">
              <a:lnSpc>
                <a:spcPct val="105000"/>
              </a:lnSpc>
            </a:pPr>
            <a:r>
              <a:rPr sz="1250" b="1">
                <a:solidFill>
                  <a:srgbClr val="6E6389"/>
                </a:solidFill>
                <a:latin typeface="Calibri"/>
              </a:rPr>
              <a:t>•  </a:t>
            </a:r>
            <a:r>
              <a:rPr sz="1250" b="0">
                <a:solidFill>
                  <a:srgbClr val="2D1155"/>
                </a:solidFill>
                <a:latin typeface="Calibri"/>
              </a:rPr>
              <a:t>A confident, plausible bug reads as correct.</a:t>
            </a:r>
          </a:p>
        </p:txBody>
      </p:sp>
      <p:sp>
        <p:nvSpPr>
          <p:cNvPr id="11" name="Rectangle 10"/>
          <p:cNvSpPr/>
          <p:nvPr/>
        </p:nvSpPr>
        <p:spPr>
          <a:xfrm>
            <a:off x="4663440" y="1572768"/>
            <a:ext cx="4023360" cy="22860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663440" y="1572768"/>
            <a:ext cx="4023360" cy="47548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663440" y="1572768"/>
            <a:ext cx="4023360" cy="475488"/>
          </a:xfrm>
          <a:prstGeom prst="rect">
            <a:avLst/>
          </a:prstGeom>
          <a:noFill/>
        </p:spPr>
        <p:txBody>
          <a:bodyPr wrap="square" lIns="0" tIns="0" rIns="0" bIns="0" anchor="ctr">
            <a:spAutoFit/>
          </a:bodyPr>
          <a:lstStyle/>
          <a:p>
            <a:pPr algn="ctr"/>
            <a:r>
              <a:rPr sz="1100" b="1">
                <a:solidFill>
                  <a:srgbClr val="FFFFFF"/>
                </a:solidFill>
                <a:latin typeface="Calibri"/>
              </a:rPr>
              <a:t>✓   ENGINEER THE PROOF</a:t>
            </a:r>
          </a:p>
        </p:txBody>
      </p:sp>
      <p:sp>
        <p:nvSpPr>
          <p:cNvPr id="14" name="TextBox 13"/>
          <p:cNvSpPr txBox="1"/>
          <p:nvPr/>
        </p:nvSpPr>
        <p:spPr>
          <a:xfrm>
            <a:off x="4919472" y="2286000"/>
            <a:ext cx="3520440" cy="438912"/>
          </a:xfrm>
          <a:prstGeom prst="rect">
            <a:avLst/>
          </a:prstGeom>
          <a:noFill/>
        </p:spPr>
        <p:txBody>
          <a:bodyPr wrap="square" lIns="0" tIns="0" rIns="0" bIns="0" anchor="t">
            <a:spAutoFit/>
          </a:bodyPr>
          <a:lstStyle/>
          <a:p>
            <a:pPr algn="l">
              <a:lnSpc>
                <a:spcPct val="105000"/>
              </a:lnSpc>
            </a:pPr>
            <a:r>
              <a:rPr sz="1250" b="1">
                <a:solidFill>
                  <a:srgbClr val="7C3AED"/>
                </a:solidFill>
                <a:latin typeface="Calibri"/>
              </a:rPr>
              <a:t>•  </a:t>
            </a:r>
            <a:r>
              <a:rPr sz="1250" b="0">
                <a:solidFill>
                  <a:srgbClr val="2D1155"/>
                </a:solidFill>
                <a:latin typeface="Calibri"/>
              </a:rPr>
              <a:t>Tests the agent must pass every turn.</a:t>
            </a:r>
          </a:p>
        </p:txBody>
      </p:sp>
      <p:sp>
        <p:nvSpPr>
          <p:cNvPr id="15" name="TextBox 14"/>
          <p:cNvSpPr txBox="1"/>
          <p:nvPr/>
        </p:nvSpPr>
        <p:spPr>
          <a:xfrm>
            <a:off x="4919472" y="2761488"/>
            <a:ext cx="3520440" cy="438912"/>
          </a:xfrm>
          <a:prstGeom prst="rect">
            <a:avLst/>
          </a:prstGeom>
          <a:noFill/>
        </p:spPr>
        <p:txBody>
          <a:bodyPr wrap="square" lIns="0" tIns="0" rIns="0" bIns="0" anchor="t">
            <a:spAutoFit/>
          </a:bodyPr>
          <a:lstStyle/>
          <a:p>
            <a:pPr algn="l">
              <a:lnSpc>
                <a:spcPct val="105000"/>
              </a:lnSpc>
            </a:pPr>
            <a:r>
              <a:rPr sz="1250" b="1">
                <a:solidFill>
                  <a:srgbClr val="7C3AED"/>
                </a:solidFill>
                <a:latin typeface="Calibri"/>
              </a:rPr>
              <a:t>•  </a:t>
            </a:r>
            <a:r>
              <a:rPr sz="1250" b="0">
                <a:solidFill>
                  <a:srgbClr val="2D1155"/>
                </a:solidFill>
                <a:latin typeface="Calibri"/>
              </a:rPr>
              <a:t>Sub-agents whose only job is to check.</a:t>
            </a:r>
          </a:p>
        </p:txBody>
      </p:sp>
      <p:sp>
        <p:nvSpPr>
          <p:cNvPr id="16" name="TextBox 15"/>
          <p:cNvSpPr txBox="1"/>
          <p:nvPr/>
        </p:nvSpPr>
        <p:spPr>
          <a:xfrm>
            <a:off x="4919472" y="3236976"/>
            <a:ext cx="3520440" cy="438912"/>
          </a:xfrm>
          <a:prstGeom prst="rect">
            <a:avLst/>
          </a:prstGeom>
          <a:noFill/>
        </p:spPr>
        <p:txBody>
          <a:bodyPr wrap="square" lIns="0" tIns="0" rIns="0" bIns="0" anchor="t">
            <a:spAutoFit/>
          </a:bodyPr>
          <a:lstStyle/>
          <a:p>
            <a:pPr algn="l">
              <a:lnSpc>
                <a:spcPct val="105000"/>
              </a:lnSpc>
            </a:pPr>
            <a:r>
              <a:rPr sz="1250" b="1">
                <a:solidFill>
                  <a:srgbClr val="7C3AED"/>
                </a:solidFill>
                <a:latin typeface="Calibri"/>
              </a:rPr>
              <a:t>•  </a:t>
            </a:r>
            <a:r>
              <a:rPr sz="1250" b="0">
                <a:solidFill>
                  <a:srgbClr val="2D1155"/>
                </a:solidFill>
                <a:latin typeface="Calibri"/>
              </a:rPr>
              <a:t>Gates that block a change that fails.</a:t>
            </a:r>
          </a:p>
        </p:txBody>
      </p:sp>
      <p:sp>
        <p:nvSpPr>
          <p:cNvPr id="17" name="TextBox 16"/>
          <p:cNvSpPr txBox="1"/>
          <p:nvPr/>
        </p:nvSpPr>
        <p:spPr>
          <a:xfrm>
            <a:off x="457200" y="4069080"/>
            <a:ext cx="8229600" cy="457200"/>
          </a:xfrm>
          <a:prstGeom prst="rect">
            <a:avLst/>
          </a:prstGeom>
          <a:noFill/>
        </p:spPr>
        <p:txBody>
          <a:bodyPr wrap="square" lIns="0" tIns="0" rIns="0" bIns="0" anchor="t">
            <a:spAutoFit/>
          </a:bodyPr>
          <a:lstStyle/>
          <a:p>
            <a:pPr algn="l"/>
            <a:r>
              <a:rPr sz="1250" b="0">
                <a:solidFill>
                  <a:srgbClr val="6E6389"/>
                </a:solidFill>
                <a:latin typeface="Calibri"/>
              </a:rPr>
              <a:t>You stop being the line reviewer and become the person who designs how correctness gets proved.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THE FOUR MOVES</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Everything in this section is one of these. Nothing else.</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81328"/>
            <a:ext cx="7772400" cy="758952"/>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81328"/>
            <a:ext cx="658368" cy="7589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481328"/>
            <a:ext cx="658368" cy="758952"/>
          </a:xfrm>
          <a:prstGeom prst="rect">
            <a:avLst/>
          </a:prstGeom>
          <a:noFill/>
        </p:spPr>
        <p:txBody>
          <a:bodyPr wrap="square" lIns="0" tIns="0" rIns="0" bIns="0" anchor="ctr">
            <a:spAutoFit/>
          </a:bodyPr>
          <a:lstStyle/>
          <a:p>
            <a:pPr algn="ctr"/>
            <a:r>
              <a:rPr sz="2000" b="1">
                <a:solidFill>
                  <a:srgbClr val="FFFFFF"/>
                </a:solidFill>
                <a:latin typeface="Arial Black"/>
              </a:rPr>
              <a:t>1</a:t>
            </a:r>
          </a:p>
        </p:txBody>
      </p:sp>
      <p:sp>
        <p:nvSpPr>
          <p:cNvPr id="8" name="TextBox 7"/>
          <p:cNvSpPr txBox="1"/>
          <p:nvPr/>
        </p:nvSpPr>
        <p:spPr>
          <a:xfrm>
            <a:off x="1325880" y="1609344"/>
            <a:ext cx="2743200" cy="292608"/>
          </a:xfrm>
          <a:prstGeom prst="rect">
            <a:avLst/>
          </a:prstGeom>
          <a:noFill/>
        </p:spPr>
        <p:txBody>
          <a:bodyPr wrap="square" lIns="0" tIns="0" rIns="0" bIns="0" anchor="t">
            <a:spAutoFit/>
          </a:bodyPr>
          <a:lstStyle/>
          <a:p>
            <a:pPr algn="l"/>
            <a:r>
              <a:rPr sz="1400" b="1">
                <a:solidFill>
                  <a:srgbClr val="2D1155"/>
                </a:solidFill>
                <a:latin typeface="Arial Black"/>
              </a:rPr>
              <a:t>Build the harness</a:t>
            </a:r>
          </a:p>
        </p:txBody>
      </p:sp>
      <p:sp>
        <p:nvSpPr>
          <p:cNvPr id="9" name="TextBox 8"/>
          <p:cNvSpPr txBox="1"/>
          <p:nvPr/>
        </p:nvSpPr>
        <p:spPr>
          <a:xfrm>
            <a:off x="1325880" y="1920240"/>
            <a:ext cx="6217920" cy="274320"/>
          </a:xfrm>
          <a:prstGeom prst="rect">
            <a:avLst/>
          </a:prstGeom>
          <a:noFill/>
        </p:spPr>
        <p:txBody>
          <a:bodyPr wrap="square" lIns="0" tIns="0" rIns="0" bIns="0" anchor="t">
            <a:spAutoFit/>
          </a:bodyPr>
          <a:lstStyle/>
          <a:p>
            <a:pPr algn="l"/>
            <a:r>
              <a:rPr sz="1200" b="0">
                <a:solidFill>
                  <a:srgbClr val="6E6389"/>
                </a:solidFill>
                <a:latin typeface="Calibri"/>
              </a:rPr>
              <a:t>One command that proves the code still works: lint, types, tests.</a:t>
            </a:r>
          </a:p>
        </p:txBody>
      </p:sp>
      <p:sp>
        <p:nvSpPr>
          <p:cNvPr id="10" name="Rectangle 9"/>
          <p:cNvSpPr/>
          <p:nvPr/>
        </p:nvSpPr>
        <p:spPr>
          <a:xfrm>
            <a:off x="457200" y="2340864"/>
            <a:ext cx="7772400" cy="758952"/>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340864"/>
            <a:ext cx="658368" cy="7589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340864"/>
            <a:ext cx="658368" cy="758952"/>
          </a:xfrm>
          <a:prstGeom prst="rect">
            <a:avLst/>
          </a:prstGeom>
          <a:noFill/>
        </p:spPr>
        <p:txBody>
          <a:bodyPr wrap="square" lIns="0" tIns="0" rIns="0" bIns="0" anchor="ctr">
            <a:spAutoFit/>
          </a:bodyPr>
          <a:lstStyle/>
          <a:p>
            <a:pPr algn="ctr"/>
            <a:r>
              <a:rPr sz="2000" b="1">
                <a:solidFill>
                  <a:srgbClr val="FFFFFF"/>
                </a:solidFill>
                <a:latin typeface="Arial Black"/>
              </a:rPr>
              <a:t>2</a:t>
            </a:r>
          </a:p>
        </p:txBody>
      </p:sp>
      <p:sp>
        <p:nvSpPr>
          <p:cNvPr id="13" name="TextBox 12"/>
          <p:cNvSpPr txBox="1"/>
          <p:nvPr/>
        </p:nvSpPr>
        <p:spPr>
          <a:xfrm>
            <a:off x="1325880" y="2468880"/>
            <a:ext cx="2743200" cy="292608"/>
          </a:xfrm>
          <a:prstGeom prst="rect">
            <a:avLst/>
          </a:prstGeom>
          <a:noFill/>
        </p:spPr>
        <p:txBody>
          <a:bodyPr wrap="square" lIns="0" tIns="0" rIns="0" bIns="0" anchor="t">
            <a:spAutoFit/>
          </a:bodyPr>
          <a:lstStyle/>
          <a:p>
            <a:pPr algn="l"/>
            <a:r>
              <a:rPr sz="1400" b="1">
                <a:solidFill>
                  <a:srgbClr val="2D1155"/>
                </a:solidFill>
                <a:latin typeface="Arial Black"/>
              </a:rPr>
              <a:t>Split the jobs</a:t>
            </a:r>
          </a:p>
        </p:txBody>
      </p:sp>
      <p:sp>
        <p:nvSpPr>
          <p:cNvPr id="14" name="TextBox 13"/>
          <p:cNvSpPr txBox="1"/>
          <p:nvPr/>
        </p:nvSpPr>
        <p:spPr>
          <a:xfrm>
            <a:off x="1325880" y="2779776"/>
            <a:ext cx="6217920" cy="274320"/>
          </a:xfrm>
          <a:prstGeom prst="rect">
            <a:avLst/>
          </a:prstGeom>
          <a:noFill/>
        </p:spPr>
        <p:txBody>
          <a:bodyPr wrap="square" lIns="0" tIns="0" rIns="0" bIns="0" anchor="t">
            <a:spAutoFit/>
          </a:bodyPr>
          <a:lstStyle/>
          <a:p>
            <a:pPr algn="l"/>
            <a:r>
              <a:rPr sz="1200" b="0">
                <a:solidFill>
                  <a:srgbClr val="6E6389"/>
                </a:solidFill>
                <a:latin typeface="Calibri"/>
              </a:rPr>
              <a:t>Narrow sub-agents: one writes tests, one reviews, one verifies.</a:t>
            </a:r>
          </a:p>
        </p:txBody>
      </p:sp>
      <p:sp>
        <p:nvSpPr>
          <p:cNvPr id="15" name="Rectangle 14"/>
          <p:cNvSpPr/>
          <p:nvPr/>
        </p:nvSpPr>
        <p:spPr>
          <a:xfrm>
            <a:off x="457200" y="3200400"/>
            <a:ext cx="7772400" cy="758952"/>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200400"/>
            <a:ext cx="658368" cy="7589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200400"/>
            <a:ext cx="658368" cy="758952"/>
          </a:xfrm>
          <a:prstGeom prst="rect">
            <a:avLst/>
          </a:prstGeom>
          <a:noFill/>
        </p:spPr>
        <p:txBody>
          <a:bodyPr wrap="square" lIns="0" tIns="0" rIns="0" bIns="0" anchor="ctr">
            <a:spAutoFit/>
          </a:bodyPr>
          <a:lstStyle/>
          <a:p>
            <a:pPr algn="ctr"/>
            <a:r>
              <a:rPr sz="2000" b="1">
                <a:solidFill>
                  <a:srgbClr val="FFFFFF"/>
                </a:solidFill>
                <a:latin typeface="Arial Black"/>
              </a:rPr>
              <a:t>3</a:t>
            </a:r>
          </a:p>
        </p:txBody>
      </p:sp>
      <p:sp>
        <p:nvSpPr>
          <p:cNvPr id="18" name="TextBox 17"/>
          <p:cNvSpPr txBox="1"/>
          <p:nvPr/>
        </p:nvSpPr>
        <p:spPr>
          <a:xfrm>
            <a:off x="1325880" y="3328416"/>
            <a:ext cx="2743200" cy="292608"/>
          </a:xfrm>
          <a:prstGeom prst="rect">
            <a:avLst/>
          </a:prstGeom>
          <a:noFill/>
        </p:spPr>
        <p:txBody>
          <a:bodyPr wrap="square" lIns="0" tIns="0" rIns="0" bIns="0" anchor="t">
            <a:spAutoFit/>
          </a:bodyPr>
          <a:lstStyle/>
          <a:p>
            <a:pPr algn="l"/>
            <a:r>
              <a:rPr sz="1400" b="1">
                <a:solidFill>
                  <a:srgbClr val="2D1155"/>
                </a:solidFill>
                <a:latin typeface="Arial Black"/>
              </a:rPr>
              <a:t>Run the team</a:t>
            </a:r>
          </a:p>
        </p:txBody>
      </p:sp>
      <p:sp>
        <p:nvSpPr>
          <p:cNvPr id="19" name="TextBox 18"/>
          <p:cNvSpPr txBox="1"/>
          <p:nvPr/>
        </p:nvSpPr>
        <p:spPr>
          <a:xfrm>
            <a:off x="1325880" y="3639312"/>
            <a:ext cx="6217920" cy="274320"/>
          </a:xfrm>
          <a:prstGeom prst="rect">
            <a:avLst/>
          </a:prstGeom>
          <a:noFill/>
        </p:spPr>
        <p:txBody>
          <a:bodyPr wrap="square" lIns="0" tIns="0" rIns="0" bIns="0" anchor="t">
            <a:spAutoFit/>
          </a:bodyPr>
          <a:lstStyle/>
          <a:p>
            <a:pPr algn="l"/>
            <a:r>
              <a:rPr sz="1200" b="0">
                <a:solidFill>
                  <a:srgbClr val="6E6389"/>
                </a:solidFill>
                <a:latin typeface="Calibri"/>
              </a:rPr>
              <a:t>They work in parallel while you orchestrate and arbitrate.</a:t>
            </a:r>
          </a:p>
        </p:txBody>
      </p:sp>
      <p:sp>
        <p:nvSpPr>
          <p:cNvPr id="20" name="Rectangle 19"/>
          <p:cNvSpPr/>
          <p:nvPr/>
        </p:nvSpPr>
        <p:spPr>
          <a:xfrm>
            <a:off x="457200" y="4059935"/>
            <a:ext cx="7772400" cy="758952"/>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059935"/>
            <a:ext cx="658368" cy="7589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059935"/>
            <a:ext cx="658368" cy="758952"/>
          </a:xfrm>
          <a:prstGeom prst="rect">
            <a:avLst/>
          </a:prstGeom>
          <a:noFill/>
        </p:spPr>
        <p:txBody>
          <a:bodyPr wrap="square" lIns="0" tIns="0" rIns="0" bIns="0" anchor="ctr">
            <a:spAutoFit/>
          </a:bodyPr>
          <a:lstStyle/>
          <a:p>
            <a:pPr algn="ctr"/>
            <a:r>
              <a:rPr sz="2000" b="1">
                <a:solidFill>
                  <a:srgbClr val="FFFFFF"/>
                </a:solidFill>
                <a:latin typeface="Arial Black"/>
              </a:rPr>
              <a:t>4</a:t>
            </a:r>
          </a:p>
        </p:txBody>
      </p:sp>
      <p:sp>
        <p:nvSpPr>
          <p:cNvPr id="23" name="TextBox 22"/>
          <p:cNvSpPr txBox="1"/>
          <p:nvPr/>
        </p:nvSpPr>
        <p:spPr>
          <a:xfrm>
            <a:off x="1325880" y="4187951"/>
            <a:ext cx="2743200" cy="292608"/>
          </a:xfrm>
          <a:prstGeom prst="rect">
            <a:avLst/>
          </a:prstGeom>
          <a:noFill/>
        </p:spPr>
        <p:txBody>
          <a:bodyPr wrap="square" lIns="0" tIns="0" rIns="0" bIns="0" anchor="t">
            <a:spAutoFit/>
          </a:bodyPr>
          <a:lstStyle/>
          <a:p>
            <a:pPr algn="l"/>
            <a:r>
              <a:rPr sz="1400" b="1">
                <a:solidFill>
                  <a:srgbClr val="2D1155"/>
                </a:solidFill>
                <a:latin typeface="Arial Black"/>
              </a:rPr>
              <a:t>Make it non-optional</a:t>
            </a:r>
          </a:p>
        </p:txBody>
      </p:sp>
      <p:sp>
        <p:nvSpPr>
          <p:cNvPr id="24" name="TextBox 23"/>
          <p:cNvSpPr txBox="1"/>
          <p:nvPr/>
        </p:nvSpPr>
        <p:spPr>
          <a:xfrm>
            <a:off x="1325880" y="4498848"/>
            <a:ext cx="6217920" cy="274320"/>
          </a:xfrm>
          <a:prstGeom prst="rect">
            <a:avLst/>
          </a:prstGeom>
          <a:noFill/>
        </p:spPr>
        <p:txBody>
          <a:bodyPr wrap="square" lIns="0" tIns="0" rIns="0" bIns="0" anchor="t">
            <a:spAutoFit/>
          </a:bodyPr>
          <a:lstStyle/>
          <a:p>
            <a:pPr algn="l"/>
            <a:r>
              <a:rPr sz="1200" b="0">
                <a:solidFill>
                  <a:srgbClr val="6E6389"/>
                </a:solidFill>
                <a:latin typeface="Calibri"/>
              </a:rPr>
              <a:t>Hooks and CI, so the discipline survives a bad day.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MOVE 1 · THE HARNESS</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One command the agent runs against itself, every single turn.</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81328"/>
            <a:ext cx="4892040" cy="1572768"/>
          </a:xfrm>
          <a:prstGeom prst="rect">
            <a:avLst/>
          </a:prstGeom>
          <a:solidFill>
            <a:srgbClr val="1E0B3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645920"/>
            <a:ext cx="4489703" cy="1243584"/>
          </a:xfrm>
          <a:prstGeom prst="rect">
            <a:avLst/>
          </a:prstGeom>
          <a:noFill/>
        </p:spPr>
        <p:txBody>
          <a:bodyPr wrap="square" lIns="0" tIns="0" rIns="0" bIns="0" anchor="t">
            <a:spAutoFit/>
          </a:bodyPr>
          <a:lstStyle/>
          <a:p>
            <a:pPr algn="l">
              <a:lnSpc>
                <a:spcPct val="132000"/>
              </a:lnSpc>
            </a:pPr>
            <a:r>
              <a:rPr sz="1150" b="0">
                <a:solidFill>
                  <a:srgbClr val="FFFFFF"/>
                </a:solidFill>
                <a:latin typeface="Courier New"/>
              </a:rPr>
              <a:t>$ make check</a:t>
            </a:r>
          </a:p>
          <a:p>
            <a:pPr algn="l">
              <a:lnSpc>
                <a:spcPct val="132000"/>
              </a:lnSpc>
            </a:pPr>
            <a:r>
              <a:rPr sz="1150" b="0">
                <a:solidFill>
                  <a:srgbClr val="C4B5E8"/>
                </a:solidFill>
                <a:latin typeface="Courier New"/>
              </a:rPr>
              <a:t>  ruff .            # lint  — style and dead code</a:t>
            </a:r>
          </a:p>
          <a:p>
            <a:pPr algn="l">
              <a:lnSpc>
                <a:spcPct val="132000"/>
              </a:lnSpc>
            </a:pPr>
            <a:r>
              <a:rPr sz="1150" b="0">
                <a:solidFill>
                  <a:srgbClr val="C4B5E8"/>
                </a:solidFill>
                <a:latin typeface="Courier New"/>
              </a:rPr>
              <a:t>  mypy backend/     # types — wrong shapes</a:t>
            </a:r>
          </a:p>
          <a:p>
            <a:pPr algn="l">
              <a:lnSpc>
                <a:spcPct val="132000"/>
              </a:lnSpc>
            </a:pPr>
            <a:r>
              <a:rPr sz="1150" b="0">
                <a:solidFill>
                  <a:srgbClr val="C4B5E8"/>
                </a:solidFill>
                <a:latin typeface="Courier New"/>
              </a:rPr>
              <a:t>  pytest tests -q   # tests — wrong behaviour</a:t>
            </a:r>
          </a:p>
        </p:txBody>
      </p:sp>
      <p:sp>
        <p:nvSpPr>
          <p:cNvPr id="7" name="Rectangle 6"/>
          <p:cNvSpPr/>
          <p:nvPr/>
        </p:nvSpPr>
        <p:spPr>
          <a:xfrm>
            <a:off x="5577840" y="1481328"/>
            <a:ext cx="3108960" cy="157276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806440" y="1682496"/>
            <a:ext cx="2651760" cy="274320"/>
          </a:xfrm>
          <a:prstGeom prst="rect">
            <a:avLst/>
          </a:prstGeom>
          <a:noFill/>
        </p:spPr>
        <p:txBody>
          <a:bodyPr wrap="square" lIns="0" tIns="0" rIns="0" bIns="0" anchor="t">
            <a:spAutoFit/>
          </a:bodyPr>
          <a:lstStyle/>
          <a:p>
            <a:pPr algn="l"/>
            <a:r>
              <a:rPr sz="1050" b="1">
                <a:solidFill>
                  <a:srgbClr val="7C3AED"/>
                </a:solidFill>
                <a:latin typeface="Calibri"/>
              </a:rPr>
              <a:t>WHY ONE COMMAND</a:t>
            </a:r>
          </a:p>
        </p:txBody>
      </p:sp>
      <p:sp>
        <p:nvSpPr>
          <p:cNvPr id="9" name="TextBox 8"/>
          <p:cNvSpPr txBox="1"/>
          <p:nvPr/>
        </p:nvSpPr>
        <p:spPr>
          <a:xfrm>
            <a:off x="5806440" y="2011680"/>
            <a:ext cx="2651760" cy="914400"/>
          </a:xfrm>
          <a:prstGeom prst="rect">
            <a:avLst/>
          </a:prstGeom>
          <a:noFill/>
        </p:spPr>
        <p:txBody>
          <a:bodyPr wrap="square" lIns="0" tIns="0" rIns="0" bIns="0" anchor="t">
            <a:spAutoFit/>
          </a:bodyPr>
          <a:lstStyle/>
          <a:p>
            <a:pPr algn="l">
              <a:lnSpc>
                <a:spcPct val="110000"/>
              </a:lnSpc>
            </a:pPr>
            <a:r>
              <a:rPr sz="1200" b="0">
                <a:solidFill>
                  <a:srgbClr val="2D1155"/>
                </a:solidFill>
                <a:latin typeface="Calibri"/>
              </a:rPr>
              <a:t>The agent can run it, read the failure, and fix itself — without asking you.</a:t>
            </a:r>
          </a:p>
        </p:txBody>
      </p:sp>
      <p:sp>
        <p:nvSpPr>
          <p:cNvPr id="10" name="TextBox 9"/>
          <p:cNvSpPr txBox="1"/>
          <p:nvPr/>
        </p:nvSpPr>
        <p:spPr>
          <a:xfrm>
            <a:off x="457200" y="3200400"/>
            <a:ext cx="8229600" cy="384048"/>
          </a:xfrm>
          <a:prstGeom prst="rect">
            <a:avLst/>
          </a:prstGeom>
          <a:noFill/>
        </p:spPr>
        <p:txBody>
          <a:bodyPr wrap="square" lIns="0" tIns="0" rIns="0" bIns="0" anchor="t">
            <a:spAutoFit/>
          </a:bodyPr>
          <a:lstStyle/>
          <a:p>
            <a:pPr algn="l">
              <a:lnSpc>
                <a:spcPct val="108000"/>
              </a:lnSpc>
            </a:pPr>
            <a:r>
              <a:rPr sz="900" b="1">
                <a:solidFill>
                  <a:srgbClr val="F59E0B"/>
                </a:solidFill>
                <a:latin typeface="Calibri"/>
              </a:rPr>
              <a:t>IN PLAIN TERMS   </a:t>
            </a:r>
            <a:r>
              <a:rPr sz="1200" b="0">
                <a:solidFill>
                  <a:srgbClr val="6E6389"/>
                </a:solidFill>
                <a:latin typeface="Calibri"/>
              </a:rPr>
              <a:t>A harness is just a single command that says yes or no. If it passes, the agent has proof. If it fails, it has a specific error to work from.</a:t>
            </a:r>
          </a:p>
        </p:txBody>
      </p:sp>
      <p:sp>
        <p:nvSpPr>
          <p:cNvPr id="11" name="Rectangle 10"/>
          <p:cNvSpPr/>
          <p:nvPr/>
        </p:nvSpPr>
        <p:spPr>
          <a:xfrm>
            <a:off x="457200" y="3794760"/>
            <a:ext cx="8229600" cy="713232"/>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3794760"/>
            <a:ext cx="7498079" cy="713232"/>
          </a:xfrm>
          <a:prstGeom prst="rect">
            <a:avLst/>
          </a:prstGeom>
          <a:noFill/>
        </p:spPr>
        <p:txBody>
          <a:bodyPr wrap="square" lIns="0" tIns="0" rIns="0" bIns="0" anchor="ctr">
            <a:spAutoFit/>
          </a:bodyPr>
          <a:lstStyle/>
          <a:p>
            <a:pPr algn="l"/>
            <a:r>
              <a:rPr sz="1400" b="1">
                <a:solidFill>
                  <a:srgbClr val="FFFFFF"/>
                </a:solidFill>
                <a:latin typeface="Arial Black"/>
              </a:rPr>
              <a:t>The cheapest reliability win there is: the agent self-verifies at the end of every turn.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THE TESTS ARE THE SPEC</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Write them before the implementation — and make them fail first.</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81328"/>
            <a:ext cx="8229600" cy="13716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 y="1664208"/>
            <a:ext cx="7772400" cy="256032"/>
          </a:xfrm>
          <a:prstGeom prst="rect">
            <a:avLst/>
          </a:prstGeom>
          <a:noFill/>
        </p:spPr>
        <p:txBody>
          <a:bodyPr wrap="square" lIns="0" tIns="0" rIns="0" bIns="0" anchor="t">
            <a:spAutoFit/>
          </a:bodyPr>
          <a:lstStyle/>
          <a:p>
            <a:pPr algn="l"/>
            <a:r>
              <a:rPr sz="1000" b="1">
                <a:solidFill>
                  <a:srgbClr val="7C3AED"/>
                </a:solidFill>
                <a:latin typeface="Calibri"/>
              </a:rPr>
              <a:t>PROMPT</a:t>
            </a:r>
          </a:p>
        </p:txBody>
      </p:sp>
      <p:sp>
        <p:nvSpPr>
          <p:cNvPr id="7" name="TextBox 6"/>
          <p:cNvSpPr txBox="1"/>
          <p:nvPr/>
        </p:nvSpPr>
        <p:spPr>
          <a:xfrm>
            <a:off x="713232" y="1956816"/>
            <a:ext cx="7772400" cy="82296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“Write a pytest suite for the streak logic, covering the edge cases we skipped: a missed day resets the streak; completing twice in one day is idempotent; the timezone boundary is handled. Run them, show me one failing, then make it pass.”</a:t>
            </a:r>
          </a:p>
        </p:txBody>
      </p:sp>
      <p:sp>
        <p:nvSpPr>
          <p:cNvPr id="8" name="Rectangle 7"/>
          <p:cNvSpPr/>
          <p:nvPr/>
        </p:nvSpPr>
        <p:spPr>
          <a:xfrm>
            <a:off x="457200" y="2999232"/>
            <a:ext cx="2615184" cy="1170432"/>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3163824"/>
            <a:ext cx="2240280" cy="256032"/>
          </a:xfrm>
          <a:prstGeom prst="rect">
            <a:avLst/>
          </a:prstGeom>
          <a:noFill/>
        </p:spPr>
        <p:txBody>
          <a:bodyPr wrap="square" lIns="0" tIns="0" rIns="0" bIns="0" anchor="t">
            <a:spAutoFit/>
          </a:bodyPr>
          <a:lstStyle/>
          <a:p>
            <a:pPr algn="l"/>
            <a:r>
              <a:rPr sz="1050" b="1">
                <a:solidFill>
                  <a:srgbClr val="F59E0B"/>
                </a:solidFill>
                <a:latin typeface="Calibri"/>
              </a:rPr>
              <a:t>MISSED DAY</a:t>
            </a:r>
          </a:p>
        </p:txBody>
      </p:sp>
      <p:sp>
        <p:nvSpPr>
          <p:cNvPr id="10" name="TextBox 9"/>
          <p:cNvSpPr txBox="1"/>
          <p:nvPr/>
        </p:nvSpPr>
        <p:spPr>
          <a:xfrm>
            <a:off x="658368" y="3456432"/>
            <a:ext cx="2240280" cy="658368"/>
          </a:xfrm>
          <a:prstGeom prst="rect">
            <a:avLst/>
          </a:prstGeom>
          <a:noFill/>
        </p:spPr>
        <p:txBody>
          <a:bodyPr wrap="square" lIns="0" tIns="0" rIns="0" bIns="0" anchor="t">
            <a:spAutoFit/>
          </a:bodyPr>
          <a:lstStyle/>
          <a:p>
            <a:pPr algn="l">
              <a:lnSpc>
                <a:spcPct val="108000"/>
              </a:lnSpc>
            </a:pPr>
            <a:r>
              <a:rPr sz="1150" b="0">
                <a:solidFill>
                  <a:srgbClr val="2D1155"/>
                </a:solidFill>
                <a:latin typeface="Calibri"/>
              </a:rPr>
              <a:t>Streak resets to zero — the rule the whole app rests on.</a:t>
            </a:r>
          </a:p>
        </p:txBody>
      </p:sp>
      <p:sp>
        <p:nvSpPr>
          <p:cNvPr id="11" name="Rectangle 10"/>
          <p:cNvSpPr/>
          <p:nvPr/>
        </p:nvSpPr>
        <p:spPr>
          <a:xfrm>
            <a:off x="3264408" y="2999232"/>
            <a:ext cx="2615184" cy="1170432"/>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65576" y="3163824"/>
            <a:ext cx="2240280" cy="256032"/>
          </a:xfrm>
          <a:prstGeom prst="rect">
            <a:avLst/>
          </a:prstGeom>
          <a:noFill/>
        </p:spPr>
        <p:txBody>
          <a:bodyPr wrap="square" lIns="0" tIns="0" rIns="0" bIns="0" anchor="t">
            <a:spAutoFit/>
          </a:bodyPr>
          <a:lstStyle/>
          <a:p>
            <a:pPr algn="l"/>
            <a:r>
              <a:rPr sz="1050" b="1">
                <a:solidFill>
                  <a:srgbClr val="F59E0B"/>
                </a:solidFill>
                <a:latin typeface="Calibri"/>
              </a:rPr>
              <a:t>DOUBLE-TICK</a:t>
            </a:r>
          </a:p>
        </p:txBody>
      </p:sp>
      <p:sp>
        <p:nvSpPr>
          <p:cNvPr id="13" name="TextBox 12"/>
          <p:cNvSpPr txBox="1"/>
          <p:nvPr/>
        </p:nvSpPr>
        <p:spPr>
          <a:xfrm>
            <a:off x="3465576" y="3456432"/>
            <a:ext cx="2240280" cy="658368"/>
          </a:xfrm>
          <a:prstGeom prst="rect">
            <a:avLst/>
          </a:prstGeom>
          <a:noFill/>
        </p:spPr>
        <p:txBody>
          <a:bodyPr wrap="square" lIns="0" tIns="0" rIns="0" bIns="0" anchor="t">
            <a:spAutoFit/>
          </a:bodyPr>
          <a:lstStyle/>
          <a:p>
            <a:pPr algn="l">
              <a:lnSpc>
                <a:spcPct val="108000"/>
              </a:lnSpc>
            </a:pPr>
            <a:r>
              <a:rPr sz="1150" b="0">
                <a:solidFill>
                  <a:srgbClr val="2D1155"/>
                </a:solidFill>
                <a:latin typeface="Calibri"/>
              </a:rPr>
              <a:t>Two taps in one day is still one completion. (Idempotent.)</a:t>
            </a:r>
          </a:p>
        </p:txBody>
      </p:sp>
      <p:sp>
        <p:nvSpPr>
          <p:cNvPr id="14" name="Rectangle 13"/>
          <p:cNvSpPr/>
          <p:nvPr/>
        </p:nvSpPr>
        <p:spPr>
          <a:xfrm>
            <a:off x="6071616" y="2999232"/>
            <a:ext cx="2615184" cy="1170432"/>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72783" y="3163824"/>
            <a:ext cx="2240280" cy="256032"/>
          </a:xfrm>
          <a:prstGeom prst="rect">
            <a:avLst/>
          </a:prstGeom>
          <a:noFill/>
        </p:spPr>
        <p:txBody>
          <a:bodyPr wrap="square" lIns="0" tIns="0" rIns="0" bIns="0" anchor="t">
            <a:spAutoFit/>
          </a:bodyPr>
          <a:lstStyle/>
          <a:p>
            <a:pPr algn="l"/>
            <a:r>
              <a:rPr sz="1050" b="1">
                <a:solidFill>
                  <a:srgbClr val="F59E0B"/>
                </a:solidFill>
                <a:latin typeface="Calibri"/>
              </a:rPr>
              <a:t>MIDNIGHT</a:t>
            </a:r>
          </a:p>
        </p:txBody>
      </p:sp>
      <p:sp>
        <p:nvSpPr>
          <p:cNvPr id="16" name="TextBox 15"/>
          <p:cNvSpPr txBox="1"/>
          <p:nvPr/>
        </p:nvSpPr>
        <p:spPr>
          <a:xfrm>
            <a:off x="6272783" y="3456432"/>
            <a:ext cx="2240280" cy="658368"/>
          </a:xfrm>
          <a:prstGeom prst="rect">
            <a:avLst/>
          </a:prstGeom>
          <a:noFill/>
        </p:spPr>
        <p:txBody>
          <a:bodyPr wrap="square" lIns="0" tIns="0" rIns="0" bIns="0" anchor="t">
            <a:spAutoFit/>
          </a:bodyPr>
          <a:lstStyle/>
          <a:p>
            <a:pPr algn="l">
              <a:lnSpc>
                <a:spcPct val="108000"/>
              </a:lnSpc>
            </a:pPr>
            <a:r>
              <a:rPr sz="1150" b="0">
                <a:solidFill>
                  <a:srgbClr val="2D1155"/>
                </a:solidFill>
                <a:latin typeface="Calibri"/>
              </a:rPr>
              <a:t>Whose “today”? Timezones are where streaks quietly lie.</a:t>
            </a:r>
          </a:p>
        </p:txBody>
      </p:sp>
      <p:sp>
        <p:nvSpPr>
          <p:cNvPr id="17" name="TextBox 16"/>
          <p:cNvSpPr txBox="1"/>
          <p:nvPr/>
        </p:nvSpPr>
        <p:spPr>
          <a:xfrm>
            <a:off x="457200" y="4315968"/>
            <a:ext cx="8229600" cy="320040"/>
          </a:xfrm>
          <a:prstGeom prst="rect">
            <a:avLst/>
          </a:prstGeom>
          <a:noFill/>
        </p:spPr>
        <p:txBody>
          <a:bodyPr wrap="square" lIns="0" tIns="0" rIns="0" bIns="0" anchor="t">
            <a:spAutoFit/>
          </a:bodyPr>
          <a:lstStyle/>
          <a:p>
            <a:pPr algn="l"/>
            <a:r>
              <a:rPr sz="1200" b="0">
                <a:solidFill>
                  <a:srgbClr val="6E6389"/>
                </a:solidFill>
                <a:latin typeface="Calibri"/>
              </a:rPr>
              <a:t>Seeing it fail first is the proof the test is real. A test that never failed proves nothing.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MOVE 2 · SUB-AGENTS</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Three narrow jobs, each with its own fresh context and minimal tools.</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81328"/>
            <a:ext cx="2615184" cy="21488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81328"/>
            <a:ext cx="2615184" cy="4572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481328"/>
            <a:ext cx="2615184" cy="457200"/>
          </a:xfrm>
          <a:prstGeom prst="rect">
            <a:avLst/>
          </a:prstGeom>
          <a:noFill/>
        </p:spPr>
        <p:txBody>
          <a:bodyPr wrap="square" lIns="0" tIns="0" rIns="0" bIns="0" anchor="ctr">
            <a:spAutoFit/>
          </a:bodyPr>
          <a:lstStyle/>
          <a:p>
            <a:pPr algn="ctr"/>
            <a:r>
              <a:rPr sz="1100" b="1">
                <a:solidFill>
                  <a:srgbClr val="FFFFFF"/>
                </a:solidFill>
                <a:latin typeface="Calibri"/>
              </a:rPr>
              <a:t>TEST-WRITER</a:t>
            </a:r>
          </a:p>
        </p:txBody>
      </p:sp>
      <p:sp>
        <p:nvSpPr>
          <p:cNvPr id="8" name="TextBox 7"/>
          <p:cNvSpPr txBox="1"/>
          <p:nvPr/>
        </p:nvSpPr>
        <p:spPr>
          <a:xfrm>
            <a:off x="658368" y="2121408"/>
            <a:ext cx="2240280" cy="100584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Writes failing tests from the requirement. Never implements.</a:t>
            </a:r>
          </a:p>
        </p:txBody>
      </p:sp>
      <p:sp>
        <p:nvSpPr>
          <p:cNvPr id="9" name="TextBox 8"/>
          <p:cNvSpPr txBox="1"/>
          <p:nvPr/>
        </p:nvSpPr>
        <p:spPr>
          <a:xfrm>
            <a:off x="658368" y="3200400"/>
            <a:ext cx="2240280" cy="292608"/>
          </a:xfrm>
          <a:prstGeom prst="rect">
            <a:avLst/>
          </a:prstGeom>
          <a:noFill/>
        </p:spPr>
        <p:txBody>
          <a:bodyPr wrap="square" lIns="0" tIns="0" rIns="0" bIns="0" anchor="t">
            <a:spAutoFit/>
          </a:bodyPr>
          <a:lstStyle/>
          <a:p>
            <a:pPr algn="l"/>
            <a:r>
              <a:rPr sz="900" b="1">
                <a:solidFill>
                  <a:srgbClr val="F59E0B"/>
                </a:solidFill>
                <a:latin typeface="Calibri"/>
              </a:rPr>
              <a:t>TOOLS:  </a:t>
            </a:r>
            <a:r>
              <a:rPr sz="1050" b="0">
                <a:solidFill>
                  <a:srgbClr val="6E6389"/>
                </a:solidFill>
                <a:latin typeface="Courier New"/>
              </a:rPr>
              <a:t>read + write tests</a:t>
            </a:r>
          </a:p>
        </p:txBody>
      </p:sp>
      <p:sp>
        <p:nvSpPr>
          <p:cNvPr id="10" name="Rectangle 9"/>
          <p:cNvSpPr/>
          <p:nvPr/>
        </p:nvSpPr>
        <p:spPr>
          <a:xfrm>
            <a:off x="3264408" y="1481328"/>
            <a:ext cx="2615184" cy="21488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64408" y="1481328"/>
            <a:ext cx="2615184" cy="4572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64408" y="1481328"/>
            <a:ext cx="2615184" cy="457200"/>
          </a:xfrm>
          <a:prstGeom prst="rect">
            <a:avLst/>
          </a:prstGeom>
          <a:noFill/>
        </p:spPr>
        <p:txBody>
          <a:bodyPr wrap="square" lIns="0" tIns="0" rIns="0" bIns="0" anchor="ctr">
            <a:spAutoFit/>
          </a:bodyPr>
          <a:lstStyle/>
          <a:p>
            <a:pPr algn="ctr"/>
            <a:r>
              <a:rPr sz="1100" b="1">
                <a:solidFill>
                  <a:srgbClr val="FFFFFF"/>
                </a:solidFill>
                <a:latin typeface="Calibri"/>
              </a:rPr>
              <a:t>REVIEWER</a:t>
            </a:r>
          </a:p>
        </p:txBody>
      </p:sp>
      <p:sp>
        <p:nvSpPr>
          <p:cNvPr id="13" name="TextBox 12"/>
          <p:cNvSpPr txBox="1"/>
          <p:nvPr/>
        </p:nvSpPr>
        <p:spPr>
          <a:xfrm>
            <a:off x="3465576" y="2121408"/>
            <a:ext cx="2240280" cy="100584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Reads the diff, reports bugs as a numbered list with file:line.</a:t>
            </a:r>
          </a:p>
        </p:txBody>
      </p:sp>
      <p:sp>
        <p:nvSpPr>
          <p:cNvPr id="14" name="TextBox 13"/>
          <p:cNvSpPr txBox="1"/>
          <p:nvPr/>
        </p:nvSpPr>
        <p:spPr>
          <a:xfrm>
            <a:off x="3465576" y="3200400"/>
            <a:ext cx="2240280" cy="292608"/>
          </a:xfrm>
          <a:prstGeom prst="rect">
            <a:avLst/>
          </a:prstGeom>
          <a:noFill/>
        </p:spPr>
        <p:txBody>
          <a:bodyPr wrap="square" lIns="0" tIns="0" rIns="0" bIns="0" anchor="t">
            <a:spAutoFit/>
          </a:bodyPr>
          <a:lstStyle/>
          <a:p>
            <a:pPr algn="l"/>
            <a:r>
              <a:rPr sz="900" b="1">
                <a:solidFill>
                  <a:srgbClr val="F59E0B"/>
                </a:solidFill>
                <a:latin typeface="Calibri"/>
              </a:rPr>
              <a:t>TOOLS:  </a:t>
            </a:r>
            <a:r>
              <a:rPr sz="1050" b="0">
                <a:solidFill>
                  <a:srgbClr val="6E6389"/>
                </a:solidFill>
                <a:latin typeface="Courier New"/>
              </a:rPr>
              <a:t>read-only — no edits</a:t>
            </a:r>
          </a:p>
        </p:txBody>
      </p:sp>
      <p:sp>
        <p:nvSpPr>
          <p:cNvPr id="15" name="Rectangle 14"/>
          <p:cNvSpPr/>
          <p:nvPr/>
        </p:nvSpPr>
        <p:spPr>
          <a:xfrm>
            <a:off x="6071616" y="1481328"/>
            <a:ext cx="2615184" cy="21488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071616" y="1481328"/>
            <a:ext cx="2615184" cy="4572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1616" y="1481328"/>
            <a:ext cx="2615184" cy="457200"/>
          </a:xfrm>
          <a:prstGeom prst="rect">
            <a:avLst/>
          </a:prstGeom>
          <a:noFill/>
        </p:spPr>
        <p:txBody>
          <a:bodyPr wrap="square" lIns="0" tIns="0" rIns="0" bIns="0" anchor="ctr">
            <a:spAutoFit/>
          </a:bodyPr>
          <a:lstStyle/>
          <a:p>
            <a:pPr algn="ctr"/>
            <a:r>
              <a:rPr sz="1100" b="1">
                <a:solidFill>
                  <a:srgbClr val="FFFFFF"/>
                </a:solidFill>
                <a:latin typeface="Calibri"/>
              </a:rPr>
              <a:t>VERIFIER</a:t>
            </a:r>
          </a:p>
        </p:txBody>
      </p:sp>
      <p:sp>
        <p:nvSpPr>
          <p:cNvPr id="18" name="TextBox 17"/>
          <p:cNvSpPr txBox="1"/>
          <p:nvPr/>
        </p:nvSpPr>
        <p:spPr>
          <a:xfrm>
            <a:off x="6272783" y="2121408"/>
            <a:ext cx="2240280" cy="100584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Runs make check and the app. Confirms green, or says why not.</a:t>
            </a:r>
          </a:p>
        </p:txBody>
      </p:sp>
      <p:sp>
        <p:nvSpPr>
          <p:cNvPr id="19" name="TextBox 18"/>
          <p:cNvSpPr txBox="1"/>
          <p:nvPr/>
        </p:nvSpPr>
        <p:spPr>
          <a:xfrm>
            <a:off x="6272783" y="3200400"/>
            <a:ext cx="2240280" cy="292608"/>
          </a:xfrm>
          <a:prstGeom prst="rect">
            <a:avLst/>
          </a:prstGeom>
          <a:noFill/>
        </p:spPr>
        <p:txBody>
          <a:bodyPr wrap="square" lIns="0" tIns="0" rIns="0" bIns="0" anchor="t">
            <a:spAutoFit/>
          </a:bodyPr>
          <a:lstStyle/>
          <a:p>
            <a:pPr algn="l"/>
            <a:r>
              <a:rPr sz="900" b="1">
                <a:solidFill>
                  <a:srgbClr val="F59E0B"/>
                </a:solidFill>
                <a:latin typeface="Calibri"/>
              </a:rPr>
              <a:t>TOOLS:  </a:t>
            </a:r>
            <a:r>
              <a:rPr sz="1050" b="0">
                <a:solidFill>
                  <a:srgbClr val="6E6389"/>
                </a:solidFill>
                <a:latin typeface="Courier New"/>
              </a:rPr>
              <a:t>read + run shell</a:t>
            </a:r>
          </a:p>
        </p:txBody>
      </p:sp>
      <p:sp>
        <p:nvSpPr>
          <p:cNvPr id="20" name="Rectangle 19"/>
          <p:cNvSpPr/>
          <p:nvPr/>
        </p:nvSpPr>
        <p:spPr>
          <a:xfrm>
            <a:off x="457200" y="3749039"/>
            <a:ext cx="7772400" cy="822960"/>
          </a:xfrm>
          <a:prstGeom prst="rect">
            <a:avLst/>
          </a:prstGeom>
          <a:solidFill>
            <a:srgbClr val="1E0B3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8368" y="3913631"/>
            <a:ext cx="7370064" cy="493776"/>
          </a:xfrm>
          <a:prstGeom prst="rect">
            <a:avLst/>
          </a:prstGeom>
          <a:noFill/>
        </p:spPr>
        <p:txBody>
          <a:bodyPr wrap="square" lIns="0" tIns="0" rIns="0" bIns="0" anchor="t">
            <a:spAutoFit/>
          </a:bodyPr>
          <a:lstStyle/>
          <a:p>
            <a:pPr algn="l">
              <a:lnSpc>
                <a:spcPct val="132000"/>
              </a:lnSpc>
            </a:pPr>
            <a:r>
              <a:rPr sz="1050" b="0">
                <a:solidFill>
                  <a:srgbClr val="C4B5E8"/>
                </a:solidFill>
                <a:latin typeface="Courier New"/>
              </a:rPr>
              <a:t>Claude Code   .claude/agents/reviewer.md     # markdown + frontmatter, /agents</a:t>
            </a:r>
          </a:p>
          <a:p>
            <a:pPr algn="l">
              <a:lnSpc>
                <a:spcPct val="132000"/>
              </a:lnSpc>
            </a:pPr>
            <a:r>
              <a:rPr sz="1050" b="0">
                <a:solidFill>
                  <a:srgbClr val="C4B5E8"/>
                </a:solidFill>
                <a:latin typeface="Courier New"/>
              </a:rPr>
              <a:t>Codex         .codex/agents/reviewer.toml   # sandbox_mode = "read-only"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WHY NARROW BEATS CAPABLE</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The counter-intuitive bit — give each agent less, not more.</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572768"/>
            <a:ext cx="4023360" cy="21488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572768"/>
            <a:ext cx="4023360" cy="475488"/>
          </a:xfrm>
          <a:prstGeom prst="rect">
            <a:avLst/>
          </a:prstGeom>
          <a:solidFill>
            <a:srgbClr val="9B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572768"/>
            <a:ext cx="4023360" cy="475488"/>
          </a:xfrm>
          <a:prstGeom prst="rect">
            <a:avLst/>
          </a:prstGeom>
          <a:noFill/>
        </p:spPr>
        <p:txBody>
          <a:bodyPr wrap="square" lIns="0" tIns="0" rIns="0" bIns="0" anchor="ctr">
            <a:spAutoFit/>
          </a:bodyPr>
          <a:lstStyle/>
          <a:p>
            <a:pPr algn="ctr"/>
            <a:r>
              <a:rPr sz="1100" b="1">
                <a:solidFill>
                  <a:srgbClr val="FFFFFF"/>
                </a:solidFill>
                <a:latin typeface="Calibri"/>
              </a:rPr>
              <a:t>✕   ONE AGENT, ALL THE JOBS</a:t>
            </a:r>
          </a:p>
        </p:txBody>
      </p:sp>
      <p:sp>
        <p:nvSpPr>
          <p:cNvPr id="8" name="TextBox 7"/>
          <p:cNvSpPr txBox="1"/>
          <p:nvPr/>
        </p:nvSpPr>
        <p:spPr>
          <a:xfrm>
            <a:off x="713232" y="2267712"/>
            <a:ext cx="3520440" cy="1325880"/>
          </a:xfrm>
          <a:prstGeom prst="rect">
            <a:avLst/>
          </a:prstGeom>
          <a:noFill/>
        </p:spPr>
        <p:txBody>
          <a:bodyPr wrap="square" lIns="0" tIns="0" rIns="0" bIns="0" anchor="t">
            <a:spAutoFit/>
          </a:bodyPr>
          <a:lstStyle/>
          <a:p>
            <a:pPr algn="l">
              <a:lnSpc>
                <a:spcPct val="112000"/>
              </a:lnSpc>
            </a:pPr>
            <a:r>
              <a:rPr sz="1250" b="0">
                <a:solidFill>
                  <a:srgbClr val="2D1155"/>
                </a:solidFill>
                <a:latin typeface="Calibri"/>
              </a:rPr>
              <a:t>It wrote the code, so it reviews its own work kindly. Its context is full of the reasons it thought the code was fine — the same blind spot, twice.</a:t>
            </a:r>
          </a:p>
        </p:txBody>
      </p:sp>
      <p:sp>
        <p:nvSpPr>
          <p:cNvPr id="9" name="Rectangle 8"/>
          <p:cNvSpPr/>
          <p:nvPr/>
        </p:nvSpPr>
        <p:spPr>
          <a:xfrm>
            <a:off x="4663440" y="1572768"/>
            <a:ext cx="4023360" cy="21488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663440" y="1572768"/>
            <a:ext cx="4023360" cy="47548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63440" y="1572768"/>
            <a:ext cx="4023360" cy="475488"/>
          </a:xfrm>
          <a:prstGeom prst="rect">
            <a:avLst/>
          </a:prstGeom>
          <a:noFill/>
        </p:spPr>
        <p:txBody>
          <a:bodyPr wrap="square" lIns="0" tIns="0" rIns="0" bIns="0" anchor="ctr">
            <a:spAutoFit/>
          </a:bodyPr>
          <a:lstStyle/>
          <a:p>
            <a:pPr algn="ctr"/>
            <a:r>
              <a:rPr sz="1100" b="1">
                <a:solidFill>
                  <a:srgbClr val="FFFFFF"/>
                </a:solidFill>
                <a:latin typeface="Calibri"/>
              </a:rPr>
              <a:t>✓   SEPARATE, NARROW AGENTS</a:t>
            </a:r>
          </a:p>
        </p:txBody>
      </p:sp>
      <p:sp>
        <p:nvSpPr>
          <p:cNvPr id="12" name="TextBox 11"/>
          <p:cNvSpPr txBox="1"/>
          <p:nvPr/>
        </p:nvSpPr>
        <p:spPr>
          <a:xfrm>
            <a:off x="4919472" y="2267712"/>
            <a:ext cx="3520440" cy="1325880"/>
          </a:xfrm>
          <a:prstGeom prst="rect">
            <a:avLst/>
          </a:prstGeom>
          <a:noFill/>
        </p:spPr>
        <p:txBody>
          <a:bodyPr wrap="square" lIns="0" tIns="0" rIns="0" bIns="0" anchor="t">
            <a:spAutoFit/>
          </a:bodyPr>
          <a:lstStyle/>
          <a:p>
            <a:pPr algn="l">
              <a:lnSpc>
                <a:spcPct val="112000"/>
              </a:lnSpc>
            </a:pPr>
            <a:r>
              <a:rPr sz="1250" b="0">
                <a:solidFill>
                  <a:srgbClr val="2D1155"/>
                </a:solidFill>
                <a:latin typeface="Calibri"/>
              </a:rPr>
              <a:t>A reviewer that never saw the reasoning arrives fresh. And one with no write access can only report problems — it can’t quietly “fix” them into hiding.</a:t>
            </a:r>
          </a:p>
        </p:txBody>
      </p:sp>
      <p:sp>
        <p:nvSpPr>
          <p:cNvPr id="13" name="Rectangle 12"/>
          <p:cNvSpPr/>
          <p:nvPr/>
        </p:nvSpPr>
        <p:spPr>
          <a:xfrm>
            <a:off x="457200" y="3822191"/>
            <a:ext cx="8229600" cy="658368"/>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 y="3822191"/>
            <a:ext cx="7498079" cy="658368"/>
          </a:xfrm>
          <a:prstGeom prst="rect">
            <a:avLst/>
          </a:prstGeom>
          <a:noFill/>
        </p:spPr>
        <p:txBody>
          <a:bodyPr wrap="square" lIns="0" tIns="0" rIns="0" bIns="0" anchor="ctr">
            <a:spAutoFit/>
          </a:bodyPr>
          <a:lstStyle/>
          <a:p>
            <a:pPr algn="l"/>
            <a:r>
              <a:rPr sz="1500" b="1">
                <a:solidFill>
                  <a:srgbClr val="FFFFFF"/>
                </a:solidFill>
                <a:latin typeface="Arial Black"/>
              </a:rPr>
              <a:t>A reviewer with no write access gives more honest reviews.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HOW THE HANDOFF WORKS</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A sub-agent doesn't share your conversation. It gets a brief, and hands back a verdict.</a:t>
            </a:r>
          </a:p>
        </p:txBody>
      </p:sp>
      <p:pic>
        <p:nvPicPr>
          <p:cNvPr id="4" name="Picture 3" descr="image.jp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371600"/>
            <a:ext cx="2615184" cy="18288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71600"/>
            <a:ext cx="2615184" cy="4572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371600"/>
            <a:ext cx="2615184" cy="457200"/>
          </a:xfrm>
          <a:prstGeom prst="rect">
            <a:avLst/>
          </a:prstGeom>
          <a:noFill/>
        </p:spPr>
        <p:txBody>
          <a:bodyPr wrap="square" lIns="0" tIns="0" rIns="0" bIns="0" anchor="ctr">
            <a:spAutoFit/>
          </a:bodyPr>
          <a:lstStyle/>
          <a:p>
            <a:pPr algn="ctr"/>
            <a:r>
              <a:rPr sz="1100" b="1">
                <a:solidFill>
                  <a:srgbClr val="FFFFFF"/>
                </a:solidFill>
                <a:latin typeface="Calibri"/>
              </a:rPr>
              <a:t>YOU BRIEF IT</a:t>
            </a:r>
          </a:p>
        </p:txBody>
      </p:sp>
      <p:sp>
        <p:nvSpPr>
          <p:cNvPr id="8" name="TextBox 7"/>
          <p:cNvSpPr txBox="1"/>
          <p:nvPr/>
        </p:nvSpPr>
        <p:spPr>
          <a:xfrm>
            <a:off x="658368" y="1965960"/>
            <a:ext cx="2240280" cy="82296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Only what you write in the prompt crosses over. It can't see the conversation that led here.</a:t>
            </a:r>
          </a:p>
        </p:txBody>
      </p:sp>
      <p:sp>
        <p:nvSpPr>
          <p:cNvPr id="9" name="TextBox 8"/>
          <p:cNvSpPr txBox="1"/>
          <p:nvPr/>
        </p:nvSpPr>
        <p:spPr>
          <a:xfrm>
            <a:off x="658368" y="2871216"/>
            <a:ext cx="2240280" cy="292608"/>
          </a:xfrm>
          <a:prstGeom prst="rect">
            <a:avLst/>
          </a:prstGeom>
          <a:noFill/>
        </p:spPr>
        <p:txBody>
          <a:bodyPr wrap="square" lIns="0" tIns="0" rIns="0" bIns="0" anchor="t">
            <a:spAutoFit/>
          </a:bodyPr>
          <a:lstStyle/>
          <a:p>
            <a:pPr algn="l"/>
            <a:r>
              <a:rPr sz="900" b="1">
                <a:solidFill>
                  <a:srgbClr val="F59E0B"/>
                </a:solidFill>
                <a:latin typeface="Calibri"/>
              </a:rPr>
              <a:t>CROSSES:  </a:t>
            </a:r>
            <a:r>
              <a:rPr sz="1050" b="0">
                <a:solidFill>
                  <a:srgbClr val="6E6389"/>
                </a:solidFill>
                <a:latin typeface="Courier New"/>
              </a:rPr>
              <a:t>the prompt only</a:t>
            </a:r>
          </a:p>
        </p:txBody>
      </p:sp>
      <p:sp>
        <p:nvSpPr>
          <p:cNvPr id="10" name="Rectangle 9"/>
          <p:cNvSpPr/>
          <p:nvPr/>
        </p:nvSpPr>
        <p:spPr>
          <a:xfrm>
            <a:off x="3264408" y="1371600"/>
            <a:ext cx="2615184" cy="18288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264408" y="1371600"/>
            <a:ext cx="2615184" cy="4572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64408" y="1371600"/>
            <a:ext cx="2615184" cy="457200"/>
          </a:xfrm>
          <a:prstGeom prst="rect">
            <a:avLst/>
          </a:prstGeom>
          <a:noFill/>
        </p:spPr>
        <p:txBody>
          <a:bodyPr wrap="square" lIns="0" tIns="0" rIns="0" bIns="0" anchor="ctr">
            <a:spAutoFit/>
          </a:bodyPr>
          <a:lstStyle/>
          <a:p>
            <a:pPr algn="ctr"/>
            <a:r>
              <a:rPr sz="1100" b="1">
                <a:solidFill>
                  <a:srgbClr val="FFFFFF"/>
                </a:solidFill>
                <a:latin typeface="Calibri"/>
              </a:rPr>
              <a:t>IT WORKS ALONE</a:t>
            </a:r>
          </a:p>
        </p:txBody>
      </p:sp>
      <p:sp>
        <p:nvSpPr>
          <p:cNvPr id="13" name="TextBox 12"/>
          <p:cNvSpPr txBox="1"/>
          <p:nvPr/>
        </p:nvSpPr>
        <p:spPr>
          <a:xfrm>
            <a:off x="3465576" y="1965960"/>
            <a:ext cx="2240280" cy="82296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Its own context window, its own tool permissions. It fills up, then it's gone.</a:t>
            </a:r>
          </a:p>
        </p:txBody>
      </p:sp>
      <p:sp>
        <p:nvSpPr>
          <p:cNvPr id="14" name="TextBox 13"/>
          <p:cNvSpPr txBox="1"/>
          <p:nvPr/>
        </p:nvSpPr>
        <p:spPr>
          <a:xfrm>
            <a:off x="3465576" y="2871216"/>
            <a:ext cx="2240280" cy="292608"/>
          </a:xfrm>
          <a:prstGeom prst="rect">
            <a:avLst/>
          </a:prstGeom>
          <a:noFill/>
        </p:spPr>
        <p:txBody>
          <a:bodyPr wrap="square" lIns="0" tIns="0" rIns="0" bIns="0" anchor="t">
            <a:spAutoFit/>
          </a:bodyPr>
          <a:lstStyle/>
          <a:p>
            <a:pPr algn="l"/>
            <a:r>
              <a:rPr sz="900" b="1">
                <a:solidFill>
                  <a:srgbClr val="F59E0B"/>
                </a:solidFill>
                <a:latin typeface="Calibri"/>
              </a:rPr>
              <a:t>ITS OWN:  </a:t>
            </a:r>
            <a:r>
              <a:rPr sz="1050" b="0">
                <a:solidFill>
                  <a:srgbClr val="6E6389"/>
                </a:solidFill>
                <a:latin typeface="Courier New"/>
              </a:rPr>
              <a:t>context + tools</a:t>
            </a:r>
          </a:p>
        </p:txBody>
      </p:sp>
      <p:sp>
        <p:nvSpPr>
          <p:cNvPr id="15" name="Rectangle 14"/>
          <p:cNvSpPr/>
          <p:nvPr/>
        </p:nvSpPr>
        <p:spPr>
          <a:xfrm>
            <a:off x="6071616" y="1371600"/>
            <a:ext cx="2615184" cy="18288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071616" y="1371600"/>
            <a:ext cx="2615184" cy="4572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071616" y="1371600"/>
            <a:ext cx="2615184" cy="457200"/>
          </a:xfrm>
          <a:prstGeom prst="rect">
            <a:avLst/>
          </a:prstGeom>
          <a:noFill/>
        </p:spPr>
        <p:txBody>
          <a:bodyPr wrap="square" lIns="0" tIns="0" rIns="0" bIns="0" anchor="ctr">
            <a:spAutoFit/>
          </a:bodyPr>
          <a:lstStyle/>
          <a:p>
            <a:pPr algn="ctr"/>
            <a:r>
              <a:rPr sz="1100" b="1">
                <a:solidFill>
                  <a:srgbClr val="FFFFFF"/>
                </a:solidFill>
                <a:latin typeface="Calibri"/>
              </a:rPr>
              <a:t>IT HANDS BACK</a:t>
            </a:r>
          </a:p>
        </p:txBody>
      </p:sp>
      <p:sp>
        <p:nvSpPr>
          <p:cNvPr id="18" name="TextBox 17"/>
          <p:cNvSpPr txBox="1"/>
          <p:nvPr/>
        </p:nvSpPr>
        <p:spPr>
          <a:xfrm>
            <a:off x="6272783" y="1965960"/>
            <a:ext cx="2240280" cy="82296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One summary comes back to your session. Not its reasoning, not the forty files it read.</a:t>
            </a:r>
          </a:p>
        </p:txBody>
      </p:sp>
      <p:sp>
        <p:nvSpPr>
          <p:cNvPr id="19" name="TextBox 18"/>
          <p:cNvSpPr txBox="1"/>
          <p:nvPr/>
        </p:nvSpPr>
        <p:spPr>
          <a:xfrm>
            <a:off x="6272783" y="2871216"/>
            <a:ext cx="2240280" cy="292608"/>
          </a:xfrm>
          <a:prstGeom prst="rect">
            <a:avLst/>
          </a:prstGeom>
          <a:noFill/>
        </p:spPr>
        <p:txBody>
          <a:bodyPr wrap="square" lIns="0" tIns="0" rIns="0" bIns="0" anchor="t">
            <a:spAutoFit/>
          </a:bodyPr>
          <a:lstStyle/>
          <a:p>
            <a:pPr algn="l"/>
            <a:r>
              <a:rPr sz="900" b="1">
                <a:solidFill>
                  <a:srgbClr val="F59E0B"/>
                </a:solidFill>
                <a:latin typeface="Calibri"/>
              </a:rPr>
              <a:t>RETURNS:  </a:t>
            </a:r>
            <a:r>
              <a:rPr sz="1050" b="0">
                <a:solidFill>
                  <a:srgbClr val="6E6389"/>
                </a:solidFill>
                <a:latin typeface="Courier New"/>
              </a:rPr>
              <a:t>one summary</a:t>
            </a:r>
          </a:p>
        </p:txBody>
      </p:sp>
      <p:sp>
        <p:nvSpPr>
          <p:cNvPr id="20" name="TextBox 19"/>
          <p:cNvSpPr txBox="1"/>
          <p:nvPr/>
        </p:nvSpPr>
        <p:spPr>
          <a:xfrm>
            <a:off x="457200" y="3310128"/>
            <a:ext cx="8229600" cy="384048"/>
          </a:xfrm>
          <a:prstGeom prst="rect">
            <a:avLst/>
          </a:prstGeom>
          <a:noFill/>
        </p:spPr>
        <p:txBody>
          <a:bodyPr wrap="square" lIns="0" tIns="0" rIns="0" bIns="0" anchor="t">
            <a:spAutoFit/>
          </a:bodyPr>
          <a:lstStyle/>
          <a:p>
            <a:pPr algn="l">
              <a:lnSpc>
                <a:spcPct val="108000"/>
              </a:lnSpc>
            </a:pPr>
            <a:r>
              <a:rPr sz="900" b="1">
                <a:solidFill>
                  <a:srgbClr val="F59E0B"/>
                </a:solidFill>
                <a:latin typeface="Calibri"/>
              </a:rPr>
              <a:t>IN PLAIN TERMS   </a:t>
            </a:r>
            <a:r>
              <a:rPr sz="1200" b="0">
                <a:solidFill>
                  <a:srgbClr val="6E6389"/>
                </a:solidFill>
                <a:latin typeface="Calibri"/>
              </a:rPr>
              <a:t>Every handoff needs a defined input and output. “Here is the diff, return numbered bugs with file:line and severity” works. “Reviewer, thoughts?” returns mush.</a:t>
            </a:r>
          </a:p>
        </p:txBody>
      </p:sp>
      <p:sp>
        <p:nvSpPr>
          <p:cNvPr id="21" name="Rectangle 20"/>
          <p:cNvSpPr/>
          <p:nvPr/>
        </p:nvSpPr>
        <p:spPr>
          <a:xfrm>
            <a:off x="457200" y="3767328"/>
            <a:ext cx="8229600" cy="658368"/>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3767328"/>
            <a:ext cx="7498079" cy="658368"/>
          </a:xfrm>
          <a:prstGeom prst="rect">
            <a:avLst/>
          </a:prstGeom>
          <a:noFill/>
        </p:spPr>
        <p:txBody>
          <a:bodyPr wrap="square" lIns="0" tIns="0" rIns="0" bIns="0" anchor="ctr">
            <a:spAutoFit/>
          </a:bodyPr>
          <a:lstStyle/>
          <a:p>
            <a:pPr algn="l">
              <a:lnSpc>
                <a:spcPct val="112000"/>
              </a:lnSpc>
            </a:pPr>
            <a:r>
              <a:rPr sz="1500" b="1">
                <a:solidFill>
                  <a:srgbClr val="FFFFFF"/>
                </a:solidFill>
                <a:latin typeface="Arial Black"/>
              </a:rPr>
              <a:t>Context isn't shared. It's passed, and only what you pass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MOVE 3 · THE AGENT TEAM</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The centrepiece. Four roles in sequence, you at the top.</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572768"/>
            <a:ext cx="1828800" cy="105156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83080"/>
            <a:ext cx="1645920" cy="292608"/>
          </a:xfrm>
          <a:prstGeom prst="rect">
            <a:avLst/>
          </a:prstGeom>
          <a:noFill/>
        </p:spPr>
        <p:txBody>
          <a:bodyPr wrap="square" lIns="0" tIns="0" rIns="0" bIns="0" anchor="t">
            <a:spAutoFit/>
          </a:bodyPr>
          <a:lstStyle/>
          <a:p>
            <a:pPr algn="ctr"/>
            <a:r>
              <a:rPr sz="1150" b="1">
                <a:solidFill>
                  <a:srgbClr val="2D1155"/>
                </a:solidFill>
                <a:latin typeface="Arial Black"/>
              </a:rPr>
              <a:t>TEST-WRITER</a:t>
            </a:r>
          </a:p>
        </p:txBody>
      </p:sp>
      <p:sp>
        <p:nvSpPr>
          <p:cNvPr id="7" name="TextBox 6"/>
          <p:cNvSpPr txBox="1"/>
          <p:nvPr/>
        </p:nvSpPr>
        <p:spPr>
          <a:xfrm>
            <a:off x="548640" y="2121408"/>
            <a:ext cx="1645920" cy="411480"/>
          </a:xfrm>
          <a:prstGeom prst="rect">
            <a:avLst/>
          </a:prstGeom>
          <a:noFill/>
        </p:spPr>
        <p:txBody>
          <a:bodyPr wrap="square" lIns="0" tIns="0" rIns="0" bIns="0" anchor="t">
            <a:spAutoFit/>
          </a:bodyPr>
          <a:lstStyle/>
          <a:p>
            <a:pPr algn="ctr"/>
            <a:r>
              <a:rPr sz="1050" b="0">
                <a:solidFill>
                  <a:srgbClr val="6E6389"/>
                </a:solidFill>
                <a:latin typeface="Calibri"/>
              </a:rPr>
              <a:t>writes failing tests</a:t>
            </a:r>
          </a:p>
        </p:txBody>
      </p:sp>
      <p:sp>
        <p:nvSpPr>
          <p:cNvPr id="8" name="TextBox 7"/>
          <p:cNvSpPr txBox="1"/>
          <p:nvPr/>
        </p:nvSpPr>
        <p:spPr>
          <a:xfrm>
            <a:off x="2286000" y="1572768"/>
            <a:ext cx="301752" cy="1051560"/>
          </a:xfrm>
          <a:prstGeom prst="rect">
            <a:avLst/>
          </a:prstGeom>
          <a:noFill/>
        </p:spPr>
        <p:txBody>
          <a:bodyPr wrap="square" lIns="0" tIns="0" rIns="0" bIns="0" anchor="ctr">
            <a:spAutoFit/>
          </a:bodyPr>
          <a:lstStyle/>
          <a:p>
            <a:pPr algn="ctr"/>
            <a:r>
              <a:rPr sz="2400" b="1">
                <a:solidFill>
                  <a:srgbClr val="7C3AED"/>
                </a:solidFill>
                <a:latin typeface="Arial Black"/>
              </a:rPr>
              <a:t>›</a:t>
            </a:r>
          </a:p>
        </p:txBody>
      </p:sp>
      <p:sp>
        <p:nvSpPr>
          <p:cNvPr id="9" name="Rectangle 8"/>
          <p:cNvSpPr/>
          <p:nvPr/>
        </p:nvSpPr>
        <p:spPr>
          <a:xfrm>
            <a:off x="2587752" y="1572768"/>
            <a:ext cx="1828800" cy="105156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79192" y="1783080"/>
            <a:ext cx="1645920" cy="292608"/>
          </a:xfrm>
          <a:prstGeom prst="rect">
            <a:avLst/>
          </a:prstGeom>
          <a:noFill/>
        </p:spPr>
        <p:txBody>
          <a:bodyPr wrap="square" lIns="0" tIns="0" rIns="0" bIns="0" anchor="t">
            <a:spAutoFit/>
          </a:bodyPr>
          <a:lstStyle/>
          <a:p>
            <a:pPr algn="ctr"/>
            <a:r>
              <a:rPr sz="1150" b="1">
                <a:solidFill>
                  <a:srgbClr val="2D1155"/>
                </a:solidFill>
                <a:latin typeface="Arial Black"/>
              </a:rPr>
              <a:t>IMPLEMENTER</a:t>
            </a:r>
          </a:p>
        </p:txBody>
      </p:sp>
      <p:sp>
        <p:nvSpPr>
          <p:cNvPr id="11" name="TextBox 10"/>
          <p:cNvSpPr txBox="1"/>
          <p:nvPr/>
        </p:nvSpPr>
        <p:spPr>
          <a:xfrm>
            <a:off x="2679192" y="2121408"/>
            <a:ext cx="1645920" cy="411480"/>
          </a:xfrm>
          <a:prstGeom prst="rect">
            <a:avLst/>
          </a:prstGeom>
          <a:noFill/>
        </p:spPr>
        <p:txBody>
          <a:bodyPr wrap="square" lIns="0" tIns="0" rIns="0" bIns="0" anchor="t">
            <a:spAutoFit/>
          </a:bodyPr>
          <a:lstStyle/>
          <a:p>
            <a:pPr algn="ctr"/>
            <a:r>
              <a:rPr sz="1050" b="0">
                <a:solidFill>
                  <a:srgbClr val="6E6389"/>
                </a:solidFill>
                <a:latin typeface="Calibri"/>
              </a:rPr>
              <a:t>codes until green</a:t>
            </a:r>
          </a:p>
        </p:txBody>
      </p:sp>
      <p:sp>
        <p:nvSpPr>
          <p:cNvPr id="12" name="TextBox 11"/>
          <p:cNvSpPr txBox="1"/>
          <p:nvPr/>
        </p:nvSpPr>
        <p:spPr>
          <a:xfrm>
            <a:off x="4416552" y="1572768"/>
            <a:ext cx="301752" cy="1051560"/>
          </a:xfrm>
          <a:prstGeom prst="rect">
            <a:avLst/>
          </a:prstGeom>
          <a:noFill/>
        </p:spPr>
        <p:txBody>
          <a:bodyPr wrap="square" lIns="0" tIns="0" rIns="0" bIns="0" anchor="ctr">
            <a:spAutoFit/>
          </a:bodyPr>
          <a:lstStyle/>
          <a:p>
            <a:pPr algn="ctr"/>
            <a:r>
              <a:rPr sz="2400" b="1">
                <a:solidFill>
                  <a:srgbClr val="7C3AED"/>
                </a:solidFill>
                <a:latin typeface="Arial Black"/>
              </a:rPr>
              <a:t>›</a:t>
            </a:r>
          </a:p>
        </p:txBody>
      </p:sp>
      <p:sp>
        <p:nvSpPr>
          <p:cNvPr id="13" name="Rectangle 12"/>
          <p:cNvSpPr/>
          <p:nvPr/>
        </p:nvSpPr>
        <p:spPr>
          <a:xfrm>
            <a:off x="4718304" y="1572768"/>
            <a:ext cx="1828800" cy="105156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9744" y="1783080"/>
            <a:ext cx="1645920" cy="292608"/>
          </a:xfrm>
          <a:prstGeom prst="rect">
            <a:avLst/>
          </a:prstGeom>
          <a:noFill/>
        </p:spPr>
        <p:txBody>
          <a:bodyPr wrap="square" lIns="0" tIns="0" rIns="0" bIns="0" anchor="t">
            <a:spAutoFit/>
          </a:bodyPr>
          <a:lstStyle/>
          <a:p>
            <a:pPr algn="ctr"/>
            <a:r>
              <a:rPr sz="1150" b="1">
                <a:solidFill>
                  <a:srgbClr val="2D1155"/>
                </a:solidFill>
                <a:latin typeface="Arial Black"/>
              </a:rPr>
              <a:t>REVIEWER</a:t>
            </a:r>
          </a:p>
        </p:txBody>
      </p:sp>
      <p:sp>
        <p:nvSpPr>
          <p:cNvPr id="15" name="TextBox 14"/>
          <p:cNvSpPr txBox="1"/>
          <p:nvPr/>
        </p:nvSpPr>
        <p:spPr>
          <a:xfrm>
            <a:off x="4809744" y="2121408"/>
            <a:ext cx="1645920" cy="411480"/>
          </a:xfrm>
          <a:prstGeom prst="rect">
            <a:avLst/>
          </a:prstGeom>
          <a:noFill/>
        </p:spPr>
        <p:txBody>
          <a:bodyPr wrap="square" lIns="0" tIns="0" rIns="0" bIns="0" anchor="t">
            <a:spAutoFit/>
          </a:bodyPr>
          <a:lstStyle/>
          <a:p>
            <a:pPr algn="ctr"/>
            <a:r>
              <a:rPr sz="1050" b="0">
                <a:solidFill>
                  <a:srgbClr val="6E6389"/>
                </a:solidFill>
                <a:latin typeface="Calibri"/>
              </a:rPr>
              <a:t>critiques the diff</a:t>
            </a:r>
          </a:p>
        </p:txBody>
      </p:sp>
      <p:sp>
        <p:nvSpPr>
          <p:cNvPr id="16" name="TextBox 15"/>
          <p:cNvSpPr txBox="1"/>
          <p:nvPr/>
        </p:nvSpPr>
        <p:spPr>
          <a:xfrm>
            <a:off x="6547104" y="1572768"/>
            <a:ext cx="301752" cy="1051560"/>
          </a:xfrm>
          <a:prstGeom prst="rect">
            <a:avLst/>
          </a:prstGeom>
          <a:noFill/>
        </p:spPr>
        <p:txBody>
          <a:bodyPr wrap="square" lIns="0" tIns="0" rIns="0" bIns="0" anchor="ctr">
            <a:spAutoFit/>
          </a:bodyPr>
          <a:lstStyle/>
          <a:p>
            <a:pPr algn="ctr"/>
            <a:r>
              <a:rPr sz="2400" b="1">
                <a:solidFill>
                  <a:srgbClr val="7C3AED"/>
                </a:solidFill>
                <a:latin typeface="Arial Black"/>
              </a:rPr>
              <a:t>›</a:t>
            </a:r>
          </a:p>
        </p:txBody>
      </p:sp>
      <p:sp>
        <p:nvSpPr>
          <p:cNvPr id="17" name="Rectangle 16"/>
          <p:cNvSpPr/>
          <p:nvPr/>
        </p:nvSpPr>
        <p:spPr>
          <a:xfrm>
            <a:off x="6848856" y="1572768"/>
            <a:ext cx="1828800" cy="105156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940296" y="1783080"/>
            <a:ext cx="1645920" cy="292608"/>
          </a:xfrm>
          <a:prstGeom prst="rect">
            <a:avLst/>
          </a:prstGeom>
          <a:noFill/>
        </p:spPr>
        <p:txBody>
          <a:bodyPr wrap="square" lIns="0" tIns="0" rIns="0" bIns="0" anchor="t">
            <a:spAutoFit/>
          </a:bodyPr>
          <a:lstStyle/>
          <a:p>
            <a:pPr algn="ctr"/>
            <a:r>
              <a:rPr sz="1150" b="1">
                <a:solidFill>
                  <a:srgbClr val="2D1155"/>
                </a:solidFill>
                <a:latin typeface="Arial Black"/>
              </a:rPr>
              <a:t>VERIFIER</a:t>
            </a:r>
          </a:p>
        </p:txBody>
      </p:sp>
      <p:sp>
        <p:nvSpPr>
          <p:cNvPr id="19" name="TextBox 18"/>
          <p:cNvSpPr txBox="1"/>
          <p:nvPr/>
        </p:nvSpPr>
        <p:spPr>
          <a:xfrm>
            <a:off x="6940296" y="2121408"/>
            <a:ext cx="1645920" cy="411480"/>
          </a:xfrm>
          <a:prstGeom prst="rect">
            <a:avLst/>
          </a:prstGeom>
          <a:noFill/>
        </p:spPr>
        <p:txBody>
          <a:bodyPr wrap="square" lIns="0" tIns="0" rIns="0" bIns="0" anchor="t">
            <a:spAutoFit/>
          </a:bodyPr>
          <a:lstStyle/>
          <a:p>
            <a:pPr algn="ctr"/>
            <a:r>
              <a:rPr sz="1050" b="0">
                <a:solidFill>
                  <a:srgbClr val="6E6389"/>
                </a:solidFill>
                <a:latin typeface="Calibri"/>
              </a:rPr>
              <a:t>runs make check</a:t>
            </a:r>
          </a:p>
        </p:txBody>
      </p:sp>
      <p:sp>
        <p:nvSpPr>
          <p:cNvPr id="20" name="Rectangle 19"/>
          <p:cNvSpPr/>
          <p:nvPr/>
        </p:nvSpPr>
        <p:spPr>
          <a:xfrm>
            <a:off x="457200" y="2788920"/>
            <a:ext cx="8229600" cy="658368"/>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2788920"/>
            <a:ext cx="7498079" cy="658368"/>
          </a:xfrm>
          <a:prstGeom prst="rect">
            <a:avLst/>
          </a:prstGeom>
          <a:noFill/>
        </p:spPr>
        <p:txBody>
          <a:bodyPr wrap="square" lIns="0" tIns="0" rIns="0" bIns="0" anchor="ctr">
            <a:spAutoFit/>
          </a:bodyPr>
          <a:lstStyle/>
          <a:p>
            <a:pPr algn="l"/>
            <a:r>
              <a:rPr sz="1450" b="1">
                <a:solidFill>
                  <a:srgbClr val="FFFFFF"/>
                </a:solidFill>
                <a:latin typeface="Arial Black"/>
              </a:rPr>
              <a:t>You orchestrate and arbitrate. You do not type the implementation.</a:t>
            </a:r>
          </a:p>
        </p:txBody>
      </p:sp>
      <p:sp>
        <p:nvSpPr>
          <p:cNvPr id="22" name="TextBox 21"/>
          <p:cNvSpPr txBox="1"/>
          <p:nvPr/>
        </p:nvSpPr>
        <p:spPr>
          <a:xfrm>
            <a:off x="457200" y="3611880"/>
            <a:ext cx="8229600" cy="384048"/>
          </a:xfrm>
          <a:prstGeom prst="rect">
            <a:avLst/>
          </a:prstGeom>
          <a:noFill/>
        </p:spPr>
        <p:txBody>
          <a:bodyPr wrap="square" lIns="0" tIns="0" rIns="0" bIns="0" anchor="t">
            <a:spAutoFit/>
          </a:bodyPr>
          <a:lstStyle/>
          <a:p>
            <a:pPr algn="l">
              <a:lnSpc>
                <a:spcPct val="108000"/>
              </a:lnSpc>
            </a:pPr>
            <a:r>
              <a:rPr sz="900" b="1">
                <a:solidFill>
                  <a:srgbClr val="F59E0B"/>
                </a:solidFill>
                <a:latin typeface="Calibri"/>
              </a:rPr>
              <a:t>IN PLAIN TERMS   </a:t>
            </a:r>
            <a:r>
              <a:rPr sz="1200" b="0">
                <a:solidFill>
                  <a:srgbClr val="6E6389"/>
                </a:solidFill>
                <a:latin typeface="Calibri"/>
              </a:rPr>
              <a:t>You are the tech lead, not the developer. You pick the feature, settle disagreements between agents, and decide when it’s done.</a:t>
            </a:r>
          </a:p>
        </p:txBody>
      </p:sp>
      <p:sp>
        <p:nvSpPr>
          <p:cNvPr id="23" name="TextBox 22"/>
          <p:cNvSpPr txBox="1"/>
          <p:nvPr/>
        </p:nvSpPr>
        <p:spPr>
          <a:xfrm>
            <a:off x="457200" y="4224528"/>
            <a:ext cx="8229600" cy="365760"/>
          </a:xfrm>
          <a:prstGeom prst="rect">
            <a:avLst/>
          </a:prstGeom>
          <a:noFill/>
        </p:spPr>
        <p:txBody>
          <a:bodyPr wrap="square" lIns="0" tIns="0" rIns="0" bIns="0" anchor="t">
            <a:spAutoFit/>
          </a:bodyPr>
          <a:lstStyle/>
          <a:p>
            <a:pPr algn="l"/>
            <a:r>
              <a:rPr sz="1200" b="0">
                <a:solidFill>
                  <a:srgbClr val="6E6389"/>
                </a:solidFill>
                <a:latin typeface="Calibri"/>
              </a:rPr>
              <a:t>If it stalls, the fix is almost never a better prompt — it’s a clearer definition of done.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MOVE 4 · MAKE IT NON-OPTIONAL</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A hook is a script the tool runs automatically at a defined moment. Not a reminder. Enforcement.</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508760"/>
            <a:ext cx="4023360" cy="196596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508760"/>
            <a:ext cx="4023360" cy="457200"/>
          </a:xfrm>
          <a:prstGeom prst="rect">
            <a:avLst/>
          </a:prstGeom>
          <a:solidFill>
            <a:srgbClr val="9B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508760"/>
            <a:ext cx="4023360" cy="457200"/>
          </a:xfrm>
          <a:prstGeom prst="rect">
            <a:avLst/>
          </a:prstGeom>
          <a:noFill/>
        </p:spPr>
        <p:txBody>
          <a:bodyPr wrap="square" lIns="0" tIns="0" rIns="0" bIns="0" anchor="ctr">
            <a:spAutoFit/>
          </a:bodyPr>
          <a:lstStyle/>
          <a:p>
            <a:pPr algn="ctr"/>
            <a:r>
              <a:rPr sz="1100" b="1">
                <a:solidFill>
                  <a:srgbClr val="FFFFFF"/>
                </a:solidFill>
                <a:latin typeface="Calibri"/>
              </a:rPr>
              <a:t>THE CONTRACT</a:t>
            </a:r>
          </a:p>
        </p:txBody>
      </p:sp>
      <p:sp>
        <p:nvSpPr>
          <p:cNvPr id="8" name="TextBox 7"/>
          <p:cNvSpPr txBox="1"/>
          <p:nvPr/>
        </p:nvSpPr>
        <p:spPr>
          <a:xfrm>
            <a:off x="685800" y="2084831"/>
            <a:ext cx="3566160" cy="256032"/>
          </a:xfrm>
          <a:prstGeom prst="rect">
            <a:avLst/>
          </a:prstGeom>
          <a:noFill/>
        </p:spPr>
        <p:txBody>
          <a:bodyPr wrap="square" lIns="0" tIns="0" rIns="0" bIns="0" anchor="t">
            <a:spAutoFit/>
          </a:bodyPr>
          <a:lstStyle/>
          <a:p>
            <a:pPr algn="l"/>
            <a:r>
              <a:rPr sz="1000" b="0">
                <a:solidFill>
                  <a:srgbClr val="7C3AED"/>
                </a:solidFill>
                <a:latin typeface="Courier New"/>
              </a:rPr>
              <a:t>AGENTS.md</a:t>
            </a:r>
          </a:p>
        </p:txBody>
      </p:sp>
      <p:sp>
        <p:nvSpPr>
          <p:cNvPr id="9" name="TextBox 8"/>
          <p:cNvSpPr txBox="1"/>
          <p:nvPr/>
        </p:nvSpPr>
        <p:spPr>
          <a:xfrm>
            <a:off x="685800" y="2395728"/>
            <a:ext cx="3566160" cy="329184"/>
          </a:xfrm>
          <a:prstGeom prst="rect">
            <a:avLst/>
          </a:prstGeom>
          <a:noFill/>
        </p:spPr>
        <p:txBody>
          <a:bodyPr wrap="square" lIns="0" tIns="0" rIns="0" bIns="0" anchor="t">
            <a:spAutoFit/>
          </a:bodyPr>
          <a:lstStyle/>
          <a:p>
            <a:pPr algn="l">
              <a:lnSpc>
                <a:spcPct val="105000"/>
              </a:lnSpc>
            </a:pPr>
            <a:r>
              <a:rPr sz="1200" b="1">
                <a:solidFill>
                  <a:srgbClr val="6E6389"/>
                </a:solidFill>
                <a:latin typeface="Calibri"/>
              </a:rPr>
              <a:t>·  </a:t>
            </a:r>
            <a:r>
              <a:rPr sz="1150" b="0">
                <a:solidFill>
                  <a:srgbClr val="2D1155"/>
                </a:solidFill>
                <a:latin typeface="Calibri"/>
              </a:rPr>
              <a:t>Read at the start of a session.</a:t>
            </a:r>
          </a:p>
        </p:txBody>
      </p:sp>
      <p:sp>
        <p:nvSpPr>
          <p:cNvPr id="10" name="TextBox 9"/>
          <p:cNvSpPr txBox="1"/>
          <p:nvPr/>
        </p:nvSpPr>
        <p:spPr>
          <a:xfrm>
            <a:off x="685800" y="2743200"/>
            <a:ext cx="3566160" cy="329184"/>
          </a:xfrm>
          <a:prstGeom prst="rect">
            <a:avLst/>
          </a:prstGeom>
          <a:noFill/>
        </p:spPr>
        <p:txBody>
          <a:bodyPr wrap="square" lIns="0" tIns="0" rIns="0" bIns="0" anchor="t">
            <a:spAutoFit/>
          </a:bodyPr>
          <a:lstStyle/>
          <a:p>
            <a:pPr algn="l">
              <a:lnSpc>
                <a:spcPct val="105000"/>
              </a:lnSpc>
            </a:pPr>
            <a:r>
              <a:rPr sz="1200" b="1">
                <a:solidFill>
                  <a:srgbClr val="6E6389"/>
                </a:solidFill>
                <a:latin typeface="Calibri"/>
              </a:rPr>
              <a:t>·  </a:t>
            </a:r>
            <a:r>
              <a:rPr sz="1150" b="0">
                <a:solidFill>
                  <a:srgbClr val="2D1155"/>
                </a:solidFill>
                <a:latin typeface="Calibri"/>
              </a:rPr>
              <a:t>Followed if the agent is paying attention.</a:t>
            </a:r>
          </a:p>
        </p:txBody>
      </p:sp>
      <p:sp>
        <p:nvSpPr>
          <p:cNvPr id="11" name="TextBox 10"/>
          <p:cNvSpPr txBox="1"/>
          <p:nvPr/>
        </p:nvSpPr>
        <p:spPr>
          <a:xfrm>
            <a:off x="685800" y="3090672"/>
            <a:ext cx="3566160" cy="329184"/>
          </a:xfrm>
          <a:prstGeom prst="rect">
            <a:avLst/>
          </a:prstGeom>
          <a:noFill/>
        </p:spPr>
        <p:txBody>
          <a:bodyPr wrap="square" lIns="0" tIns="0" rIns="0" bIns="0" anchor="t">
            <a:spAutoFit/>
          </a:bodyPr>
          <a:lstStyle/>
          <a:p>
            <a:pPr algn="l">
              <a:lnSpc>
                <a:spcPct val="105000"/>
              </a:lnSpc>
            </a:pPr>
            <a:r>
              <a:rPr sz="1200" b="1">
                <a:solidFill>
                  <a:srgbClr val="6E6389"/>
                </a:solidFill>
                <a:latin typeface="Calibri"/>
              </a:rPr>
              <a:t>·  </a:t>
            </a:r>
            <a:r>
              <a:rPr sz="1150" b="0">
                <a:solidFill>
                  <a:srgbClr val="2D1155"/>
                </a:solidFill>
                <a:latin typeface="Calibri"/>
              </a:rPr>
              <a:t>Quietly forgotten as context fills.</a:t>
            </a:r>
          </a:p>
        </p:txBody>
      </p:sp>
      <p:sp>
        <p:nvSpPr>
          <p:cNvPr id="12" name="Rectangle 11"/>
          <p:cNvSpPr/>
          <p:nvPr/>
        </p:nvSpPr>
        <p:spPr>
          <a:xfrm>
            <a:off x="4663440" y="1508760"/>
            <a:ext cx="4023360" cy="196596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663440" y="1508760"/>
            <a:ext cx="4023360" cy="4572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63440" y="1508760"/>
            <a:ext cx="4023360" cy="457200"/>
          </a:xfrm>
          <a:prstGeom prst="rect">
            <a:avLst/>
          </a:prstGeom>
          <a:noFill/>
        </p:spPr>
        <p:txBody>
          <a:bodyPr wrap="square" lIns="0" tIns="0" rIns="0" bIns="0" anchor="ctr">
            <a:spAutoFit/>
          </a:bodyPr>
          <a:lstStyle/>
          <a:p>
            <a:pPr algn="ctr"/>
            <a:r>
              <a:rPr sz="1100" b="1">
                <a:solidFill>
                  <a:srgbClr val="FFFFFF"/>
                </a:solidFill>
                <a:latin typeface="Calibri"/>
              </a:rPr>
              <a:t>THE HOOK</a:t>
            </a:r>
          </a:p>
        </p:txBody>
      </p:sp>
      <p:sp>
        <p:nvSpPr>
          <p:cNvPr id="15" name="TextBox 14"/>
          <p:cNvSpPr txBox="1"/>
          <p:nvPr/>
        </p:nvSpPr>
        <p:spPr>
          <a:xfrm>
            <a:off x="4892040" y="2084831"/>
            <a:ext cx="3566160" cy="256032"/>
          </a:xfrm>
          <a:prstGeom prst="rect">
            <a:avLst/>
          </a:prstGeom>
          <a:noFill/>
        </p:spPr>
        <p:txBody>
          <a:bodyPr wrap="square" lIns="0" tIns="0" rIns="0" bIns="0" anchor="t">
            <a:spAutoFit/>
          </a:bodyPr>
          <a:lstStyle/>
          <a:p>
            <a:pPr algn="l"/>
            <a:r>
              <a:rPr sz="1000" b="0">
                <a:solidFill>
                  <a:srgbClr val="7C3AED"/>
                </a:solidFill>
                <a:latin typeface="Courier New"/>
              </a:rPr>
              <a:t>.claude/settings.json</a:t>
            </a:r>
          </a:p>
        </p:txBody>
      </p:sp>
      <p:sp>
        <p:nvSpPr>
          <p:cNvPr id="16" name="TextBox 15"/>
          <p:cNvSpPr txBox="1"/>
          <p:nvPr/>
        </p:nvSpPr>
        <p:spPr>
          <a:xfrm>
            <a:off x="4892040" y="2395728"/>
            <a:ext cx="3566160" cy="329184"/>
          </a:xfrm>
          <a:prstGeom prst="rect">
            <a:avLst/>
          </a:prstGeom>
          <a:noFill/>
        </p:spPr>
        <p:txBody>
          <a:bodyPr wrap="square" lIns="0" tIns="0" rIns="0" bIns="0" anchor="t">
            <a:spAutoFit/>
          </a:bodyPr>
          <a:lstStyle/>
          <a:p>
            <a:pPr algn="l">
              <a:lnSpc>
                <a:spcPct val="105000"/>
              </a:lnSpc>
            </a:pPr>
            <a:r>
              <a:rPr sz="1200" b="1">
                <a:solidFill>
                  <a:srgbClr val="6E6389"/>
                </a:solidFill>
                <a:latin typeface="Calibri"/>
              </a:rPr>
              <a:t>·  </a:t>
            </a:r>
            <a:r>
              <a:rPr sz="1150" b="0">
                <a:solidFill>
                  <a:srgbClr val="2D1155"/>
                </a:solidFill>
                <a:latin typeface="Calibri"/>
              </a:rPr>
              <a:t>Runs every single time the event fires.</a:t>
            </a:r>
          </a:p>
        </p:txBody>
      </p:sp>
      <p:sp>
        <p:nvSpPr>
          <p:cNvPr id="17" name="TextBox 16"/>
          <p:cNvSpPr txBox="1"/>
          <p:nvPr/>
        </p:nvSpPr>
        <p:spPr>
          <a:xfrm>
            <a:off x="4892040" y="2743200"/>
            <a:ext cx="3566160" cy="329184"/>
          </a:xfrm>
          <a:prstGeom prst="rect">
            <a:avLst/>
          </a:prstGeom>
          <a:noFill/>
        </p:spPr>
        <p:txBody>
          <a:bodyPr wrap="square" lIns="0" tIns="0" rIns="0" bIns="0" anchor="t">
            <a:spAutoFit/>
          </a:bodyPr>
          <a:lstStyle/>
          <a:p>
            <a:pPr algn="l">
              <a:lnSpc>
                <a:spcPct val="105000"/>
              </a:lnSpc>
            </a:pPr>
            <a:r>
              <a:rPr sz="1200" b="1">
                <a:solidFill>
                  <a:srgbClr val="6E6389"/>
                </a:solidFill>
                <a:latin typeface="Calibri"/>
              </a:rPr>
              <a:t>·  </a:t>
            </a:r>
            <a:r>
              <a:rPr sz="1150" b="0">
                <a:solidFill>
                  <a:srgbClr val="2D1155"/>
                </a:solidFill>
                <a:latin typeface="Calibri"/>
              </a:rPr>
              <a:t>Its exit code decides what happens next.</a:t>
            </a:r>
          </a:p>
        </p:txBody>
      </p:sp>
      <p:sp>
        <p:nvSpPr>
          <p:cNvPr id="18" name="TextBox 17"/>
          <p:cNvSpPr txBox="1"/>
          <p:nvPr/>
        </p:nvSpPr>
        <p:spPr>
          <a:xfrm>
            <a:off x="4892040" y="3090672"/>
            <a:ext cx="3566160" cy="329184"/>
          </a:xfrm>
          <a:prstGeom prst="rect">
            <a:avLst/>
          </a:prstGeom>
          <a:noFill/>
        </p:spPr>
        <p:txBody>
          <a:bodyPr wrap="square" lIns="0" tIns="0" rIns="0" bIns="0" anchor="t">
            <a:spAutoFit/>
          </a:bodyPr>
          <a:lstStyle/>
          <a:p>
            <a:pPr algn="l">
              <a:lnSpc>
                <a:spcPct val="105000"/>
              </a:lnSpc>
            </a:pPr>
            <a:r>
              <a:rPr sz="1200" b="1">
                <a:solidFill>
                  <a:srgbClr val="6E6389"/>
                </a:solidFill>
                <a:latin typeface="Calibri"/>
              </a:rPr>
              <a:t>·  </a:t>
            </a:r>
            <a:r>
              <a:rPr sz="1150" b="0">
                <a:solidFill>
                  <a:srgbClr val="2D1155"/>
                </a:solidFill>
                <a:latin typeface="Calibri"/>
              </a:rPr>
              <a:t>Can block the action outright.</a:t>
            </a:r>
          </a:p>
        </p:txBody>
      </p:sp>
      <p:sp>
        <p:nvSpPr>
          <p:cNvPr id="19" name="Rectangle 18"/>
          <p:cNvSpPr/>
          <p:nvPr/>
        </p:nvSpPr>
        <p:spPr>
          <a:xfrm>
            <a:off x="457200" y="3675887"/>
            <a:ext cx="8229600" cy="713232"/>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2960" y="3675887"/>
            <a:ext cx="7498079" cy="713232"/>
          </a:xfrm>
          <a:prstGeom prst="rect">
            <a:avLst/>
          </a:prstGeom>
          <a:noFill/>
        </p:spPr>
        <p:txBody>
          <a:bodyPr wrap="square" lIns="0" tIns="0" rIns="0" bIns="0" anchor="ctr">
            <a:spAutoFit/>
          </a:bodyPr>
          <a:lstStyle/>
          <a:p>
            <a:pPr algn="l"/>
            <a:r>
              <a:rPr sz="1600" b="1">
                <a:solidFill>
                  <a:srgbClr val="FFFFFF"/>
                </a:solidFill>
                <a:latin typeface="Arial Black"/>
              </a:rPr>
              <a:t>A contract is a promise. A hook is a fact.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WHEN A HOOK CAN FIRE</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Pick the cadence first, then the event. Three rhythms cover everything you'll actually wire.</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81328"/>
            <a:ext cx="7772400" cy="8778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81328"/>
            <a:ext cx="1417320" cy="877824"/>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481328"/>
            <a:ext cx="1417320" cy="877824"/>
          </a:xfrm>
          <a:prstGeom prst="rect">
            <a:avLst/>
          </a:prstGeom>
          <a:noFill/>
        </p:spPr>
        <p:txBody>
          <a:bodyPr wrap="square" lIns="0" tIns="0" rIns="0" bIns="0" anchor="ctr">
            <a:spAutoFit/>
          </a:bodyPr>
          <a:lstStyle/>
          <a:p>
            <a:pPr algn="ctr">
              <a:lnSpc>
                <a:spcPct val="110000"/>
              </a:lnSpc>
            </a:pPr>
            <a:r>
              <a:rPr sz="950" b="1">
                <a:solidFill>
                  <a:srgbClr val="F59E0B"/>
                </a:solidFill>
                <a:latin typeface="Calibri"/>
              </a:rPr>
              <a:t>ONCE PER</a:t>
            </a:r>
          </a:p>
          <a:p>
            <a:pPr algn="ctr">
              <a:lnSpc>
                <a:spcPct val="110000"/>
              </a:lnSpc>
            </a:pPr>
            <a:r>
              <a:rPr sz="950" b="1">
                <a:solidFill>
                  <a:srgbClr val="F59E0B"/>
                </a:solidFill>
                <a:latin typeface="Calibri"/>
              </a:rPr>
              <a:t>SESSION</a:t>
            </a:r>
          </a:p>
        </p:txBody>
      </p:sp>
      <p:sp>
        <p:nvSpPr>
          <p:cNvPr id="8" name="TextBox 7"/>
          <p:cNvSpPr txBox="1"/>
          <p:nvPr/>
        </p:nvSpPr>
        <p:spPr>
          <a:xfrm>
            <a:off x="2057400" y="1636776"/>
            <a:ext cx="5852160" cy="292608"/>
          </a:xfrm>
          <a:prstGeom prst="rect">
            <a:avLst/>
          </a:prstGeom>
          <a:noFill/>
        </p:spPr>
        <p:txBody>
          <a:bodyPr wrap="square" lIns="0" tIns="0" rIns="0" bIns="0" anchor="t">
            <a:spAutoFit/>
          </a:bodyPr>
          <a:lstStyle/>
          <a:p>
            <a:pPr algn="l"/>
            <a:r>
              <a:rPr sz="1250" b="1">
                <a:solidFill>
                  <a:srgbClr val="5B21B6"/>
                </a:solidFill>
                <a:latin typeface="Courier New"/>
              </a:rPr>
              <a:t>SessionStart   SessionEnd</a:t>
            </a:r>
          </a:p>
        </p:txBody>
      </p:sp>
      <p:sp>
        <p:nvSpPr>
          <p:cNvPr id="9" name="TextBox 8"/>
          <p:cNvSpPr txBox="1"/>
          <p:nvPr/>
        </p:nvSpPr>
        <p:spPr>
          <a:xfrm>
            <a:off x="2057400" y="1984248"/>
            <a:ext cx="5852160" cy="274320"/>
          </a:xfrm>
          <a:prstGeom prst="rect">
            <a:avLst/>
          </a:prstGeom>
          <a:noFill/>
        </p:spPr>
        <p:txBody>
          <a:bodyPr wrap="square" lIns="0" tIns="0" rIns="0" bIns="0" anchor="t">
            <a:spAutoFit/>
          </a:bodyPr>
          <a:lstStyle/>
          <a:p>
            <a:pPr algn="l"/>
            <a:r>
              <a:rPr sz="1150" b="0">
                <a:solidFill>
                  <a:srgbClr val="6E6389"/>
                </a:solidFill>
                <a:latin typeface="Calibri"/>
              </a:rPr>
              <a:t>Set the scene, or clean up after.</a:t>
            </a:r>
          </a:p>
        </p:txBody>
      </p:sp>
      <p:sp>
        <p:nvSpPr>
          <p:cNvPr id="10" name="Rectangle 9"/>
          <p:cNvSpPr/>
          <p:nvPr/>
        </p:nvSpPr>
        <p:spPr>
          <a:xfrm>
            <a:off x="457200" y="2450592"/>
            <a:ext cx="7772400" cy="8778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450592"/>
            <a:ext cx="1417320" cy="877824"/>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450592"/>
            <a:ext cx="1417320" cy="877824"/>
          </a:xfrm>
          <a:prstGeom prst="rect">
            <a:avLst/>
          </a:prstGeom>
          <a:noFill/>
        </p:spPr>
        <p:txBody>
          <a:bodyPr wrap="square" lIns="0" tIns="0" rIns="0" bIns="0" anchor="ctr">
            <a:spAutoFit/>
          </a:bodyPr>
          <a:lstStyle/>
          <a:p>
            <a:pPr algn="ctr">
              <a:lnSpc>
                <a:spcPct val="110000"/>
              </a:lnSpc>
            </a:pPr>
            <a:r>
              <a:rPr sz="950" b="1">
                <a:solidFill>
                  <a:srgbClr val="F59E0B"/>
                </a:solidFill>
                <a:latin typeface="Calibri"/>
              </a:rPr>
              <a:t>ONCE PER</a:t>
            </a:r>
          </a:p>
          <a:p>
            <a:pPr algn="ctr">
              <a:lnSpc>
                <a:spcPct val="110000"/>
              </a:lnSpc>
            </a:pPr>
            <a:r>
              <a:rPr sz="950" b="1">
                <a:solidFill>
                  <a:srgbClr val="F59E0B"/>
                </a:solidFill>
                <a:latin typeface="Calibri"/>
              </a:rPr>
              <a:t>TURN</a:t>
            </a:r>
          </a:p>
        </p:txBody>
      </p:sp>
      <p:sp>
        <p:nvSpPr>
          <p:cNvPr id="13" name="TextBox 12"/>
          <p:cNvSpPr txBox="1"/>
          <p:nvPr/>
        </p:nvSpPr>
        <p:spPr>
          <a:xfrm>
            <a:off x="2057400" y="2606040"/>
            <a:ext cx="5852160" cy="292608"/>
          </a:xfrm>
          <a:prstGeom prst="rect">
            <a:avLst/>
          </a:prstGeom>
          <a:noFill/>
        </p:spPr>
        <p:txBody>
          <a:bodyPr wrap="square" lIns="0" tIns="0" rIns="0" bIns="0" anchor="t">
            <a:spAutoFit/>
          </a:bodyPr>
          <a:lstStyle/>
          <a:p>
            <a:pPr algn="l"/>
            <a:r>
              <a:rPr sz="1250" b="1">
                <a:solidFill>
                  <a:srgbClr val="5B21B6"/>
                </a:solidFill>
                <a:latin typeface="Courier New"/>
              </a:rPr>
              <a:t>UserPromptSubmit   Stop</a:t>
            </a:r>
          </a:p>
        </p:txBody>
      </p:sp>
      <p:sp>
        <p:nvSpPr>
          <p:cNvPr id="14" name="TextBox 13"/>
          <p:cNvSpPr txBox="1"/>
          <p:nvPr/>
        </p:nvSpPr>
        <p:spPr>
          <a:xfrm>
            <a:off x="2057400" y="2953512"/>
            <a:ext cx="5852160" cy="274320"/>
          </a:xfrm>
          <a:prstGeom prst="rect">
            <a:avLst/>
          </a:prstGeom>
          <a:noFill/>
        </p:spPr>
        <p:txBody>
          <a:bodyPr wrap="square" lIns="0" tIns="0" rIns="0" bIns="0" anchor="t">
            <a:spAutoFit/>
          </a:bodyPr>
          <a:lstStyle/>
          <a:p>
            <a:pPr algn="l"/>
            <a:r>
              <a:rPr sz="1150" b="0">
                <a:solidFill>
                  <a:srgbClr val="6E6389"/>
                </a:solidFill>
                <a:latin typeface="Calibri"/>
              </a:rPr>
              <a:t>Gate what goes in, and what counts as finished.</a:t>
            </a:r>
          </a:p>
        </p:txBody>
      </p:sp>
      <p:sp>
        <p:nvSpPr>
          <p:cNvPr id="15" name="Rectangle 14"/>
          <p:cNvSpPr/>
          <p:nvPr/>
        </p:nvSpPr>
        <p:spPr>
          <a:xfrm>
            <a:off x="457200" y="3419856"/>
            <a:ext cx="7772400" cy="8778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419856"/>
            <a:ext cx="1417320" cy="877824"/>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419856"/>
            <a:ext cx="1417320" cy="877824"/>
          </a:xfrm>
          <a:prstGeom prst="rect">
            <a:avLst/>
          </a:prstGeom>
          <a:noFill/>
        </p:spPr>
        <p:txBody>
          <a:bodyPr wrap="square" lIns="0" tIns="0" rIns="0" bIns="0" anchor="ctr">
            <a:spAutoFit/>
          </a:bodyPr>
          <a:lstStyle/>
          <a:p>
            <a:pPr algn="ctr">
              <a:lnSpc>
                <a:spcPct val="110000"/>
              </a:lnSpc>
            </a:pPr>
            <a:r>
              <a:rPr sz="950" b="1">
                <a:solidFill>
                  <a:srgbClr val="F59E0B"/>
                </a:solidFill>
                <a:latin typeface="Calibri"/>
              </a:rPr>
              <a:t>EVERY</a:t>
            </a:r>
          </a:p>
          <a:p>
            <a:pPr algn="ctr">
              <a:lnSpc>
                <a:spcPct val="110000"/>
              </a:lnSpc>
            </a:pPr>
            <a:r>
              <a:rPr sz="950" b="1">
                <a:solidFill>
                  <a:srgbClr val="F59E0B"/>
                </a:solidFill>
                <a:latin typeface="Calibri"/>
              </a:rPr>
              <a:t>TOOL CALL</a:t>
            </a:r>
          </a:p>
        </p:txBody>
      </p:sp>
      <p:sp>
        <p:nvSpPr>
          <p:cNvPr id="18" name="TextBox 17"/>
          <p:cNvSpPr txBox="1"/>
          <p:nvPr/>
        </p:nvSpPr>
        <p:spPr>
          <a:xfrm>
            <a:off x="2057400" y="3575304"/>
            <a:ext cx="5852160" cy="292608"/>
          </a:xfrm>
          <a:prstGeom prst="rect">
            <a:avLst/>
          </a:prstGeom>
          <a:noFill/>
        </p:spPr>
        <p:txBody>
          <a:bodyPr wrap="square" lIns="0" tIns="0" rIns="0" bIns="0" anchor="t">
            <a:spAutoFit/>
          </a:bodyPr>
          <a:lstStyle/>
          <a:p>
            <a:pPr algn="l"/>
            <a:r>
              <a:rPr sz="1250" b="1">
                <a:solidFill>
                  <a:srgbClr val="5B21B6"/>
                </a:solidFill>
                <a:latin typeface="Courier New"/>
              </a:rPr>
              <a:t>PreToolUse   PostToolUse</a:t>
            </a:r>
          </a:p>
        </p:txBody>
      </p:sp>
      <p:sp>
        <p:nvSpPr>
          <p:cNvPr id="19" name="TextBox 18"/>
          <p:cNvSpPr txBox="1"/>
          <p:nvPr/>
        </p:nvSpPr>
        <p:spPr>
          <a:xfrm>
            <a:off x="2057400" y="3922776"/>
            <a:ext cx="5852160" cy="274320"/>
          </a:xfrm>
          <a:prstGeom prst="rect">
            <a:avLst/>
          </a:prstGeom>
          <a:noFill/>
        </p:spPr>
        <p:txBody>
          <a:bodyPr wrap="square" lIns="0" tIns="0" rIns="0" bIns="0" anchor="t">
            <a:spAutoFit/>
          </a:bodyPr>
          <a:lstStyle/>
          <a:p>
            <a:pPr algn="l"/>
            <a:r>
              <a:rPr sz="1150" b="0">
                <a:solidFill>
                  <a:srgbClr val="6E6389"/>
                </a:solidFill>
                <a:latin typeface="Calibri"/>
              </a:rPr>
              <a:t>The tight loop. Where guardrails actually live.</a:t>
            </a:r>
          </a:p>
        </p:txBody>
      </p:sp>
      <p:sp>
        <p:nvSpPr>
          <p:cNvPr id="20" name="TextBox 19"/>
          <p:cNvSpPr txBox="1"/>
          <p:nvPr/>
        </p:nvSpPr>
        <p:spPr>
          <a:xfrm>
            <a:off x="457200" y="4480560"/>
            <a:ext cx="7498079" cy="320040"/>
          </a:xfrm>
          <a:prstGeom prst="rect">
            <a:avLst/>
          </a:prstGeom>
          <a:noFill/>
        </p:spPr>
        <p:txBody>
          <a:bodyPr wrap="square" lIns="0" tIns="0" rIns="0" bIns="0" anchor="t">
            <a:spAutoFit/>
          </a:bodyPr>
          <a:lstStyle/>
          <a:p>
            <a:pPr algn="l"/>
            <a:r>
              <a:rPr sz="1200" b="0">
                <a:solidFill>
                  <a:srgbClr val="6E6389"/>
                </a:solidFill>
                <a:latin typeface="Calibri"/>
              </a:rPr>
              <a:t>Claude Code exposes 28 events, Codex 11. You will use about six of them.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THE SIX WORTH KNOWING</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Every one of these exists in both Claude Code and Codex.</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TextBox 4"/>
          <p:cNvSpPr txBox="1"/>
          <p:nvPr/>
        </p:nvSpPr>
        <p:spPr>
          <a:xfrm>
            <a:off x="566928" y="1572768"/>
            <a:ext cx="1554480" cy="237744"/>
          </a:xfrm>
          <a:prstGeom prst="rect">
            <a:avLst/>
          </a:prstGeom>
          <a:noFill/>
        </p:spPr>
        <p:txBody>
          <a:bodyPr wrap="square" lIns="0" tIns="0" rIns="0" bIns="0" anchor="t">
            <a:spAutoFit/>
          </a:bodyPr>
          <a:lstStyle/>
          <a:p>
            <a:pPr algn="l"/>
            <a:r>
              <a:rPr sz="850" b="1">
                <a:solidFill>
                  <a:srgbClr val="6E6389"/>
                </a:solidFill>
                <a:latin typeface="Calibri"/>
              </a:rPr>
              <a:t>EVENT</a:t>
            </a:r>
          </a:p>
        </p:txBody>
      </p:sp>
      <p:sp>
        <p:nvSpPr>
          <p:cNvPr id="6" name="TextBox 5"/>
          <p:cNvSpPr txBox="1"/>
          <p:nvPr/>
        </p:nvSpPr>
        <p:spPr>
          <a:xfrm>
            <a:off x="2212848" y="1572768"/>
            <a:ext cx="2148840" cy="237744"/>
          </a:xfrm>
          <a:prstGeom prst="rect">
            <a:avLst/>
          </a:prstGeom>
          <a:noFill/>
        </p:spPr>
        <p:txBody>
          <a:bodyPr wrap="square" lIns="0" tIns="0" rIns="0" bIns="0" anchor="t">
            <a:spAutoFit/>
          </a:bodyPr>
          <a:lstStyle/>
          <a:p>
            <a:pPr algn="l"/>
            <a:r>
              <a:rPr sz="850" b="1">
                <a:solidFill>
                  <a:srgbClr val="6E6389"/>
                </a:solidFill>
                <a:latin typeface="Calibri"/>
              </a:rPr>
              <a:t>FIRES WHEN</a:t>
            </a:r>
          </a:p>
        </p:txBody>
      </p:sp>
      <p:sp>
        <p:nvSpPr>
          <p:cNvPr id="7" name="TextBox 6"/>
          <p:cNvSpPr txBox="1"/>
          <p:nvPr/>
        </p:nvSpPr>
        <p:spPr>
          <a:xfrm>
            <a:off x="4434840" y="1572768"/>
            <a:ext cx="640080" cy="237744"/>
          </a:xfrm>
          <a:prstGeom prst="rect">
            <a:avLst/>
          </a:prstGeom>
          <a:noFill/>
        </p:spPr>
        <p:txBody>
          <a:bodyPr wrap="square" lIns="0" tIns="0" rIns="0" bIns="0" anchor="t">
            <a:spAutoFit/>
          </a:bodyPr>
          <a:lstStyle/>
          <a:p>
            <a:pPr algn="ctr"/>
            <a:r>
              <a:rPr sz="850" b="1">
                <a:solidFill>
                  <a:srgbClr val="6E6389"/>
                </a:solidFill>
                <a:latin typeface="Calibri"/>
              </a:rPr>
              <a:t>BLOCKS?</a:t>
            </a:r>
          </a:p>
        </p:txBody>
      </p:sp>
      <p:sp>
        <p:nvSpPr>
          <p:cNvPr id="8" name="TextBox 7"/>
          <p:cNvSpPr txBox="1"/>
          <p:nvPr/>
        </p:nvSpPr>
        <p:spPr>
          <a:xfrm>
            <a:off x="5166360" y="1572768"/>
            <a:ext cx="2926080" cy="237744"/>
          </a:xfrm>
          <a:prstGeom prst="rect">
            <a:avLst/>
          </a:prstGeom>
          <a:noFill/>
        </p:spPr>
        <p:txBody>
          <a:bodyPr wrap="square" lIns="0" tIns="0" rIns="0" bIns="0" anchor="t">
            <a:spAutoFit/>
          </a:bodyPr>
          <a:lstStyle/>
          <a:p>
            <a:pPr algn="l"/>
            <a:r>
              <a:rPr sz="850" b="1">
                <a:solidFill>
                  <a:srgbClr val="6E6389"/>
                </a:solidFill>
                <a:latin typeface="Calibri"/>
              </a:rPr>
              <a:t>WHAT YOU'D USE IT FOR</a:t>
            </a:r>
          </a:p>
        </p:txBody>
      </p:sp>
      <p:sp>
        <p:nvSpPr>
          <p:cNvPr id="9" name="Rectangle 8"/>
          <p:cNvSpPr/>
          <p:nvPr/>
        </p:nvSpPr>
        <p:spPr>
          <a:xfrm>
            <a:off x="457200" y="1865376"/>
            <a:ext cx="7772400" cy="4206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66928" y="1865376"/>
            <a:ext cx="1600200" cy="420624"/>
          </a:xfrm>
          <a:prstGeom prst="rect">
            <a:avLst/>
          </a:prstGeom>
          <a:noFill/>
        </p:spPr>
        <p:txBody>
          <a:bodyPr wrap="square" lIns="0" tIns="0" rIns="0" bIns="0" anchor="ctr">
            <a:spAutoFit/>
          </a:bodyPr>
          <a:lstStyle/>
          <a:p>
            <a:pPr algn="l"/>
            <a:r>
              <a:rPr sz="1000" b="1">
                <a:solidFill>
                  <a:srgbClr val="5B21B6"/>
                </a:solidFill>
                <a:latin typeface="Courier New"/>
              </a:rPr>
              <a:t>SessionStart</a:t>
            </a:r>
          </a:p>
        </p:txBody>
      </p:sp>
      <p:sp>
        <p:nvSpPr>
          <p:cNvPr id="11" name="TextBox 10"/>
          <p:cNvSpPr txBox="1"/>
          <p:nvPr/>
        </p:nvSpPr>
        <p:spPr>
          <a:xfrm>
            <a:off x="2212848" y="1865376"/>
            <a:ext cx="2148840" cy="420624"/>
          </a:xfrm>
          <a:prstGeom prst="rect">
            <a:avLst/>
          </a:prstGeom>
          <a:noFill/>
        </p:spPr>
        <p:txBody>
          <a:bodyPr wrap="square" lIns="0" tIns="0" rIns="0" bIns="0" anchor="ctr">
            <a:spAutoFit/>
          </a:bodyPr>
          <a:lstStyle/>
          <a:p>
            <a:pPr algn="l"/>
            <a:r>
              <a:rPr sz="950" b="0">
                <a:solidFill>
                  <a:srgbClr val="6E6389"/>
                </a:solidFill>
                <a:latin typeface="Calibri"/>
              </a:rPr>
              <a:t>a session begins or resumes</a:t>
            </a:r>
          </a:p>
        </p:txBody>
      </p:sp>
      <p:sp>
        <p:nvSpPr>
          <p:cNvPr id="12" name="TextBox 11"/>
          <p:cNvSpPr txBox="1"/>
          <p:nvPr/>
        </p:nvSpPr>
        <p:spPr>
          <a:xfrm>
            <a:off x="4434840" y="1865376"/>
            <a:ext cx="640080" cy="420624"/>
          </a:xfrm>
          <a:prstGeom prst="rect">
            <a:avLst/>
          </a:prstGeom>
          <a:noFill/>
        </p:spPr>
        <p:txBody>
          <a:bodyPr wrap="square" lIns="0" tIns="0" rIns="0" bIns="0" anchor="ctr">
            <a:spAutoFit/>
          </a:bodyPr>
          <a:lstStyle/>
          <a:p>
            <a:pPr algn="ctr"/>
            <a:r>
              <a:rPr sz="950" b="0">
                <a:solidFill>
                  <a:srgbClr val="6E6389"/>
                </a:solidFill>
                <a:latin typeface="Calibri"/>
              </a:rPr>
              <a:t>No</a:t>
            </a:r>
          </a:p>
        </p:txBody>
      </p:sp>
      <p:sp>
        <p:nvSpPr>
          <p:cNvPr id="13" name="TextBox 12"/>
          <p:cNvSpPr txBox="1"/>
          <p:nvPr/>
        </p:nvSpPr>
        <p:spPr>
          <a:xfrm>
            <a:off x="5166360" y="1865376"/>
            <a:ext cx="2926080" cy="420624"/>
          </a:xfrm>
          <a:prstGeom prst="rect">
            <a:avLst/>
          </a:prstGeom>
          <a:noFill/>
        </p:spPr>
        <p:txBody>
          <a:bodyPr wrap="square" lIns="0" tIns="0" rIns="0" bIns="0" anchor="ctr">
            <a:spAutoFit/>
          </a:bodyPr>
          <a:lstStyle/>
          <a:p>
            <a:pPr algn="l"/>
            <a:r>
              <a:rPr sz="950" b="0">
                <a:solidFill>
                  <a:srgbClr val="2D1155"/>
                </a:solidFill>
                <a:latin typeface="Calibri"/>
              </a:rPr>
              <a:t>Brief the agent: branch, ticket, what's failing</a:t>
            </a:r>
          </a:p>
        </p:txBody>
      </p:sp>
      <p:sp>
        <p:nvSpPr>
          <p:cNvPr id="14" name="Rectangle 13"/>
          <p:cNvSpPr/>
          <p:nvPr/>
        </p:nvSpPr>
        <p:spPr>
          <a:xfrm>
            <a:off x="457200" y="2322576"/>
            <a:ext cx="7772400" cy="4206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928" y="2322576"/>
            <a:ext cx="1600200" cy="420624"/>
          </a:xfrm>
          <a:prstGeom prst="rect">
            <a:avLst/>
          </a:prstGeom>
          <a:noFill/>
        </p:spPr>
        <p:txBody>
          <a:bodyPr wrap="square" lIns="0" tIns="0" rIns="0" bIns="0" anchor="ctr">
            <a:spAutoFit/>
          </a:bodyPr>
          <a:lstStyle/>
          <a:p>
            <a:pPr algn="l"/>
            <a:r>
              <a:rPr sz="1000" b="1">
                <a:solidFill>
                  <a:srgbClr val="5B21B6"/>
                </a:solidFill>
                <a:latin typeface="Courier New"/>
              </a:rPr>
              <a:t>UserPromptSubmit</a:t>
            </a:r>
          </a:p>
        </p:txBody>
      </p:sp>
      <p:sp>
        <p:nvSpPr>
          <p:cNvPr id="16" name="TextBox 15"/>
          <p:cNvSpPr txBox="1"/>
          <p:nvPr/>
        </p:nvSpPr>
        <p:spPr>
          <a:xfrm>
            <a:off x="2212848" y="2322576"/>
            <a:ext cx="2148840" cy="420624"/>
          </a:xfrm>
          <a:prstGeom prst="rect">
            <a:avLst/>
          </a:prstGeom>
          <a:noFill/>
        </p:spPr>
        <p:txBody>
          <a:bodyPr wrap="square" lIns="0" tIns="0" rIns="0" bIns="0" anchor="ctr">
            <a:spAutoFit/>
          </a:bodyPr>
          <a:lstStyle/>
          <a:p>
            <a:pPr algn="l"/>
            <a:r>
              <a:rPr sz="950" b="0">
                <a:solidFill>
                  <a:srgbClr val="6E6389"/>
                </a:solidFill>
                <a:latin typeface="Calibri"/>
              </a:rPr>
              <a:t>you hit enter, before the model sees it</a:t>
            </a:r>
          </a:p>
        </p:txBody>
      </p:sp>
      <p:sp>
        <p:nvSpPr>
          <p:cNvPr id="17" name="TextBox 16"/>
          <p:cNvSpPr txBox="1"/>
          <p:nvPr/>
        </p:nvSpPr>
        <p:spPr>
          <a:xfrm>
            <a:off x="4434840" y="2322576"/>
            <a:ext cx="640080" cy="420624"/>
          </a:xfrm>
          <a:prstGeom prst="rect">
            <a:avLst/>
          </a:prstGeom>
          <a:noFill/>
        </p:spPr>
        <p:txBody>
          <a:bodyPr wrap="square" lIns="0" tIns="0" rIns="0" bIns="0" anchor="ctr">
            <a:spAutoFit/>
          </a:bodyPr>
          <a:lstStyle/>
          <a:p>
            <a:pPr algn="ctr"/>
            <a:r>
              <a:rPr sz="950" b="1">
                <a:solidFill>
                  <a:srgbClr val="F59E0B"/>
                </a:solidFill>
                <a:latin typeface="Calibri"/>
              </a:rPr>
              <a:t>Yes</a:t>
            </a:r>
          </a:p>
        </p:txBody>
      </p:sp>
      <p:sp>
        <p:nvSpPr>
          <p:cNvPr id="18" name="TextBox 17"/>
          <p:cNvSpPr txBox="1"/>
          <p:nvPr/>
        </p:nvSpPr>
        <p:spPr>
          <a:xfrm>
            <a:off x="5166360" y="2322576"/>
            <a:ext cx="2926080" cy="420624"/>
          </a:xfrm>
          <a:prstGeom prst="rect">
            <a:avLst/>
          </a:prstGeom>
          <a:noFill/>
        </p:spPr>
        <p:txBody>
          <a:bodyPr wrap="square" lIns="0" tIns="0" rIns="0" bIns="0" anchor="ctr">
            <a:spAutoFit/>
          </a:bodyPr>
          <a:lstStyle/>
          <a:p>
            <a:pPr algn="l"/>
            <a:r>
              <a:rPr sz="950" b="0">
                <a:solidFill>
                  <a:srgbClr val="2D1155"/>
                </a:solidFill>
                <a:latin typeface="Calibri"/>
              </a:rPr>
              <a:t>Append standards; reject a prompt with a secret in it</a:t>
            </a:r>
          </a:p>
        </p:txBody>
      </p:sp>
      <p:sp>
        <p:nvSpPr>
          <p:cNvPr id="19" name="Rectangle 18"/>
          <p:cNvSpPr/>
          <p:nvPr/>
        </p:nvSpPr>
        <p:spPr>
          <a:xfrm>
            <a:off x="457200" y="2779776"/>
            <a:ext cx="7772400" cy="4206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66928" y="2779776"/>
            <a:ext cx="1600200" cy="420624"/>
          </a:xfrm>
          <a:prstGeom prst="rect">
            <a:avLst/>
          </a:prstGeom>
          <a:noFill/>
        </p:spPr>
        <p:txBody>
          <a:bodyPr wrap="square" lIns="0" tIns="0" rIns="0" bIns="0" anchor="ctr">
            <a:spAutoFit/>
          </a:bodyPr>
          <a:lstStyle/>
          <a:p>
            <a:pPr algn="l"/>
            <a:r>
              <a:rPr sz="1000" b="1">
                <a:solidFill>
                  <a:srgbClr val="5B21B6"/>
                </a:solidFill>
                <a:latin typeface="Courier New"/>
              </a:rPr>
              <a:t>PreToolUse</a:t>
            </a:r>
          </a:p>
        </p:txBody>
      </p:sp>
      <p:sp>
        <p:nvSpPr>
          <p:cNvPr id="21" name="TextBox 20"/>
          <p:cNvSpPr txBox="1"/>
          <p:nvPr/>
        </p:nvSpPr>
        <p:spPr>
          <a:xfrm>
            <a:off x="2212848" y="2779776"/>
            <a:ext cx="2148840" cy="420624"/>
          </a:xfrm>
          <a:prstGeom prst="rect">
            <a:avLst/>
          </a:prstGeom>
          <a:noFill/>
        </p:spPr>
        <p:txBody>
          <a:bodyPr wrap="square" lIns="0" tIns="0" rIns="0" bIns="0" anchor="ctr">
            <a:spAutoFit/>
          </a:bodyPr>
          <a:lstStyle/>
          <a:p>
            <a:pPr algn="l"/>
            <a:r>
              <a:rPr sz="950" b="0">
                <a:solidFill>
                  <a:srgbClr val="6E6389"/>
                </a:solidFill>
                <a:latin typeface="Calibri"/>
              </a:rPr>
              <a:t>before a tool call runs</a:t>
            </a:r>
          </a:p>
        </p:txBody>
      </p:sp>
      <p:sp>
        <p:nvSpPr>
          <p:cNvPr id="22" name="TextBox 21"/>
          <p:cNvSpPr txBox="1"/>
          <p:nvPr/>
        </p:nvSpPr>
        <p:spPr>
          <a:xfrm>
            <a:off x="4434840" y="2779776"/>
            <a:ext cx="640080" cy="420624"/>
          </a:xfrm>
          <a:prstGeom prst="rect">
            <a:avLst/>
          </a:prstGeom>
          <a:noFill/>
        </p:spPr>
        <p:txBody>
          <a:bodyPr wrap="square" lIns="0" tIns="0" rIns="0" bIns="0" anchor="ctr">
            <a:spAutoFit/>
          </a:bodyPr>
          <a:lstStyle/>
          <a:p>
            <a:pPr algn="ctr"/>
            <a:r>
              <a:rPr sz="950" b="1">
                <a:solidFill>
                  <a:srgbClr val="F59E0B"/>
                </a:solidFill>
                <a:latin typeface="Calibri"/>
              </a:rPr>
              <a:t>Yes</a:t>
            </a:r>
          </a:p>
        </p:txBody>
      </p:sp>
      <p:sp>
        <p:nvSpPr>
          <p:cNvPr id="23" name="TextBox 22"/>
          <p:cNvSpPr txBox="1"/>
          <p:nvPr/>
        </p:nvSpPr>
        <p:spPr>
          <a:xfrm>
            <a:off x="5166360" y="2779776"/>
            <a:ext cx="2926080" cy="420624"/>
          </a:xfrm>
          <a:prstGeom prst="rect">
            <a:avLst/>
          </a:prstGeom>
          <a:noFill/>
        </p:spPr>
        <p:txBody>
          <a:bodyPr wrap="square" lIns="0" tIns="0" rIns="0" bIns="0" anchor="ctr">
            <a:spAutoFit/>
          </a:bodyPr>
          <a:lstStyle/>
          <a:p>
            <a:pPr algn="l"/>
            <a:r>
              <a:rPr sz="950" b="0">
                <a:solidFill>
                  <a:srgbClr val="2D1155"/>
                </a:solidFill>
                <a:latin typeface="Calibri"/>
              </a:rPr>
              <a:t>Block edits to protected files; refuse rm in a real repo</a:t>
            </a:r>
          </a:p>
        </p:txBody>
      </p:sp>
      <p:sp>
        <p:nvSpPr>
          <p:cNvPr id="24" name="Rectangle 23"/>
          <p:cNvSpPr/>
          <p:nvPr/>
        </p:nvSpPr>
        <p:spPr>
          <a:xfrm>
            <a:off x="457200" y="3236976"/>
            <a:ext cx="7772400" cy="4206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66928" y="3236976"/>
            <a:ext cx="1600200" cy="420624"/>
          </a:xfrm>
          <a:prstGeom prst="rect">
            <a:avLst/>
          </a:prstGeom>
          <a:noFill/>
        </p:spPr>
        <p:txBody>
          <a:bodyPr wrap="square" lIns="0" tIns="0" rIns="0" bIns="0" anchor="ctr">
            <a:spAutoFit/>
          </a:bodyPr>
          <a:lstStyle/>
          <a:p>
            <a:pPr algn="l"/>
            <a:r>
              <a:rPr sz="1000" b="1">
                <a:solidFill>
                  <a:srgbClr val="5B21B6"/>
                </a:solidFill>
                <a:latin typeface="Courier New"/>
              </a:rPr>
              <a:t>PostToolUse</a:t>
            </a:r>
          </a:p>
        </p:txBody>
      </p:sp>
      <p:sp>
        <p:nvSpPr>
          <p:cNvPr id="26" name="TextBox 25"/>
          <p:cNvSpPr txBox="1"/>
          <p:nvPr/>
        </p:nvSpPr>
        <p:spPr>
          <a:xfrm>
            <a:off x="2212848" y="3236976"/>
            <a:ext cx="2148840" cy="420624"/>
          </a:xfrm>
          <a:prstGeom prst="rect">
            <a:avLst/>
          </a:prstGeom>
          <a:noFill/>
        </p:spPr>
        <p:txBody>
          <a:bodyPr wrap="square" lIns="0" tIns="0" rIns="0" bIns="0" anchor="ctr">
            <a:spAutoFit/>
          </a:bodyPr>
          <a:lstStyle/>
          <a:p>
            <a:pPr algn="l"/>
            <a:r>
              <a:rPr sz="950" b="0">
                <a:solidFill>
                  <a:srgbClr val="6E6389"/>
                </a:solidFill>
                <a:latin typeface="Calibri"/>
              </a:rPr>
              <a:t>after a tool call succeeds</a:t>
            </a:r>
          </a:p>
        </p:txBody>
      </p:sp>
      <p:sp>
        <p:nvSpPr>
          <p:cNvPr id="27" name="TextBox 26"/>
          <p:cNvSpPr txBox="1"/>
          <p:nvPr/>
        </p:nvSpPr>
        <p:spPr>
          <a:xfrm>
            <a:off x="4434840" y="3236976"/>
            <a:ext cx="640080" cy="420624"/>
          </a:xfrm>
          <a:prstGeom prst="rect">
            <a:avLst/>
          </a:prstGeom>
          <a:noFill/>
        </p:spPr>
        <p:txBody>
          <a:bodyPr wrap="square" lIns="0" tIns="0" rIns="0" bIns="0" anchor="ctr">
            <a:spAutoFit/>
          </a:bodyPr>
          <a:lstStyle/>
          <a:p>
            <a:pPr algn="ctr"/>
            <a:r>
              <a:rPr sz="950" b="0">
                <a:solidFill>
                  <a:srgbClr val="6E6389"/>
                </a:solidFill>
                <a:latin typeface="Calibri"/>
              </a:rPr>
              <a:t>No</a:t>
            </a:r>
          </a:p>
        </p:txBody>
      </p:sp>
      <p:sp>
        <p:nvSpPr>
          <p:cNvPr id="28" name="TextBox 27"/>
          <p:cNvSpPr txBox="1"/>
          <p:nvPr/>
        </p:nvSpPr>
        <p:spPr>
          <a:xfrm>
            <a:off x="5166360" y="3236976"/>
            <a:ext cx="2926080" cy="420624"/>
          </a:xfrm>
          <a:prstGeom prst="rect">
            <a:avLst/>
          </a:prstGeom>
          <a:noFill/>
        </p:spPr>
        <p:txBody>
          <a:bodyPr wrap="square" lIns="0" tIns="0" rIns="0" bIns="0" anchor="ctr">
            <a:spAutoFit/>
          </a:bodyPr>
          <a:lstStyle/>
          <a:p>
            <a:pPr algn="l"/>
            <a:r>
              <a:rPr sz="950" b="0">
                <a:solidFill>
                  <a:srgbClr val="2D1155"/>
                </a:solidFill>
                <a:latin typeface="Calibri"/>
              </a:rPr>
              <a:t>Auto-format the file just written; log the diff</a:t>
            </a:r>
          </a:p>
        </p:txBody>
      </p:sp>
      <p:sp>
        <p:nvSpPr>
          <p:cNvPr id="29" name="Rectangle 28"/>
          <p:cNvSpPr/>
          <p:nvPr/>
        </p:nvSpPr>
        <p:spPr>
          <a:xfrm>
            <a:off x="457200" y="3694176"/>
            <a:ext cx="7772400" cy="4206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66928" y="3694176"/>
            <a:ext cx="1600200" cy="420624"/>
          </a:xfrm>
          <a:prstGeom prst="rect">
            <a:avLst/>
          </a:prstGeom>
          <a:noFill/>
        </p:spPr>
        <p:txBody>
          <a:bodyPr wrap="square" lIns="0" tIns="0" rIns="0" bIns="0" anchor="ctr">
            <a:spAutoFit/>
          </a:bodyPr>
          <a:lstStyle/>
          <a:p>
            <a:pPr algn="l"/>
            <a:r>
              <a:rPr sz="1000" b="1">
                <a:solidFill>
                  <a:srgbClr val="5B21B6"/>
                </a:solidFill>
                <a:latin typeface="Courier New"/>
              </a:rPr>
              <a:t>Stop</a:t>
            </a:r>
          </a:p>
        </p:txBody>
      </p:sp>
      <p:sp>
        <p:nvSpPr>
          <p:cNvPr id="31" name="TextBox 30"/>
          <p:cNvSpPr txBox="1"/>
          <p:nvPr/>
        </p:nvSpPr>
        <p:spPr>
          <a:xfrm>
            <a:off x="2212848" y="3694176"/>
            <a:ext cx="2148840" cy="420624"/>
          </a:xfrm>
          <a:prstGeom prst="rect">
            <a:avLst/>
          </a:prstGeom>
          <a:noFill/>
        </p:spPr>
        <p:txBody>
          <a:bodyPr wrap="square" lIns="0" tIns="0" rIns="0" bIns="0" anchor="ctr">
            <a:spAutoFit/>
          </a:bodyPr>
          <a:lstStyle/>
          <a:p>
            <a:pPr algn="l"/>
            <a:r>
              <a:rPr sz="950" b="0">
                <a:solidFill>
                  <a:srgbClr val="6E6389"/>
                </a:solidFill>
                <a:latin typeface="Calibri"/>
              </a:rPr>
              <a:t>the agent thinks it has finished</a:t>
            </a:r>
          </a:p>
        </p:txBody>
      </p:sp>
      <p:sp>
        <p:nvSpPr>
          <p:cNvPr id="32" name="TextBox 31"/>
          <p:cNvSpPr txBox="1"/>
          <p:nvPr/>
        </p:nvSpPr>
        <p:spPr>
          <a:xfrm>
            <a:off x="4434840" y="3694176"/>
            <a:ext cx="640080" cy="420624"/>
          </a:xfrm>
          <a:prstGeom prst="rect">
            <a:avLst/>
          </a:prstGeom>
          <a:noFill/>
        </p:spPr>
        <p:txBody>
          <a:bodyPr wrap="square" lIns="0" tIns="0" rIns="0" bIns="0" anchor="ctr">
            <a:spAutoFit/>
          </a:bodyPr>
          <a:lstStyle/>
          <a:p>
            <a:pPr algn="ctr"/>
            <a:r>
              <a:rPr sz="950" b="1">
                <a:solidFill>
                  <a:srgbClr val="F59E0B"/>
                </a:solidFill>
                <a:latin typeface="Calibri"/>
              </a:rPr>
              <a:t>Yes</a:t>
            </a:r>
          </a:p>
        </p:txBody>
      </p:sp>
      <p:sp>
        <p:nvSpPr>
          <p:cNvPr id="33" name="TextBox 32"/>
          <p:cNvSpPr txBox="1"/>
          <p:nvPr/>
        </p:nvSpPr>
        <p:spPr>
          <a:xfrm>
            <a:off x="5166360" y="3694176"/>
            <a:ext cx="2926080" cy="420624"/>
          </a:xfrm>
          <a:prstGeom prst="rect">
            <a:avLst/>
          </a:prstGeom>
          <a:noFill/>
        </p:spPr>
        <p:txBody>
          <a:bodyPr wrap="square" lIns="0" tIns="0" rIns="0" bIns="0" anchor="ctr">
            <a:spAutoFit/>
          </a:bodyPr>
          <a:lstStyle/>
          <a:p>
            <a:pPr algn="l"/>
            <a:r>
              <a:rPr sz="950" b="0">
                <a:solidFill>
                  <a:srgbClr val="2D1155"/>
                </a:solidFill>
                <a:latin typeface="Calibri"/>
              </a:rPr>
              <a:t>Run make check. Refuse to stop while it is red</a:t>
            </a:r>
          </a:p>
        </p:txBody>
      </p:sp>
      <p:sp>
        <p:nvSpPr>
          <p:cNvPr id="34" name="Rectangle 33"/>
          <p:cNvSpPr/>
          <p:nvPr/>
        </p:nvSpPr>
        <p:spPr>
          <a:xfrm>
            <a:off x="457200" y="4151376"/>
            <a:ext cx="7772400" cy="420624"/>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66928" y="4151376"/>
            <a:ext cx="1600200" cy="420624"/>
          </a:xfrm>
          <a:prstGeom prst="rect">
            <a:avLst/>
          </a:prstGeom>
          <a:noFill/>
        </p:spPr>
        <p:txBody>
          <a:bodyPr wrap="square" lIns="0" tIns="0" rIns="0" bIns="0" anchor="ctr">
            <a:spAutoFit/>
          </a:bodyPr>
          <a:lstStyle/>
          <a:p>
            <a:pPr algn="l"/>
            <a:r>
              <a:rPr sz="1000" b="1">
                <a:solidFill>
                  <a:srgbClr val="5B21B6"/>
                </a:solidFill>
                <a:latin typeface="Courier New"/>
              </a:rPr>
              <a:t>SubagentStop</a:t>
            </a:r>
          </a:p>
        </p:txBody>
      </p:sp>
      <p:sp>
        <p:nvSpPr>
          <p:cNvPr id="36" name="TextBox 35"/>
          <p:cNvSpPr txBox="1"/>
          <p:nvPr/>
        </p:nvSpPr>
        <p:spPr>
          <a:xfrm>
            <a:off x="2212848" y="4151376"/>
            <a:ext cx="2148840" cy="420624"/>
          </a:xfrm>
          <a:prstGeom prst="rect">
            <a:avLst/>
          </a:prstGeom>
          <a:noFill/>
        </p:spPr>
        <p:txBody>
          <a:bodyPr wrap="square" lIns="0" tIns="0" rIns="0" bIns="0" anchor="ctr">
            <a:spAutoFit/>
          </a:bodyPr>
          <a:lstStyle/>
          <a:p>
            <a:pPr algn="l"/>
            <a:r>
              <a:rPr sz="950" b="0">
                <a:solidFill>
                  <a:srgbClr val="6E6389"/>
                </a:solidFill>
                <a:latin typeface="Calibri"/>
              </a:rPr>
              <a:t>a sub-agent finishes</a:t>
            </a:r>
          </a:p>
        </p:txBody>
      </p:sp>
      <p:sp>
        <p:nvSpPr>
          <p:cNvPr id="37" name="TextBox 36"/>
          <p:cNvSpPr txBox="1"/>
          <p:nvPr/>
        </p:nvSpPr>
        <p:spPr>
          <a:xfrm>
            <a:off x="4434840" y="4151376"/>
            <a:ext cx="640080" cy="420624"/>
          </a:xfrm>
          <a:prstGeom prst="rect">
            <a:avLst/>
          </a:prstGeom>
          <a:noFill/>
        </p:spPr>
        <p:txBody>
          <a:bodyPr wrap="square" lIns="0" tIns="0" rIns="0" bIns="0" anchor="ctr">
            <a:spAutoFit/>
          </a:bodyPr>
          <a:lstStyle/>
          <a:p>
            <a:pPr algn="ctr"/>
            <a:r>
              <a:rPr sz="950" b="1">
                <a:solidFill>
                  <a:srgbClr val="F59E0B"/>
                </a:solidFill>
                <a:latin typeface="Calibri"/>
              </a:rPr>
              <a:t>Yes</a:t>
            </a:r>
          </a:p>
        </p:txBody>
      </p:sp>
      <p:sp>
        <p:nvSpPr>
          <p:cNvPr id="38" name="TextBox 37"/>
          <p:cNvSpPr txBox="1"/>
          <p:nvPr/>
        </p:nvSpPr>
        <p:spPr>
          <a:xfrm>
            <a:off x="5166360" y="4151376"/>
            <a:ext cx="2926080" cy="420624"/>
          </a:xfrm>
          <a:prstGeom prst="rect">
            <a:avLst/>
          </a:prstGeom>
          <a:noFill/>
        </p:spPr>
        <p:txBody>
          <a:bodyPr wrap="square" lIns="0" tIns="0" rIns="0" bIns="0" anchor="ctr">
            <a:spAutoFit/>
          </a:bodyPr>
          <a:lstStyle/>
          <a:p>
            <a:pPr algn="l"/>
            <a:r>
              <a:rPr sz="950" b="0">
                <a:solidFill>
                  <a:srgbClr val="2D1155"/>
                </a:solidFill>
                <a:latin typeface="Calibri"/>
              </a:rPr>
              <a:t>Check the sub-agent actually did its job</a:t>
            </a:r>
          </a:p>
        </p:txBody>
      </p:sp>
      <p:sp>
        <p:nvSpPr>
          <p:cNvPr id="39" name="TextBox 38"/>
          <p:cNvSpPr txBox="1"/>
          <p:nvPr/>
        </p:nvSpPr>
        <p:spPr>
          <a:xfrm>
            <a:off x="457200" y="4681728"/>
            <a:ext cx="7498079" cy="292608"/>
          </a:xfrm>
          <a:prstGeom prst="rect">
            <a:avLst/>
          </a:prstGeom>
          <a:noFill/>
        </p:spPr>
        <p:txBody>
          <a:bodyPr wrap="square" lIns="0" tIns="0" rIns="0" bIns="0" anchor="t">
            <a:spAutoFit/>
          </a:bodyPr>
          <a:lstStyle/>
          <a:p>
            <a:pPr algn="l"/>
            <a:r>
              <a:rPr sz="1150" b="0">
                <a:solidFill>
                  <a:srgbClr val="6E6389"/>
                </a:solidFill>
                <a:latin typeface="Calibri"/>
              </a:rPr>
              <a:t>“Blocks?” is the column that matters: only some events can stop the thing that is about to happen.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FOUR WORTH WIRING TODAY</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Concrete, and all four are useful on TCA Habits before you leave.</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508760"/>
            <a:ext cx="4023360" cy="132588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673351"/>
            <a:ext cx="2377440" cy="274320"/>
          </a:xfrm>
          <a:prstGeom prst="rect">
            <a:avLst/>
          </a:prstGeom>
          <a:noFill/>
        </p:spPr>
        <p:txBody>
          <a:bodyPr wrap="square" lIns="0" tIns="0" rIns="0" bIns="0" anchor="t">
            <a:spAutoFit/>
          </a:bodyPr>
          <a:lstStyle/>
          <a:p>
            <a:pPr algn="l"/>
            <a:r>
              <a:rPr sz="1150" b="1">
                <a:solidFill>
                  <a:srgbClr val="2D1155"/>
                </a:solidFill>
                <a:latin typeface="Arial Black"/>
              </a:rPr>
              <a:t>THE VERIFIER</a:t>
            </a:r>
          </a:p>
        </p:txBody>
      </p:sp>
      <p:sp>
        <p:nvSpPr>
          <p:cNvPr id="7" name="Rectangle 6"/>
          <p:cNvSpPr/>
          <p:nvPr/>
        </p:nvSpPr>
        <p:spPr>
          <a:xfrm>
            <a:off x="3200400" y="1655063"/>
            <a:ext cx="1097280" cy="310896"/>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200400" y="1655063"/>
            <a:ext cx="1097280" cy="310896"/>
          </a:xfrm>
          <a:prstGeom prst="rect">
            <a:avLst/>
          </a:prstGeom>
          <a:noFill/>
        </p:spPr>
        <p:txBody>
          <a:bodyPr wrap="square" lIns="0" tIns="0" rIns="0" bIns="0" anchor="ctr">
            <a:spAutoFit/>
          </a:bodyPr>
          <a:lstStyle/>
          <a:p>
            <a:pPr algn="ctr"/>
            <a:r>
              <a:rPr sz="850" b="0">
                <a:solidFill>
                  <a:srgbClr val="C4B5E8"/>
                </a:solidFill>
                <a:latin typeface="Courier New"/>
              </a:rPr>
              <a:t>Stop</a:t>
            </a:r>
          </a:p>
        </p:txBody>
      </p:sp>
      <p:sp>
        <p:nvSpPr>
          <p:cNvPr id="9" name="TextBox 8"/>
          <p:cNvSpPr txBox="1"/>
          <p:nvPr/>
        </p:nvSpPr>
        <p:spPr>
          <a:xfrm>
            <a:off x="685800" y="2057400"/>
            <a:ext cx="3566160" cy="640080"/>
          </a:xfrm>
          <a:prstGeom prst="rect">
            <a:avLst/>
          </a:prstGeom>
          <a:noFill/>
        </p:spPr>
        <p:txBody>
          <a:bodyPr wrap="square" lIns="0" tIns="0" rIns="0" bIns="0" anchor="t">
            <a:spAutoFit/>
          </a:bodyPr>
          <a:lstStyle/>
          <a:p>
            <a:pPr algn="l">
              <a:lnSpc>
                <a:spcPct val="110000"/>
              </a:lnSpc>
            </a:pPr>
            <a:r>
              <a:rPr sz="1150" b="0">
                <a:solidFill>
                  <a:srgbClr val="6E6389"/>
                </a:solidFill>
                <a:latin typeface="Calibri"/>
              </a:rPr>
              <a:t>Run make check when the agent says it's done. Red means not done.</a:t>
            </a:r>
          </a:p>
        </p:txBody>
      </p:sp>
      <p:sp>
        <p:nvSpPr>
          <p:cNvPr id="10" name="Rectangle 9"/>
          <p:cNvSpPr/>
          <p:nvPr/>
        </p:nvSpPr>
        <p:spPr>
          <a:xfrm>
            <a:off x="4663440" y="1508760"/>
            <a:ext cx="4023360" cy="132588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92040" y="1673351"/>
            <a:ext cx="2377440" cy="274320"/>
          </a:xfrm>
          <a:prstGeom prst="rect">
            <a:avLst/>
          </a:prstGeom>
          <a:noFill/>
        </p:spPr>
        <p:txBody>
          <a:bodyPr wrap="square" lIns="0" tIns="0" rIns="0" bIns="0" anchor="t">
            <a:spAutoFit/>
          </a:bodyPr>
          <a:lstStyle/>
          <a:p>
            <a:pPr algn="l"/>
            <a:r>
              <a:rPr sz="1150" b="1">
                <a:solidFill>
                  <a:srgbClr val="2D1155"/>
                </a:solidFill>
                <a:latin typeface="Arial Black"/>
              </a:rPr>
              <a:t>THE GUARDRAIL</a:t>
            </a:r>
          </a:p>
        </p:txBody>
      </p:sp>
      <p:sp>
        <p:nvSpPr>
          <p:cNvPr id="12" name="Rectangle 11"/>
          <p:cNvSpPr/>
          <p:nvPr/>
        </p:nvSpPr>
        <p:spPr>
          <a:xfrm>
            <a:off x="7406640" y="1655063"/>
            <a:ext cx="1097280" cy="310896"/>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06640" y="1655063"/>
            <a:ext cx="1097280" cy="310896"/>
          </a:xfrm>
          <a:prstGeom prst="rect">
            <a:avLst/>
          </a:prstGeom>
          <a:noFill/>
        </p:spPr>
        <p:txBody>
          <a:bodyPr wrap="square" lIns="0" tIns="0" rIns="0" bIns="0" anchor="ctr">
            <a:spAutoFit/>
          </a:bodyPr>
          <a:lstStyle/>
          <a:p>
            <a:pPr algn="ctr"/>
            <a:r>
              <a:rPr sz="850" b="0">
                <a:solidFill>
                  <a:srgbClr val="C4B5E8"/>
                </a:solidFill>
                <a:latin typeface="Courier New"/>
              </a:rPr>
              <a:t>PreToolUse</a:t>
            </a:r>
          </a:p>
        </p:txBody>
      </p:sp>
      <p:sp>
        <p:nvSpPr>
          <p:cNvPr id="14" name="TextBox 13"/>
          <p:cNvSpPr txBox="1"/>
          <p:nvPr/>
        </p:nvSpPr>
        <p:spPr>
          <a:xfrm>
            <a:off x="4892040" y="2057400"/>
            <a:ext cx="3566160" cy="640080"/>
          </a:xfrm>
          <a:prstGeom prst="rect">
            <a:avLst/>
          </a:prstGeom>
          <a:noFill/>
        </p:spPr>
        <p:txBody>
          <a:bodyPr wrap="square" lIns="0" tIns="0" rIns="0" bIns="0" anchor="t">
            <a:spAutoFit/>
          </a:bodyPr>
          <a:lstStyle/>
          <a:p>
            <a:pPr algn="l">
              <a:lnSpc>
                <a:spcPct val="110000"/>
              </a:lnSpc>
            </a:pPr>
            <a:r>
              <a:rPr sz="1150" b="0">
                <a:solidFill>
                  <a:srgbClr val="6E6389"/>
                </a:solidFill>
                <a:latin typeface="Calibri"/>
              </a:rPr>
              <a:t>Block an edit to the streak logic unless a test changes in the same turn.</a:t>
            </a:r>
          </a:p>
        </p:txBody>
      </p:sp>
      <p:sp>
        <p:nvSpPr>
          <p:cNvPr id="15" name="Rectangle 14"/>
          <p:cNvSpPr/>
          <p:nvPr/>
        </p:nvSpPr>
        <p:spPr>
          <a:xfrm>
            <a:off x="457200" y="2944368"/>
            <a:ext cx="4023360" cy="132588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85800" y="3108960"/>
            <a:ext cx="2377440" cy="274320"/>
          </a:xfrm>
          <a:prstGeom prst="rect">
            <a:avLst/>
          </a:prstGeom>
          <a:noFill/>
        </p:spPr>
        <p:txBody>
          <a:bodyPr wrap="square" lIns="0" tIns="0" rIns="0" bIns="0" anchor="t">
            <a:spAutoFit/>
          </a:bodyPr>
          <a:lstStyle/>
          <a:p>
            <a:pPr algn="l"/>
            <a:r>
              <a:rPr sz="1150" b="1">
                <a:solidFill>
                  <a:srgbClr val="2D1155"/>
                </a:solidFill>
                <a:latin typeface="Arial Black"/>
              </a:rPr>
              <a:t>THE TIDIER</a:t>
            </a:r>
          </a:p>
        </p:txBody>
      </p:sp>
      <p:sp>
        <p:nvSpPr>
          <p:cNvPr id="17" name="Rectangle 16"/>
          <p:cNvSpPr/>
          <p:nvPr/>
        </p:nvSpPr>
        <p:spPr>
          <a:xfrm>
            <a:off x="3200400" y="3090672"/>
            <a:ext cx="1097280" cy="310896"/>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00400" y="3090672"/>
            <a:ext cx="1097280" cy="310896"/>
          </a:xfrm>
          <a:prstGeom prst="rect">
            <a:avLst/>
          </a:prstGeom>
          <a:noFill/>
        </p:spPr>
        <p:txBody>
          <a:bodyPr wrap="square" lIns="0" tIns="0" rIns="0" bIns="0" anchor="ctr">
            <a:spAutoFit/>
          </a:bodyPr>
          <a:lstStyle/>
          <a:p>
            <a:pPr algn="ctr"/>
            <a:r>
              <a:rPr sz="850" b="0">
                <a:solidFill>
                  <a:srgbClr val="C4B5E8"/>
                </a:solidFill>
                <a:latin typeface="Courier New"/>
              </a:rPr>
              <a:t>PostToolUse</a:t>
            </a:r>
          </a:p>
        </p:txBody>
      </p:sp>
      <p:sp>
        <p:nvSpPr>
          <p:cNvPr id="19" name="TextBox 18"/>
          <p:cNvSpPr txBox="1"/>
          <p:nvPr/>
        </p:nvSpPr>
        <p:spPr>
          <a:xfrm>
            <a:off x="685800" y="3493008"/>
            <a:ext cx="3566160" cy="640080"/>
          </a:xfrm>
          <a:prstGeom prst="rect">
            <a:avLst/>
          </a:prstGeom>
          <a:noFill/>
        </p:spPr>
        <p:txBody>
          <a:bodyPr wrap="square" lIns="0" tIns="0" rIns="0" bIns="0" anchor="t">
            <a:spAutoFit/>
          </a:bodyPr>
          <a:lstStyle/>
          <a:p>
            <a:pPr algn="l">
              <a:lnSpc>
                <a:spcPct val="110000"/>
              </a:lnSpc>
            </a:pPr>
            <a:r>
              <a:rPr sz="1150" b="0">
                <a:solidFill>
                  <a:srgbClr val="6E6389"/>
                </a:solidFill>
                <a:latin typeface="Calibri"/>
              </a:rPr>
              <a:t>Run the formatter on whatever file was just written. Style never reaches review.</a:t>
            </a:r>
          </a:p>
        </p:txBody>
      </p:sp>
      <p:sp>
        <p:nvSpPr>
          <p:cNvPr id="20" name="Rectangle 19"/>
          <p:cNvSpPr/>
          <p:nvPr/>
        </p:nvSpPr>
        <p:spPr>
          <a:xfrm>
            <a:off x="4663440" y="2944368"/>
            <a:ext cx="4023360" cy="132588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92040" y="3108960"/>
            <a:ext cx="2377440" cy="274320"/>
          </a:xfrm>
          <a:prstGeom prst="rect">
            <a:avLst/>
          </a:prstGeom>
          <a:noFill/>
        </p:spPr>
        <p:txBody>
          <a:bodyPr wrap="square" lIns="0" tIns="0" rIns="0" bIns="0" anchor="t">
            <a:spAutoFit/>
          </a:bodyPr>
          <a:lstStyle/>
          <a:p>
            <a:pPr algn="l"/>
            <a:r>
              <a:rPr sz="1150" b="1">
                <a:solidFill>
                  <a:srgbClr val="2D1155"/>
                </a:solidFill>
                <a:latin typeface="Arial Black"/>
              </a:rPr>
              <a:t>THE BRIEFER</a:t>
            </a:r>
          </a:p>
        </p:txBody>
      </p:sp>
      <p:sp>
        <p:nvSpPr>
          <p:cNvPr id="22" name="Rectangle 21"/>
          <p:cNvSpPr/>
          <p:nvPr/>
        </p:nvSpPr>
        <p:spPr>
          <a:xfrm>
            <a:off x="7406640" y="3090672"/>
            <a:ext cx="1097280" cy="310896"/>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06640" y="3090672"/>
            <a:ext cx="1097280" cy="310896"/>
          </a:xfrm>
          <a:prstGeom prst="rect">
            <a:avLst/>
          </a:prstGeom>
          <a:noFill/>
        </p:spPr>
        <p:txBody>
          <a:bodyPr wrap="square" lIns="0" tIns="0" rIns="0" bIns="0" anchor="ctr">
            <a:spAutoFit/>
          </a:bodyPr>
          <a:lstStyle/>
          <a:p>
            <a:pPr algn="ctr"/>
            <a:r>
              <a:rPr sz="850" b="0">
                <a:solidFill>
                  <a:srgbClr val="C4B5E8"/>
                </a:solidFill>
                <a:latin typeface="Courier New"/>
              </a:rPr>
              <a:t>SessionStart</a:t>
            </a:r>
          </a:p>
        </p:txBody>
      </p:sp>
      <p:sp>
        <p:nvSpPr>
          <p:cNvPr id="24" name="TextBox 23"/>
          <p:cNvSpPr txBox="1"/>
          <p:nvPr/>
        </p:nvSpPr>
        <p:spPr>
          <a:xfrm>
            <a:off x="4892040" y="3493008"/>
            <a:ext cx="3566160" cy="640080"/>
          </a:xfrm>
          <a:prstGeom prst="rect">
            <a:avLst/>
          </a:prstGeom>
          <a:noFill/>
        </p:spPr>
        <p:txBody>
          <a:bodyPr wrap="square" lIns="0" tIns="0" rIns="0" bIns="0" anchor="t">
            <a:spAutoFit/>
          </a:bodyPr>
          <a:lstStyle/>
          <a:p>
            <a:pPr algn="l">
              <a:lnSpc>
                <a:spcPct val="110000"/>
              </a:lnSpc>
            </a:pPr>
            <a:r>
              <a:rPr sz="1150" b="0">
                <a:solidFill>
                  <a:srgbClr val="6E6389"/>
                </a:solidFill>
                <a:latin typeface="Calibri"/>
              </a:rPr>
              <a:t>Echo the branch and any failing tests, so the agent starts already oriented.</a:t>
            </a:r>
          </a:p>
        </p:txBody>
      </p:sp>
      <p:sp>
        <p:nvSpPr>
          <p:cNvPr id="25" name="TextBox 24"/>
          <p:cNvSpPr txBox="1"/>
          <p:nvPr/>
        </p:nvSpPr>
        <p:spPr>
          <a:xfrm>
            <a:off x="457200" y="4434840"/>
            <a:ext cx="7498079" cy="320040"/>
          </a:xfrm>
          <a:prstGeom prst="rect">
            <a:avLst/>
          </a:prstGeom>
          <a:noFill/>
        </p:spPr>
        <p:txBody>
          <a:bodyPr wrap="square" lIns="0" tIns="0" rIns="0" bIns="0" anchor="t">
            <a:spAutoFit/>
          </a:bodyPr>
          <a:lstStyle/>
          <a:p>
            <a:pPr algn="l"/>
            <a:r>
              <a:rPr sz="1200" b="0">
                <a:solidFill>
                  <a:srgbClr val="6E6389"/>
                </a:solidFill>
                <a:latin typeface="Calibri"/>
              </a:rPr>
              <a:t>The first two are today's lab. The other two take about a minute each.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THE ONE THING THAT WILL CATCH YOU</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A hook signals its decision through the exit code. The numbers are not what you'd guess.</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536192"/>
            <a:ext cx="7772400" cy="5486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536192"/>
            <a:ext cx="1051560" cy="548640"/>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536192"/>
            <a:ext cx="1051560" cy="548640"/>
          </a:xfrm>
          <a:prstGeom prst="rect">
            <a:avLst/>
          </a:prstGeom>
          <a:noFill/>
        </p:spPr>
        <p:txBody>
          <a:bodyPr wrap="square" lIns="0" tIns="0" rIns="0" bIns="0" anchor="ctr">
            <a:spAutoFit/>
          </a:bodyPr>
          <a:lstStyle/>
          <a:p>
            <a:pPr algn="ctr"/>
            <a:r>
              <a:rPr sz="1100" b="0">
                <a:solidFill>
                  <a:srgbClr val="C4B5E8"/>
                </a:solidFill>
                <a:latin typeface="Courier New"/>
              </a:rPr>
              <a:t>exit 0</a:t>
            </a:r>
          </a:p>
        </p:txBody>
      </p:sp>
      <p:sp>
        <p:nvSpPr>
          <p:cNvPr id="8" name="TextBox 7"/>
          <p:cNvSpPr txBox="1"/>
          <p:nvPr/>
        </p:nvSpPr>
        <p:spPr>
          <a:xfrm>
            <a:off x="1691640" y="1536192"/>
            <a:ext cx="1920240" cy="548640"/>
          </a:xfrm>
          <a:prstGeom prst="rect">
            <a:avLst/>
          </a:prstGeom>
          <a:noFill/>
        </p:spPr>
        <p:txBody>
          <a:bodyPr wrap="square" lIns="0" tIns="0" rIns="0" bIns="0" anchor="ctr">
            <a:spAutoFit/>
          </a:bodyPr>
          <a:lstStyle/>
          <a:p>
            <a:pPr algn="l"/>
            <a:r>
              <a:rPr sz="1250" b="0">
                <a:solidFill>
                  <a:srgbClr val="6E6389"/>
                </a:solidFill>
                <a:latin typeface="Arial Black"/>
              </a:rPr>
              <a:t>Fine, carry on.</a:t>
            </a:r>
          </a:p>
        </p:txBody>
      </p:sp>
      <p:sp>
        <p:nvSpPr>
          <p:cNvPr id="9" name="TextBox 8"/>
          <p:cNvSpPr txBox="1"/>
          <p:nvPr/>
        </p:nvSpPr>
        <p:spPr>
          <a:xfrm>
            <a:off x="3749039" y="1536192"/>
            <a:ext cx="4297680" cy="548640"/>
          </a:xfrm>
          <a:prstGeom prst="rect">
            <a:avLst/>
          </a:prstGeom>
          <a:noFill/>
        </p:spPr>
        <p:txBody>
          <a:bodyPr wrap="square" lIns="0" tIns="0" rIns="0" bIns="0" anchor="ctr">
            <a:spAutoFit/>
          </a:bodyPr>
          <a:lstStyle/>
          <a:p>
            <a:pPr algn="l"/>
            <a:r>
              <a:rPr sz="1150" b="0">
                <a:solidFill>
                  <a:srgbClr val="2D1155"/>
                </a:solidFill>
                <a:latin typeface="Calibri"/>
              </a:rPr>
              <a:t>Success. Anything on stdout can add context.</a:t>
            </a:r>
          </a:p>
        </p:txBody>
      </p:sp>
      <p:sp>
        <p:nvSpPr>
          <p:cNvPr id="10" name="Rectangle 9"/>
          <p:cNvSpPr/>
          <p:nvPr/>
        </p:nvSpPr>
        <p:spPr>
          <a:xfrm>
            <a:off x="457200" y="2157984"/>
            <a:ext cx="7772400" cy="5486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157984"/>
            <a:ext cx="1051560" cy="548640"/>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157984"/>
            <a:ext cx="1051560" cy="548640"/>
          </a:xfrm>
          <a:prstGeom prst="rect">
            <a:avLst/>
          </a:prstGeom>
          <a:noFill/>
        </p:spPr>
        <p:txBody>
          <a:bodyPr wrap="square" lIns="0" tIns="0" rIns="0" bIns="0" anchor="ctr">
            <a:spAutoFit/>
          </a:bodyPr>
          <a:lstStyle/>
          <a:p>
            <a:pPr algn="ctr"/>
            <a:r>
              <a:rPr sz="1100" b="0">
                <a:solidFill>
                  <a:srgbClr val="C4B5E8"/>
                </a:solidFill>
                <a:latin typeface="Courier New"/>
              </a:rPr>
              <a:t>exit 2</a:t>
            </a:r>
          </a:p>
        </p:txBody>
      </p:sp>
      <p:sp>
        <p:nvSpPr>
          <p:cNvPr id="13" name="TextBox 12"/>
          <p:cNvSpPr txBox="1"/>
          <p:nvPr/>
        </p:nvSpPr>
        <p:spPr>
          <a:xfrm>
            <a:off x="1691640" y="2157984"/>
            <a:ext cx="1920240" cy="548640"/>
          </a:xfrm>
          <a:prstGeom prst="rect">
            <a:avLst/>
          </a:prstGeom>
          <a:noFill/>
        </p:spPr>
        <p:txBody>
          <a:bodyPr wrap="square" lIns="0" tIns="0" rIns="0" bIns="0" anchor="ctr">
            <a:spAutoFit/>
          </a:bodyPr>
          <a:lstStyle/>
          <a:p>
            <a:pPr algn="l"/>
            <a:r>
              <a:rPr sz="1250" b="1">
                <a:solidFill>
                  <a:srgbClr val="5B21B6"/>
                </a:solidFill>
                <a:latin typeface="Arial Black"/>
              </a:rPr>
              <a:t>BLOCK IT.</a:t>
            </a:r>
          </a:p>
        </p:txBody>
      </p:sp>
      <p:sp>
        <p:nvSpPr>
          <p:cNvPr id="14" name="TextBox 13"/>
          <p:cNvSpPr txBox="1"/>
          <p:nvPr/>
        </p:nvSpPr>
        <p:spPr>
          <a:xfrm>
            <a:off x="3749039" y="2157984"/>
            <a:ext cx="4297680" cy="548640"/>
          </a:xfrm>
          <a:prstGeom prst="rect">
            <a:avLst/>
          </a:prstGeom>
          <a:noFill/>
        </p:spPr>
        <p:txBody>
          <a:bodyPr wrap="square" lIns="0" tIns="0" rIns="0" bIns="0" anchor="ctr">
            <a:spAutoFit/>
          </a:bodyPr>
          <a:lstStyle/>
          <a:p>
            <a:pPr algn="l"/>
            <a:r>
              <a:rPr sz="1150" b="0">
                <a:solidFill>
                  <a:srgbClr val="2D1155"/>
                </a:solidFill>
                <a:latin typeface="Calibri"/>
              </a:rPr>
              <a:t>stderr is handed back to the agent as the reason.</a:t>
            </a:r>
          </a:p>
        </p:txBody>
      </p:sp>
      <p:sp>
        <p:nvSpPr>
          <p:cNvPr id="15" name="Rectangle 14"/>
          <p:cNvSpPr/>
          <p:nvPr/>
        </p:nvSpPr>
        <p:spPr>
          <a:xfrm>
            <a:off x="457200" y="2779776"/>
            <a:ext cx="7772400" cy="5486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2779776"/>
            <a:ext cx="1051560" cy="548640"/>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2779776"/>
            <a:ext cx="1051560" cy="548640"/>
          </a:xfrm>
          <a:prstGeom prst="rect">
            <a:avLst/>
          </a:prstGeom>
          <a:noFill/>
        </p:spPr>
        <p:txBody>
          <a:bodyPr wrap="square" lIns="0" tIns="0" rIns="0" bIns="0" anchor="ctr">
            <a:spAutoFit/>
          </a:bodyPr>
          <a:lstStyle/>
          <a:p>
            <a:pPr algn="ctr"/>
            <a:r>
              <a:rPr sz="1100" b="0">
                <a:solidFill>
                  <a:srgbClr val="C4B5E8"/>
                </a:solidFill>
                <a:latin typeface="Courier New"/>
              </a:rPr>
              <a:t>exit 1</a:t>
            </a:r>
          </a:p>
        </p:txBody>
      </p:sp>
      <p:sp>
        <p:nvSpPr>
          <p:cNvPr id="18" name="TextBox 17"/>
          <p:cNvSpPr txBox="1"/>
          <p:nvPr/>
        </p:nvSpPr>
        <p:spPr>
          <a:xfrm>
            <a:off x="1691640" y="2779776"/>
            <a:ext cx="1920240" cy="548640"/>
          </a:xfrm>
          <a:prstGeom prst="rect">
            <a:avLst/>
          </a:prstGeom>
          <a:noFill/>
        </p:spPr>
        <p:txBody>
          <a:bodyPr wrap="square" lIns="0" tIns="0" rIns="0" bIns="0" anchor="ctr">
            <a:spAutoFit/>
          </a:bodyPr>
          <a:lstStyle/>
          <a:p>
            <a:pPr algn="l"/>
            <a:r>
              <a:rPr sz="1250" b="1">
                <a:solidFill>
                  <a:srgbClr val="9B1C1C"/>
                </a:solidFill>
                <a:latin typeface="Arial Black"/>
              </a:rPr>
              <a:t>Nothing happens.</a:t>
            </a:r>
          </a:p>
        </p:txBody>
      </p:sp>
      <p:sp>
        <p:nvSpPr>
          <p:cNvPr id="19" name="TextBox 18"/>
          <p:cNvSpPr txBox="1"/>
          <p:nvPr/>
        </p:nvSpPr>
        <p:spPr>
          <a:xfrm>
            <a:off x="3749039" y="2779776"/>
            <a:ext cx="4297680" cy="548640"/>
          </a:xfrm>
          <a:prstGeom prst="rect">
            <a:avLst/>
          </a:prstGeom>
          <a:noFill/>
        </p:spPr>
        <p:txBody>
          <a:bodyPr wrap="square" lIns="0" tIns="0" rIns="0" bIns="0" anchor="ctr">
            <a:spAutoFit/>
          </a:bodyPr>
          <a:lstStyle/>
          <a:p>
            <a:pPr algn="l"/>
            <a:r>
              <a:rPr sz="1150" b="0">
                <a:solidFill>
                  <a:srgbClr val="2D1155"/>
                </a:solidFill>
                <a:latin typeface="Calibri"/>
              </a:rPr>
              <a:t>A non-blocking error. The action proceeds anyway.</a:t>
            </a:r>
          </a:p>
        </p:txBody>
      </p:sp>
      <p:sp>
        <p:nvSpPr>
          <p:cNvPr id="20" name="TextBox 19"/>
          <p:cNvSpPr txBox="1"/>
          <p:nvPr/>
        </p:nvSpPr>
        <p:spPr>
          <a:xfrm>
            <a:off x="457200" y="3438144"/>
            <a:ext cx="7680960" cy="320040"/>
          </a:xfrm>
          <a:prstGeom prst="rect">
            <a:avLst/>
          </a:prstGeom>
          <a:noFill/>
        </p:spPr>
        <p:txBody>
          <a:bodyPr wrap="square" lIns="0" tIns="0" rIns="0" bIns="0" anchor="t">
            <a:spAutoFit/>
          </a:bodyPr>
          <a:lstStyle/>
          <a:p>
            <a:pPr algn="l"/>
            <a:r>
              <a:rPr sz="1200" b="1">
                <a:solidFill>
                  <a:srgbClr val="2D1155"/>
                </a:solidFill>
                <a:latin typeface="Calibri"/>
              </a:rPr>
              <a:t>Unix says 1 means failure. A policy hook that exits 1 enforces nothing at all.</a:t>
            </a:r>
          </a:p>
        </p:txBody>
      </p:sp>
      <p:sp>
        <p:nvSpPr>
          <p:cNvPr id="21" name="Rectangle 20"/>
          <p:cNvSpPr/>
          <p:nvPr/>
        </p:nvSpPr>
        <p:spPr>
          <a:xfrm>
            <a:off x="457200" y="3840480"/>
            <a:ext cx="7772400" cy="841248"/>
          </a:xfrm>
          <a:prstGeom prst="rect">
            <a:avLst/>
          </a:prstGeom>
          <a:solidFill>
            <a:srgbClr val="1E0B3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 y="4005072"/>
            <a:ext cx="7370064" cy="512064"/>
          </a:xfrm>
          <a:prstGeom prst="rect">
            <a:avLst/>
          </a:prstGeom>
          <a:noFill/>
        </p:spPr>
        <p:txBody>
          <a:bodyPr wrap="square" lIns="0" tIns="0" rIns="0" bIns="0" anchor="t">
            <a:spAutoFit/>
          </a:bodyPr>
          <a:lstStyle/>
          <a:p>
            <a:pPr algn="l">
              <a:lnSpc>
                <a:spcPct val="132000"/>
              </a:lnSpc>
            </a:pPr>
            <a:r>
              <a:rPr sz="950" b="0">
                <a:solidFill>
                  <a:srgbClr val="C4B5E8"/>
                </a:solidFill>
                <a:latin typeface="Courier New"/>
              </a:rPr>
              <a:t>Claude Code   .claude/settings.json + .claude/hooks/     ·  manage with /hooks</a:t>
            </a:r>
          </a:p>
          <a:p>
            <a:pPr algn="l">
              <a:lnSpc>
                <a:spcPct val="132000"/>
              </a:lnSpc>
            </a:pPr>
            <a:r>
              <a:rPr sz="950" b="0">
                <a:solidFill>
                  <a:srgbClr val="C4B5E8"/>
                </a:solidFill>
                <a:latin typeface="Courier New"/>
              </a:rPr>
              <a:t>Codex         ~/.codex/hooks.json or &lt;repo&gt;/.codex/    ·  experimental: [features] hooks = true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THE FULL CATALOGUE</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Reference, not memorisation. Know the six; know this page exists.</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81328"/>
            <a:ext cx="5074920" cy="27432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645920"/>
            <a:ext cx="4617720" cy="256032"/>
          </a:xfrm>
          <a:prstGeom prst="rect">
            <a:avLst/>
          </a:prstGeom>
          <a:noFill/>
        </p:spPr>
        <p:txBody>
          <a:bodyPr wrap="square" lIns="0" tIns="0" rIns="0" bIns="0" anchor="t">
            <a:spAutoFit/>
          </a:bodyPr>
          <a:lstStyle/>
          <a:p>
            <a:pPr algn="l"/>
            <a:r>
              <a:rPr sz="1000" b="1">
                <a:solidFill>
                  <a:srgbClr val="7C3AED"/>
                </a:solidFill>
                <a:latin typeface="Calibri"/>
              </a:rPr>
              <a:t>CLAUDE CODE  ·  28 EVENTS</a:t>
            </a:r>
          </a:p>
        </p:txBody>
      </p:sp>
      <p:sp>
        <p:nvSpPr>
          <p:cNvPr id="7" name="TextBox 6"/>
          <p:cNvSpPr txBox="1"/>
          <p:nvPr/>
        </p:nvSpPr>
        <p:spPr>
          <a:xfrm>
            <a:off x="685800" y="1956816"/>
            <a:ext cx="1005840" cy="219456"/>
          </a:xfrm>
          <a:prstGeom prst="rect">
            <a:avLst/>
          </a:prstGeom>
          <a:noFill/>
        </p:spPr>
        <p:txBody>
          <a:bodyPr wrap="square" lIns="0" tIns="0" rIns="0" bIns="0" anchor="t">
            <a:spAutoFit/>
          </a:bodyPr>
          <a:lstStyle/>
          <a:p>
            <a:pPr algn="l"/>
            <a:r>
              <a:rPr sz="850" b="1">
                <a:solidFill>
                  <a:srgbClr val="F59E0B"/>
                </a:solidFill>
                <a:latin typeface="Calibri"/>
              </a:rPr>
              <a:t>Session</a:t>
            </a:r>
          </a:p>
        </p:txBody>
      </p:sp>
      <p:sp>
        <p:nvSpPr>
          <p:cNvPr id="8" name="TextBox 7"/>
          <p:cNvSpPr txBox="1"/>
          <p:nvPr/>
        </p:nvSpPr>
        <p:spPr>
          <a:xfrm>
            <a:off x="1783080" y="1956816"/>
            <a:ext cx="3566160" cy="365760"/>
          </a:xfrm>
          <a:prstGeom prst="rect">
            <a:avLst/>
          </a:prstGeom>
          <a:noFill/>
        </p:spPr>
        <p:txBody>
          <a:bodyPr wrap="square" lIns="0" tIns="0" rIns="0" bIns="0" anchor="t">
            <a:spAutoFit/>
          </a:bodyPr>
          <a:lstStyle/>
          <a:p>
            <a:pPr algn="l">
              <a:lnSpc>
                <a:spcPct val="112000"/>
              </a:lnSpc>
            </a:pPr>
            <a:r>
              <a:rPr sz="800" b="0">
                <a:solidFill>
                  <a:srgbClr val="2D1155"/>
                </a:solidFill>
                <a:latin typeface="Courier New"/>
              </a:rPr>
              <a:t>SessionStart · Setup · SessionEnd</a:t>
            </a:r>
          </a:p>
        </p:txBody>
      </p:sp>
      <p:sp>
        <p:nvSpPr>
          <p:cNvPr id="9" name="TextBox 8"/>
          <p:cNvSpPr txBox="1"/>
          <p:nvPr/>
        </p:nvSpPr>
        <p:spPr>
          <a:xfrm>
            <a:off x="685800" y="2272284"/>
            <a:ext cx="1005840" cy="219456"/>
          </a:xfrm>
          <a:prstGeom prst="rect">
            <a:avLst/>
          </a:prstGeom>
          <a:noFill/>
        </p:spPr>
        <p:txBody>
          <a:bodyPr wrap="square" lIns="0" tIns="0" rIns="0" bIns="0" anchor="t">
            <a:spAutoFit/>
          </a:bodyPr>
          <a:lstStyle/>
          <a:p>
            <a:pPr algn="l"/>
            <a:r>
              <a:rPr sz="850" b="1">
                <a:solidFill>
                  <a:srgbClr val="F59E0B"/>
                </a:solidFill>
                <a:latin typeface="Calibri"/>
              </a:rPr>
              <a:t>Turn</a:t>
            </a:r>
          </a:p>
        </p:txBody>
      </p:sp>
      <p:sp>
        <p:nvSpPr>
          <p:cNvPr id="10" name="TextBox 9"/>
          <p:cNvSpPr txBox="1"/>
          <p:nvPr/>
        </p:nvSpPr>
        <p:spPr>
          <a:xfrm>
            <a:off x="1783080" y="2272284"/>
            <a:ext cx="3566160" cy="365760"/>
          </a:xfrm>
          <a:prstGeom prst="rect">
            <a:avLst/>
          </a:prstGeom>
          <a:noFill/>
        </p:spPr>
        <p:txBody>
          <a:bodyPr wrap="square" lIns="0" tIns="0" rIns="0" bIns="0" anchor="t">
            <a:spAutoFit/>
          </a:bodyPr>
          <a:lstStyle/>
          <a:p>
            <a:pPr algn="l">
              <a:lnSpc>
                <a:spcPct val="112000"/>
              </a:lnSpc>
            </a:pPr>
            <a:r>
              <a:rPr sz="800" b="0">
                <a:solidFill>
                  <a:srgbClr val="2D1155"/>
                </a:solidFill>
                <a:latin typeface="Courier New"/>
              </a:rPr>
              <a:t>UserPromptSubmit · UserPromptExpansion · Stop · StopFailure</a:t>
            </a:r>
          </a:p>
        </p:txBody>
      </p:sp>
      <p:sp>
        <p:nvSpPr>
          <p:cNvPr id="11" name="TextBox 10"/>
          <p:cNvSpPr txBox="1"/>
          <p:nvPr/>
        </p:nvSpPr>
        <p:spPr>
          <a:xfrm>
            <a:off x="685800" y="2587752"/>
            <a:ext cx="1005840" cy="219456"/>
          </a:xfrm>
          <a:prstGeom prst="rect">
            <a:avLst/>
          </a:prstGeom>
          <a:noFill/>
        </p:spPr>
        <p:txBody>
          <a:bodyPr wrap="square" lIns="0" tIns="0" rIns="0" bIns="0" anchor="t">
            <a:spAutoFit/>
          </a:bodyPr>
          <a:lstStyle/>
          <a:p>
            <a:pPr algn="l"/>
            <a:r>
              <a:rPr sz="850" b="1">
                <a:solidFill>
                  <a:srgbClr val="F59E0B"/>
                </a:solidFill>
                <a:latin typeface="Calibri"/>
              </a:rPr>
              <a:t>Tools</a:t>
            </a:r>
          </a:p>
        </p:txBody>
      </p:sp>
      <p:sp>
        <p:nvSpPr>
          <p:cNvPr id="12" name="TextBox 11"/>
          <p:cNvSpPr txBox="1"/>
          <p:nvPr/>
        </p:nvSpPr>
        <p:spPr>
          <a:xfrm>
            <a:off x="1783080" y="2587752"/>
            <a:ext cx="3566160" cy="365760"/>
          </a:xfrm>
          <a:prstGeom prst="rect">
            <a:avLst/>
          </a:prstGeom>
          <a:noFill/>
        </p:spPr>
        <p:txBody>
          <a:bodyPr wrap="square" lIns="0" tIns="0" rIns="0" bIns="0" anchor="t">
            <a:spAutoFit/>
          </a:bodyPr>
          <a:lstStyle/>
          <a:p>
            <a:pPr algn="l">
              <a:lnSpc>
                <a:spcPct val="112000"/>
              </a:lnSpc>
            </a:pPr>
            <a:r>
              <a:rPr sz="800" b="0">
                <a:solidFill>
                  <a:srgbClr val="2D1155"/>
                </a:solidFill>
                <a:latin typeface="Courier New"/>
              </a:rPr>
              <a:t>PreToolUse · PostToolUse · PostToolUseFailure · PostToolBatch · PermissionRequest · PermissionDenied</a:t>
            </a:r>
          </a:p>
        </p:txBody>
      </p:sp>
      <p:sp>
        <p:nvSpPr>
          <p:cNvPr id="13" name="TextBox 12"/>
          <p:cNvSpPr txBox="1"/>
          <p:nvPr/>
        </p:nvSpPr>
        <p:spPr>
          <a:xfrm>
            <a:off x="685800" y="2903220"/>
            <a:ext cx="1005840" cy="219456"/>
          </a:xfrm>
          <a:prstGeom prst="rect">
            <a:avLst/>
          </a:prstGeom>
          <a:noFill/>
        </p:spPr>
        <p:txBody>
          <a:bodyPr wrap="square" lIns="0" tIns="0" rIns="0" bIns="0" anchor="t">
            <a:spAutoFit/>
          </a:bodyPr>
          <a:lstStyle/>
          <a:p>
            <a:pPr algn="l"/>
            <a:r>
              <a:rPr sz="850" b="1">
                <a:solidFill>
                  <a:srgbClr val="F59E0B"/>
                </a:solidFill>
                <a:latin typeface="Calibri"/>
              </a:rPr>
              <a:t>Agents &amp; tasks</a:t>
            </a:r>
          </a:p>
        </p:txBody>
      </p:sp>
      <p:sp>
        <p:nvSpPr>
          <p:cNvPr id="14" name="TextBox 13"/>
          <p:cNvSpPr txBox="1"/>
          <p:nvPr/>
        </p:nvSpPr>
        <p:spPr>
          <a:xfrm>
            <a:off x="1783080" y="2903220"/>
            <a:ext cx="3566160" cy="365760"/>
          </a:xfrm>
          <a:prstGeom prst="rect">
            <a:avLst/>
          </a:prstGeom>
          <a:noFill/>
        </p:spPr>
        <p:txBody>
          <a:bodyPr wrap="square" lIns="0" tIns="0" rIns="0" bIns="0" anchor="t">
            <a:spAutoFit/>
          </a:bodyPr>
          <a:lstStyle/>
          <a:p>
            <a:pPr algn="l">
              <a:lnSpc>
                <a:spcPct val="112000"/>
              </a:lnSpc>
            </a:pPr>
            <a:r>
              <a:rPr sz="800" b="0">
                <a:solidFill>
                  <a:srgbClr val="2D1155"/>
                </a:solidFill>
                <a:latin typeface="Courier New"/>
              </a:rPr>
              <a:t>SubagentStart · SubagentStop · TaskCreated · TaskCompleted · TeammateIdle</a:t>
            </a:r>
          </a:p>
        </p:txBody>
      </p:sp>
      <p:sp>
        <p:nvSpPr>
          <p:cNvPr id="15" name="TextBox 14"/>
          <p:cNvSpPr txBox="1"/>
          <p:nvPr/>
        </p:nvSpPr>
        <p:spPr>
          <a:xfrm>
            <a:off x="685800" y="3218687"/>
            <a:ext cx="1005840" cy="219456"/>
          </a:xfrm>
          <a:prstGeom prst="rect">
            <a:avLst/>
          </a:prstGeom>
          <a:noFill/>
        </p:spPr>
        <p:txBody>
          <a:bodyPr wrap="square" lIns="0" tIns="0" rIns="0" bIns="0" anchor="t">
            <a:spAutoFit/>
          </a:bodyPr>
          <a:lstStyle/>
          <a:p>
            <a:pPr algn="l"/>
            <a:r>
              <a:rPr sz="850" b="1">
                <a:solidFill>
                  <a:srgbClr val="F59E0B"/>
                </a:solidFill>
                <a:latin typeface="Calibri"/>
              </a:rPr>
              <a:t>Context</a:t>
            </a:r>
          </a:p>
        </p:txBody>
      </p:sp>
      <p:sp>
        <p:nvSpPr>
          <p:cNvPr id="16" name="TextBox 15"/>
          <p:cNvSpPr txBox="1"/>
          <p:nvPr/>
        </p:nvSpPr>
        <p:spPr>
          <a:xfrm>
            <a:off x="1783080" y="3218687"/>
            <a:ext cx="3566160" cy="365760"/>
          </a:xfrm>
          <a:prstGeom prst="rect">
            <a:avLst/>
          </a:prstGeom>
          <a:noFill/>
        </p:spPr>
        <p:txBody>
          <a:bodyPr wrap="square" lIns="0" tIns="0" rIns="0" bIns="0" anchor="t">
            <a:spAutoFit/>
          </a:bodyPr>
          <a:lstStyle/>
          <a:p>
            <a:pPr algn="l">
              <a:lnSpc>
                <a:spcPct val="112000"/>
              </a:lnSpc>
            </a:pPr>
            <a:r>
              <a:rPr sz="800" b="0">
                <a:solidFill>
                  <a:srgbClr val="2D1155"/>
                </a:solidFill>
                <a:latin typeface="Courier New"/>
              </a:rPr>
              <a:t>PreCompact · PostCompact · InstructionsLoaded</a:t>
            </a:r>
          </a:p>
        </p:txBody>
      </p:sp>
      <p:sp>
        <p:nvSpPr>
          <p:cNvPr id="17" name="TextBox 16"/>
          <p:cNvSpPr txBox="1"/>
          <p:nvPr/>
        </p:nvSpPr>
        <p:spPr>
          <a:xfrm>
            <a:off x="685800" y="3534155"/>
            <a:ext cx="1005840" cy="219456"/>
          </a:xfrm>
          <a:prstGeom prst="rect">
            <a:avLst/>
          </a:prstGeom>
          <a:noFill/>
        </p:spPr>
        <p:txBody>
          <a:bodyPr wrap="square" lIns="0" tIns="0" rIns="0" bIns="0" anchor="t">
            <a:spAutoFit/>
          </a:bodyPr>
          <a:lstStyle/>
          <a:p>
            <a:pPr algn="l"/>
            <a:r>
              <a:rPr sz="850" b="1">
                <a:solidFill>
                  <a:srgbClr val="F59E0B"/>
                </a:solidFill>
                <a:latin typeface="Calibri"/>
              </a:rPr>
              <a:t>Environment</a:t>
            </a:r>
          </a:p>
        </p:txBody>
      </p:sp>
      <p:sp>
        <p:nvSpPr>
          <p:cNvPr id="18" name="TextBox 17"/>
          <p:cNvSpPr txBox="1"/>
          <p:nvPr/>
        </p:nvSpPr>
        <p:spPr>
          <a:xfrm>
            <a:off x="1783080" y="3534155"/>
            <a:ext cx="3566160" cy="365760"/>
          </a:xfrm>
          <a:prstGeom prst="rect">
            <a:avLst/>
          </a:prstGeom>
          <a:noFill/>
        </p:spPr>
        <p:txBody>
          <a:bodyPr wrap="square" lIns="0" tIns="0" rIns="0" bIns="0" anchor="t">
            <a:spAutoFit/>
          </a:bodyPr>
          <a:lstStyle/>
          <a:p>
            <a:pPr algn="l">
              <a:lnSpc>
                <a:spcPct val="112000"/>
              </a:lnSpc>
            </a:pPr>
            <a:r>
              <a:rPr sz="800" b="0">
                <a:solidFill>
                  <a:srgbClr val="2D1155"/>
                </a:solidFill>
                <a:latin typeface="Courier New"/>
              </a:rPr>
              <a:t>ConfigChange · CwdChanged · FileChanged · WorktreeCreate · WorktreeRemove</a:t>
            </a:r>
          </a:p>
        </p:txBody>
      </p:sp>
      <p:sp>
        <p:nvSpPr>
          <p:cNvPr id="19" name="TextBox 18"/>
          <p:cNvSpPr txBox="1"/>
          <p:nvPr/>
        </p:nvSpPr>
        <p:spPr>
          <a:xfrm>
            <a:off x="685800" y="3849623"/>
            <a:ext cx="1005840" cy="219456"/>
          </a:xfrm>
          <a:prstGeom prst="rect">
            <a:avLst/>
          </a:prstGeom>
          <a:noFill/>
        </p:spPr>
        <p:txBody>
          <a:bodyPr wrap="square" lIns="0" tIns="0" rIns="0" bIns="0" anchor="t">
            <a:spAutoFit/>
          </a:bodyPr>
          <a:lstStyle/>
          <a:p>
            <a:pPr algn="l"/>
            <a:r>
              <a:rPr sz="850" b="1">
                <a:solidFill>
                  <a:srgbClr val="F59E0B"/>
                </a:solidFill>
                <a:latin typeface="Calibri"/>
              </a:rPr>
              <a:t>MCP &amp; display</a:t>
            </a:r>
          </a:p>
        </p:txBody>
      </p:sp>
      <p:sp>
        <p:nvSpPr>
          <p:cNvPr id="20" name="TextBox 19"/>
          <p:cNvSpPr txBox="1"/>
          <p:nvPr/>
        </p:nvSpPr>
        <p:spPr>
          <a:xfrm>
            <a:off x="1783080" y="3849623"/>
            <a:ext cx="3566160" cy="365760"/>
          </a:xfrm>
          <a:prstGeom prst="rect">
            <a:avLst/>
          </a:prstGeom>
          <a:noFill/>
        </p:spPr>
        <p:txBody>
          <a:bodyPr wrap="square" lIns="0" tIns="0" rIns="0" bIns="0" anchor="t">
            <a:spAutoFit/>
          </a:bodyPr>
          <a:lstStyle/>
          <a:p>
            <a:pPr algn="l">
              <a:lnSpc>
                <a:spcPct val="112000"/>
              </a:lnSpc>
            </a:pPr>
            <a:r>
              <a:rPr sz="800" b="0">
                <a:solidFill>
                  <a:srgbClr val="2D1155"/>
                </a:solidFill>
                <a:latin typeface="Courier New"/>
              </a:rPr>
              <a:t>Elicitation · ElicitationResult · Notification · MessageDisplay</a:t>
            </a:r>
          </a:p>
        </p:txBody>
      </p:sp>
      <p:sp>
        <p:nvSpPr>
          <p:cNvPr id="21" name="Rectangle 20"/>
          <p:cNvSpPr/>
          <p:nvPr/>
        </p:nvSpPr>
        <p:spPr>
          <a:xfrm>
            <a:off x="5715000" y="1481328"/>
            <a:ext cx="2514600" cy="274320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43600" y="1645920"/>
            <a:ext cx="2103120" cy="256032"/>
          </a:xfrm>
          <a:prstGeom prst="rect">
            <a:avLst/>
          </a:prstGeom>
          <a:noFill/>
        </p:spPr>
        <p:txBody>
          <a:bodyPr wrap="square" lIns="0" tIns="0" rIns="0" bIns="0" anchor="t">
            <a:spAutoFit/>
          </a:bodyPr>
          <a:lstStyle/>
          <a:p>
            <a:pPr algn="l"/>
            <a:r>
              <a:rPr sz="1000" b="1">
                <a:solidFill>
                  <a:srgbClr val="7C3AED"/>
                </a:solidFill>
                <a:latin typeface="Calibri"/>
              </a:rPr>
              <a:t>CODEX  ·  11 EVENTS</a:t>
            </a:r>
          </a:p>
        </p:txBody>
      </p:sp>
      <p:sp>
        <p:nvSpPr>
          <p:cNvPr id="23" name="TextBox 22"/>
          <p:cNvSpPr txBox="1"/>
          <p:nvPr/>
        </p:nvSpPr>
        <p:spPr>
          <a:xfrm>
            <a:off x="5943600" y="1956816"/>
            <a:ext cx="2103120" cy="219456"/>
          </a:xfrm>
          <a:prstGeom prst="rect">
            <a:avLst/>
          </a:prstGeom>
          <a:noFill/>
        </p:spPr>
        <p:txBody>
          <a:bodyPr wrap="square" lIns="0" tIns="0" rIns="0" bIns="0" anchor="t">
            <a:spAutoFit/>
          </a:bodyPr>
          <a:lstStyle/>
          <a:p>
            <a:pPr algn="l"/>
            <a:r>
              <a:rPr sz="850" b="0">
                <a:solidFill>
                  <a:srgbClr val="2D1155"/>
                </a:solidFill>
                <a:latin typeface="Courier New"/>
              </a:rPr>
              <a:t>PreToolUse</a:t>
            </a:r>
          </a:p>
        </p:txBody>
      </p:sp>
      <p:sp>
        <p:nvSpPr>
          <p:cNvPr id="24" name="TextBox 23"/>
          <p:cNvSpPr txBox="1"/>
          <p:nvPr/>
        </p:nvSpPr>
        <p:spPr>
          <a:xfrm>
            <a:off x="5943600" y="2162556"/>
            <a:ext cx="2103120" cy="219456"/>
          </a:xfrm>
          <a:prstGeom prst="rect">
            <a:avLst/>
          </a:prstGeom>
          <a:noFill/>
        </p:spPr>
        <p:txBody>
          <a:bodyPr wrap="square" lIns="0" tIns="0" rIns="0" bIns="0" anchor="t">
            <a:spAutoFit/>
          </a:bodyPr>
          <a:lstStyle/>
          <a:p>
            <a:pPr algn="l"/>
            <a:r>
              <a:rPr sz="850" b="0">
                <a:solidFill>
                  <a:srgbClr val="2D1155"/>
                </a:solidFill>
                <a:latin typeface="Courier New"/>
              </a:rPr>
              <a:t>PostToolUse</a:t>
            </a:r>
          </a:p>
        </p:txBody>
      </p:sp>
      <p:sp>
        <p:nvSpPr>
          <p:cNvPr id="25" name="TextBox 24"/>
          <p:cNvSpPr txBox="1"/>
          <p:nvPr/>
        </p:nvSpPr>
        <p:spPr>
          <a:xfrm>
            <a:off x="5943600" y="2368296"/>
            <a:ext cx="2103120" cy="219456"/>
          </a:xfrm>
          <a:prstGeom prst="rect">
            <a:avLst/>
          </a:prstGeom>
          <a:noFill/>
        </p:spPr>
        <p:txBody>
          <a:bodyPr wrap="square" lIns="0" tIns="0" rIns="0" bIns="0" anchor="t">
            <a:spAutoFit/>
          </a:bodyPr>
          <a:lstStyle/>
          <a:p>
            <a:pPr algn="l"/>
            <a:r>
              <a:rPr sz="850" b="0">
                <a:solidFill>
                  <a:srgbClr val="2D1155"/>
                </a:solidFill>
                <a:latin typeface="Courier New"/>
              </a:rPr>
              <a:t>PermissionRequest</a:t>
            </a:r>
          </a:p>
        </p:txBody>
      </p:sp>
      <p:sp>
        <p:nvSpPr>
          <p:cNvPr id="26" name="TextBox 25"/>
          <p:cNvSpPr txBox="1"/>
          <p:nvPr/>
        </p:nvSpPr>
        <p:spPr>
          <a:xfrm>
            <a:off x="5943600" y="2574036"/>
            <a:ext cx="2103120" cy="219456"/>
          </a:xfrm>
          <a:prstGeom prst="rect">
            <a:avLst/>
          </a:prstGeom>
          <a:noFill/>
        </p:spPr>
        <p:txBody>
          <a:bodyPr wrap="square" lIns="0" tIns="0" rIns="0" bIns="0" anchor="t">
            <a:spAutoFit/>
          </a:bodyPr>
          <a:lstStyle/>
          <a:p>
            <a:pPr algn="l"/>
            <a:r>
              <a:rPr sz="850" b="0">
                <a:solidFill>
                  <a:srgbClr val="2D1155"/>
                </a:solidFill>
                <a:latin typeface="Courier New"/>
              </a:rPr>
              <a:t>UserPromptSubmit</a:t>
            </a:r>
          </a:p>
        </p:txBody>
      </p:sp>
      <p:sp>
        <p:nvSpPr>
          <p:cNvPr id="27" name="TextBox 26"/>
          <p:cNvSpPr txBox="1"/>
          <p:nvPr/>
        </p:nvSpPr>
        <p:spPr>
          <a:xfrm>
            <a:off x="5943600" y="2779776"/>
            <a:ext cx="2103120" cy="219456"/>
          </a:xfrm>
          <a:prstGeom prst="rect">
            <a:avLst/>
          </a:prstGeom>
          <a:noFill/>
        </p:spPr>
        <p:txBody>
          <a:bodyPr wrap="square" lIns="0" tIns="0" rIns="0" bIns="0" anchor="t">
            <a:spAutoFit/>
          </a:bodyPr>
          <a:lstStyle/>
          <a:p>
            <a:pPr algn="l"/>
            <a:r>
              <a:rPr sz="850" b="0">
                <a:solidFill>
                  <a:srgbClr val="2D1155"/>
                </a:solidFill>
                <a:latin typeface="Courier New"/>
              </a:rPr>
              <a:t>Stop</a:t>
            </a:r>
          </a:p>
        </p:txBody>
      </p:sp>
      <p:sp>
        <p:nvSpPr>
          <p:cNvPr id="28" name="TextBox 27"/>
          <p:cNvSpPr txBox="1"/>
          <p:nvPr/>
        </p:nvSpPr>
        <p:spPr>
          <a:xfrm>
            <a:off x="5943600" y="2985516"/>
            <a:ext cx="2103120" cy="219456"/>
          </a:xfrm>
          <a:prstGeom prst="rect">
            <a:avLst/>
          </a:prstGeom>
          <a:noFill/>
        </p:spPr>
        <p:txBody>
          <a:bodyPr wrap="square" lIns="0" tIns="0" rIns="0" bIns="0" anchor="t">
            <a:spAutoFit/>
          </a:bodyPr>
          <a:lstStyle/>
          <a:p>
            <a:pPr algn="l"/>
            <a:r>
              <a:rPr sz="850" b="0">
                <a:solidFill>
                  <a:srgbClr val="2D1155"/>
                </a:solidFill>
                <a:latin typeface="Courier New"/>
              </a:rPr>
              <a:t>SubagentStart</a:t>
            </a:r>
          </a:p>
        </p:txBody>
      </p:sp>
      <p:sp>
        <p:nvSpPr>
          <p:cNvPr id="29" name="TextBox 28"/>
          <p:cNvSpPr txBox="1"/>
          <p:nvPr/>
        </p:nvSpPr>
        <p:spPr>
          <a:xfrm>
            <a:off x="5943600" y="3191256"/>
            <a:ext cx="2103120" cy="219456"/>
          </a:xfrm>
          <a:prstGeom prst="rect">
            <a:avLst/>
          </a:prstGeom>
          <a:noFill/>
        </p:spPr>
        <p:txBody>
          <a:bodyPr wrap="square" lIns="0" tIns="0" rIns="0" bIns="0" anchor="t">
            <a:spAutoFit/>
          </a:bodyPr>
          <a:lstStyle/>
          <a:p>
            <a:pPr algn="l"/>
            <a:r>
              <a:rPr sz="850" b="0">
                <a:solidFill>
                  <a:srgbClr val="2D1155"/>
                </a:solidFill>
                <a:latin typeface="Courier New"/>
              </a:rPr>
              <a:t>SubagentStop</a:t>
            </a:r>
          </a:p>
        </p:txBody>
      </p:sp>
      <p:sp>
        <p:nvSpPr>
          <p:cNvPr id="30" name="TextBox 29"/>
          <p:cNvSpPr txBox="1"/>
          <p:nvPr/>
        </p:nvSpPr>
        <p:spPr>
          <a:xfrm>
            <a:off x="5943600" y="3396996"/>
            <a:ext cx="2103120" cy="219456"/>
          </a:xfrm>
          <a:prstGeom prst="rect">
            <a:avLst/>
          </a:prstGeom>
          <a:noFill/>
        </p:spPr>
        <p:txBody>
          <a:bodyPr wrap="square" lIns="0" tIns="0" rIns="0" bIns="0" anchor="t">
            <a:spAutoFit/>
          </a:bodyPr>
          <a:lstStyle/>
          <a:p>
            <a:pPr algn="l"/>
            <a:r>
              <a:rPr sz="850" b="0">
                <a:solidFill>
                  <a:srgbClr val="2D1155"/>
                </a:solidFill>
                <a:latin typeface="Courier New"/>
              </a:rPr>
              <a:t>SessionStart</a:t>
            </a:r>
          </a:p>
        </p:txBody>
      </p:sp>
      <p:sp>
        <p:nvSpPr>
          <p:cNvPr id="31" name="TextBox 30"/>
          <p:cNvSpPr txBox="1"/>
          <p:nvPr/>
        </p:nvSpPr>
        <p:spPr>
          <a:xfrm>
            <a:off x="5943600" y="3602736"/>
            <a:ext cx="2103120" cy="219456"/>
          </a:xfrm>
          <a:prstGeom prst="rect">
            <a:avLst/>
          </a:prstGeom>
          <a:noFill/>
        </p:spPr>
        <p:txBody>
          <a:bodyPr wrap="square" lIns="0" tIns="0" rIns="0" bIns="0" anchor="t">
            <a:spAutoFit/>
          </a:bodyPr>
          <a:lstStyle/>
          <a:p>
            <a:pPr algn="l"/>
            <a:r>
              <a:rPr sz="850" b="0">
                <a:solidFill>
                  <a:srgbClr val="2D1155"/>
                </a:solidFill>
                <a:latin typeface="Courier New"/>
              </a:rPr>
              <a:t>SessionEnd</a:t>
            </a:r>
          </a:p>
        </p:txBody>
      </p:sp>
      <p:sp>
        <p:nvSpPr>
          <p:cNvPr id="32" name="TextBox 31"/>
          <p:cNvSpPr txBox="1"/>
          <p:nvPr/>
        </p:nvSpPr>
        <p:spPr>
          <a:xfrm>
            <a:off x="5943600" y="3808476"/>
            <a:ext cx="2103120" cy="219456"/>
          </a:xfrm>
          <a:prstGeom prst="rect">
            <a:avLst/>
          </a:prstGeom>
          <a:noFill/>
        </p:spPr>
        <p:txBody>
          <a:bodyPr wrap="square" lIns="0" tIns="0" rIns="0" bIns="0" anchor="t">
            <a:spAutoFit/>
          </a:bodyPr>
          <a:lstStyle/>
          <a:p>
            <a:pPr algn="l"/>
            <a:r>
              <a:rPr sz="850" b="0">
                <a:solidFill>
                  <a:srgbClr val="2D1155"/>
                </a:solidFill>
                <a:latin typeface="Courier New"/>
              </a:rPr>
              <a:t>PreCompact</a:t>
            </a:r>
          </a:p>
        </p:txBody>
      </p:sp>
      <p:sp>
        <p:nvSpPr>
          <p:cNvPr id="33" name="TextBox 32"/>
          <p:cNvSpPr txBox="1"/>
          <p:nvPr/>
        </p:nvSpPr>
        <p:spPr>
          <a:xfrm>
            <a:off x="5943600" y="4014216"/>
            <a:ext cx="2103120" cy="219456"/>
          </a:xfrm>
          <a:prstGeom prst="rect">
            <a:avLst/>
          </a:prstGeom>
          <a:noFill/>
        </p:spPr>
        <p:txBody>
          <a:bodyPr wrap="square" lIns="0" tIns="0" rIns="0" bIns="0" anchor="t">
            <a:spAutoFit/>
          </a:bodyPr>
          <a:lstStyle/>
          <a:p>
            <a:pPr algn="l"/>
            <a:r>
              <a:rPr sz="850" b="0">
                <a:solidFill>
                  <a:srgbClr val="2D1155"/>
                </a:solidFill>
                <a:latin typeface="Courier New"/>
              </a:rPr>
              <a:t>PostCompact</a:t>
            </a:r>
          </a:p>
        </p:txBody>
      </p:sp>
      <p:sp>
        <p:nvSpPr>
          <p:cNvPr id="34" name="Rectangle 33"/>
          <p:cNvSpPr/>
          <p:nvPr/>
        </p:nvSpPr>
        <p:spPr>
          <a:xfrm>
            <a:off x="457200" y="4343400"/>
            <a:ext cx="7772400" cy="566928"/>
          </a:xfrm>
          <a:prstGeom prst="rect">
            <a:avLst/>
          </a:prstGeom>
          <a:solidFill>
            <a:srgbClr val="1E0B3D"/>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8368" y="4507992"/>
            <a:ext cx="7370064" cy="237744"/>
          </a:xfrm>
          <a:prstGeom prst="rect">
            <a:avLst/>
          </a:prstGeom>
          <a:noFill/>
        </p:spPr>
        <p:txBody>
          <a:bodyPr wrap="square" lIns="0" tIns="0" rIns="0" bIns="0" anchor="t">
            <a:spAutoFit/>
          </a:bodyPr>
          <a:lstStyle/>
          <a:p>
            <a:pPr algn="l">
              <a:lnSpc>
                <a:spcPct val="132000"/>
              </a:lnSpc>
            </a:pPr>
            <a:r>
              <a:rPr sz="950" b="0">
                <a:solidFill>
                  <a:srgbClr val="C4B5E8"/>
                </a:solidFill>
                <a:latin typeface="Courier New"/>
              </a:rPr>
              <a:t>code.claude.com/docs/en/hooks        developers.openai.com/codex/hooks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EVALS · SCORING WHAT TESTS CAN’T</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Back to Move 1. The harness proves correctness, but some output has no correct answer.</a:t>
            </a:r>
          </a:p>
        </p:txBody>
      </p:sp>
      <p:pic>
        <p:nvPicPr>
          <p:cNvPr id="4" name="Picture 3" descr="image.jp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298448"/>
            <a:ext cx="8229600" cy="54864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298448"/>
            <a:ext cx="7827264" cy="548640"/>
          </a:xfrm>
          <a:prstGeom prst="rect">
            <a:avLst/>
          </a:prstGeom>
          <a:noFill/>
        </p:spPr>
        <p:txBody>
          <a:bodyPr wrap="square" lIns="0" tIns="0" rIns="0" bIns="0" anchor="ctr">
            <a:spAutoFit/>
          </a:bodyPr>
          <a:lstStyle/>
          <a:p>
            <a:pPr algn="l"/>
            <a:r>
              <a:rPr sz="1100" b="1">
                <a:solidFill>
                  <a:srgbClr val="2D1155"/>
                </a:solidFill>
                <a:latin typeface="Calibri"/>
              </a:rPr>
              <a:t>A TEST</a:t>
            </a:r>
            <a:r>
              <a:rPr sz="1200" b="0">
                <a:solidFill>
                  <a:srgbClr val="6E6389"/>
                </a:solidFill>
                <a:latin typeface="Calibri"/>
              </a:rPr>
              <a:t> asks “is this correct?” and answers pass or fail.        </a:t>
            </a:r>
            <a:r>
              <a:rPr sz="1100" b="1">
                <a:solidFill>
                  <a:srgbClr val="F59E0B"/>
                </a:solidFill>
                <a:latin typeface="Calibri"/>
              </a:rPr>
              <a:t>AN EVAL</a:t>
            </a:r>
            <a:r>
              <a:rPr sz="1200" b="0">
                <a:solidFill>
                  <a:srgbClr val="6E6389"/>
                </a:solidFill>
                <a:latin typeface="Calibri"/>
              </a:rPr>
              <a:t> asks “is this good enough?” and answers with a number.</a:t>
            </a:r>
          </a:p>
        </p:txBody>
      </p:sp>
      <p:sp>
        <p:nvSpPr>
          <p:cNvPr id="7" name="Rectangle 6"/>
          <p:cNvSpPr/>
          <p:nvPr/>
        </p:nvSpPr>
        <p:spPr>
          <a:xfrm>
            <a:off x="457200" y="1956816"/>
            <a:ext cx="2615184" cy="155448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 y="2139696"/>
            <a:ext cx="2240280" cy="411480"/>
          </a:xfrm>
          <a:prstGeom prst="rect">
            <a:avLst/>
          </a:prstGeom>
          <a:noFill/>
        </p:spPr>
        <p:txBody>
          <a:bodyPr wrap="square" lIns="0" tIns="0" rIns="0" bIns="0" anchor="t">
            <a:spAutoFit/>
          </a:bodyPr>
          <a:lstStyle/>
          <a:p>
            <a:pPr algn="l"/>
            <a:r>
              <a:rPr sz="2200" b="1">
                <a:solidFill>
                  <a:srgbClr val="F59E0B"/>
                </a:solidFill>
                <a:latin typeface="Arial Black"/>
              </a:rPr>
              <a:t>1</a:t>
            </a:r>
          </a:p>
        </p:txBody>
      </p:sp>
      <p:sp>
        <p:nvSpPr>
          <p:cNvPr id="9" name="TextBox 8"/>
          <p:cNvSpPr txBox="1"/>
          <p:nvPr/>
        </p:nvSpPr>
        <p:spPr>
          <a:xfrm>
            <a:off x="658368" y="2578608"/>
            <a:ext cx="2240280" cy="292608"/>
          </a:xfrm>
          <a:prstGeom prst="rect">
            <a:avLst/>
          </a:prstGeom>
          <a:noFill/>
        </p:spPr>
        <p:txBody>
          <a:bodyPr wrap="square" lIns="0" tIns="0" rIns="0" bIns="0" anchor="t">
            <a:spAutoFit/>
          </a:bodyPr>
          <a:lstStyle/>
          <a:p>
            <a:pPr algn="l"/>
            <a:r>
              <a:rPr sz="1300" b="1">
                <a:solidFill>
                  <a:srgbClr val="2D1155"/>
                </a:solidFill>
                <a:latin typeface="Arial Black"/>
              </a:rPr>
              <a:t>Write a rubric</a:t>
            </a:r>
          </a:p>
        </p:txBody>
      </p:sp>
      <p:sp>
        <p:nvSpPr>
          <p:cNvPr id="10" name="TextBox 9"/>
          <p:cNvSpPr txBox="1"/>
          <p:nvPr/>
        </p:nvSpPr>
        <p:spPr>
          <a:xfrm>
            <a:off x="658368" y="2907792"/>
            <a:ext cx="2240280" cy="530352"/>
          </a:xfrm>
          <a:prstGeom prst="rect">
            <a:avLst/>
          </a:prstGeom>
          <a:noFill/>
        </p:spPr>
        <p:txBody>
          <a:bodyPr wrap="square" lIns="0" tIns="0" rIns="0" bIns="0" anchor="t">
            <a:spAutoFit/>
          </a:bodyPr>
          <a:lstStyle/>
          <a:p>
            <a:pPr algn="l">
              <a:lnSpc>
                <a:spcPct val="110000"/>
              </a:lnSpc>
            </a:pPr>
            <a:r>
              <a:rPr sz="1150" b="0">
                <a:solidFill>
                  <a:srgbClr val="6E6389"/>
                </a:solidFill>
                <a:latin typeface="Calibri"/>
              </a:rPr>
              <a:t>5 cases, each with what a good answer must contain.</a:t>
            </a:r>
          </a:p>
        </p:txBody>
      </p:sp>
      <p:sp>
        <p:nvSpPr>
          <p:cNvPr id="11" name="Rectangle 10"/>
          <p:cNvSpPr/>
          <p:nvPr/>
        </p:nvSpPr>
        <p:spPr>
          <a:xfrm>
            <a:off x="3264408" y="1956816"/>
            <a:ext cx="2615184" cy="155448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65576" y="2139696"/>
            <a:ext cx="2240280" cy="411480"/>
          </a:xfrm>
          <a:prstGeom prst="rect">
            <a:avLst/>
          </a:prstGeom>
          <a:noFill/>
        </p:spPr>
        <p:txBody>
          <a:bodyPr wrap="square" lIns="0" tIns="0" rIns="0" bIns="0" anchor="t">
            <a:spAutoFit/>
          </a:bodyPr>
          <a:lstStyle/>
          <a:p>
            <a:pPr algn="l"/>
            <a:r>
              <a:rPr sz="2200" b="1">
                <a:solidFill>
                  <a:srgbClr val="F59E0B"/>
                </a:solidFill>
                <a:latin typeface="Arial Black"/>
              </a:rPr>
              <a:t>2</a:t>
            </a:r>
          </a:p>
        </p:txBody>
      </p:sp>
      <p:sp>
        <p:nvSpPr>
          <p:cNvPr id="13" name="TextBox 12"/>
          <p:cNvSpPr txBox="1"/>
          <p:nvPr/>
        </p:nvSpPr>
        <p:spPr>
          <a:xfrm>
            <a:off x="3465576" y="2578608"/>
            <a:ext cx="2240280" cy="292608"/>
          </a:xfrm>
          <a:prstGeom prst="rect">
            <a:avLst/>
          </a:prstGeom>
          <a:noFill/>
        </p:spPr>
        <p:txBody>
          <a:bodyPr wrap="square" lIns="0" tIns="0" rIns="0" bIns="0" anchor="t">
            <a:spAutoFit/>
          </a:bodyPr>
          <a:lstStyle/>
          <a:p>
            <a:pPr algn="l"/>
            <a:r>
              <a:rPr sz="1300" b="1">
                <a:solidFill>
                  <a:srgbClr val="2D1155"/>
                </a:solidFill>
                <a:latin typeface="Arial Black"/>
              </a:rPr>
              <a:t>Let a model grade</a:t>
            </a:r>
          </a:p>
        </p:txBody>
      </p:sp>
      <p:sp>
        <p:nvSpPr>
          <p:cNvPr id="14" name="TextBox 13"/>
          <p:cNvSpPr txBox="1"/>
          <p:nvPr/>
        </p:nvSpPr>
        <p:spPr>
          <a:xfrm>
            <a:off x="3465576" y="2907792"/>
            <a:ext cx="2240280" cy="530352"/>
          </a:xfrm>
          <a:prstGeom prst="rect">
            <a:avLst/>
          </a:prstGeom>
          <a:noFill/>
        </p:spPr>
        <p:txBody>
          <a:bodyPr wrap="square" lIns="0" tIns="0" rIns="0" bIns="0" anchor="t">
            <a:spAutoFit/>
          </a:bodyPr>
          <a:lstStyle/>
          <a:p>
            <a:pPr algn="l">
              <a:lnSpc>
                <a:spcPct val="110000"/>
              </a:lnSpc>
            </a:pPr>
            <a:r>
              <a:rPr sz="1150" b="0">
                <a:solidFill>
                  <a:srgbClr val="6E6389"/>
                </a:solidFill>
                <a:latin typeface="Calibri"/>
              </a:rPr>
              <a:t>A sub-agent scores each output against the rubric.</a:t>
            </a:r>
          </a:p>
        </p:txBody>
      </p:sp>
      <p:sp>
        <p:nvSpPr>
          <p:cNvPr id="15" name="Rectangle 14"/>
          <p:cNvSpPr/>
          <p:nvPr/>
        </p:nvSpPr>
        <p:spPr>
          <a:xfrm>
            <a:off x="6071616" y="1956816"/>
            <a:ext cx="2615184" cy="1554480"/>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72783" y="2139696"/>
            <a:ext cx="2240280" cy="411480"/>
          </a:xfrm>
          <a:prstGeom prst="rect">
            <a:avLst/>
          </a:prstGeom>
          <a:noFill/>
        </p:spPr>
        <p:txBody>
          <a:bodyPr wrap="square" lIns="0" tIns="0" rIns="0" bIns="0" anchor="t">
            <a:spAutoFit/>
          </a:bodyPr>
          <a:lstStyle/>
          <a:p>
            <a:pPr algn="l"/>
            <a:r>
              <a:rPr sz="2200" b="1">
                <a:solidFill>
                  <a:srgbClr val="F59E0B"/>
                </a:solidFill>
                <a:latin typeface="Arial Black"/>
              </a:rPr>
              <a:t>3</a:t>
            </a:r>
          </a:p>
        </p:txBody>
      </p:sp>
      <p:sp>
        <p:nvSpPr>
          <p:cNvPr id="17" name="TextBox 16"/>
          <p:cNvSpPr txBox="1"/>
          <p:nvPr/>
        </p:nvSpPr>
        <p:spPr>
          <a:xfrm>
            <a:off x="6272783" y="2578608"/>
            <a:ext cx="2240280" cy="292608"/>
          </a:xfrm>
          <a:prstGeom prst="rect">
            <a:avLst/>
          </a:prstGeom>
          <a:noFill/>
        </p:spPr>
        <p:txBody>
          <a:bodyPr wrap="square" lIns="0" tIns="0" rIns="0" bIns="0" anchor="t">
            <a:spAutoFit/>
          </a:bodyPr>
          <a:lstStyle/>
          <a:p>
            <a:pPr algn="l"/>
            <a:r>
              <a:rPr sz="1300" b="1">
                <a:solidFill>
                  <a:srgbClr val="2D1155"/>
                </a:solidFill>
                <a:latin typeface="Arial Black"/>
              </a:rPr>
              <a:t>Gate on the score</a:t>
            </a:r>
          </a:p>
        </p:txBody>
      </p:sp>
      <p:sp>
        <p:nvSpPr>
          <p:cNvPr id="18" name="TextBox 17"/>
          <p:cNvSpPr txBox="1"/>
          <p:nvPr/>
        </p:nvSpPr>
        <p:spPr>
          <a:xfrm>
            <a:off x="6272783" y="2907792"/>
            <a:ext cx="2240280" cy="530352"/>
          </a:xfrm>
          <a:prstGeom prst="rect">
            <a:avLst/>
          </a:prstGeom>
          <a:noFill/>
        </p:spPr>
        <p:txBody>
          <a:bodyPr wrap="square" lIns="0" tIns="0" rIns="0" bIns="0" anchor="t">
            <a:spAutoFit/>
          </a:bodyPr>
          <a:lstStyle/>
          <a:p>
            <a:pPr algn="l">
              <a:lnSpc>
                <a:spcPct val="110000"/>
              </a:lnSpc>
            </a:pPr>
            <a:r>
              <a:rPr sz="1150" b="0">
                <a:solidFill>
                  <a:srgbClr val="6E6389"/>
                </a:solidFill>
                <a:latin typeface="Calibri"/>
              </a:rPr>
              <a:t>CI blocks any change that drops the score.</a:t>
            </a:r>
          </a:p>
        </p:txBody>
      </p:sp>
      <p:sp>
        <p:nvSpPr>
          <p:cNvPr id="19" name="TextBox 18"/>
          <p:cNvSpPr txBox="1"/>
          <p:nvPr/>
        </p:nvSpPr>
        <p:spPr>
          <a:xfrm>
            <a:off x="457200" y="3584448"/>
            <a:ext cx="8229600" cy="384048"/>
          </a:xfrm>
          <a:prstGeom prst="rect">
            <a:avLst/>
          </a:prstGeom>
          <a:noFill/>
        </p:spPr>
        <p:txBody>
          <a:bodyPr wrap="square" lIns="0" tIns="0" rIns="0" bIns="0" anchor="t">
            <a:spAutoFit/>
          </a:bodyPr>
          <a:lstStyle/>
          <a:p>
            <a:pPr algn="l">
              <a:lnSpc>
                <a:spcPct val="108000"/>
              </a:lnSpc>
            </a:pPr>
            <a:r>
              <a:rPr sz="900" b="1">
                <a:solidFill>
                  <a:srgbClr val="F59E0B"/>
                </a:solidFill>
                <a:latin typeface="Calibri"/>
              </a:rPr>
              <a:t>IN PLAIN TERMS   </a:t>
            </a:r>
            <a:r>
              <a:rPr sz="1200" b="0">
                <a:solidFill>
                  <a:srgbClr val="6E6389"/>
                </a:solidFill>
                <a:latin typeface="Calibri"/>
              </a:rPr>
              <a:t>Gate on the score dropping, not on perfection. Block anything that scores worse than what you already had.</a:t>
            </a:r>
          </a:p>
        </p:txBody>
      </p:sp>
      <p:sp>
        <p:nvSpPr>
          <p:cNvPr id="20" name="Rectangle 19"/>
          <p:cNvSpPr/>
          <p:nvPr/>
        </p:nvSpPr>
        <p:spPr>
          <a:xfrm>
            <a:off x="457200" y="3858768"/>
            <a:ext cx="8229600" cy="621792"/>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60" y="3858768"/>
            <a:ext cx="7498079" cy="621792"/>
          </a:xfrm>
          <a:prstGeom prst="rect">
            <a:avLst/>
          </a:prstGeom>
          <a:noFill/>
        </p:spPr>
        <p:txBody>
          <a:bodyPr wrap="square" lIns="0" tIns="0" rIns="0" bIns="0" anchor="ctr">
            <a:spAutoFit/>
          </a:bodyPr>
          <a:lstStyle/>
          <a:p>
            <a:pPr algn="l">
              <a:lnSpc>
                <a:spcPct val="112000"/>
              </a:lnSpc>
            </a:pPr>
            <a:r>
              <a:rPr sz="1500" b="1">
                <a:solidFill>
                  <a:srgbClr val="FFFFFF"/>
                </a:solidFill>
                <a:latin typeface="Arial Black"/>
              </a:rPr>
              <a:t>If you can’t test it, score it. If you can’t score it, don’t automate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MAKING IT STICK AFTER TODAY</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Everything so far lives on your laptop. These three make it survive Monday, and survive other people.</a:t>
            </a:r>
          </a:p>
        </p:txBody>
      </p:sp>
      <p:pic>
        <p:nvPicPr>
          <p:cNvPr id="4" name="Picture 3" descr="image.jp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389888"/>
            <a:ext cx="2615184" cy="257860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572768"/>
            <a:ext cx="2240280" cy="292608"/>
          </a:xfrm>
          <a:prstGeom prst="rect">
            <a:avLst/>
          </a:prstGeom>
          <a:noFill/>
        </p:spPr>
        <p:txBody>
          <a:bodyPr wrap="square" lIns="0" tIns="0" rIns="0" bIns="0" anchor="t">
            <a:spAutoFit/>
          </a:bodyPr>
          <a:lstStyle/>
          <a:p>
            <a:pPr algn="l"/>
            <a:r>
              <a:rPr sz="1250" b="1">
                <a:solidFill>
                  <a:srgbClr val="7C3AED"/>
                </a:solidFill>
                <a:latin typeface="Arial Black"/>
              </a:rPr>
              <a:t>CI</a:t>
            </a:r>
          </a:p>
        </p:txBody>
      </p:sp>
      <p:sp>
        <p:nvSpPr>
          <p:cNvPr id="7" name="TextBox 6"/>
          <p:cNvSpPr txBox="1"/>
          <p:nvPr/>
        </p:nvSpPr>
        <p:spPr>
          <a:xfrm>
            <a:off x="658368" y="1920240"/>
            <a:ext cx="2240280" cy="82296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GitHub Actions runs the harness and the build on every push and pull request.</a:t>
            </a:r>
          </a:p>
        </p:txBody>
      </p:sp>
      <p:sp>
        <p:nvSpPr>
          <p:cNvPr id="8" name="TextBox 7"/>
          <p:cNvSpPr txBox="1"/>
          <p:nvPr/>
        </p:nvSpPr>
        <p:spPr>
          <a:xfrm>
            <a:off x="658368" y="2798064"/>
            <a:ext cx="2240280" cy="603504"/>
          </a:xfrm>
          <a:prstGeom prst="rect">
            <a:avLst/>
          </a:prstGeom>
          <a:noFill/>
        </p:spPr>
        <p:txBody>
          <a:bodyPr wrap="square" lIns="0" tIns="0" rIns="0" bIns="0" anchor="t">
            <a:spAutoFit/>
          </a:bodyPr>
          <a:lstStyle/>
          <a:p>
            <a:pPr algn="l">
              <a:lnSpc>
                <a:spcPct val="112000"/>
              </a:lnSpc>
            </a:pPr>
            <a:r>
              <a:rPr sz="900" b="1">
                <a:solidFill>
                  <a:srgbClr val="F59E0B"/>
                </a:solidFill>
                <a:latin typeface="Calibri"/>
              </a:rPr>
              <a:t>SO THAT  </a:t>
            </a:r>
            <a:r>
              <a:rPr sz="1100" b="0">
                <a:solidFill>
                  <a:srgbClr val="6E6389"/>
                </a:solidFill>
                <a:latin typeface="Calibri"/>
              </a:rPr>
              <a:t>a teammate who was never in this room still can’t break it.</a:t>
            </a:r>
          </a:p>
        </p:txBody>
      </p:sp>
      <p:sp>
        <p:nvSpPr>
          <p:cNvPr id="9" name="Rectangle 8"/>
          <p:cNvSpPr/>
          <p:nvPr/>
        </p:nvSpPr>
        <p:spPr>
          <a:xfrm>
            <a:off x="658368" y="3493008"/>
            <a:ext cx="2240280" cy="402336"/>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31520" y="3493008"/>
            <a:ext cx="2103120" cy="402336"/>
          </a:xfrm>
          <a:prstGeom prst="rect">
            <a:avLst/>
          </a:prstGeom>
          <a:noFill/>
        </p:spPr>
        <p:txBody>
          <a:bodyPr wrap="square" lIns="0" tIns="0" rIns="0" bIns="0" anchor="ctr">
            <a:spAutoFit/>
          </a:bodyPr>
          <a:lstStyle/>
          <a:p>
            <a:pPr algn="l"/>
            <a:r>
              <a:rPr sz="900" b="0">
                <a:solidFill>
                  <a:srgbClr val="C4B5E8"/>
                </a:solidFill>
                <a:latin typeface="Courier New"/>
              </a:rPr>
              <a:t>.github/workflows/ci.yml</a:t>
            </a:r>
          </a:p>
        </p:txBody>
      </p:sp>
      <p:sp>
        <p:nvSpPr>
          <p:cNvPr id="11" name="Rectangle 10"/>
          <p:cNvSpPr/>
          <p:nvPr/>
        </p:nvSpPr>
        <p:spPr>
          <a:xfrm>
            <a:off x="3264408" y="1389888"/>
            <a:ext cx="2615184" cy="257860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65576" y="1572768"/>
            <a:ext cx="2240280" cy="292608"/>
          </a:xfrm>
          <a:prstGeom prst="rect">
            <a:avLst/>
          </a:prstGeom>
          <a:noFill/>
        </p:spPr>
        <p:txBody>
          <a:bodyPr wrap="square" lIns="0" tIns="0" rIns="0" bIns="0" anchor="t">
            <a:spAutoFit/>
          </a:bodyPr>
          <a:lstStyle/>
          <a:p>
            <a:pPr algn="l"/>
            <a:r>
              <a:rPr sz="1250" b="1">
                <a:solidFill>
                  <a:srgbClr val="7C3AED"/>
                </a:solidFill>
                <a:latin typeface="Arial Black"/>
              </a:rPr>
              <a:t>HEADLESS</a:t>
            </a:r>
          </a:p>
        </p:txBody>
      </p:sp>
      <p:sp>
        <p:nvSpPr>
          <p:cNvPr id="13" name="TextBox 12"/>
          <p:cNvSpPr txBox="1"/>
          <p:nvPr/>
        </p:nvSpPr>
        <p:spPr>
          <a:xfrm>
            <a:off x="3465576" y="1920240"/>
            <a:ext cx="2240280" cy="82296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Run the agent one-shot from a script, inside a verification loop.</a:t>
            </a:r>
          </a:p>
        </p:txBody>
      </p:sp>
      <p:sp>
        <p:nvSpPr>
          <p:cNvPr id="14" name="TextBox 13"/>
          <p:cNvSpPr txBox="1"/>
          <p:nvPr/>
        </p:nvSpPr>
        <p:spPr>
          <a:xfrm>
            <a:off x="3465576" y="2798064"/>
            <a:ext cx="2240280" cy="603504"/>
          </a:xfrm>
          <a:prstGeom prst="rect">
            <a:avLst/>
          </a:prstGeom>
          <a:noFill/>
        </p:spPr>
        <p:txBody>
          <a:bodyPr wrap="square" lIns="0" tIns="0" rIns="0" bIns="0" anchor="t">
            <a:spAutoFit/>
          </a:bodyPr>
          <a:lstStyle/>
          <a:p>
            <a:pPr algn="l">
              <a:lnSpc>
                <a:spcPct val="112000"/>
              </a:lnSpc>
            </a:pPr>
            <a:r>
              <a:rPr sz="900" b="1">
                <a:solidFill>
                  <a:srgbClr val="F59E0B"/>
                </a:solidFill>
                <a:latin typeface="Calibri"/>
              </a:rPr>
              <a:t>SO THAT  </a:t>
            </a:r>
            <a:r>
              <a:rPr sz="1100" b="0">
                <a:solidFill>
                  <a:srgbClr val="6E6389"/>
                </a:solidFill>
                <a:latin typeface="Calibri"/>
              </a:rPr>
              <a:t>the routine work happens without you in a conversation.</a:t>
            </a:r>
          </a:p>
        </p:txBody>
      </p:sp>
      <p:sp>
        <p:nvSpPr>
          <p:cNvPr id="15" name="Rectangle 14"/>
          <p:cNvSpPr/>
          <p:nvPr/>
        </p:nvSpPr>
        <p:spPr>
          <a:xfrm>
            <a:off x="3465576" y="3493008"/>
            <a:ext cx="2240280" cy="402336"/>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538727" y="3493008"/>
            <a:ext cx="2103120" cy="402336"/>
          </a:xfrm>
          <a:prstGeom prst="rect">
            <a:avLst/>
          </a:prstGeom>
          <a:noFill/>
        </p:spPr>
        <p:txBody>
          <a:bodyPr wrap="square" lIns="0" tIns="0" rIns="0" bIns="0" anchor="ctr">
            <a:spAutoFit/>
          </a:bodyPr>
          <a:lstStyle/>
          <a:p>
            <a:pPr algn="l"/>
            <a:r>
              <a:rPr sz="900" b="0">
                <a:solidFill>
                  <a:srgbClr val="C4B5E8"/>
                </a:solidFill>
                <a:latin typeface="Courier New"/>
              </a:rPr>
              <a:t>claude -p   /   codex exec</a:t>
            </a:r>
          </a:p>
        </p:txBody>
      </p:sp>
      <p:sp>
        <p:nvSpPr>
          <p:cNvPr id="17" name="Rectangle 16"/>
          <p:cNvSpPr/>
          <p:nvPr/>
        </p:nvSpPr>
        <p:spPr>
          <a:xfrm>
            <a:off x="6071616" y="1389888"/>
            <a:ext cx="2615184" cy="257860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72783" y="1572768"/>
            <a:ext cx="2240280" cy="292608"/>
          </a:xfrm>
          <a:prstGeom prst="rect">
            <a:avLst/>
          </a:prstGeom>
          <a:noFill/>
        </p:spPr>
        <p:txBody>
          <a:bodyPr wrap="square" lIns="0" tIns="0" rIns="0" bIns="0" anchor="t">
            <a:spAutoFit/>
          </a:bodyPr>
          <a:lstStyle/>
          <a:p>
            <a:pPr algn="l"/>
            <a:r>
              <a:rPr sz="1250" b="1">
                <a:solidFill>
                  <a:srgbClr val="7C3AED"/>
                </a:solidFill>
                <a:latin typeface="Arial Black"/>
              </a:rPr>
              <a:t>SECURITY PASS</a:t>
            </a:r>
          </a:p>
        </p:txBody>
      </p:sp>
      <p:sp>
        <p:nvSpPr>
          <p:cNvPr id="19" name="TextBox 18"/>
          <p:cNvSpPr txBox="1"/>
          <p:nvPr/>
        </p:nvSpPr>
        <p:spPr>
          <a:xfrm>
            <a:off x="6272783" y="1920240"/>
            <a:ext cx="2240280" cy="822960"/>
          </a:xfrm>
          <a:prstGeom prst="rect">
            <a:avLst/>
          </a:prstGeom>
          <a:noFill/>
        </p:spPr>
        <p:txBody>
          <a:bodyPr wrap="square" lIns="0" tIns="0" rIns="0" bIns="0" anchor="t">
            <a:spAutoFit/>
          </a:bodyPr>
          <a:lstStyle/>
          <a:p>
            <a:pPr algn="l">
              <a:lnSpc>
                <a:spcPct val="112000"/>
              </a:lnSpc>
            </a:pPr>
            <a:r>
              <a:rPr sz="1200" b="0">
                <a:solidFill>
                  <a:srgbClr val="2D1155"/>
                </a:solidFill>
                <a:latin typeface="Calibri"/>
              </a:rPr>
              <a:t>Correctness, secrets and licensing, reviewed over the diff before merge.</a:t>
            </a:r>
          </a:p>
        </p:txBody>
      </p:sp>
      <p:sp>
        <p:nvSpPr>
          <p:cNvPr id="20" name="TextBox 19"/>
          <p:cNvSpPr txBox="1"/>
          <p:nvPr/>
        </p:nvSpPr>
        <p:spPr>
          <a:xfrm>
            <a:off x="6272783" y="2798064"/>
            <a:ext cx="2240280" cy="603504"/>
          </a:xfrm>
          <a:prstGeom prst="rect">
            <a:avLst/>
          </a:prstGeom>
          <a:noFill/>
        </p:spPr>
        <p:txBody>
          <a:bodyPr wrap="square" lIns="0" tIns="0" rIns="0" bIns="0" anchor="t">
            <a:spAutoFit/>
          </a:bodyPr>
          <a:lstStyle/>
          <a:p>
            <a:pPr algn="l">
              <a:lnSpc>
                <a:spcPct val="112000"/>
              </a:lnSpc>
            </a:pPr>
            <a:r>
              <a:rPr sz="900" b="1">
                <a:solidFill>
                  <a:srgbClr val="F59E0B"/>
                </a:solidFill>
                <a:latin typeface="Calibri"/>
              </a:rPr>
              <a:t>SO THAT  </a:t>
            </a:r>
            <a:r>
              <a:rPr sz="1100" b="0">
                <a:solidFill>
                  <a:srgbClr val="6E6389"/>
                </a:solidFill>
                <a:latin typeface="Calibri"/>
              </a:rPr>
              <a:t>nothing ships that you couldn’t explain to someone else.</a:t>
            </a:r>
          </a:p>
        </p:txBody>
      </p:sp>
      <p:sp>
        <p:nvSpPr>
          <p:cNvPr id="21" name="Rectangle 20"/>
          <p:cNvSpPr/>
          <p:nvPr/>
        </p:nvSpPr>
        <p:spPr>
          <a:xfrm>
            <a:off x="6272783" y="3493008"/>
            <a:ext cx="2240280" cy="402336"/>
          </a:xfrm>
          <a:prstGeom prst="rect">
            <a:avLst/>
          </a:prstGeom>
          <a:solidFill>
            <a:srgbClr val="1E0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45936" y="3493008"/>
            <a:ext cx="2103120" cy="402336"/>
          </a:xfrm>
          <a:prstGeom prst="rect">
            <a:avLst/>
          </a:prstGeom>
          <a:noFill/>
        </p:spPr>
        <p:txBody>
          <a:bodyPr wrap="square" lIns="0" tIns="0" rIns="0" bIns="0" anchor="ctr">
            <a:spAutoFit/>
          </a:bodyPr>
          <a:lstStyle/>
          <a:p>
            <a:pPr algn="l"/>
            <a:r>
              <a:rPr sz="900" b="0">
                <a:solidFill>
                  <a:srgbClr val="C4B5E8"/>
                </a:solidFill>
                <a:latin typeface="Courier New"/>
              </a:rPr>
              <a:t>/security-review   /   /review</a:t>
            </a:r>
          </a:p>
        </p:txBody>
      </p:sp>
      <p:sp>
        <p:nvSpPr>
          <p:cNvPr id="23" name="TextBox 22"/>
          <p:cNvSpPr txBox="1"/>
          <p:nvPr/>
        </p:nvSpPr>
        <p:spPr>
          <a:xfrm>
            <a:off x="457200" y="4078224"/>
            <a:ext cx="8229600" cy="548640"/>
          </a:xfrm>
          <a:prstGeom prst="rect">
            <a:avLst/>
          </a:prstGeom>
          <a:noFill/>
        </p:spPr>
        <p:txBody>
          <a:bodyPr wrap="square" lIns="0" tIns="0" rIns="0" bIns="0" anchor="t">
            <a:spAutoFit/>
          </a:bodyPr>
          <a:lstStyle/>
          <a:p>
            <a:pPr algn="l">
              <a:lnSpc>
                <a:spcPct val="112000"/>
              </a:lnSpc>
            </a:pPr>
            <a:r>
              <a:rPr sz="1250" b="0">
                <a:solidFill>
                  <a:srgbClr val="6E6389"/>
                </a:solidFill>
                <a:latin typeface="Calibri"/>
              </a:rPr>
              <a:t>Automate the generation, automate the verification, and keep the sign-off human. Accountability doesn’t delegate.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D1155"/>
        </a:solidFill>
        <a:effectLst/>
      </p:bgPr>
    </p:bg>
    <p:spTree>
      <p:nvGrpSpPr>
        <p:cNvPr id="1" name=""/>
        <p:cNvGrpSpPr/>
        <p:nvPr/>
      </p:nvGrpSpPr>
      <p:grpSpPr>
        <a:xfrm>
          <a:off x="0" y="0"/>
          <a:ext cx="0" cy="0"/>
          <a:chOff x="0" y="0"/>
          <a:chExt cx="0" cy="0"/>
        </a:xfrm>
      </p:grpSpPr>
      <p:sp>
        <p:nvSpPr>
          <p:cNvPr id="2" name="Rectangle 1"/>
          <p:cNvSpPr/>
          <p:nvPr/>
        </p:nvSpPr>
        <p:spPr>
          <a:xfrm>
            <a:off x="6400800" y="0"/>
            <a:ext cx="2743200" cy="51435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0" y="0"/>
            <a:ext cx="128016" cy="51435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051560"/>
            <a:ext cx="82296" cy="2651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097280"/>
            <a:ext cx="5486400" cy="274320"/>
          </a:xfrm>
          <a:prstGeom prst="rect">
            <a:avLst/>
          </a:prstGeom>
          <a:noFill/>
        </p:spPr>
        <p:txBody>
          <a:bodyPr wrap="square" lIns="0" tIns="0" rIns="0" bIns="0" anchor="t">
            <a:spAutoFit/>
          </a:bodyPr>
          <a:lstStyle/>
          <a:p>
            <a:pPr algn="l"/>
            <a:r>
              <a:rPr sz="1200" b="1">
                <a:solidFill>
                  <a:srgbClr val="F59E0B"/>
                </a:solidFill>
                <a:latin typeface="Calibri"/>
              </a:rPr>
              <a:t>THE ONE RULE FOR THIS AFTERNOON</a:t>
            </a:r>
          </a:p>
        </p:txBody>
      </p:sp>
      <p:sp>
        <p:nvSpPr>
          <p:cNvPr id="7" name="TextBox 6"/>
          <p:cNvSpPr txBox="1"/>
          <p:nvPr/>
        </p:nvSpPr>
        <p:spPr>
          <a:xfrm>
            <a:off x="658368" y="1463040"/>
            <a:ext cx="5623560" cy="1188720"/>
          </a:xfrm>
          <a:prstGeom prst="rect">
            <a:avLst/>
          </a:prstGeom>
          <a:noFill/>
        </p:spPr>
        <p:txBody>
          <a:bodyPr wrap="square" lIns="0" tIns="0" rIns="0" bIns="0" anchor="t">
            <a:spAutoFit/>
          </a:bodyPr>
          <a:lstStyle/>
          <a:p>
            <a:pPr algn="l">
              <a:lnSpc>
                <a:spcPct val="100000"/>
              </a:lnSpc>
            </a:pPr>
            <a:r>
              <a:rPr sz="3600" b="1">
                <a:solidFill>
                  <a:srgbClr val="FFFFFF"/>
                </a:solidFill>
                <a:latin typeface="Arial Black"/>
              </a:rPr>
              <a:t>Don’t read harder.</a:t>
            </a:r>
          </a:p>
          <a:p>
            <a:pPr algn="l">
              <a:lnSpc>
                <a:spcPct val="100000"/>
              </a:lnSpc>
            </a:pPr>
            <a:r>
              <a:rPr sz="3600" b="1">
                <a:solidFill>
                  <a:srgbClr val="F59E0B"/>
                </a:solidFill>
                <a:latin typeface="Arial Black"/>
              </a:rPr>
              <a:t>Build the proof.</a:t>
            </a:r>
          </a:p>
        </p:txBody>
      </p:sp>
      <p:sp>
        <p:nvSpPr>
          <p:cNvPr id="8" name="TextBox 7"/>
          <p:cNvSpPr txBox="1"/>
          <p:nvPr/>
        </p:nvSpPr>
        <p:spPr>
          <a:xfrm>
            <a:off x="676656" y="2880360"/>
            <a:ext cx="5486400" cy="822960"/>
          </a:xfrm>
          <a:prstGeom prst="rect">
            <a:avLst/>
          </a:prstGeom>
          <a:noFill/>
        </p:spPr>
        <p:txBody>
          <a:bodyPr wrap="square" lIns="0" tIns="0" rIns="0" bIns="0" anchor="t">
            <a:spAutoFit/>
          </a:bodyPr>
          <a:lstStyle/>
          <a:p>
            <a:pPr algn="l">
              <a:lnSpc>
                <a:spcPct val="112000"/>
              </a:lnSpc>
            </a:pPr>
            <a:r>
              <a:rPr sz="1300" b="0">
                <a:solidFill>
                  <a:srgbClr val="DDD6FE"/>
                </a:solidFill>
                <a:latin typeface="Calibri"/>
              </a:rPr>
              <a:t>Every time you feel the urge to scroll the diff looking for the bug, ask instead: what test, what sub-agent, or what gate would have caught this for me?</a:t>
            </a:r>
          </a:p>
        </p:txBody>
      </p:sp>
      <p:sp>
        <p:nvSpPr>
          <p:cNvPr id="9" name="TextBox 8"/>
          <p:cNvSpPr txBox="1"/>
          <p:nvPr/>
        </p:nvSpPr>
        <p:spPr>
          <a:xfrm>
            <a:off x="676656" y="3886200"/>
            <a:ext cx="5486400" cy="292608"/>
          </a:xfrm>
          <a:prstGeom prst="rect">
            <a:avLst/>
          </a:prstGeom>
          <a:noFill/>
        </p:spPr>
        <p:txBody>
          <a:bodyPr wrap="square" lIns="0" tIns="0" rIns="0" bIns="0" anchor="t">
            <a:spAutoFit/>
          </a:bodyPr>
          <a:lstStyle/>
          <a:p>
            <a:pPr algn="l"/>
            <a:r>
              <a:rPr sz="1150" b="0">
                <a:solidFill>
                  <a:srgbClr val="C4B5E8"/>
                </a:solidFill>
                <a:latin typeface="Calibri"/>
              </a:rPr>
              <a:t>Rusty: you never trusted the output by eye anyway — this is your advantage.</a:t>
            </a:r>
          </a:p>
        </p:txBody>
      </p:sp>
      <p:sp>
        <p:nvSpPr>
          <p:cNvPr id="10" name="TextBox 9"/>
          <p:cNvSpPr txBox="1"/>
          <p:nvPr/>
        </p:nvSpPr>
        <p:spPr>
          <a:xfrm>
            <a:off x="676656" y="4224528"/>
            <a:ext cx="5486400" cy="292608"/>
          </a:xfrm>
          <a:prstGeom prst="rect">
            <a:avLst/>
          </a:prstGeom>
          <a:noFill/>
        </p:spPr>
        <p:txBody>
          <a:bodyPr wrap="square" lIns="0" tIns="0" rIns="0" bIns="0" anchor="t">
            <a:spAutoFit/>
          </a:bodyPr>
          <a:lstStyle/>
          <a:p>
            <a:pPr algn="l"/>
            <a:r>
              <a:rPr sz="1150" b="0">
                <a:solidFill>
                  <a:srgbClr val="C4B5E8"/>
                </a:solidFill>
                <a:latin typeface="Calibri"/>
              </a:rPr>
              <a:t>Confident: your reading is good. It still isn’t fast enough. This one’s for you.</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IN THE LAB — 60 MINUTES</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Four blocks. You orchestrate; you don’t type implementation.</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63040"/>
            <a:ext cx="7772400" cy="676656"/>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63040"/>
            <a:ext cx="585216" cy="676656"/>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463040"/>
            <a:ext cx="585216" cy="676656"/>
          </a:xfrm>
          <a:prstGeom prst="rect">
            <a:avLst/>
          </a:prstGeom>
          <a:noFill/>
        </p:spPr>
        <p:txBody>
          <a:bodyPr wrap="square" lIns="0" tIns="0" rIns="0" bIns="0" anchor="ctr">
            <a:spAutoFit/>
          </a:bodyPr>
          <a:lstStyle/>
          <a:p>
            <a:pPr algn="ctr"/>
            <a:r>
              <a:rPr sz="1800" b="1">
                <a:solidFill>
                  <a:srgbClr val="F59E0B"/>
                </a:solidFill>
                <a:latin typeface="Arial Black"/>
              </a:rPr>
              <a:t>A</a:t>
            </a:r>
          </a:p>
        </p:txBody>
      </p:sp>
      <p:sp>
        <p:nvSpPr>
          <p:cNvPr id="8" name="TextBox 7"/>
          <p:cNvSpPr txBox="1"/>
          <p:nvPr/>
        </p:nvSpPr>
        <p:spPr>
          <a:xfrm>
            <a:off x="1234440" y="1563624"/>
            <a:ext cx="2194560" cy="274320"/>
          </a:xfrm>
          <a:prstGeom prst="rect">
            <a:avLst/>
          </a:prstGeom>
          <a:noFill/>
        </p:spPr>
        <p:txBody>
          <a:bodyPr wrap="square" lIns="0" tIns="0" rIns="0" bIns="0" anchor="t">
            <a:spAutoFit/>
          </a:bodyPr>
          <a:lstStyle/>
          <a:p>
            <a:pPr algn="l"/>
            <a:r>
              <a:rPr sz="1300" b="1">
                <a:solidFill>
                  <a:srgbClr val="2D1155"/>
                </a:solidFill>
                <a:latin typeface="Arial Black"/>
              </a:rPr>
              <a:t>The harness</a:t>
            </a:r>
          </a:p>
        </p:txBody>
      </p:sp>
      <p:sp>
        <p:nvSpPr>
          <p:cNvPr id="9" name="TextBox 8"/>
          <p:cNvSpPr txBox="1"/>
          <p:nvPr/>
        </p:nvSpPr>
        <p:spPr>
          <a:xfrm>
            <a:off x="1234440" y="1847088"/>
            <a:ext cx="5486400" cy="274320"/>
          </a:xfrm>
          <a:prstGeom prst="rect">
            <a:avLst/>
          </a:prstGeom>
          <a:noFill/>
        </p:spPr>
        <p:txBody>
          <a:bodyPr wrap="square" lIns="0" tIns="0" rIns="0" bIns="0" anchor="t">
            <a:spAutoFit/>
          </a:bodyPr>
          <a:lstStyle/>
          <a:p>
            <a:pPr algn="l"/>
            <a:r>
              <a:rPr sz="1150" b="0">
                <a:solidFill>
                  <a:srgbClr val="6E6389"/>
                </a:solidFill>
                <a:latin typeface="Calibri"/>
              </a:rPr>
              <a:t>Tests for the edge cases we skipped. See one fail, then make it pass.</a:t>
            </a:r>
          </a:p>
        </p:txBody>
      </p:sp>
      <p:sp>
        <p:nvSpPr>
          <p:cNvPr id="10" name="TextBox 9"/>
          <p:cNvSpPr txBox="1"/>
          <p:nvPr/>
        </p:nvSpPr>
        <p:spPr>
          <a:xfrm>
            <a:off x="6949440" y="1563624"/>
            <a:ext cx="1005840" cy="274320"/>
          </a:xfrm>
          <a:prstGeom prst="rect">
            <a:avLst/>
          </a:prstGeom>
          <a:noFill/>
        </p:spPr>
        <p:txBody>
          <a:bodyPr wrap="square" lIns="0" tIns="0" rIns="0" bIns="0" anchor="t">
            <a:spAutoFit/>
          </a:bodyPr>
          <a:lstStyle/>
          <a:p>
            <a:pPr algn="r"/>
            <a:r>
              <a:rPr sz="1100" b="1">
                <a:solidFill>
                  <a:srgbClr val="7C3AED"/>
                </a:solidFill>
                <a:latin typeface="Calibri"/>
              </a:rPr>
              <a:t>15 min</a:t>
            </a:r>
          </a:p>
        </p:txBody>
      </p:sp>
      <p:sp>
        <p:nvSpPr>
          <p:cNvPr id="11" name="Rectangle 10"/>
          <p:cNvSpPr/>
          <p:nvPr/>
        </p:nvSpPr>
        <p:spPr>
          <a:xfrm>
            <a:off x="457200" y="2231136"/>
            <a:ext cx="7772400" cy="676656"/>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7200" y="2231136"/>
            <a:ext cx="585216" cy="676656"/>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231136"/>
            <a:ext cx="585216" cy="676656"/>
          </a:xfrm>
          <a:prstGeom prst="rect">
            <a:avLst/>
          </a:prstGeom>
          <a:noFill/>
        </p:spPr>
        <p:txBody>
          <a:bodyPr wrap="square" lIns="0" tIns="0" rIns="0" bIns="0" anchor="ctr">
            <a:spAutoFit/>
          </a:bodyPr>
          <a:lstStyle/>
          <a:p>
            <a:pPr algn="ctr"/>
            <a:r>
              <a:rPr sz="1800" b="1">
                <a:solidFill>
                  <a:srgbClr val="F59E0B"/>
                </a:solidFill>
                <a:latin typeface="Arial Black"/>
              </a:rPr>
              <a:t>B</a:t>
            </a:r>
          </a:p>
        </p:txBody>
      </p:sp>
      <p:sp>
        <p:nvSpPr>
          <p:cNvPr id="14" name="TextBox 13"/>
          <p:cNvSpPr txBox="1"/>
          <p:nvPr/>
        </p:nvSpPr>
        <p:spPr>
          <a:xfrm>
            <a:off x="1234440" y="2331720"/>
            <a:ext cx="2194560" cy="274320"/>
          </a:xfrm>
          <a:prstGeom prst="rect">
            <a:avLst/>
          </a:prstGeom>
          <a:noFill/>
        </p:spPr>
        <p:txBody>
          <a:bodyPr wrap="square" lIns="0" tIns="0" rIns="0" bIns="0" anchor="t">
            <a:spAutoFit/>
          </a:bodyPr>
          <a:lstStyle/>
          <a:p>
            <a:pPr algn="l"/>
            <a:r>
              <a:rPr sz="1300" b="1">
                <a:solidFill>
                  <a:srgbClr val="2D1155"/>
                </a:solidFill>
                <a:latin typeface="Arial Black"/>
              </a:rPr>
              <a:t>The sub-agents</a:t>
            </a:r>
          </a:p>
        </p:txBody>
      </p:sp>
      <p:sp>
        <p:nvSpPr>
          <p:cNvPr id="15" name="TextBox 14"/>
          <p:cNvSpPr txBox="1"/>
          <p:nvPr/>
        </p:nvSpPr>
        <p:spPr>
          <a:xfrm>
            <a:off x="1234440" y="2615184"/>
            <a:ext cx="5486400" cy="274320"/>
          </a:xfrm>
          <a:prstGeom prst="rect">
            <a:avLst/>
          </a:prstGeom>
          <a:noFill/>
        </p:spPr>
        <p:txBody>
          <a:bodyPr wrap="square" lIns="0" tIns="0" rIns="0" bIns="0" anchor="t">
            <a:spAutoFit/>
          </a:bodyPr>
          <a:lstStyle/>
          <a:p>
            <a:pPr algn="l"/>
            <a:r>
              <a:rPr sz="1150" b="0">
                <a:solidFill>
                  <a:srgbClr val="6E6389"/>
                </a:solidFill>
                <a:latin typeface="Calibri"/>
              </a:rPr>
              <a:t>Create the test-writer, the read-only reviewer, and the verifier.</a:t>
            </a:r>
          </a:p>
        </p:txBody>
      </p:sp>
      <p:sp>
        <p:nvSpPr>
          <p:cNvPr id="16" name="TextBox 15"/>
          <p:cNvSpPr txBox="1"/>
          <p:nvPr/>
        </p:nvSpPr>
        <p:spPr>
          <a:xfrm>
            <a:off x="6949440" y="2331720"/>
            <a:ext cx="1005840" cy="274320"/>
          </a:xfrm>
          <a:prstGeom prst="rect">
            <a:avLst/>
          </a:prstGeom>
          <a:noFill/>
        </p:spPr>
        <p:txBody>
          <a:bodyPr wrap="square" lIns="0" tIns="0" rIns="0" bIns="0" anchor="t">
            <a:spAutoFit/>
          </a:bodyPr>
          <a:lstStyle/>
          <a:p>
            <a:pPr algn="r"/>
            <a:r>
              <a:rPr sz="1100" b="1">
                <a:solidFill>
                  <a:srgbClr val="7C3AED"/>
                </a:solidFill>
                <a:latin typeface="Calibri"/>
              </a:rPr>
              <a:t>15 min</a:t>
            </a:r>
          </a:p>
        </p:txBody>
      </p:sp>
      <p:sp>
        <p:nvSpPr>
          <p:cNvPr id="17" name="Rectangle 16"/>
          <p:cNvSpPr/>
          <p:nvPr/>
        </p:nvSpPr>
        <p:spPr>
          <a:xfrm>
            <a:off x="457200" y="2999232"/>
            <a:ext cx="7772400" cy="676656"/>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999232"/>
            <a:ext cx="585216" cy="676656"/>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2999232"/>
            <a:ext cx="585216" cy="676656"/>
          </a:xfrm>
          <a:prstGeom prst="rect">
            <a:avLst/>
          </a:prstGeom>
          <a:noFill/>
        </p:spPr>
        <p:txBody>
          <a:bodyPr wrap="square" lIns="0" tIns="0" rIns="0" bIns="0" anchor="ctr">
            <a:spAutoFit/>
          </a:bodyPr>
          <a:lstStyle/>
          <a:p>
            <a:pPr algn="ctr"/>
            <a:r>
              <a:rPr sz="1800" b="1">
                <a:solidFill>
                  <a:srgbClr val="F59E0B"/>
                </a:solidFill>
                <a:latin typeface="Arial Black"/>
              </a:rPr>
              <a:t>C</a:t>
            </a:r>
          </a:p>
        </p:txBody>
      </p:sp>
      <p:sp>
        <p:nvSpPr>
          <p:cNvPr id="20" name="TextBox 19"/>
          <p:cNvSpPr txBox="1"/>
          <p:nvPr/>
        </p:nvSpPr>
        <p:spPr>
          <a:xfrm>
            <a:off x="1234440" y="3099815"/>
            <a:ext cx="2194560" cy="274320"/>
          </a:xfrm>
          <a:prstGeom prst="rect">
            <a:avLst/>
          </a:prstGeom>
          <a:noFill/>
        </p:spPr>
        <p:txBody>
          <a:bodyPr wrap="square" lIns="0" tIns="0" rIns="0" bIns="0" anchor="t">
            <a:spAutoFit/>
          </a:bodyPr>
          <a:lstStyle/>
          <a:p>
            <a:pPr algn="l"/>
            <a:r>
              <a:rPr sz="1300" b="1">
                <a:solidFill>
                  <a:srgbClr val="2D1155"/>
                </a:solidFill>
                <a:latin typeface="Arial Black"/>
              </a:rPr>
              <a:t>The team</a:t>
            </a:r>
          </a:p>
        </p:txBody>
      </p:sp>
      <p:sp>
        <p:nvSpPr>
          <p:cNvPr id="21" name="TextBox 20"/>
          <p:cNvSpPr txBox="1"/>
          <p:nvPr/>
        </p:nvSpPr>
        <p:spPr>
          <a:xfrm>
            <a:off x="1234440" y="3383279"/>
            <a:ext cx="5486400" cy="274320"/>
          </a:xfrm>
          <a:prstGeom prst="rect">
            <a:avLst/>
          </a:prstGeom>
          <a:noFill/>
        </p:spPr>
        <p:txBody>
          <a:bodyPr wrap="square" lIns="0" tIns="0" rIns="0" bIns="0" anchor="t">
            <a:spAutoFit/>
          </a:bodyPr>
          <a:lstStyle/>
          <a:p>
            <a:pPr algn="l"/>
            <a:r>
              <a:rPr sz="1150" b="0">
                <a:solidFill>
                  <a:srgbClr val="6E6389"/>
                </a:solidFill>
                <a:latin typeface="Calibri"/>
              </a:rPr>
              <a:t>Ship a monthly progress ring end to end, under TDD.</a:t>
            </a:r>
          </a:p>
        </p:txBody>
      </p:sp>
      <p:sp>
        <p:nvSpPr>
          <p:cNvPr id="22" name="TextBox 21"/>
          <p:cNvSpPr txBox="1"/>
          <p:nvPr/>
        </p:nvSpPr>
        <p:spPr>
          <a:xfrm>
            <a:off x="6949440" y="3099815"/>
            <a:ext cx="1005840" cy="274320"/>
          </a:xfrm>
          <a:prstGeom prst="rect">
            <a:avLst/>
          </a:prstGeom>
          <a:noFill/>
        </p:spPr>
        <p:txBody>
          <a:bodyPr wrap="square" lIns="0" tIns="0" rIns="0" bIns="0" anchor="t">
            <a:spAutoFit/>
          </a:bodyPr>
          <a:lstStyle/>
          <a:p>
            <a:pPr algn="r"/>
            <a:r>
              <a:rPr sz="1100" b="1">
                <a:solidFill>
                  <a:srgbClr val="7C3AED"/>
                </a:solidFill>
                <a:latin typeface="Calibri"/>
              </a:rPr>
              <a:t>20 min</a:t>
            </a:r>
          </a:p>
        </p:txBody>
      </p:sp>
      <p:sp>
        <p:nvSpPr>
          <p:cNvPr id="23" name="Rectangle 22"/>
          <p:cNvSpPr/>
          <p:nvPr/>
        </p:nvSpPr>
        <p:spPr>
          <a:xfrm>
            <a:off x="457200" y="3767328"/>
            <a:ext cx="7772400" cy="676656"/>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57200" y="3767328"/>
            <a:ext cx="585216" cy="676656"/>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7200" y="3767328"/>
            <a:ext cx="585216" cy="676656"/>
          </a:xfrm>
          <a:prstGeom prst="rect">
            <a:avLst/>
          </a:prstGeom>
          <a:noFill/>
        </p:spPr>
        <p:txBody>
          <a:bodyPr wrap="square" lIns="0" tIns="0" rIns="0" bIns="0" anchor="ctr">
            <a:spAutoFit/>
          </a:bodyPr>
          <a:lstStyle/>
          <a:p>
            <a:pPr algn="ctr"/>
            <a:r>
              <a:rPr sz="1800" b="1">
                <a:solidFill>
                  <a:srgbClr val="F59E0B"/>
                </a:solidFill>
                <a:latin typeface="Arial Black"/>
              </a:rPr>
              <a:t>D</a:t>
            </a:r>
          </a:p>
        </p:txBody>
      </p:sp>
      <p:sp>
        <p:nvSpPr>
          <p:cNvPr id="26" name="TextBox 25"/>
          <p:cNvSpPr txBox="1"/>
          <p:nvPr/>
        </p:nvSpPr>
        <p:spPr>
          <a:xfrm>
            <a:off x="1234440" y="3867912"/>
            <a:ext cx="2194560" cy="274320"/>
          </a:xfrm>
          <a:prstGeom prst="rect">
            <a:avLst/>
          </a:prstGeom>
          <a:noFill/>
        </p:spPr>
        <p:txBody>
          <a:bodyPr wrap="square" lIns="0" tIns="0" rIns="0" bIns="0" anchor="t">
            <a:spAutoFit/>
          </a:bodyPr>
          <a:lstStyle/>
          <a:p>
            <a:pPr algn="l"/>
            <a:r>
              <a:rPr sz="1300" b="1">
                <a:solidFill>
                  <a:srgbClr val="2D1155"/>
                </a:solidFill>
                <a:latin typeface="Arial Black"/>
              </a:rPr>
              <a:t>Lock it in</a:t>
            </a:r>
          </a:p>
        </p:txBody>
      </p:sp>
      <p:sp>
        <p:nvSpPr>
          <p:cNvPr id="27" name="TextBox 26"/>
          <p:cNvSpPr txBox="1"/>
          <p:nvPr/>
        </p:nvSpPr>
        <p:spPr>
          <a:xfrm>
            <a:off x="1234440" y="4151376"/>
            <a:ext cx="5486400" cy="274320"/>
          </a:xfrm>
          <a:prstGeom prst="rect">
            <a:avLst/>
          </a:prstGeom>
          <a:noFill/>
        </p:spPr>
        <p:txBody>
          <a:bodyPr wrap="square" lIns="0" tIns="0" rIns="0" bIns="0" anchor="t">
            <a:spAutoFit/>
          </a:bodyPr>
          <a:lstStyle/>
          <a:p>
            <a:pPr algn="l"/>
            <a:r>
              <a:rPr sz="1150" b="0">
                <a:solidFill>
                  <a:srgbClr val="6E6389"/>
                </a:solidFill>
                <a:latin typeface="Calibri"/>
              </a:rPr>
              <a:t>Hooks, CI, and a security pass. Commit and tag.</a:t>
            </a:r>
          </a:p>
        </p:txBody>
      </p:sp>
      <p:sp>
        <p:nvSpPr>
          <p:cNvPr id="28" name="TextBox 27"/>
          <p:cNvSpPr txBox="1"/>
          <p:nvPr/>
        </p:nvSpPr>
        <p:spPr>
          <a:xfrm>
            <a:off x="6949440" y="3867912"/>
            <a:ext cx="1005840" cy="274320"/>
          </a:xfrm>
          <a:prstGeom prst="rect">
            <a:avLst/>
          </a:prstGeom>
          <a:noFill/>
        </p:spPr>
        <p:txBody>
          <a:bodyPr wrap="square" lIns="0" tIns="0" rIns="0" bIns="0" anchor="t">
            <a:spAutoFit/>
          </a:bodyPr>
          <a:lstStyle/>
          <a:p>
            <a:pPr algn="r"/>
            <a:r>
              <a:rPr sz="1100" b="1">
                <a:solidFill>
                  <a:srgbClr val="7C3AED"/>
                </a:solidFill>
                <a:latin typeface="Calibri"/>
              </a:rPr>
              <a:t>10 min</a:t>
            </a:r>
          </a:p>
        </p:txBody>
      </p:sp>
      <p:sp>
        <p:nvSpPr>
          <p:cNvPr id="29" name="TextBox 28"/>
          <p:cNvSpPr txBox="1"/>
          <p:nvPr/>
        </p:nvSpPr>
        <p:spPr>
          <a:xfrm>
            <a:off x="457200" y="4553712"/>
            <a:ext cx="7315200" cy="274320"/>
          </a:xfrm>
          <a:prstGeom prst="rect">
            <a:avLst/>
          </a:prstGeom>
          <a:noFill/>
        </p:spPr>
        <p:txBody>
          <a:bodyPr wrap="square" lIns="0" tIns="0" rIns="0" bIns="0" anchor="t">
            <a:spAutoFit/>
          </a:bodyPr>
          <a:lstStyle/>
          <a:p>
            <a:pPr algn="l"/>
            <a:r>
              <a:rPr sz="1150" b="0">
                <a:solidFill>
                  <a:srgbClr val="6E6389"/>
                </a:solidFill>
                <a:latin typeface="Calibri"/>
              </a:rPr>
              <a:t>Behind? Reset to checkpoint-2-features and start the block clean.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FIVE GOLDEN RULES</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Carry these into the lab.</a:t>
            </a:r>
          </a:p>
        </p:txBody>
      </p:sp>
      <p:pic>
        <p:nvPicPr>
          <p:cNvPr id="4" name="Picture 3" descr="image1.jpe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444752"/>
            <a:ext cx="7772400" cy="56692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444752"/>
            <a:ext cx="530352"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444752"/>
            <a:ext cx="530352" cy="566928"/>
          </a:xfrm>
          <a:prstGeom prst="rect">
            <a:avLst/>
          </a:prstGeom>
          <a:noFill/>
        </p:spPr>
        <p:txBody>
          <a:bodyPr wrap="square" lIns="0" tIns="0" rIns="0" bIns="0" anchor="ctr">
            <a:spAutoFit/>
          </a:bodyPr>
          <a:lstStyle/>
          <a:p>
            <a:pPr algn="ctr"/>
            <a:r>
              <a:rPr sz="1600" b="1">
                <a:solidFill>
                  <a:srgbClr val="2D1155"/>
                </a:solidFill>
                <a:latin typeface="Arial Black"/>
              </a:rPr>
              <a:t>1</a:t>
            </a:r>
          </a:p>
        </p:txBody>
      </p:sp>
      <p:sp>
        <p:nvSpPr>
          <p:cNvPr id="8" name="TextBox 7"/>
          <p:cNvSpPr txBox="1"/>
          <p:nvPr/>
        </p:nvSpPr>
        <p:spPr>
          <a:xfrm>
            <a:off x="1188720" y="1444752"/>
            <a:ext cx="6858000" cy="566928"/>
          </a:xfrm>
          <a:prstGeom prst="rect">
            <a:avLst/>
          </a:prstGeom>
          <a:noFill/>
        </p:spPr>
        <p:txBody>
          <a:bodyPr wrap="square" lIns="0" tIns="0" rIns="0" bIns="0" anchor="ctr">
            <a:spAutoFit/>
          </a:bodyPr>
          <a:lstStyle/>
          <a:p>
            <a:pPr algn="l"/>
            <a:r>
              <a:rPr sz="1250" b="1">
                <a:solidFill>
                  <a:srgbClr val="2D1155"/>
                </a:solidFill>
                <a:latin typeface="Arial Black"/>
              </a:rPr>
              <a:t>Harness first.   </a:t>
            </a:r>
            <a:r>
              <a:rPr sz="1150" b="0">
                <a:solidFill>
                  <a:srgbClr val="6E6389"/>
                </a:solidFill>
                <a:latin typeface="Calibri"/>
              </a:rPr>
              <a:t>Write the check before the feature. Green is the definition of done.</a:t>
            </a:r>
          </a:p>
        </p:txBody>
      </p:sp>
      <p:sp>
        <p:nvSpPr>
          <p:cNvPr id="9" name="Rectangle 8"/>
          <p:cNvSpPr/>
          <p:nvPr/>
        </p:nvSpPr>
        <p:spPr>
          <a:xfrm>
            <a:off x="457200" y="2103120"/>
            <a:ext cx="7772400" cy="56692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103120"/>
            <a:ext cx="530352"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103120"/>
            <a:ext cx="530352" cy="566928"/>
          </a:xfrm>
          <a:prstGeom prst="rect">
            <a:avLst/>
          </a:prstGeom>
          <a:noFill/>
        </p:spPr>
        <p:txBody>
          <a:bodyPr wrap="square" lIns="0" tIns="0" rIns="0" bIns="0" anchor="ctr">
            <a:spAutoFit/>
          </a:bodyPr>
          <a:lstStyle/>
          <a:p>
            <a:pPr algn="ctr"/>
            <a:r>
              <a:rPr sz="1600" b="1">
                <a:solidFill>
                  <a:srgbClr val="2D1155"/>
                </a:solidFill>
                <a:latin typeface="Arial Black"/>
              </a:rPr>
              <a:t>2</a:t>
            </a:r>
          </a:p>
        </p:txBody>
      </p:sp>
      <p:sp>
        <p:nvSpPr>
          <p:cNvPr id="12" name="TextBox 11"/>
          <p:cNvSpPr txBox="1"/>
          <p:nvPr/>
        </p:nvSpPr>
        <p:spPr>
          <a:xfrm>
            <a:off x="1188720" y="2103120"/>
            <a:ext cx="6858000" cy="566928"/>
          </a:xfrm>
          <a:prstGeom prst="rect">
            <a:avLst/>
          </a:prstGeom>
          <a:noFill/>
        </p:spPr>
        <p:txBody>
          <a:bodyPr wrap="square" lIns="0" tIns="0" rIns="0" bIns="0" anchor="ctr">
            <a:spAutoFit/>
          </a:bodyPr>
          <a:lstStyle/>
          <a:p>
            <a:pPr algn="l"/>
            <a:r>
              <a:rPr sz="1250" b="1">
                <a:solidFill>
                  <a:srgbClr val="2D1155"/>
                </a:solidFill>
                <a:latin typeface="Arial Black"/>
              </a:rPr>
              <a:t>Fail it once.   </a:t>
            </a:r>
            <a:r>
              <a:rPr sz="1150" b="0">
                <a:solidFill>
                  <a:srgbClr val="6E6389"/>
                </a:solidFill>
                <a:latin typeface="Calibri"/>
              </a:rPr>
              <a:t>A test that has never failed is decoration, not proof.</a:t>
            </a:r>
          </a:p>
        </p:txBody>
      </p:sp>
      <p:sp>
        <p:nvSpPr>
          <p:cNvPr id="13" name="Rectangle 12"/>
          <p:cNvSpPr/>
          <p:nvPr/>
        </p:nvSpPr>
        <p:spPr>
          <a:xfrm>
            <a:off x="457200" y="2761487"/>
            <a:ext cx="7772400" cy="56692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2761487"/>
            <a:ext cx="530352"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761487"/>
            <a:ext cx="530352" cy="566928"/>
          </a:xfrm>
          <a:prstGeom prst="rect">
            <a:avLst/>
          </a:prstGeom>
          <a:noFill/>
        </p:spPr>
        <p:txBody>
          <a:bodyPr wrap="square" lIns="0" tIns="0" rIns="0" bIns="0" anchor="ctr">
            <a:spAutoFit/>
          </a:bodyPr>
          <a:lstStyle/>
          <a:p>
            <a:pPr algn="ctr"/>
            <a:r>
              <a:rPr sz="1600" b="1">
                <a:solidFill>
                  <a:srgbClr val="2D1155"/>
                </a:solidFill>
                <a:latin typeface="Arial Black"/>
              </a:rPr>
              <a:t>3</a:t>
            </a:r>
          </a:p>
        </p:txBody>
      </p:sp>
      <p:sp>
        <p:nvSpPr>
          <p:cNvPr id="16" name="TextBox 15"/>
          <p:cNvSpPr txBox="1"/>
          <p:nvPr/>
        </p:nvSpPr>
        <p:spPr>
          <a:xfrm>
            <a:off x="1188720" y="2761487"/>
            <a:ext cx="6858000" cy="566928"/>
          </a:xfrm>
          <a:prstGeom prst="rect">
            <a:avLst/>
          </a:prstGeom>
          <a:noFill/>
        </p:spPr>
        <p:txBody>
          <a:bodyPr wrap="square" lIns="0" tIns="0" rIns="0" bIns="0" anchor="ctr">
            <a:spAutoFit/>
          </a:bodyPr>
          <a:lstStyle/>
          <a:p>
            <a:pPr algn="l"/>
            <a:r>
              <a:rPr sz="1250" b="1">
                <a:solidFill>
                  <a:srgbClr val="2D1155"/>
                </a:solidFill>
                <a:latin typeface="Arial Black"/>
              </a:rPr>
              <a:t>Narrow the agents.   </a:t>
            </a:r>
            <a:r>
              <a:rPr sz="1150" b="0">
                <a:solidFill>
                  <a:srgbClr val="6E6389"/>
                </a:solidFill>
                <a:latin typeface="Calibri"/>
              </a:rPr>
              <a:t>One job, minimal tools. The reviewer never gets write access.</a:t>
            </a:r>
          </a:p>
        </p:txBody>
      </p:sp>
      <p:sp>
        <p:nvSpPr>
          <p:cNvPr id="17" name="Rectangle 16"/>
          <p:cNvSpPr/>
          <p:nvPr/>
        </p:nvSpPr>
        <p:spPr>
          <a:xfrm>
            <a:off x="457200" y="3419855"/>
            <a:ext cx="7772400" cy="56692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419855"/>
            <a:ext cx="530352"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419855"/>
            <a:ext cx="530352" cy="566928"/>
          </a:xfrm>
          <a:prstGeom prst="rect">
            <a:avLst/>
          </a:prstGeom>
          <a:noFill/>
        </p:spPr>
        <p:txBody>
          <a:bodyPr wrap="square" lIns="0" tIns="0" rIns="0" bIns="0" anchor="ctr">
            <a:spAutoFit/>
          </a:bodyPr>
          <a:lstStyle/>
          <a:p>
            <a:pPr algn="ctr"/>
            <a:r>
              <a:rPr sz="1600" b="1">
                <a:solidFill>
                  <a:srgbClr val="2D1155"/>
                </a:solidFill>
                <a:latin typeface="Arial Black"/>
              </a:rPr>
              <a:t>4</a:t>
            </a:r>
          </a:p>
        </p:txBody>
      </p:sp>
      <p:sp>
        <p:nvSpPr>
          <p:cNvPr id="20" name="TextBox 19"/>
          <p:cNvSpPr txBox="1"/>
          <p:nvPr/>
        </p:nvSpPr>
        <p:spPr>
          <a:xfrm>
            <a:off x="1188720" y="3419855"/>
            <a:ext cx="6858000" cy="566928"/>
          </a:xfrm>
          <a:prstGeom prst="rect">
            <a:avLst/>
          </a:prstGeom>
          <a:noFill/>
        </p:spPr>
        <p:txBody>
          <a:bodyPr wrap="square" lIns="0" tIns="0" rIns="0" bIns="0" anchor="ctr">
            <a:spAutoFit/>
          </a:bodyPr>
          <a:lstStyle/>
          <a:p>
            <a:pPr algn="l"/>
            <a:r>
              <a:rPr sz="1250" b="1">
                <a:solidFill>
                  <a:srgbClr val="2D1155"/>
                </a:solidFill>
                <a:latin typeface="Arial Black"/>
              </a:rPr>
              <a:t>Orchestrate, don’t type.   </a:t>
            </a:r>
            <a:r>
              <a:rPr sz="1150" b="0">
                <a:solidFill>
                  <a:srgbClr val="6E6389"/>
                </a:solidFill>
                <a:latin typeface="Calibri"/>
              </a:rPr>
              <a:t>Pick the work, arbitrate disputes, decide when it’s finished.</a:t>
            </a:r>
          </a:p>
        </p:txBody>
      </p:sp>
      <p:sp>
        <p:nvSpPr>
          <p:cNvPr id="21" name="Rectangle 20"/>
          <p:cNvSpPr/>
          <p:nvPr/>
        </p:nvSpPr>
        <p:spPr>
          <a:xfrm>
            <a:off x="457200" y="4078223"/>
            <a:ext cx="7772400" cy="56692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4078223"/>
            <a:ext cx="530352"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4078223"/>
            <a:ext cx="530352" cy="566928"/>
          </a:xfrm>
          <a:prstGeom prst="rect">
            <a:avLst/>
          </a:prstGeom>
          <a:noFill/>
        </p:spPr>
        <p:txBody>
          <a:bodyPr wrap="square" lIns="0" tIns="0" rIns="0" bIns="0" anchor="ctr">
            <a:spAutoFit/>
          </a:bodyPr>
          <a:lstStyle/>
          <a:p>
            <a:pPr algn="ctr"/>
            <a:r>
              <a:rPr sz="1600" b="1">
                <a:solidFill>
                  <a:srgbClr val="2D1155"/>
                </a:solidFill>
                <a:latin typeface="Arial Black"/>
              </a:rPr>
              <a:t>5</a:t>
            </a:r>
          </a:p>
        </p:txBody>
      </p:sp>
      <p:sp>
        <p:nvSpPr>
          <p:cNvPr id="24" name="TextBox 23"/>
          <p:cNvSpPr txBox="1"/>
          <p:nvPr/>
        </p:nvSpPr>
        <p:spPr>
          <a:xfrm>
            <a:off x="1188720" y="4078223"/>
            <a:ext cx="6858000" cy="566928"/>
          </a:xfrm>
          <a:prstGeom prst="rect">
            <a:avLst/>
          </a:prstGeom>
          <a:noFill/>
        </p:spPr>
        <p:txBody>
          <a:bodyPr wrap="square" lIns="0" tIns="0" rIns="0" bIns="0" anchor="ctr">
            <a:spAutoFit/>
          </a:bodyPr>
          <a:lstStyle/>
          <a:p>
            <a:pPr algn="l"/>
            <a:r>
              <a:rPr sz="1250" b="1">
                <a:solidFill>
                  <a:srgbClr val="2D1155"/>
                </a:solidFill>
                <a:latin typeface="Arial Black"/>
              </a:rPr>
              <a:t>Enforce it in the tool.   </a:t>
            </a:r>
            <a:r>
              <a:rPr sz="1150" b="0">
                <a:solidFill>
                  <a:srgbClr val="6E6389"/>
                </a:solidFill>
                <a:latin typeface="Calibri"/>
              </a:rPr>
              <a:t>Hooks and CI, not good intentions.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5F3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566928"/>
          </a:xfrm>
          <a:prstGeom prst="rect">
            <a:avLst/>
          </a:prstGeom>
          <a:noFill/>
        </p:spPr>
        <p:txBody>
          <a:bodyPr wrap="square" lIns="0" tIns="0" rIns="0" bIns="0" anchor="t">
            <a:spAutoFit/>
          </a:bodyPr>
          <a:lstStyle/>
          <a:p>
            <a:pPr algn="l"/>
            <a:r>
              <a:rPr sz="2200" b="1">
                <a:solidFill>
                  <a:srgbClr val="2D1155"/>
                </a:solidFill>
                <a:latin typeface="Arial Black"/>
              </a:rPr>
              <a:t>WHEN YOU GET BACK TO YOUR OWN REPO</a:t>
            </a:r>
          </a:p>
        </p:txBody>
      </p:sp>
      <p:sp>
        <p:nvSpPr>
          <p:cNvPr id="3" name="TextBox 2"/>
          <p:cNvSpPr txBox="1"/>
          <p:nvPr/>
        </p:nvSpPr>
        <p:spPr>
          <a:xfrm>
            <a:off x="475488" y="896112"/>
            <a:ext cx="8229600" cy="329184"/>
          </a:xfrm>
          <a:prstGeom prst="rect">
            <a:avLst/>
          </a:prstGeom>
          <a:noFill/>
        </p:spPr>
        <p:txBody>
          <a:bodyPr wrap="square" lIns="0" tIns="0" rIns="0" bIns="0" anchor="t">
            <a:spAutoFit/>
          </a:bodyPr>
          <a:lstStyle/>
          <a:p>
            <a:pPr algn="l"/>
            <a:r>
              <a:rPr sz="1300" b="0">
                <a:solidFill>
                  <a:srgbClr val="6E6389"/>
                </a:solidFill>
                <a:latin typeface="Calibri"/>
              </a:rPr>
              <a:t>Today was a toy app on a projector. This is the order to do it in on work that matters.</a:t>
            </a:r>
          </a:p>
        </p:txBody>
      </p:sp>
      <p:pic>
        <p:nvPicPr>
          <p:cNvPr id="4" name="Picture 3" descr="image.jpg"/>
          <p:cNvPicPr>
            <a:picLocks noChangeAspect="1"/>
          </p:cNvPicPr>
          <p:nvPr/>
        </p:nvPicPr>
        <p:blipFill>
          <a:blip r:embed="rId3"/>
          <a:stretch>
            <a:fillRect/>
          </a:stretch>
        </p:blipFill>
        <p:spPr>
          <a:xfrm>
            <a:off x="8366760" y="4526280"/>
            <a:ext cx="411480" cy="411480"/>
          </a:xfrm>
          <a:prstGeom prst="rect">
            <a:avLst/>
          </a:prstGeom>
        </p:spPr>
      </p:pic>
      <p:sp>
        <p:nvSpPr>
          <p:cNvPr id="5" name="Rectangle 4"/>
          <p:cNvSpPr/>
          <p:nvPr/>
        </p:nvSpPr>
        <p:spPr>
          <a:xfrm>
            <a:off x="457200" y="1316736"/>
            <a:ext cx="7772400" cy="74980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316736"/>
            <a:ext cx="585216" cy="749808"/>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316736"/>
            <a:ext cx="585216" cy="749808"/>
          </a:xfrm>
          <a:prstGeom prst="rect">
            <a:avLst/>
          </a:prstGeom>
          <a:noFill/>
        </p:spPr>
        <p:txBody>
          <a:bodyPr wrap="square" lIns="0" tIns="0" rIns="0" bIns="0" anchor="ctr">
            <a:spAutoFit/>
          </a:bodyPr>
          <a:lstStyle/>
          <a:p>
            <a:pPr algn="ctr"/>
            <a:r>
              <a:rPr sz="1500" b="1">
                <a:solidFill>
                  <a:srgbClr val="FFFFFF"/>
                </a:solidFill>
                <a:latin typeface="Arial Black"/>
              </a:rPr>
              <a:t>1</a:t>
            </a:r>
          </a:p>
        </p:txBody>
      </p:sp>
      <p:sp>
        <p:nvSpPr>
          <p:cNvPr id="8" name="TextBox 7"/>
          <p:cNvSpPr txBox="1"/>
          <p:nvPr/>
        </p:nvSpPr>
        <p:spPr>
          <a:xfrm>
            <a:off x="1234440" y="1389888"/>
            <a:ext cx="2926080" cy="274320"/>
          </a:xfrm>
          <a:prstGeom prst="rect">
            <a:avLst/>
          </a:prstGeom>
          <a:noFill/>
        </p:spPr>
        <p:txBody>
          <a:bodyPr wrap="square" lIns="0" tIns="0" rIns="0" bIns="0" anchor="t">
            <a:spAutoFit/>
          </a:bodyPr>
          <a:lstStyle/>
          <a:p>
            <a:pPr algn="l"/>
            <a:r>
              <a:rPr sz="1250" b="1">
                <a:solidFill>
                  <a:srgbClr val="2D1155"/>
                </a:solidFill>
                <a:latin typeface="Arial Black"/>
              </a:rPr>
              <a:t>Build the harness</a:t>
            </a:r>
          </a:p>
        </p:txBody>
      </p:sp>
      <p:sp>
        <p:nvSpPr>
          <p:cNvPr id="9" name="TextBox 8"/>
          <p:cNvSpPr txBox="1"/>
          <p:nvPr/>
        </p:nvSpPr>
        <p:spPr>
          <a:xfrm>
            <a:off x="1234440" y="1664207"/>
            <a:ext cx="5212080" cy="365760"/>
          </a:xfrm>
          <a:prstGeom prst="rect">
            <a:avLst/>
          </a:prstGeom>
          <a:noFill/>
        </p:spPr>
        <p:txBody>
          <a:bodyPr wrap="square" lIns="0" tIns="0" rIns="0" bIns="0" anchor="t">
            <a:spAutoFit/>
          </a:bodyPr>
          <a:lstStyle/>
          <a:p>
            <a:pPr algn="l">
              <a:lnSpc>
                <a:spcPct val="110000"/>
              </a:lnSpc>
            </a:pPr>
            <a:r>
              <a:rPr sz="1100" b="0">
                <a:solidFill>
                  <a:srgbClr val="6E6389"/>
                </a:solidFill>
                <a:latin typeface="Calibri"/>
              </a:rPr>
              <a:t>One repo you own. One command: lint, types, tests. Nothing clever, and see it fail once.</a:t>
            </a:r>
          </a:p>
        </p:txBody>
      </p:sp>
      <p:sp>
        <p:nvSpPr>
          <p:cNvPr id="10" name="TextBox 9"/>
          <p:cNvSpPr txBox="1"/>
          <p:nvPr/>
        </p:nvSpPr>
        <p:spPr>
          <a:xfrm>
            <a:off x="6583680" y="1408176"/>
            <a:ext cx="1508760" cy="274320"/>
          </a:xfrm>
          <a:prstGeom prst="rect">
            <a:avLst/>
          </a:prstGeom>
          <a:noFill/>
        </p:spPr>
        <p:txBody>
          <a:bodyPr wrap="square" lIns="0" tIns="0" rIns="0" bIns="0" anchor="t">
            <a:spAutoFit/>
          </a:bodyPr>
          <a:lstStyle/>
          <a:p>
            <a:pPr algn="r"/>
            <a:r>
              <a:rPr sz="950" b="1">
                <a:solidFill>
                  <a:srgbClr val="F59E0B"/>
                </a:solidFill>
                <a:latin typeface="Calibri"/>
              </a:rPr>
              <a:t>TOMORROW</a:t>
            </a:r>
          </a:p>
        </p:txBody>
      </p:sp>
      <p:sp>
        <p:nvSpPr>
          <p:cNvPr id="11" name="Rectangle 10"/>
          <p:cNvSpPr/>
          <p:nvPr/>
        </p:nvSpPr>
        <p:spPr>
          <a:xfrm>
            <a:off x="457200" y="2139696"/>
            <a:ext cx="7772400" cy="74980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7200" y="2139696"/>
            <a:ext cx="585216" cy="749808"/>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139696"/>
            <a:ext cx="585216" cy="749808"/>
          </a:xfrm>
          <a:prstGeom prst="rect">
            <a:avLst/>
          </a:prstGeom>
          <a:noFill/>
        </p:spPr>
        <p:txBody>
          <a:bodyPr wrap="square" lIns="0" tIns="0" rIns="0" bIns="0" anchor="ctr">
            <a:spAutoFit/>
          </a:bodyPr>
          <a:lstStyle/>
          <a:p>
            <a:pPr algn="ctr"/>
            <a:r>
              <a:rPr sz="1500" b="1">
                <a:solidFill>
                  <a:srgbClr val="FFFFFF"/>
                </a:solidFill>
                <a:latin typeface="Arial Black"/>
              </a:rPr>
              <a:t>2</a:t>
            </a:r>
          </a:p>
        </p:txBody>
      </p:sp>
      <p:sp>
        <p:nvSpPr>
          <p:cNvPr id="14" name="TextBox 13"/>
          <p:cNvSpPr txBox="1"/>
          <p:nvPr/>
        </p:nvSpPr>
        <p:spPr>
          <a:xfrm>
            <a:off x="1234440" y="2212848"/>
            <a:ext cx="2926080" cy="274320"/>
          </a:xfrm>
          <a:prstGeom prst="rect">
            <a:avLst/>
          </a:prstGeom>
          <a:noFill/>
        </p:spPr>
        <p:txBody>
          <a:bodyPr wrap="square" lIns="0" tIns="0" rIns="0" bIns="0" anchor="t">
            <a:spAutoFit/>
          </a:bodyPr>
          <a:lstStyle/>
          <a:p>
            <a:pPr algn="l"/>
            <a:r>
              <a:rPr sz="1250" b="1">
                <a:solidFill>
                  <a:srgbClr val="2D1155"/>
                </a:solidFill>
                <a:latin typeface="Arial Black"/>
              </a:rPr>
              <a:t>Add one agent, one hook</a:t>
            </a:r>
          </a:p>
        </p:txBody>
      </p:sp>
      <p:sp>
        <p:nvSpPr>
          <p:cNvPr id="15" name="TextBox 14"/>
          <p:cNvSpPr txBox="1"/>
          <p:nvPr/>
        </p:nvSpPr>
        <p:spPr>
          <a:xfrm>
            <a:off x="1234440" y="2487168"/>
            <a:ext cx="5212080" cy="365760"/>
          </a:xfrm>
          <a:prstGeom prst="rect">
            <a:avLst/>
          </a:prstGeom>
          <a:noFill/>
        </p:spPr>
        <p:txBody>
          <a:bodyPr wrap="square" lIns="0" tIns="0" rIns="0" bIns="0" anchor="t">
            <a:spAutoFit/>
          </a:bodyPr>
          <a:lstStyle/>
          <a:p>
            <a:pPr algn="l">
              <a:lnSpc>
                <a:spcPct val="110000"/>
              </a:lnSpc>
            </a:pPr>
            <a:r>
              <a:rPr sz="1100" b="0">
                <a:solidFill>
                  <a:srgbClr val="6E6389"/>
                </a:solidFill>
                <a:latin typeface="Calibri"/>
              </a:rPr>
              <a:t>A read-only reviewer sub-agent, plus one hook that blocks the mistake your team keeps making.</a:t>
            </a:r>
          </a:p>
        </p:txBody>
      </p:sp>
      <p:sp>
        <p:nvSpPr>
          <p:cNvPr id="16" name="TextBox 15"/>
          <p:cNvSpPr txBox="1"/>
          <p:nvPr/>
        </p:nvSpPr>
        <p:spPr>
          <a:xfrm>
            <a:off x="6583680" y="2231136"/>
            <a:ext cx="1508760" cy="274320"/>
          </a:xfrm>
          <a:prstGeom prst="rect">
            <a:avLst/>
          </a:prstGeom>
          <a:noFill/>
        </p:spPr>
        <p:txBody>
          <a:bodyPr wrap="square" lIns="0" tIns="0" rIns="0" bIns="0" anchor="t">
            <a:spAutoFit/>
          </a:bodyPr>
          <a:lstStyle/>
          <a:p>
            <a:pPr algn="r"/>
            <a:r>
              <a:rPr sz="950" b="1">
                <a:solidFill>
                  <a:srgbClr val="F59E0B"/>
                </a:solidFill>
                <a:latin typeface="Calibri"/>
              </a:rPr>
              <a:t>THIS WEEK</a:t>
            </a:r>
          </a:p>
        </p:txBody>
      </p:sp>
      <p:sp>
        <p:nvSpPr>
          <p:cNvPr id="17" name="Rectangle 16"/>
          <p:cNvSpPr/>
          <p:nvPr/>
        </p:nvSpPr>
        <p:spPr>
          <a:xfrm>
            <a:off x="457200" y="2962656"/>
            <a:ext cx="7772400" cy="749808"/>
          </a:xfrm>
          <a:prstGeom prst="rect">
            <a:avLst/>
          </a:prstGeom>
          <a:solidFill>
            <a:srgbClr val="FFFFFF"/>
          </a:solidFill>
          <a:ln w="12700">
            <a:solidFill>
              <a:srgbClr val="DDD6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2962656"/>
            <a:ext cx="585216" cy="749808"/>
          </a:xfrm>
          <a:prstGeom prst="rect">
            <a:avLst/>
          </a:prstGeom>
          <a:solidFill>
            <a:srgbClr val="2D1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2962656"/>
            <a:ext cx="585216" cy="749808"/>
          </a:xfrm>
          <a:prstGeom prst="rect">
            <a:avLst/>
          </a:prstGeom>
          <a:noFill/>
        </p:spPr>
        <p:txBody>
          <a:bodyPr wrap="square" lIns="0" tIns="0" rIns="0" bIns="0" anchor="ctr">
            <a:spAutoFit/>
          </a:bodyPr>
          <a:lstStyle/>
          <a:p>
            <a:pPr algn="ctr"/>
            <a:r>
              <a:rPr sz="1500" b="1">
                <a:solidFill>
                  <a:srgbClr val="FFFFFF"/>
                </a:solidFill>
                <a:latin typeface="Arial Black"/>
              </a:rPr>
              <a:t>3</a:t>
            </a:r>
          </a:p>
        </p:txBody>
      </p:sp>
      <p:sp>
        <p:nvSpPr>
          <p:cNvPr id="20" name="TextBox 19"/>
          <p:cNvSpPr txBox="1"/>
          <p:nvPr/>
        </p:nvSpPr>
        <p:spPr>
          <a:xfrm>
            <a:off x="1234440" y="3035808"/>
            <a:ext cx="2926080" cy="274320"/>
          </a:xfrm>
          <a:prstGeom prst="rect">
            <a:avLst/>
          </a:prstGeom>
          <a:noFill/>
        </p:spPr>
        <p:txBody>
          <a:bodyPr wrap="square" lIns="0" tIns="0" rIns="0" bIns="0" anchor="t">
            <a:spAutoFit/>
          </a:bodyPr>
          <a:lstStyle/>
          <a:p>
            <a:pPr algn="l"/>
            <a:r>
              <a:rPr sz="1250" b="1">
                <a:solidFill>
                  <a:srgbClr val="2D1155"/>
                </a:solidFill>
                <a:latin typeface="Arial Black"/>
              </a:rPr>
              <a:t>Make it the team’s</a:t>
            </a:r>
          </a:p>
        </p:txBody>
      </p:sp>
      <p:sp>
        <p:nvSpPr>
          <p:cNvPr id="21" name="TextBox 20"/>
          <p:cNvSpPr txBox="1"/>
          <p:nvPr/>
        </p:nvSpPr>
        <p:spPr>
          <a:xfrm>
            <a:off x="1234440" y="3310128"/>
            <a:ext cx="5212080" cy="365760"/>
          </a:xfrm>
          <a:prstGeom prst="rect">
            <a:avLst/>
          </a:prstGeom>
          <a:noFill/>
        </p:spPr>
        <p:txBody>
          <a:bodyPr wrap="square" lIns="0" tIns="0" rIns="0" bIns="0" anchor="t">
            <a:spAutoFit/>
          </a:bodyPr>
          <a:lstStyle/>
          <a:p>
            <a:pPr algn="l">
              <a:lnSpc>
                <a:spcPct val="110000"/>
              </a:lnSpc>
            </a:pPr>
            <a:r>
              <a:rPr sz="1100" b="0">
                <a:solidFill>
                  <a:srgbClr val="6E6389"/>
                </a:solidFill>
                <a:latin typeface="Calibri"/>
              </a:rPr>
              <a:t>Harness into CI, an eval for anything fuzzy, and walk one teammate through the same two steps.</a:t>
            </a:r>
          </a:p>
        </p:txBody>
      </p:sp>
      <p:sp>
        <p:nvSpPr>
          <p:cNvPr id="22" name="TextBox 21"/>
          <p:cNvSpPr txBox="1"/>
          <p:nvPr/>
        </p:nvSpPr>
        <p:spPr>
          <a:xfrm>
            <a:off x="6583680" y="3054096"/>
            <a:ext cx="1508760" cy="274320"/>
          </a:xfrm>
          <a:prstGeom prst="rect">
            <a:avLst/>
          </a:prstGeom>
          <a:noFill/>
        </p:spPr>
        <p:txBody>
          <a:bodyPr wrap="square" lIns="0" tIns="0" rIns="0" bIns="0" anchor="t">
            <a:spAutoFit/>
          </a:bodyPr>
          <a:lstStyle/>
          <a:p>
            <a:pPr algn="r"/>
            <a:r>
              <a:rPr sz="950" b="1">
                <a:solidFill>
                  <a:srgbClr val="F59E0B"/>
                </a:solidFill>
                <a:latin typeface="Calibri"/>
              </a:rPr>
              <a:t>THIS MONTH</a:t>
            </a:r>
          </a:p>
        </p:txBody>
      </p:sp>
      <p:sp>
        <p:nvSpPr>
          <p:cNvPr id="23" name="Rectangle 22"/>
          <p:cNvSpPr/>
          <p:nvPr/>
        </p:nvSpPr>
        <p:spPr>
          <a:xfrm>
            <a:off x="457200" y="3895344"/>
            <a:ext cx="8229600" cy="585216"/>
          </a:xfrm>
          <a:prstGeom prst="rect">
            <a:avLst/>
          </a:prstGeom>
          <a:solidFill>
            <a:srgbClr val="2D1155"/>
          </a:solidFill>
          <a:ln w="1905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3895344"/>
            <a:ext cx="7498079" cy="585216"/>
          </a:xfrm>
          <a:prstGeom prst="rect">
            <a:avLst/>
          </a:prstGeom>
          <a:noFill/>
        </p:spPr>
        <p:txBody>
          <a:bodyPr wrap="square" lIns="0" tIns="0" rIns="0" bIns="0" anchor="ctr">
            <a:spAutoFit/>
          </a:bodyPr>
          <a:lstStyle/>
          <a:p>
            <a:pPr algn="l">
              <a:lnSpc>
                <a:spcPct val="112000"/>
              </a:lnSpc>
            </a:pPr>
            <a:r>
              <a:rPr sz="1500" b="1">
                <a:solidFill>
                  <a:srgbClr val="FFFFFF"/>
                </a:solidFill>
                <a:latin typeface="Arial Black"/>
              </a:rPr>
              <a:t>Start where the diffs already make you nervous.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2D1155"/>
        </a:solidFill>
        <a:effectLst/>
      </p:bgPr>
    </p:bg>
    <p:spTree>
      <p:nvGrpSpPr>
        <p:cNvPr id="1" name=""/>
        <p:cNvGrpSpPr/>
        <p:nvPr/>
      </p:nvGrpSpPr>
      <p:grpSpPr>
        <a:xfrm>
          <a:off x="0" y="0"/>
          <a:ext cx="0" cy="0"/>
          <a:chOff x="0" y="0"/>
          <a:chExt cx="0" cy="0"/>
        </a:xfrm>
      </p:grpSpPr>
      <p:sp>
        <p:nvSpPr>
          <p:cNvPr id="2" name="Rectangle 1"/>
          <p:cNvSpPr/>
          <p:nvPr/>
        </p:nvSpPr>
        <p:spPr>
          <a:xfrm>
            <a:off x="6400800" y="0"/>
            <a:ext cx="2743200" cy="51435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0" y="0"/>
            <a:ext cx="128016" cy="51435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2.png"/>
          <p:cNvPicPr>
            <a:picLocks noChangeAspect="1"/>
          </p:cNvPicPr>
          <p:nvPr/>
        </p:nvPicPr>
        <p:blipFill>
          <a:blip r:embed="rId3"/>
          <a:stretch>
            <a:fillRect/>
          </a:stretch>
        </p:blipFill>
        <p:spPr>
          <a:xfrm>
            <a:off x="457200" y="384048"/>
            <a:ext cx="2148840" cy="484632"/>
          </a:xfrm>
          <a:prstGeom prst="rect">
            <a:avLst/>
          </a:prstGeom>
        </p:spPr>
      </p:pic>
      <p:sp>
        <p:nvSpPr>
          <p:cNvPr id="5" name="Rectangle 4"/>
          <p:cNvSpPr/>
          <p:nvPr/>
        </p:nvSpPr>
        <p:spPr>
          <a:xfrm>
            <a:off x="457200" y="1234440"/>
            <a:ext cx="82296" cy="2148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image1.jpeg"/>
          <p:cNvPicPr>
            <a:picLocks noChangeAspect="1"/>
          </p:cNvPicPr>
          <p:nvPr/>
        </p:nvPicPr>
        <p:blipFill>
          <a:blip r:embed="rId4"/>
          <a:stretch>
            <a:fillRect/>
          </a:stretch>
        </p:blipFill>
        <p:spPr>
          <a:xfrm>
            <a:off x="8366760" y="4526280"/>
            <a:ext cx="411480" cy="411480"/>
          </a:xfrm>
          <a:prstGeom prst="rect">
            <a:avLst/>
          </a:prstGeom>
        </p:spPr>
      </p:pic>
      <p:sp>
        <p:nvSpPr>
          <p:cNvPr id="7" name="TextBox 6"/>
          <p:cNvSpPr txBox="1"/>
          <p:nvPr/>
        </p:nvSpPr>
        <p:spPr>
          <a:xfrm>
            <a:off x="457200" y="4709160"/>
            <a:ext cx="5669280" cy="274320"/>
          </a:xfrm>
          <a:prstGeom prst="rect">
            <a:avLst/>
          </a:prstGeom>
          <a:noFill/>
        </p:spPr>
        <p:txBody>
          <a:bodyPr wrap="square" lIns="0" tIns="0" rIns="0" bIns="0" anchor="t">
            <a:spAutoFit/>
          </a:bodyPr>
          <a:lstStyle/>
          <a:p>
            <a:pPr algn="l"/>
            <a:r>
              <a:rPr sz="900" b="0">
                <a:solidFill>
                  <a:srgbClr val="C4B5E8"/>
                </a:solidFill>
                <a:latin typeface="Calibri"/>
              </a:rPr>
              <a:t>Tech Council of Australia  |  techcouncil.com.au</a:t>
            </a:r>
          </a:p>
        </p:txBody>
      </p:sp>
      <p:sp>
        <p:nvSpPr>
          <p:cNvPr id="8" name="TextBox 7"/>
          <p:cNvSpPr txBox="1"/>
          <p:nvPr/>
        </p:nvSpPr>
        <p:spPr>
          <a:xfrm>
            <a:off x="658368" y="1371600"/>
            <a:ext cx="5486400" cy="274320"/>
          </a:xfrm>
          <a:prstGeom prst="rect">
            <a:avLst/>
          </a:prstGeom>
          <a:noFill/>
        </p:spPr>
        <p:txBody>
          <a:bodyPr wrap="square" lIns="0" tIns="0" rIns="0" bIns="0" anchor="t">
            <a:spAutoFit/>
          </a:bodyPr>
          <a:lstStyle/>
          <a:p>
            <a:pPr algn="l"/>
            <a:r>
              <a:rPr sz="1000" b="1">
                <a:solidFill>
                  <a:srgbClr val="F59E0B"/>
                </a:solidFill>
                <a:latin typeface="Calibri"/>
              </a:rPr>
              <a:t>BY 4PM: A HARDENED APP AND A TEAM THAT BUILT IT</a:t>
            </a:r>
          </a:p>
        </p:txBody>
      </p:sp>
      <p:sp>
        <p:nvSpPr>
          <p:cNvPr id="9" name="TextBox 8"/>
          <p:cNvSpPr txBox="1"/>
          <p:nvPr/>
        </p:nvSpPr>
        <p:spPr>
          <a:xfrm>
            <a:off x="658368" y="1691640"/>
            <a:ext cx="5577840" cy="914400"/>
          </a:xfrm>
          <a:prstGeom prst="rect">
            <a:avLst/>
          </a:prstGeom>
          <a:noFill/>
        </p:spPr>
        <p:txBody>
          <a:bodyPr wrap="square" lIns="0" tIns="0" rIns="0" bIns="0" anchor="t">
            <a:spAutoFit/>
          </a:bodyPr>
          <a:lstStyle/>
          <a:p>
            <a:pPr algn="l"/>
            <a:r>
              <a:rPr sz="4200" b="1">
                <a:solidFill>
                  <a:srgbClr val="FFFFFF"/>
                </a:solidFill>
                <a:latin typeface="Arial Black"/>
              </a:rPr>
              <a:t>Let’s harden it.</a:t>
            </a:r>
          </a:p>
        </p:txBody>
      </p:sp>
      <p:sp>
        <p:nvSpPr>
          <p:cNvPr id="10" name="TextBox 9"/>
          <p:cNvSpPr txBox="1"/>
          <p:nvPr/>
        </p:nvSpPr>
        <p:spPr>
          <a:xfrm>
            <a:off x="676656" y="2834640"/>
            <a:ext cx="5486400" cy="1371600"/>
          </a:xfrm>
          <a:prstGeom prst="rect">
            <a:avLst/>
          </a:prstGeom>
          <a:noFill/>
        </p:spPr>
        <p:txBody>
          <a:bodyPr wrap="square" lIns="0" tIns="0" rIns="0" bIns="0" anchor="t">
            <a:spAutoFit/>
          </a:bodyPr>
          <a:lstStyle/>
          <a:p>
            <a:pPr algn="l">
              <a:lnSpc>
                <a:spcPct val="115000"/>
              </a:lnSpc>
            </a:pPr>
            <a:r>
              <a:rPr sz="1350" b="0">
                <a:solidFill>
                  <a:srgbClr val="DDD6FE"/>
                </a:solidFill>
                <a:latin typeface="Calibri"/>
              </a:rPr>
              <a:t>You ran the loop this morning. You made it repeatable before lunch. Now you build the system that produces the work and proves it — the same skills scale from a weekend project to a production service. Only the size of the harness changes.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8365</Words>
  <Application>Microsoft Macintosh PowerPoint</Application>
  <PresentationFormat>On-screen Show (16:9)</PresentationFormat>
  <Paragraphs>614</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Arial Black</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Paul Keen</cp:lastModifiedBy>
  <cp:revision>1</cp:revision>
  <dcterms:created xsi:type="dcterms:W3CDTF">2013-01-27T09:14:16Z</dcterms:created>
  <dcterms:modified xsi:type="dcterms:W3CDTF">2026-07-29T11:26:12Z</dcterms:modified>
  <cp:category/>
</cp:coreProperties>
</file>