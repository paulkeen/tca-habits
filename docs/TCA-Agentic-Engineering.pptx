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200"/>
    <p:restoredTop sz="73125"/>
  </p:normalViewPr>
  <p:slideViewPr>
    <p:cSldViewPr snapToGrid="0" snapToObjects="1">
      <p:cViewPr varScale="1">
        <p:scale>
          <a:sx n="192" d="100"/>
          <a:sy n="192" d="100"/>
        </p:scale>
        <p:origin x="1688"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8479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 · 30 sec]  Post-lunch slot. Be brisk, get to the map on slide 6 quickly.</a:t>
            </a:r>
          </a:p>
          <a:p>
            <a:endParaRPr/>
          </a:p>
          <a:p>
            <a:r>
              <a:t>Landing point: this is the most technical section of the day, and nobody needs to be senior to follow it.</a:t>
            </a:r>
          </a:p>
          <a:p>
            <a:endParaRPr/>
          </a:p>
          <a:p>
            <a:r>
              <a:t>Say: "This morning you learned to fly the agent. Before lunch you made it behave the same way twice. Neither of those made the code trustworthy. That is the next hour and a half."</a:t>
            </a:r>
          </a:p>
          <a:p>
            <a:endParaRPr/>
          </a:p>
          <a:p>
            <a:r>
              <a:t>Do not define agentic engineering here. That is slide 4. Resist the urge to start explaining sub-agents; you have four slides of runway before anyone needs the term.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[0:30 · 1 min]  Orient, then move.</a:t>
            </a:r>
          </a:p>
          <a:p>
            <a:endParaRPr/>
          </a:p>
          <a:p>
            <a:r>
              <a:t>Point at the amber row. Say: "Rung one, you stopped writing code by hand. Rung two, you stopped repeating yourself. Rung three is the awkward one. You stop trusting what you see."</a:t>
            </a:r>
          </a:p>
          <a:p>
            <a:endParaRPr/>
          </a:p>
          <a:p>
            <a:r>
              <a:t>Key message: every rung removed a crutch. The crutch this time is your own eyeballs.</a:t>
            </a:r>
          </a:p>
          <a:p>
            <a:endParaRPr/>
          </a:p>
          <a:p>
            <a:r>
              <a:t>If people reset to a checkpoint to get here, say plainly that they are on exactly the same rung as everyone else. Using the net is the design, not a confession.</a:t>
            </a:r>
          </a:p>
          <a:p>
            <a:endParaRPr/>
          </a:p>
          <a:p>
            <a:r>
              <a:t>Don't relitigate sections 1 and 2. If someone wants to, park it for the break.</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 · 1 min]  This slide exists to create the itch the rest of the section scratches.</a:t>
            </a:r>
          </a:p>
          <a:p>
            <a:endParaRPr/>
          </a:p>
          <a:p>
            <a:r>
              <a:t>The distinction to draw: fast and consistent are properties of your process. Trustworthy is a property of the artefact. You can have the first two and still ship a streak calculation that quietly breaks on the first of the month.</a:t>
            </a:r>
          </a:p>
          <a:p>
            <a:endParaRPr/>
          </a:p>
          <a:p>
            <a:r>
              <a:t>Ask the room, rhetorically, and don't wait long: "Who has actually read every line the agent wrote today?" Expect no hands. That is the point, and it is not a moral failing.</a:t>
            </a:r>
          </a:p>
          <a:p>
            <a:endParaRPr/>
          </a:p>
          <a:p>
            <a:r>
              <a:t>Concrete hook into their own repo: the weekly summary and the AI encouragement feature both went in this morning without a single test. Neither has ever been run against a case anyone chose deliberately.</a:t>
            </a:r>
          </a:p>
          <a:p>
            <a:endParaRPr/>
          </a:p>
          <a:p>
            <a:r>
              <a:t>Say: "Nothing we have built today would survive a code review by someone who cares." </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[2:30 · 1.5 min]  Definition slide. Read the top line once, slowly, then work the FROM/TO.</a:t>
            </a:r>
          </a:p>
          <a:p>
            <a:endParaRPr/>
          </a:p>
          <a:p>
            <a:r>
              <a:t>The distinction that matters: vibe engineering configures the agent. Agentic engineering engineers the system around the agent. The agent is the one component you do not control. Everything else is yours to design.</a:t>
            </a:r>
          </a:p>
          <a:p>
            <a:endParaRPr/>
          </a:p>
          <a:p>
            <a:r>
              <a:t>The FROM/TO is the whole section in two lines. "Did the agent write good code?" is unanswerable at speed. "What would prove this is right?" is a design question, and design questions are what experienced engineers are already good at.</a:t>
            </a:r>
          </a:p>
          <a:p>
            <a:endParaRPr/>
          </a:p>
          <a:p>
            <a:r>
              <a:t>For anyone rusty, say this explicitly: this is the most transferable material of the day. Test design, contracts and CI did not change while you were away. Only who types the code changed.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[4:00 · 2 min]  This slide earns the rest of the section. Spend the time.</a:t>
            </a:r>
          </a:p>
          <a:p>
            <a:endParaRPr/>
          </a:p>
          <a:p>
            <a:r>
              <a:t>Left column, the arithmetic: an agent produces several hundred lines in a couple of minutes. Careful review runs at roughly a hundred lines an hour. That ratio is why review is the bottleneck, not the safety net.</a:t>
            </a:r>
          </a:p>
          <a:p>
            <a:endParaRPr/>
          </a:p>
          <a:p>
            <a:r>
              <a:t>Second bullet is the honest one. Attention decays. By the third diff you are pattern matching, not reading. Everyone here knew this about code review before they left.</a:t>
            </a:r>
          </a:p>
          <a:p>
            <a:endParaRPr/>
          </a:p>
          <a:p>
            <a:r>
              <a:t>Third bullet is the dangerous one and deserves a beat: models fail confidently. There is no hedge in the output, no "I'm unsure about this bit". A wrong streak calculation reads exactly as calm as a right one. That is the failure mode your eyes are worst at.</a:t>
            </a:r>
          </a:p>
          <a:p>
            <a:endParaRPr/>
          </a:p>
          <a:p>
            <a:r>
              <a:t>Right column: each item is one of the four moves. Point forward, do not explain yet.</a:t>
            </a:r>
          </a:p>
          <a:p>
            <a:endParaRPr/>
          </a:p>
          <a:p>
            <a:r>
              <a:t>Closing line is the reframe, and it is a promotion rather than a demotion: you stop being the line reviewer and become the person who designs how correctness gets proved.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[6:00 · 1 min]  Map slide. Do not teach here.</a:t>
            </a:r>
          </a:p>
          <a:p>
            <a:endParaRPr/>
          </a:p>
          <a:p>
            <a:r>
              <a:t>Read the four titles, promise that everything from here is one of them, move on.</a:t>
            </a:r>
          </a:p>
          <a:p>
            <a:endParaRPr/>
          </a:p>
          <a:p>
            <a:r>
              <a:t>Say: "Four moves. That is the entire section. If you lose the thread at any point, ask which of these four we are on."</a:t>
            </a:r>
          </a:p>
          <a:p>
            <a:endParaRPr/>
          </a:p>
          <a:p>
            <a:r>
              <a:t>This slide is mostly for the less-senior half of the room: it turns an intimidating topic into a checklist of four things. Say that out loud, because it gives people permission to stop worrying about the parts they haven't heard yet.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[7:00 · 2.5 min]  The most important technical slide in the section. If only one thing lands, make it this.</a:t>
            </a:r>
          </a:p>
          <a:p>
            <a:endParaRPr/>
          </a:p>
          <a:p>
            <a:r>
              <a:t>Walk the three lines and name the failure class each catches: lint finds style and dead code, types find wrong shapes (a None where a date belongs), tests find wrong behaviour. Three different classes, one command.</a:t>
            </a:r>
          </a:p>
          <a:p>
            <a:endParaRPr/>
          </a:p>
          <a:p>
            <a:r>
              <a:t>The bit people miss, so say it directly: the harness is not for you, it is for the agent. The agent can run make check, read the failure, and fix itself without asking you. A harness the agent cannot run is just documentation.</a:t>
            </a:r>
          </a:p>
          <a:p>
            <a:endParaRPr/>
          </a:p>
          <a:p>
            <a:r>
              <a:t>Technical point worth making: the failure output has to be specific. "FAILED test_missed_day_resets_streak" gives the agent something to act on. A bare exit code 1 gives it nothing and it will start guessing.</a:t>
            </a:r>
          </a:p>
          <a:p>
            <a:endParaRPr/>
          </a:p>
          <a:p>
            <a:r>
              <a:t>The tool names on screen (ruff, mypy, pytest) are the reference repo's. If your setup differs, say so now rather than in the lab.</a:t>
            </a:r>
          </a:p>
          <a:p>
            <a:endParaRPr/>
          </a:p>
          <a:p>
            <a:r>
              <a:t>The amber line is the takeaway: self-verification at the end of every turn is the cheapest reliability you will ever buy.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[9:30 · 2 min]  Key message: with agents, the test suite is where your intent lives. Prompts are transient; tests persist.</a:t>
            </a:r>
          </a:p>
          <a:p>
            <a:endParaRPr/>
          </a:p>
          <a:p>
            <a:r>
              <a:t>Read the prompt on screen, then highlight the last clause: "show me one failing, then make it pass." That is not ceremony. A test that has never failed may be asserting nothing, and an agent writing both the test and the code has an obvious incentive to write an easy test.</a:t>
            </a:r>
          </a:p>
          <a:p>
            <a:endParaRPr/>
          </a:p>
          <a:p>
            <a:r>
              <a:t>Walk the three edge cases. These are exactly the ones sections 1 and 2 skipped:</a:t>
            </a:r>
          </a:p>
          <a:p>
            <a:endParaRPr/>
          </a:p>
          <a:p>
            <a:r>
              <a:t>Missed day. This is the product promise. If it breaks, the app is lying to the user about their streak.</a:t>
            </a:r>
          </a:p>
          <a:p>
            <a:endParaRPr/>
          </a:p>
          <a:p>
            <a:r>
              <a:t>Double tick. Idempotency. Two taps, one completion. Everyone has double-tapped a button on a phone.</a:t>
            </a:r>
          </a:p>
          <a:p>
            <a:endParaRPr/>
          </a:p>
          <a:p>
            <a:r>
              <a:t>Midnight. Timezones. Whose "today" is it, the server's or the user's? This one has bitten every engineer in the room at some point.</a:t>
            </a:r>
          </a:p>
          <a:p>
            <a:endParaRPr/>
          </a:p>
          <a:p>
            <a:r>
              <a:t>Say: "These are pure functions. Unit tests on pure logic are the cheapest tests that exist, and they are where the real bugs live." </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[11:30 · 2.5 min]  Define the term before anything else: a sub-agent is a separate agent with its own context window, its own instructions, and its own tool permissions. It is not a prompt. It is a configured worker.</a:t>
            </a:r>
          </a:p>
          <a:p>
            <a:endParaRPr/>
          </a:p>
          <a:p>
            <a:r>
              <a:t>Walk the three roles, but the important detail is the TOOLS line on each card, not the description.</a:t>
            </a:r>
          </a:p>
          <a:p>
            <a:endParaRPr/>
          </a:p>
          <a:p>
            <a:r>
              <a:t>Test-writer: writes tests, never implements. That constraint stops it helpfully making a test pass by editing the code instead.</a:t>
            </a:r>
          </a:p>
          <a:p>
            <a:endParaRPr/>
          </a:p>
          <a:p>
            <a:r>
              <a:t>Reviewer: read-only. No Write, no Edit. This is the one that matters and slide 10 explains why.</a:t>
            </a:r>
          </a:p>
          <a:p>
            <a:endParaRPr/>
          </a:p>
          <a:p>
            <a:r>
              <a:t>Verifier: can run the shell. Reports green, or explains precisely why not.</a:t>
            </a:r>
          </a:p>
          <a:p>
            <a:endParaRPr/>
          </a:p>
          <a:p>
            <a:r>
              <a:t>The real technical benefit is fresh context. The reviewer is not carrying forty thousand tokens of the implementer's reasoning, so it is not primed to agree with it.</a:t>
            </a:r>
          </a:p>
          <a:p>
            <a:endParaRPr/>
          </a:p>
          <a:p>
            <a:r>
              <a:t>The code card shows where these live: Claude Code uses markdown with frontmatter and /agents to manage them; Codex uses TOML with an explicit sandbox_mode. Same three roles, different plumbing.</a:t>
            </a:r>
          </a:p>
          <a:p>
            <a:endParaRPr/>
          </a:p>
          <a:p>
            <a:r>
              <a:t>Don't dictate file contents. They generate these in Block B.</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[14:00 · 2 min]  The counter-intuitive one. Keep it concrete.</a:t>
            </a:r>
          </a:p>
          <a:p>
            <a:endParaRPr/>
          </a:p>
          <a:p>
            <a:r>
              <a:t>Left: an agent reviewing its own work is not lying to you, it is sincerely convinced. Its context is full of the reasoning that produced the code, so asked to review, it re-derives the same conclusions from the same premises. Same blind spot, twice.</a:t>
            </a:r>
          </a:p>
          <a:p>
            <a:endParaRPr/>
          </a:p>
          <a:p>
            <a:r>
              <a:t>Right: a fresh reviewer has none of that history. It sees a diff and nothing else. It behaves like the colleague who wasn't in the design meeting, which is precisely who catches the thing everyone else assumed.</a:t>
            </a:r>
          </a:p>
          <a:p>
            <a:endParaRPr/>
          </a:p>
          <a:p>
            <a:r>
              <a:t>The write-access point is the sharpest idea on the slide. If the reviewer can edit files, it will sometimes fix a problem instead of reporting it. You wanted a list of defects and you got a silent patch. You lose the signal, which was the only thing you asked for.</a:t>
            </a:r>
          </a:p>
          <a:p>
            <a:endParaRPr/>
          </a:p>
          <a:p>
            <a:r>
              <a:t>Analogy that works without being twee: you don't ask the author to copy-edit their own chapter. Not because they're careless, but because they read what they meant to write.</a:t>
            </a:r>
          </a:p>
          <a:p>
            <a:endParaRPr/>
          </a:p>
          <a:p>
            <a:r>
              <a:t>Say: "Instinct says give the agent every tool available. The instinct is wrong. Permissions are a design decision." </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[16:00 · 2.5 min]  The centrepiece. Walk left to right once, then land the dark band.</a:t>
            </a:r>
          </a:p>
          <a:p>
            <a:endParaRPr/>
          </a:p>
          <a:p>
            <a:r>
              <a:t>Sequence: test-writer produces failing tests, implementer codes until green, reviewer critiques the diff, verifier runs make check and the app. Ordinary TDD, except you are none of the four roles.</a:t>
            </a:r>
          </a:p>
          <a:p>
            <a:endParaRPr/>
          </a:p>
          <a:p>
            <a:r>
              <a:t>Your job is the two verbs on the band. Orchestrate: pick the work and the order. Arbitrate: when the reviewer and the implementer disagree, you decide who is right. Both are lead-level work and neither involves typing implementation.</a:t>
            </a:r>
          </a:p>
          <a:p>
            <a:endParaRPr/>
          </a:p>
          <a:p>
            <a:r>
              <a:t>Technical point: handoffs are where this breaks. Each role needs a defined input and output. "Reviewer, here is the diff, give me a numbered list with file:line and severity" works. "Reviewer, thoughts?" produces mush.</a:t>
            </a:r>
          </a:p>
          <a:p>
            <a:endParaRPr/>
          </a:p>
          <a:p>
            <a:r>
              <a:t>The last line is aimed at the seniors: when a team stalls, the instinct is to write a cleverer prompt. Nine times out of ten the actual problem is that "done" was never defined. Fix the definition, not the wording.</a:t>
            </a:r>
          </a:p>
          <a:p>
            <a:endParaRPr/>
          </a:p>
          <a:p>
            <a:r>
              <a:t>Set expectations for the lab: the first run through feels slow. It is still faster than doing it yourself, and it is much faster the second time.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[18:30 · 2 min]  Purely mechanical. Some of the room knows this cold, some have never used a worktree. Pitch at the second group and move fast. If you are running late, this is the first slide to compress.</a:t>
            </a:r>
          </a:p>
          <a:p>
            <a:endParaRPr/>
          </a:p>
          <a:p>
            <a:r>
              <a:t>What it is: a second working directory for the same repository, on a different branch, sharing one .git history. Not a clone. No duplicated history, and branches stay in sync.</a:t>
            </a:r>
          </a:p>
          <a:p>
            <a:endParaRPr/>
          </a:p>
          <a:p>
            <a:r>
              <a:t>Why it matters here: two agents editing the same file in the same folder will clobber each other. Give each its own directory and the problem simply stops existing.</a:t>
            </a:r>
          </a:p>
          <a:p>
            <a:endParaRPr/>
          </a:p>
          <a:p>
            <a:r>
              <a:t>Walk the four commands. The last is the payoff: git diff main feature --stat to compare, then merge whichever you prefer.</a:t>
            </a:r>
          </a:p>
          <a:p>
            <a:endParaRPr/>
          </a:p>
          <a:p>
            <a:r>
              <a:t>The two cards are hygiene, and both are earned from experience. Name the branch and the folder the same thing, or you will lose track of which terminal you are in. Commit small in each tree, or the merge turns into archaeology.</a:t>
            </a:r>
          </a:p>
          <a:p>
            <a:endParaRPr/>
          </a:p>
          <a:p>
            <a:r>
              <a:t>Say: "This is the mechanism behind every parallel thing in section 3, and it is four commands." </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[20:30 · 2.5 min]  Define hook plainly first: a script the tool runs automatically at a specific moment. Not advice in a markdown file. Actual enforcement.</a:t>
            </a:r>
          </a:p>
          <a:p>
            <a:endParaRPr/>
          </a:p>
          <a:p>
            <a:r>
              <a:t>Stop hook: fires when the agent believes it has finished. Runs make check. If that fails, the agent is not finished. This converts the harness from something you hope happens into something that happens.</a:t>
            </a:r>
          </a:p>
          <a:p>
            <a:endParaRPr/>
          </a:p>
          <a:p>
            <a:r>
              <a:t>PreToolUse hook: fires before a tool call and can block it. Our example is the contract rule from section 2: no edit to the streak logic in backend/main.py unless a test under backend/tests/ changes in the same turn.</a:t>
            </a:r>
          </a:p>
          <a:p>
            <a:endParaRPr/>
          </a:p>
          <a:p>
            <a:r>
              <a:t>The distinction to state explicitly, because it is the whole point of the slide: AGENTS.md is a rule the agent chooses to follow. A hook is a rule it cannot break. Both are useful, but only one survives a full context window, a fresh session, or a Friday afternoon.</a:t>
            </a:r>
          </a:p>
          <a:p>
            <a:endParaRPr/>
          </a:p>
          <a:p>
            <a:r>
              <a:t>Plumbing: Claude Code uses .claude/settings.json plus scripts in .claude/hooks/. Codex uses .codex/hooks.json plus .codex/hooks/. Wire it for whichever tool you are driving; the idea is identical.</a:t>
            </a:r>
          </a:p>
          <a:p>
            <a:endParaRPr/>
          </a:p>
          <a:p>
            <a:r>
              <a:t>Light touch, delivered dry: a hook is the guardrail that stops you talking yourself into "I'll add the test afterwards". </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[23:00 · 2 min]  Set up the problem before the solution: the weekly summary is a paragraph of prose. There is no assertEqual for "reads like a human wrote it". Tests cannot help you here.</a:t>
            </a:r>
          </a:p>
          <a:p>
            <a:endParaRPr/>
          </a:p>
          <a:p>
            <a:r>
              <a:t>Three steps on screen: write a rubric of about five cases with what a good answer must contain, have a sub-agent score each output against it, then gate CI on the score.</a:t>
            </a:r>
          </a:p>
          <a:p>
            <a:endParaRPr/>
          </a:p>
          <a:p>
            <a:r>
              <a:t>Define the term, because it is new to most of the room: a test asks "is this correct", and answers pass or fail. An eval asks "is this good enough", and answers with a number. Evals are how you get a regression signal on fuzzy output.</a:t>
            </a:r>
          </a:p>
          <a:p>
            <a:endParaRPr/>
          </a:p>
          <a:p>
            <a:r>
              <a:t>The technical point that makes evals practical: gate on relative score, not absolute. Do not demand perfection. Block any change that drops the score below where it already was. That catches regressions without anyone arguing about what perfect means.</a:t>
            </a:r>
          </a:p>
          <a:p>
            <a:endParaRPr/>
          </a:p>
          <a:p>
            <a:r>
              <a:t>State the caveat honestly: a model grading a model is imperfect. It is still vastly better than a vibe check, and it runs every single time instead of when someone remembers to look.</a:t>
            </a:r>
          </a:p>
          <a:p>
            <a:endParaRPr/>
          </a:p>
          <a:p>
            <a:r>
              <a:t>The amber line is the real boundary: if you can't test it and can't score it, don't put it behind an automated gate. Keep a human there.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[25:00 · 2 min]  Framing: everything so far lives on your laptop. These three make it survive Monday, and survive other people.</a:t>
            </a:r>
          </a:p>
          <a:p>
            <a:endParaRPr/>
          </a:p>
          <a:p>
            <a:r>
              <a:t>CI: GitHub Actions runs make check and the frontend build on every push and pull request. The harness now applies to teammates who were never in this room.</a:t>
            </a:r>
          </a:p>
          <a:p>
            <a:endParaRPr/>
          </a:p>
          <a:p>
            <a:r>
              <a:t>Headless: the agent as a command rather than a conversation. claude -p or codex exec. Useful for scripted one-shot work inside a pipeline, wrapped in a verification gate so a failure stops the line instead of getting merged.</a:t>
            </a:r>
          </a:p>
          <a:p>
            <a:endParaRPr/>
          </a:p>
          <a:p>
            <a:r>
              <a:t>Security pass: correctness, leaked secrets and licensing, over the diff, before merge. Claude Code has /security-review. Codex has no dedicated command, so use /review with an explicit prompt naming security, secrets and licensing.</a:t>
            </a:r>
          </a:p>
          <a:p>
            <a:endParaRPr/>
          </a:p>
          <a:p>
            <a:r>
              <a:t>Land the closing line deliberately: automate the generation, automate the verification, keep the sign-off human. Not because a tool couldn't do it, but because accountability does not delegate.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[27:00 · 1.5 min]  Slow down. This is the sentence you want people repeating to themselves in the lab.</a:t>
            </a:r>
          </a:p>
          <a:p>
            <a:endParaRPr/>
          </a:p>
          <a:p>
            <a:r>
              <a:t>Say it, then pause: "Don't read harder. Build the proof."</a:t>
            </a:r>
          </a:p>
          <a:p>
            <a:endParaRPr/>
          </a:p>
          <a:p>
            <a:r>
              <a:t>Give them the trigger to watch for: the moment they catch themselves scrolling a diff hunting for the bug. That instinct isn't wrong, it is just the expensive option. Convert it into a question. What test, what sub-agent, or what gate would have caught this without me?</a:t>
            </a:r>
          </a:p>
          <a:p>
            <a:endParaRPr/>
          </a:p>
          <a:p>
            <a:r>
              <a:t>Read both audience lines aloud; they are doing real work.</a:t>
            </a:r>
          </a:p>
          <a:p>
            <a:endParaRPr/>
          </a:p>
          <a:p>
            <a:r>
              <a:t>Rusty: never having trusted the output by eye is an advantage today, not a gap.</a:t>
            </a:r>
          </a:p>
          <a:p>
            <a:endParaRPr/>
          </a:p>
          <a:p>
            <a:r>
              <a:t>Confident: your reading genuinely is good. It is also now the slowest step in your workflow, which is uncomfortable. Be honest that this section asks more of the seniors in the room than of anyone else.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[28:30 · 45 sec]  Logistics, quick. Four blocks, sixty minutes, times on the right.</a:t>
            </a:r>
          </a:p>
          <a:p>
            <a:endParaRPr/>
          </a:p>
          <a:p>
            <a:r>
              <a:t>A, the harness: tests for the edge cases we skipped, and see one fail before it passes.</a:t>
            </a:r>
          </a:p>
          <a:p>
            <a:r>
              <a:t>B, the sub-agents: create the test-writer, the read-only reviewer, and the verifier.</a:t>
            </a:r>
          </a:p>
          <a:p>
            <a:r>
              <a:t>C, the team: ship the monthly progress ring end to end. You arbitrate, you do not type.</a:t>
            </a:r>
          </a:p>
          <a:p>
            <a:r>
              <a:t>D, lock it in: hooks, CI, a security pass, then commit and tag.</a:t>
            </a:r>
          </a:p>
          <a:p>
            <a:endParaRPr/>
          </a:p>
          <a:p>
            <a:r>
              <a:t>Two things to say plainly. Facilitators will not help for the first three minutes of any block, because the struggle is the lesson. And the net is there: reset to checkpoint-2-features and start the block clean. Using it is expected.</a:t>
            </a:r>
          </a:p>
          <a:p>
            <a:endParaRPr/>
          </a:p>
          <a:p>
            <a:r>
              <a:t>Stretch goals for anyone flying: a five-case eval graded by a sub-agent, a docs-writer sub-agent that updates the README from the diff, or run the team across a Codex branch and a Claude branch and reconcile the two.</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[29:15 · 30 sec]  Read them, don't explain them. Each one has a slide behind it and they are a reference card for the lab.</a:t>
            </a:r>
          </a:p>
          <a:p>
            <a:endParaRPr/>
          </a:p>
          <a:p>
            <a:r>
              <a:t>If you are over time, this is the slide to take at pace. Rules 1 and 4 are the two that actually change behaviour: harness first, and orchestrate rather than type.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[29:45 · 15 sec]  One line, then into the lab.</a:t>
            </a:r>
          </a:p>
          <a:p>
            <a:endParaRPr/>
          </a:p>
          <a:p>
            <a:r>
              <a:t>Say: "This morning you ran the loop. Before lunch you made it repeatable. Now you build the system that produces the work and proves it."</a:t>
            </a:r>
          </a:p>
          <a:p>
            <a:endParaRPr/>
          </a:p>
          <a:p>
            <a:r>
              <a:t>The part worth believing: the difference between this and a production service is the size of the harness, not its nature.</a:t>
            </a:r>
          </a:p>
          <a:p>
            <a:endParaRPr/>
          </a:p>
          <a:p>
            <a:r>
              <a:t>Then stop talking and start the timer on Block 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D1155"/>
        </a:solidFill>
        <a:effectLst/>
      </p:bgPr>
    </p:bg>
    <p:spTree>
      <p:nvGrpSpPr>
        <p:cNvPr id="1" name=""/>
        <p:cNvGrpSpPr/>
        <p:nvPr/>
      </p:nvGrpSpPr>
      <p:grpSpPr>
        <a:xfrm>
          <a:off x="0" y="0"/>
          <a:ext cx="0" cy="0"/>
          <a:chOff x="0" y="0"/>
          <a:chExt cx="0" cy="0"/>
        </a:xfrm>
      </p:grpSpPr>
      <p:sp>
        <p:nvSpPr>
          <p:cNvPr id="2" name="Rectangle 1"/>
          <p:cNvSpPr/>
          <p:nvPr/>
        </p:nvSpPr>
        <p:spPr>
          <a:xfrm>
            <a:off x="6400800" y="0"/>
            <a:ext cx="2743200" cy="51435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0" y="0"/>
            <a:ext cx="128016" cy="51435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2.png"/>
          <p:cNvPicPr>
            <a:picLocks noChangeAspect="1"/>
          </p:cNvPicPr>
          <p:nvPr/>
        </p:nvPicPr>
        <p:blipFill>
          <a:blip r:embed="rId3"/>
          <a:stretch>
            <a:fillRect/>
          </a:stretch>
        </p:blipFill>
        <p:spPr>
          <a:xfrm>
            <a:off x="457200" y="384048"/>
            <a:ext cx="2148840" cy="484632"/>
          </a:xfrm>
          <a:prstGeom prst="rect">
            <a:avLst/>
          </a:prstGeom>
        </p:spPr>
      </p:pic>
      <p:sp>
        <p:nvSpPr>
          <p:cNvPr id="5" name="Rectangle 4"/>
          <p:cNvSpPr/>
          <p:nvPr/>
        </p:nvSpPr>
        <p:spPr>
          <a:xfrm>
            <a:off x="457200" y="1234440"/>
            <a:ext cx="82296"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1.jpeg"/>
          <p:cNvPicPr>
            <a:picLocks noChangeAspect="1"/>
          </p:cNvPicPr>
          <p:nvPr/>
        </p:nvPicPr>
        <p:blipFill>
          <a:blip r:embed="rId4"/>
          <a:stretch>
            <a:fillRect/>
          </a:stretch>
        </p:blipFill>
        <p:spPr>
          <a:xfrm>
            <a:off x="8366760" y="4526280"/>
            <a:ext cx="411480" cy="411480"/>
          </a:xfrm>
          <a:prstGeom prst="rect">
            <a:avLst/>
          </a:prstGeom>
        </p:spPr>
      </p:pic>
      <p:sp>
        <p:nvSpPr>
          <p:cNvPr id="7" name="TextBox 6"/>
          <p:cNvSpPr txBox="1"/>
          <p:nvPr/>
        </p:nvSpPr>
        <p:spPr>
          <a:xfrm>
            <a:off x="457200" y="4709160"/>
            <a:ext cx="5669280" cy="274320"/>
          </a:xfrm>
          <a:prstGeom prst="rect">
            <a:avLst/>
          </a:prstGeom>
          <a:noFill/>
        </p:spPr>
        <p:txBody>
          <a:bodyPr wrap="square" lIns="0" tIns="0" rIns="0" bIns="0" anchor="t">
            <a:spAutoFit/>
          </a:bodyPr>
          <a:lstStyle/>
          <a:p>
            <a:pPr algn="l"/>
            <a:r>
              <a:rPr sz="900" b="0">
                <a:solidFill>
                  <a:srgbClr val="C4B5E8"/>
                </a:solidFill>
                <a:latin typeface="Calibri"/>
              </a:rPr>
              <a:t>Tech Council of Australia  |  techcouncil.com.au</a:t>
            </a:r>
          </a:p>
        </p:txBody>
      </p:sp>
      <p:sp>
        <p:nvSpPr>
          <p:cNvPr id="8" name="TextBox 7"/>
          <p:cNvSpPr txBox="1"/>
          <p:nvPr/>
        </p:nvSpPr>
        <p:spPr>
          <a:xfrm>
            <a:off x="658368" y="1325880"/>
            <a:ext cx="5486400" cy="274320"/>
          </a:xfrm>
          <a:prstGeom prst="rect">
            <a:avLst/>
          </a:prstGeom>
          <a:noFill/>
        </p:spPr>
        <p:txBody>
          <a:bodyPr wrap="square" lIns="0" tIns="0" rIns="0" bIns="0" anchor="t">
            <a:spAutoFit/>
          </a:bodyPr>
          <a:lstStyle/>
          <a:p>
            <a:pPr algn="l"/>
            <a:r>
              <a:rPr sz="1200" b="1">
                <a:solidFill>
                  <a:srgbClr val="F59E0B"/>
                </a:solidFill>
                <a:latin typeface="Calibri"/>
              </a:rPr>
              <a:t>SECTION 03  ·  THE HARNESS</a:t>
            </a:r>
          </a:p>
        </p:txBody>
      </p:sp>
      <p:sp>
        <p:nvSpPr>
          <p:cNvPr id="9" name="TextBox 8"/>
          <p:cNvSpPr txBox="1"/>
          <p:nvPr/>
        </p:nvSpPr>
        <p:spPr>
          <a:xfrm>
            <a:off x="658368" y="1691640"/>
            <a:ext cx="5760720" cy="822960"/>
          </a:xfrm>
          <a:prstGeom prst="rect">
            <a:avLst/>
          </a:prstGeom>
          <a:noFill/>
        </p:spPr>
        <p:txBody>
          <a:bodyPr wrap="square" lIns="0" tIns="0" rIns="0" bIns="0" anchor="t">
            <a:spAutoFit/>
          </a:bodyPr>
          <a:lstStyle/>
          <a:p>
            <a:pPr algn="l"/>
            <a:r>
              <a:rPr sz="3100" b="1">
                <a:solidFill>
                  <a:srgbClr val="FFFFFF"/>
                </a:solidFill>
                <a:latin typeface="Arial Black"/>
              </a:rPr>
              <a:t>Agentic Engineering</a:t>
            </a:r>
          </a:p>
        </p:txBody>
      </p:sp>
      <p:sp>
        <p:nvSpPr>
          <p:cNvPr id="10" name="TextBox 9"/>
          <p:cNvSpPr txBox="1"/>
          <p:nvPr/>
        </p:nvSpPr>
        <p:spPr>
          <a:xfrm>
            <a:off x="676656" y="2697480"/>
            <a:ext cx="5486400" cy="731520"/>
          </a:xfrm>
          <a:prstGeom prst="rect">
            <a:avLst/>
          </a:prstGeom>
          <a:noFill/>
        </p:spPr>
        <p:txBody>
          <a:bodyPr wrap="square" lIns="0" tIns="0" rIns="0" bIns="0" anchor="t">
            <a:spAutoFit/>
          </a:bodyPr>
          <a:lstStyle/>
          <a:p>
            <a:pPr algn="l"/>
            <a:r>
              <a:rPr sz="1500" b="0">
                <a:solidFill>
                  <a:srgbClr val="DDD6FE"/>
                </a:solidFill>
                <a:latin typeface="Calibri"/>
              </a:rPr>
              <a:t>How to trust the work when you can’t read every line.</a:t>
            </a:r>
          </a:p>
        </p:txBody>
      </p:sp>
      <p:sp>
        <p:nvSpPr>
          <p:cNvPr id="11" name="Rectangle 10"/>
          <p:cNvSpPr/>
          <p:nvPr/>
        </p:nvSpPr>
        <p:spPr>
          <a:xfrm>
            <a:off x="676656" y="3566160"/>
            <a:ext cx="4846320"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6656" y="3566160"/>
            <a:ext cx="4846320" cy="384048"/>
          </a:xfrm>
          <a:prstGeom prst="rect">
            <a:avLst/>
          </a:prstGeom>
          <a:noFill/>
        </p:spPr>
        <p:txBody>
          <a:bodyPr wrap="square" lIns="0" tIns="0" rIns="0" bIns="0" anchor="ctr">
            <a:spAutoFit/>
          </a:bodyPr>
          <a:lstStyle/>
          <a:p>
            <a:pPr algn="ctr"/>
            <a:r>
              <a:rPr sz="900" b="1">
                <a:solidFill>
                  <a:srgbClr val="FFFFFF"/>
                </a:solidFill>
                <a:latin typeface="Calibri"/>
              </a:rPr>
              <a:t>30 MINUTES   ·   FOUR MOVES   ·   ONE TEAM OF AGENTS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pic>
        <p:nvPicPr>
          <p:cNvPr id="2" name="Picture 1" descr="image1.jpeg"/>
          <p:cNvPicPr>
            <a:picLocks noChangeAspect="1"/>
          </p:cNvPicPr>
          <p:nvPr/>
        </p:nvPicPr>
        <p:blipFill>
          <a:blip r:embed="rId3"/>
          <a:stretch>
            <a:fillRect/>
          </a:stretch>
        </p:blipFill>
        <p:spPr>
          <a:xfrm>
            <a:off x="8366760" y="4526280"/>
            <a:ext cx="411480" cy="411480"/>
          </a:xfrm>
          <a:prstGeom prst="rect">
            <a:avLst/>
          </a:prstGeom>
        </p:spPr>
      </p:pic>
      <p:sp>
        <p:nvSpPr>
          <p:cNvPr id="3" name="TextBox 2"/>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THE TOP OF THE LADDER</a:t>
            </a:r>
          </a:p>
        </p:txBody>
      </p:sp>
      <p:sp>
        <p:nvSpPr>
          <p:cNvPr id="4" name="TextBox 3"/>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Two crutches gone. This is the last one: trusting output by eye.</a:t>
            </a:r>
          </a:p>
        </p:txBody>
      </p:sp>
      <p:sp>
        <p:nvSpPr>
          <p:cNvPr id="5" name="Rectangle 4"/>
          <p:cNvSpPr/>
          <p:nvPr/>
        </p:nvSpPr>
        <p:spPr>
          <a:xfrm>
            <a:off x="457200" y="1481328"/>
            <a:ext cx="8229600" cy="93268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481328"/>
            <a:ext cx="914400" cy="932688"/>
          </a:xfrm>
          <a:prstGeom prst="rect">
            <a:avLst/>
          </a:prstGeom>
          <a:noFill/>
        </p:spPr>
        <p:txBody>
          <a:bodyPr wrap="square" lIns="0" tIns="0" rIns="0" bIns="0" anchor="ctr">
            <a:spAutoFit/>
          </a:bodyPr>
          <a:lstStyle/>
          <a:p>
            <a:pPr algn="ctr"/>
            <a:r>
              <a:rPr sz="3000" b="1">
                <a:solidFill>
                  <a:srgbClr val="DDD6FE"/>
                </a:solidFill>
                <a:latin typeface="Arial Black"/>
              </a:rPr>
              <a:t>01</a:t>
            </a:r>
          </a:p>
        </p:txBody>
      </p:sp>
      <p:sp>
        <p:nvSpPr>
          <p:cNvPr id="7" name="TextBox 6"/>
          <p:cNvSpPr txBox="1"/>
          <p:nvPr/>
        </p:nvSpPr>
        <p:spPr>
          <a:xfrm>
            <a:off x="1691640" y="1627632"/>
            <a:ext cx="5120640" cy="384048"/>
          </a:xfrm>
          <a:prstGeom prst="rect">
            <a:avLst/>
          </a:prstGeom>
          <a:noFill/>
        </p:spPr>
        <p:txBody>
          <a:bodyPr wrap="square" lIns="0" tIns="0" rIns="0" bIns="0" anchor="t">
            <a:spAutoFit/>
          </a:bodyPr>
          <a:lstStyle/>
          <a:p>
            <a:pPr algn="l"/>
            <a:r>
              <a:rPr sz="1500" b="1">
                <a:solidFill>
                  <a:srgbClr val="2D1155"/>
                </a:solidFill>
                <a:latin typeface="Arial Black"/>
              </a:rPr>
              <a:t>Vibe Coding</a:t>
            </a:r>
          </a:p>
        </p:txBody>
      </p:sp>
      <p:sp>
        <p:nvSpPr>
          <p:cNvPr id="8" name="TextBox 7"/>
          <p:cNvSpPr txBox="1"/>
          <p:nvPr/>
        </p:nvSpPr>
        <p:spPr>
          <a:xfrm>
            <a:off x="1691640" y="2011680"/>
            <a:ext cx="5303520" cy="347472"/>
          </a:xfrm>
          <a:prstGeom prst="rect">
            <a:avLst/>
          </a:prstGeom>
          <a:noFill/>
        </p:spPr>
        <p:txBody>
          <a:bodyPr wrap="square" lIns="0" tIns="0" rIns="0" bIns="0" anchor="t">
            <a:spAutoFit/>
          </a:bodyPr>
          <a:lstStyle/>
          <a:p>
            <a:pPr algn="l"/>
            <a:r>
              <a:rPr sz="1200" b="0">
                <a:solidFill>
                  <a:srgbClr val="6E6389"/>
                </a:solidFill>
                <a:latin typeface="Calibri"/>
              </a:rPr>
              <a:t>You stopped writing code by hand.</a:t>
            </a:r>
          </a:p>
        </p:txBody>
      </p:sp>
      <p:sp>
        <p:nvSpPr>
          <p:cNvPr id="9" name="TextBox 8"/>
          <p:cNvSpPr txBox="1"/>
          <p:nvPr/>
        </p:nvSpPr>
        <p:spPr>
          <a:xfrm>
            <a:off x="7086600" y="1792224"/>
            <a:ext cx="1417320" cy="310896"/>
          </a:xfrm>
          <a:prstGeom prst="rect">
            <a:avLst/>
          </a:prstGeom>
          <a:noFill/>
        </p:spPr>
        <p:txBody>
          <a:bodyPr wrap="square" lIns="0" tIns="0" rIns="0" bIns="0" anchor="ctr">
            <a:spAutoFit/>
          </a:bodyPr>
          <a:lstStyle/>
          <a:p>
            <a:pPr algn="ctr"/>
            <a:r>
              <a:rPr sz="900" b="1">
                <a:solidFill>
                  <a:srgbClr val="7C3AED"/>
                </a:solidFill>
                <a:latin typeface="Calibri"/>
              </a:rPr>
              <a:t>DONE</a:t>
            </a:r>
          </a:p>
        </p:txBody>
      </p:sp>
      <p:sp>
        <p:nvSpPr>
          <p:cNvPr id="10" name="Rectangle 9"/>
          <p:cNvSpPr/>
          <p:nvPr/>
        </p:nvSpPr>
        <p:spPr>
          <a:xfrm>
            <a:off x="457200" y="2523744"/>
            <a:ext cx="8229600" cy="93268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2523744"/>
            <a:ext cx="914400" cy="932688"/>
          </a:xfrm>
          <a:prstGeom prst="rect">
            <a:avLst/>
          </a:prstGeom>
          <a:noFill/>
        </p:spPr>
        <p:txBody>
          <a:bodyPr wrap="square" lIns="0" tIns="0" rIns="0" bIns="0" anchor="ctr">
            <a:spAutoFit/>
          </a:bodyPr>
          <a:lstStyle/>
          <a:p>
            <a:pPr algn="ctr"/>
            <a:r>
              <a:rPr sz="3000" b="1">
                <a:solidFill>
                  <a:srgbClr val="DDD6FE"/>
                </a:solidFill>
                <a:latin typeface="Arial Black"/>
              </a:rPr>
              <a:t>02</a:t>
            </a:r>
          </a:p>
        </p:txBody>
      </p:sp>
      <p:sp>
        <p:nvSpPr>
          <p:cNvPr id="12" name="TextBox 11"/>
          <p:cNvSpPr txBox="1"/>
          <p:nvPr/>
        </p:nvSpPr>
        <p:spPr>
          <a:xfrm>
            <a:off x="1691640" y="2670048"/>
            <a:ext cx="5120640" cy="384048"/>
          </a:xfrm>
          <a:prstGeom prst="rect">
            <a:avLst/>
          </a:prstGeom>
          <a:noFill/>
        </p:spPr>
        <p:txBody>
          <a:bodyPr wrap="square" lIns="0" tIns="0" rIns="0" bIns="0" anchor="t">
            <a:spAutoFit/>
          </a:bodyPr>
          <a:lstStyle/>
          <a:p>
            <a:pPr algn="l"/>
            <a:r>
              <a:rPr sz="1500" b="1">
                <a:solidFill>
                  <a:srgbClr val="2D1155"/>
                </a:solidFill>
                <a:latin typeface="Arial Black"/>
              </a:rPr>
              <a:t>Vibe Engineering</a:t>
            </a:r>
          </a:p>
        </p:txBody>
      </p:sp>
      <p:sp>
        <p:nvSpPr>
          <p:cNvPr id="13" name="TextBox 12"/>
          <p:cNvSpPr txBox="1"/>
          <p:nvPr/>
        </p:nvSpPr>
        <p:spPr>
          <a:xfrm>
            <a:off x="1691640" y="3054096"/>
            <a:ext cx="5303520" cy="347472"/>
          </a:xfrm>
          <a:prstGeom prst="rect">
            <a:avLst/>
          </a:prstGeom>
          <a:noFill/>
        </p:spPr>
        <p:txBody>
          <a:bodyPr wrap="square" lIns="0" tIns="0" rIns="0" bIns="0" anchor="t">
            <a:spAutoFit/>
          </a:bodyPr>
          <a:lstStyle/>
          <a:p>
            <a:pPr algn="l"/>
            <a:r>
              <a:rPr sz="1200" b="0">
                <a:solidFill>
                  <a:srgbClr val="6E6389"/>
                </a:solidFill>
                <a:latin typeface="Calibri"/>
              </a:rPr>
              <a:t>You stopped repeating yourself.</a:t>
            </a:r>
          </a:p>
        </p:txBody>
      </p:sp>
      <p:sp>
        <p:nvSpPr>
          <p:cNvPr id="14" name="TextBox 13"/>
          <p:cNvSpPr txBox="1"/>
          <p:nvPr/>
        </p:nvSpPr>
        <p:spPr>
          <a:xfrm>
            <a:off x="7086600" y="2834639"/>
            <a:ext cx="1417320" cy="310896"/>
          </a:xfrm>
          <a:prstGeom prst="rect">
            <a:avLst/>
          </a:prstGeom>
          <a:noFill/>
        </p:spPr>
        <p:txBody>
          <a:bodyPr wrap="square" lIns="0" tIns="0" rIns="0" bIns="0" anchor="ctr">
            <a:spAutoFit/>
          </a:bodyPr>
          <a:lstStyle/>
          <a:p>
            <a:pPr algn="ctr"/>
            <a:r>
              <a:rPr sz="900" b="1">
                <a:solidFill>
                  <a:srgbClr val="7C3AED"/>
                </a:solidFill>
                <a:latin typeface="Calibri"/>
              </a:rPr>
              <a:t>DONE</a:t>
            </a:r>
          </a:p>
        </p:txBody>
      </p:sp>
      <p:sp>
        <p:nvSpPr>
          <p:cNvPr id="15" name="Rectangle 14"/>
          <p:cNvSpPr/>
          <p:nvPr/>
        </p:nvSpPr>
        <p:spPr>
          <a:xfrm>
            <a:off x="457200" y="3566159"/>
            <a:ext cx="8229600" cy="932688"/>
          </a:xfrm>
          <a:prstGeom prst="rect">
            <a:avLst/>
          </a:prstGeom>
          <a:solidFill>
            <a:srgbClr val="2D1155"/>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3566159"/>
            <a:ext cx="914400" cy="932688"/>
          </a:xfrm>
          <a:prstGeom prst="rect">
            <a:avLst/>
          </a:prstGeom>
          <a:noFill/>
        </p:spPr>
        <p:txBody>
          <a:bodyPr wrap="square" lIns="0" tIns="0" rIns="0" bIns="0" anchor="ctr">
            <a:spAutoFit/>
          </a:bodyPr>
          <a:lstStyle/>
          <a:p>
            <a:pPr algn="ctr"/>
            <a:r>
              <a:rPr sz="3000" b="1">
                <a:solidFill>
                  <a:srgbClr val="F59E0B"/>
                </a:solidFill>
                <a:latin typeface="Arial Black"/>
              </a:rPr>
              <a:t>03</a:t>
            </a:r>
          </a:p>
        </p:txBody>
      </p:sp>
      <p:sp>
        <p:nvSpPr>
          <p:cNvPr id="17" name="TextBox 16"/>
          <p:cNvSpPr txBox="1"/>
          <p:nvPr/>
        </p:nvSpPr>
        <p:spPr>
          <a:xfrm>
            <a:off x="1691640" y="3712463"/>
            <a:ext cx="5120640" cy="384048"/>
          </a:xfrm>
          <a:prstGeom prst="rect">
            <a:avLst/>
          </a:prstGeom>
          <a:noFill/>
        </p:spPr>
        <p:txBody>
          <a:bodyPr wrap="square" lIns="0" tIns="0" rIns="0" bIns="0" anchor="t">
            <a:spAutoFit/>
          </a:bodyPr>
          <a:lstStyle/>
          <a:p>
            <a:pPr algn="l"/>
            <a:r>
              <a:rPr sz="1500" b="1">
                <a:solidFill>
                  <a:srgbClr val="FFFFFF"/>
                </a:solidFill>
                <a:latin typeface="Arial Black"/>
              </a:rPr>
              <a:t>Agentic Engineering</a:t>
            </a:r>
          </a:p>
        </p:txBody>
      </p:sp>
      <p:sp>
        <p:nvSpPr>
          <p:cNvPr id="18" name="TextBox 17"/>
          <p:cNvSpPr txBox="1"/>
          <p:nvPr/>
        </p:nvSpPr>
        <p:spPr>
          <a:xfrm>
            <a:off x="1691640" y="4096511"/>
            <a:ext cx="5303520" cy="347472"/>
          </a:xfrm>
          <a:prstGeom prst="rect">
            <a:avLst/>
          </a:prstGeom>
          <a:noFill/>
        </p:spPr>
        <p:txBody>
          <a:bodyPr wrap="square" lIns="0" tIns="0" rIns="0" bIns="0" anchor="t">
            <a:spAutoFit/>
          </a:bodyPr>
          <a:lstStyle/>
          <a:p>
            <a:pPr algn="l"/>
            <a:r>
              <a:rPr sz="1200" b="0">
                <a:solidFill>
                  <a:srgbClr val="DDD6FE"/>
                </a:solidFill>
                <a:latin typeface="Calibri"/>
              </a:rPr>
              <a:t>You stop trusting output by eye.</a:t>
            </a:r>
          </a:p>
        </p:txBody>
      </p:sp>
      <p:sp>
        <p:nvSpPr>
          <p:cNvPr id="19" name="Rectangle 18"/>
          <p:cNvSpPr/>
          <p:nvPr/>
        </p:nvSpPr>
        <p:spPr>
          <a:xfrm>
            <a:off x="7086600" y="3877055"/>
            <a:ext cx="1417320"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086600" y="3877055"/>
            <a:ext cx="1417320" cy="310896"/>
          </a:xfrm>
          <a:prstGeom prst="rect">
            <a:avLst/>
          </a:prstGeom>
          <a:noFill/>
        </p:spPr>
        <p:txBody>
          <a:bodyPr wrap="square" lIns="0" tIns="0" rIns="0" bIns="0" anchor="ctr">
            <a:spAutoFit/>
          </a:bodyPr>
          <a:lstStyle/>
          <a:p>
            <a:pPr algn="ctr"/>
            <a:r>
              <a:rPr sz="900" b="1">
                <a:solidFill>
                  <a:srgbClr val="2D1155"/>
                </a:solidFill>
                <a:latin typeface="Calibri"/>
              </a:rPr>
              <a:t>YOU ARE HERE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WHERE WE GOT TO</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Two things are fixed. One is still wide open.</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554480"/>
            <a:ext cx="4023360" cy="157276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755648"/>
            <a:ext cx="3566160" cy="274320"/>
          </a:xfrm>
          <a:prstGeom prst="rect">
            <a:avLst/>
          </a:prstGeom>
          <a:noFill/>
        </p:spPr>
        <p:txBody>
          <a:bodyPr wrap="square" lIns="0" tIns="0" rIns="0" bIns="0" anchor="t">
            <a:spAutoFit/>
          </a:bodyPr>
          <a:lstStyle/>
          <a:p>
            <a:pPr algn="l"/>
            <a:r>
              <a:rPr sz="1050" b="1">
                <a:solidFill>
                  <a:srgbClr val="7C3AED"/>
                </a:solidFill>
                <a:latin typeface="Calibri"/>
              </a:rPr>
              <a:t>SECTION 1 GAVE YOU</a:t>
            </a:r>
          </a:p>
        </p:txBody>
      </p:sp>
      <p:sp>
        <p:nvSpPr>
          <p:cNvPr id="7" name="TextBox 6"/>
          <p:cNvSpPr txBox="1"/>
          <p:nvPr/>
        </p:nvSpPr>
        <p:spPr>
          <a:xfrm>
            <a:off x="685800" y="2066543"/>
            <a:ext cx="3566160" cy="365760"/>
          </a:xfrm>
          <a:prstGeom prst="rect">
            <a:avLst/>
          </a:prstGeom>
          <a:noFill/>
        </p:spPr>
        <p:txBody>
          <a:bodyPr wrap="square" lIns="0" tIns="0" rIns="0" bIns="0" anchor="t">
            <a:spAutoFit/>
          </a:bodyPr>
          <a:lstStyle/>
          <a:p>
            <a:pPr algn="l"/>
            <a:r>
              <a:rPr sz="1700" b="1">
                <a:solidFill>
                  <a:srgbClr val="2D1155"/>
                </a:solidFill>
                <a:latin typeface="Arial Black"/>
              </a:rPr>
              <a:t>Fast.</a:t>
            </a:r>
          </a:p>
        </p:txBody>
      </p:sp>
      <p:sp>
        <p:nvSpPr>
          <p:cNvPr id="8" name="TextBox 7"/>
          <p:cNvSpPr txBox="1"/>
          <p:nvPr/>
        </p:nvSpPr>
        <p:spPr>
          <a:xfrm>
            <a:off x="685800" y="2487168"/>
            <a:ext cx="3566160" cy="548640"/>
          </a:xfrm>
          <a:prstGeom prst="rect">
            <a:avLst/>
          </a:prstGeom>
          <a:noFill/>
        </p:spPr>
        <p:txBody>
          <a:bodyPr wrap="square" lIns="0" tIns="0" rIns="0" bIns="0" anchor="t">
            <a:spAutoFit/>
          </a:bodyPr>
          <a:lstStyle/>
          <a:p>
            <a:pPr algn="l">
              <a:lnSpc>
                <a:spcPct val="108000"/>
              </a:lnSpc>
            </a:pPr>
            <a:r>
              <a:rPr sz="1250" b="0">
                <a:solidFill>
                  <a:srgbClr val="6E6389"/>
                </a:solidFill>
                <a:latin typeface="Calibri"/>
              </a:rPr>
              <a:t>The agent writes, runs and fixes. You direct the loop.</a:t>
            </a:r>
          </a:p>
        </p:txBody>
      </p:sp>
      <p:sp>
        <p:nvSpPr>
          <p:cNvPr id="9" name="Rectangle 8"/>
          <p:cNvSpPr/>
          <p:nvPr/>
        </p:nvSpPr>
        <p:spPr>
          <a:xfrm>
            <a:off x="4663440" y="1554480"/>
            <a:ext cx="4023360" cy="157276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892040" y="1755648"/>
            <a:ext cx="3566160" cy="274320"/>
          </a:xfrm>
          <a:prstGeom prst="rect">
            <a:avLst/>
          </a:prstGeom>
          <a:noFill/>
        </p:spPr>
        <p:txBody>
          <a:bodyPr wrap="square" lIns="0" tIns="0" rIns="0" bIns="0" anchor="t">
            <a:spAutoFit/>
          </a:bodyPr>
          <a:lstStyle/>
          <a:p>
            <a:pPr algn="l"/>
            <a:r>
              <a:rPr sz="1050" b="1">
                <a:solidFill>
                  <a:srgbClr val="7C3AED"/>
                </a:solidFill>
                <a:latin typeface="Calibri"/>
              </a:rPr>
              <a:t>SECTION 2 GAVE YOU</a:t>
            </a:r>
          </a:p>
        </p:txBody>
      </p:sp>
      <p:sp>
        <p:nvSpPr>
          <p:cNvPr id="11" name="TextBox 10"/>
          <p:cNvSpPr txBox="1"/>
          <p:nvPr/>
        </p:nvSpPr>
        <p:spPr>
          <a:xfrm>
            <a:off x="4892040" y="2066543"/>
            <a:ext cx="3566160" cy="365760"/>
          </a:xfrm>
          <a:prstGeom prst="rect">
            <a:avLst/>
          </a:prstGeom>
          <a:noFill/>
        </p:spPr>
        <p:txBody>
          <a:bodyPr wrap="square" lIns="0" tIns="0" rIns="0" bIns="0" anchor="t">
            <a:spAutoFit/>
          </a:bodyPr>
          <a:lstStyle/>
          <a:p>
            <a:pPr algn="l"/>
            <a:r>
              <a:rPr sz="1700" b="1">
                <a:solidFill>
                  <a:srgbClr val="2D1155"/>
                </a:solidFill>
                <a:latin typeface="Arial Black"/>
              </a:rPr>
              <a:t>Consistent.</a:t>
            </a:r>
          </a:p>
        </p:txBody>
      </p:sp>
      <p:sp>
        <p:nvSpPr>
          <p:cNvPr id="12" name="TextBox 11"/>
          <p:cNvSpPr txBox="1"/>
          <p:nvPr/>
        </p:nvSpPr>
        <p:spPr>
          <a:xfrm>
            <a:off x="4892040" y="2487168"/>
            <a:ext cx="3566160" cy="548640"/>
          </a:xfrm>
          <a:prstGeom prst="rect">
            <a:avLst/>
          </a:prstGeom>
          <a:noFill/>
        </p:spPr>
        <p:txBody>
          <a:bodyPr wrap="square" lIns="0" tIns="0" rIns="0" bIns="0" anchor="t">
            <a:spAutoFit/>
          </a:bodyPr>
          <a:lstStyle/>
          <a:p>
            <a:pPr algn="l">
              <a:lnSpc>
                <a:spcPct val="108000"/>
              </a:lnSpc>
            </a:pPr>
            <a:r>
              <a:rPr sz="1250" b="0">
                <a:solidFill>
                  <a:srgbClr val="6E6389"/>
                </a:solidFill>
                <a:latin typeface="Calibri"/>
              </a:rPr>
              <a:t>A contract, reusable commands, deliberate context.</a:t>
            </a:r>
          </a:p>
        </p:txBody>
      </p:sp>
      <p:sp>
        <p:nvSpPr>
          <p:cNvPr id="13" name="Rectangle 12"/>
          <p:cNvSpPr/>
          <p:nvPr/>
        </p:nvSpPr>
        <p:spPr>
          <a:xfrm>
            <a:off x="457200" y="3364992"/>
            <a:ext cx="8229600" cy="1024128"/>
          </a:xfrm>
          <a:prstGeom prst="rect">
            <a:avLst/>
          </a:prstGeom>
          <a:solidFill>
            <a:srgbClr val="2D1155"/>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3529584"/>
            <a:ext cx="7498079" cy="365760"/>
          </a:xfrm>
          <a:prstGeom prst="rect">
            <a:avLst/>
          </a:prstGeom>
          <a:noFill/>
        </p:spPr>
        <p:txBody>
          <a:bodyPr wrap="square" lIns="0" tIns="0" rIns="0" bIns="0" anchor="t">
            <a:spAutoFit/>
          </a:bodyPr>
          <a:lstStyle/>
          <a:p>
            <a:pPr algn="l"/>
            <a:r>
              <a:rPr sz="1700" b="1">
                <a:solidFill>
                  <a:srgbClr val="FFFFFF"/>
                </a:solidFill>
                <a:latin typeface="Arial Black"/>
              </a:rPr>
              <a:t>Neither made it </a:t>
            </a:r>
            <a:r>
              <a:rPr sz="1700" b="1">
                <a:solidFill>
                  <a:srgbClr val="F59E0B"/>
                </a:solidFill>
                <a:latin typeface="Arial Black"/>
              </a:rPr>
              <a:t>trustworthy.</a:t>
            </a:r>
          </a:p>
        </p:txBody>
      </p:sp>
      <p:sp>
        <p:nvSpPr>
          <p:cNvPr id="15" name="TextBox 14"/>
          <p:cNvSpPr txBox="1"/>
          <p:nvPr/>
        </p:nvSpPr>
        <p:spPr>
          <a:xfrm>
            <a:off x="822960" y="3931920"/>
            <a:ext cx="7498079" cy="365760"/>
          </a:xfrm>
          <a:prstGeom prst="rect">
            <a:avLst/>
          </a:prstGeom>
          <a:noFill/>
        </p:spPr>
        <p:txBody>
          <a:bodyPr wrap="square" lIns="0" tIns="0" rIns="0" bIns="0" anchor="t">
            <a:spAutoFit/>
          </a:bodyPr>
          <a:lstStyle/>
          <a:p>
            <a:pPr algn="l"/>
            <a:r>
              <a:rPr sz="1300" b="0">
                <a:solidFill>
                  <a:srgbClr val="DDD6FE"/>
                </a:solidFill>
                <a:latin typeface="Calibri"/>
              </a:rPr>
              <a:t>Would you put this in front of real users on Monday?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WHAT AGENTIC ENGINEERING IS</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The one-line definition.</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TextBox 4"/>
          <p:cNvSpPr txBox="1"/>
          <p:nvPr/>
        </p:nvSpPr>
        <p:spPr>
          <a:xfrm>
            <a:off x="457200" y="1536192"/>
            <a:ext cx="8229600" cy="868680"/>
          </a:xfrm>
          <a:prstGeom prst="rect">
            <a:avLst/>
          </a:prstGeom>
          <a:noFill/>
        </p:spPr>
        <p:txBody>
          <a:bodyPr wrap="square" lIns="0" tIns="0" rIns="0" bIns="0" anchor="t">
            <a:spAutoFit/>
          </a:bodyPr>
          <a:lstStyle/>
          <a:p>
            <a:pPr algn="l">
              <a:lnSpc>
                <a:spcPct val="112000"/>
              </a:lnSpc>
            </a:pPr>
            <a:r>
              <a:rPr sz="1900" b="0">
                <a:solidFill>
                  <a:srgbClr val="2D1155"/>
                </a:solidFill>
                <a:latin typeface="Calibri"/>
              </a:rPr>
              <a:t>Building systems where </a:t>
            </a:r>
            <a:r>
              <a:rPr sz="1900" b="1">
                <a:solidFill>
                  <a:srgbClr val="7C3AED"/>
                </a:solidFill>
                <a:latin typeface="Arial Black"/>
              </a:rPr>
              <a:t>agents do the work</a:t>
            </a:r>
            <a:r>
              <a:rPr sz="1900" b="0">
                <a:solidFill>
                  <a:srgbClr val="2D1155"/>
                </a:solidFill>
                <a:latin typeface="Calibri"/>
              </a:rPr>
              <a:t>, and the engineering goes into making that </a:t>
            </a:r>
            <a:r>
              <a:rPr sz="1900" b="1">
                <a:solidFill>
                  <a:srgbClr val="7C3AED"/>
                </a:solidFill>
                <a:latin typeface="Arial Black"/>
              </a:rPr>
              <a:t>trustworthy.</a:t>
            </a:r>
          </a:p>
        </p:txBody>
      </p:sp>
      <p:sp>
        <p:nvSpPr>
          <p:cNvPr id="6" name="Rectangle 5"/>
          <p:cNvSpPr/>
          <p:nvPr/>
        </p:nvSpPr>
        <p:spPr>
          <a:xfrm>
            <a:off x="457200" y="2697480"/>
            <a:ext cx="8229600" cy="169164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907792"/>
            <a:ext cx="7680960" cy="274320"/>
          </a:xfrm>
          <a:prstGeom prst="rect">
            <a:avLst/>
          </a:prstGeom>
          <a:noFill/>
        </p:spPr>
        <p:txBody>
          <a:bodyPr wrap="square" lIns="0" tIns="0" rIns="0" bIns="0" anchor="t">
            <a:spAutoFit/>
          </a:bodyPr>
          <a:lstStyle/>
          <a:p>
            <a:pPr algn="l"/>
            <a:r>
              <a:rPr sz="1050" b="1">
                <a:solidFill>
                  <a:srgbClr val="7C3AED"/>
                </a:solidFill>
                <a:latin typeface="Calibri"/>
              </a:rPr>
              <a:t>THE MINDSET SHIFT</a:t>
            </a:r>
          </a:p>
        </p:txBody>
      </p:sp>
      <p:sp>
        <p:nvSpPr>
          <p:cNvPr id="8" name="TextBox 7"/>
          <p:cNvSpPr txBox="1"/>
          <p:nvPr/>
        </p:nvSpPr>
        <p:spPr>
          <a:xfrm>
            <a:off x="731520" y="3310128"/>
            <a:ext cx="7680960" cy="411480"/>
          </a:xfrm>
          <a:prstGeom prst="rect">
            <a:avLst/>
          </a:prstGeom>
          <a:noFill/>
        </p:spPr>
        <p:txBody>
          <a:bodyPr wrap="square" lIns="0" tIns="0" rIns="0" bIns="0" anchor="t">
            <a:spAutoFit/>
          </a:bodyPr>
          <a:lstStyle/>
          <a:p>
            <a:pPr algn="l"/>
            <a:r>
              <a:rPr sz="1100" b="1">
                <a:solidFill>
                  <a:srgbClr val="6E6389"/>
                </a:solidFill>
                <a:latin typeface="Calibri"/>
              </a:rPr>
              <a:t>FROM   </a:t>
            </a:r>
            <a:r>
              <a:rPr sz="1550" b="0">
                <a:solidFill>
                  <a:srgbClr val="2D1155"/>
                </a:solidFill>
                <a:latin typeface="Calibri"/>
              </a:rPr>
              <a:t>“Did the agent write good code?”</a:t>
            </a:r>
          </a:p>
        </p:txBody>
      </p:sp>
      <p:sp>
        <p:nvSpPr>
          <p:cNvPr id="9" name="TextBox 8"/>
          <p:cNvSpPr txBox="1"/>
          <p:nvPr/>
        </p:nvSpPr>
        <p:spPr>
          <a:xfrm>
            <a:off x="731520" y="3803904"/>
            <a:ext cx="7680960" cy="411480"/>
          </a:xfrm>
          <a:prstGeom prst="rect">
            <a:avLst/>
          </a:prstGeom>
          <a:noFill/>
        </p:spPr>
        <p:txBody>
          <a:bodyPr wrap="square" lIns="0" tIns="0" rIns="0" bIns="0" anchor="t">
            <a:spAutoFit/>
          </a:bodyPr>
          <a:lstStyle/>
          <a:p>
            <a:pPr algn="l"/>
            <a:r>
              <a:rPr sz="1100" b="1">
                <a:solidFill>
                  <a:srgbClr val="F59E0B"/>
                </a:solidFill>
                <a:latin typeface="Calibri"/>
              </a:rPr>
              <a:t>TO   </a:t>
            </a:r>
            <a:r>
              <a:rPr sz="1550" b="1">
                <a:solidFill>
                  <a:srgbClr val="2D1155"/>
                </a:solidFill>
                <a:latin typeface="Calibri"/>
              </a:rPr>
              <a:t>“What would prove this code is right — without me reading 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READING HARDER DOESN’T SCALE</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At agentic speed, line-by-line review is the bottleneck — and it still misses things.</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572768"/>
            <a:ext cx="4023360" cy="228600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572768"/>
            <a:ext cx="4023360" cy="475488"/>
          </a:xfrm>
          <a:prstGeom prst="rect">
            <a:avLst/>
          </a:prstGeom>
          <a:solidFill>
            <a:srgbClr val="9B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572768"/>
            <a:ext cx="4023360" cy="475488"/>
          </a:xfrm>
          <a:prstGeom prst="rect">
            <a:avLst/>
          </a:prstGeom>
          <a:noFill/>
        </p:spPr>
        <p:txBody>
          <a:bodyPr wrap="square" lIns="0" tIns="0" rIns="0" bIns="0" anchor="ctr">
            <a:spAutoFit/>
          </a:bodyPr>
          <a:lstStyle/>
          <a:p>
            <a:pPr algn="ctr"/>
            <a:r>
              <a:rPr sz="1100" b="1">
                <a:solidFill>
                  <a:srgbClr val="FFFFFF"/>
                </a:solidFill>
                <a:latin typeface="Calibri"/>
              </a:rPr>
              <a:t>✕   READ EVERY LINE</a:t>
            </a:r>
          </a:p>
        </p:txBody>
      </p:sp>
      <p:sp>
        <p:nvSpPr>
          <p:cNvPr id="8" name="TextBox 7"/>
          <p:cNvSpPr txBox="1"/>
          <p:nvPr/>
        </p:nvSpPr>
        <p:spPr>
          <a:xfrm>
            <a:off x="713232" y="2286000"/>
            <a:ext cx="3520440" cy="438912"/>
          </a:xfrm>
          <a:prstGeom prst="rect">
            <a:avLst/>
          </a:prstGeom>
          <a:noFill/>
        </p:spPr>
        <p:txBody>
          <a:bodyPr wrap="square" lIns="0" tIns="0" rIns="0" bIns="0" anchor="t">
            <a:spAutoFit/>
          </a:bodyPr>
          <a:lstStyle/>
          <a:p>
            <a:pPr algn="l">
              <a:lnSpc>
                <a:spcPct val="105000"/>
              </a:lnSpc>
            </a:pPr>
            <a:r>
              <a:rPr sz="1250" b="1">
                <a:solidFill>
                  <a:srgbClr val="6E6389"/>
                </a:solidFill>
                <a:latin typeface="Calibri"/>
              </a:rPr>
              <a:t>•  </a:t>
            </a:r>
            <a:r>
              <a:rPr sz="1250" b="0">
                <a:solidFill>
                  <a:srgbClr val="2D1155"/>
                </a:solidFill>
                <a:latin typeface="Calibri"/>
              </a:rPr>
              <a:t>The agent out-types you 50 to 1.</a:t>
            </a:r>
          </a:p>
        </p:txBody>
      </p:sp>
      <p:sp>
        <p:nvSpPr>
          <p:cNvPr id="9" name="TextBox 8"/>
          <p:cNvSpPr txBox="1"/>
          <p:nvPr/>
        </p:nvSpPr>
        <p:spPr>
          <a:xfrm>
            <a:off x="713232" y="2761488"/>
            <a:ext cx="3520440" cy="438912"/>
          </a:xfrm>
          <a:prstGeom prst="rect">
            <a:avLst/>
          </a:prstGeom>
          <a:noFill/>
        </p:spPr>
        <p:txBody>
          <a:bodyPr wrap="square" lIns="0" tIns="0" rIns="0" bIns="0" anchor="t">
            <a:spAutoFit/>
          </a:bodyPr>
          <a:lstStyle/>
          <a:p>
            <a:pPr algn="l">
              <a:lnSpc>
                <a:spcPct val="105000"/>
              </a:lnSpc>
            </a:pPr>
            <a:r>
              <a:rPr sz="1250" b="1">
                <a:solidFill>
                  <a:srgbClr val="6E6389"/>
                </a:solidFill>
                <a:latin typeface="Calibri"/>
              </a:rPr>
              <a:t>•  </a:t>
            </a:r>
            <a:r>
              <a:rPr sz="1250" b="0">
                <a:solidFill>
                  <a:srgbClr val="2D1155"/>
                </a:solidFill>
                <a:latin typeface="Calibri"/>
              </a:rPr>
              <a:t>Attention fades; you skim by the third diff.</a:t>
            </a:r>
          </a:p>
        </p:txBody>
      </p:sp>
      <p:sp>
        <p:nvSpPr>
          <p:cNvPr id="10" name="TextBox 9"/>
          <p:cNvSpPr txBox="1"/>
          <p:nvPr/>
        </p:nvSpPr>
        <p:spPr>
          <a:xfrm>
            <a:off x="713232" y="3236976"/>
            <a:ext cx="3520440" cy="438912"/>
          </a:xfrm>
          <a:prstGeom prst="rect">
            <a:avLst/>
          </a:prstGeom>
          <a:noFill/>
        </p:spPr>
        <p:txBody>
          <a:bodyPr wrap="square" lIns="0" tIns="0" rIns="0" bIns="0" anchor="t">
            <a:spAutoFit/>
          </a:bodyPr>
          <a:lstStyle/>
          <a:p>
            <a:pPr algn="l">
              <a:lnSpc>
                <a:spcPct val="105000"/>
              </a:lnSpc>
            </a:pPr>
            <a:r>
              <a:rPr sz="1250" b="1">
                <a:solidFill>
                  <a:srgbClr val="6E6389"/>
                </a:solidFill>
                <a:latin typeface="Calibri"/>
              </a:rPr>
              <a:t>•  </a:t>
            </a:r>
            <a:r>
              <a:rPr sz="1250" b="0">
                <a:solidFill>
                  <a:srgbClr val="2D1155"/>
                </a:solidFill>
                <a:latin typeface="Calibri"/>
              </a:rPr>
              <a:t>A confident, plausible bug reads as correct.</a:t>
            </a:r>
          </a:p>
        </p:txBody>
      </p:sp>
      <p:sp>
        <p:nvSpPr>
          <p:cNvPr id="11" name="Rectangle 10"/>
          <p:cNvSpPr/>
          <p:nvPr/>
        </p:nvSpPr>
        <p:spPr>
          <a:xfrm>
            <a:off x="4663440" y="1572768"/>
            <a:ext cx="4023360" cy="228600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663440" y="1572768"/>
            <a:ext cx="4023360" cy="475488"/>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63440" y="1572768"/>
            <a:ext cx="4023360" cy="475488"/>
          </a:xfrm>
          <a:prstGeom prst="rect">
            <a:avLst/>
          </a:prstGeom>
          <a:noFill/>
        </p:spPr>
        <p:txBody>
          <a:bodyPr wrap="square" lIns="0" tIns="0" rIns="0" bIns="0" anchor="ctr">
            <a:spAutoFit/>
          </a:bodyPr>
          <a:lstStyle/>
          <a:p>
            <a:pPr algn="ctr"/>
            <a:r>
              <a:rPr sz="1100" b="1">
                <a:solidFill>
                  <a:srgbClr val="FFFFFF"/>
                </a:solidFill>
                <a:latin typeface="Calibri"/>
              </a:rPr>
              <a:t>✓   ENGINEER THE PROOF</a:t>
            </a:r>
          </a:p>
        </p:txBody>
      </p:sp>
      <p:sp>
        <p:nvSpPr>
          <p:cNvPr id="14" name="TextBox 13"/>
          <p:cNvSpPr txBox="1"/>
          <p:nvPr/>
        </p:nvSpPr>
        <p:spPr>
          <a:xfrm>
            <a:off x="4919472" y="2286000"/>
            <a:ext cx="3520440" cy="438912"/>
          </a:xfrm>
          <a:prstGeom prst="rect">
            <a:avLst/>
          </a:prstGeom>
          <a:noFill/>
        </p:spPr>
        <p:txBody>
          <a:bodyPr wrap="square" lIns="0" tIns="0" rIns="0" bIns="0" anchor="t">
            <a:spAutoFit/>
          </a:bodyPr>
          <a:lstStyle/>
          <a:p>
            <a:pPr algn="l">
              <a:lnSpc>
                <a:spcPct val="105000"/>
              </a:lnSpc>
            </a:pPr>
            <a:r>
              <a:rPr sz="1250" b="1">
                <a:solidFill>
                  <a:srgbClr val="7C3AED"/>
                </a:solidFill>
                <a:latin typeface="Calibri"/>
              </a:rPr>
              <a:t>•  </a:t>
            </a:r>
            <a:r>
              <a:rPr sz="1250" b="0">
                <a:solidFill>
                  <a:srgbClr val="2D1155"/>
                </a:solidFill>
                <a:latin typeface="Calibri"/>
              </a:rPr>
              <a:t>Tests the agent must pass every turn.</a:t>
            </a:r>
          </a:p>
        </p:txBody>
      </p:sp>
      <p:sp>
        <p:nvSpPr>
          <p:cNvPr id="15" name="TextBox 14"/>
          <p:cNvSpPr txBox="1"/>
          <p:nvPr/>
        </p:nvSpPr>
        <p:spPr>
          <a:xfrm>
            <a:off x="4919472" y="2761488"/>
            <a:ext cx="3520440" cy="438912"/>
          </a:xfrm>
          <a:prstGeom prst="rect">
            <a:avLst/>
          </a:prstGeom>
          <a:noFill/>
        </p:spPr>
        <p:txBody>
          <a:bodyPr wrap="square" lIns="0" tIns="0" rIns="0" bIns="0" anchor="t">
            <a:spAutoFit/>
          </a:bodyPr>
          <a:lstStyle/>
          <a:p>
            <a:pPr algn="l">
              <a:lnSpc>
                <a:spcPct val="105000"/>
              </a:lnSpc>
            </a:pPr>
            <a:r>
              <a:rPr sz="1250" b="1">
                <a:solidFill>
                  <a:srgbClr val="7C3AED"/>
                </a:solidFill>
                <a:latin typeface="Calibri"/>
              </a:rPr>
              <a:t>•  </a:t>
            </a:r>
            <a:r>
              <a:rPr sz="1250" b="0">
                <a:solidFill>
                  <a:srgbClr val="2D1155"/>
                </a:solidFill>
                <a:latin typeface="Calibri"/>
              </a:rPr>
              <a:t>Sub-agents whose only job is to check.</a:t>
            </a:r>
          </a:p>
        </p:txBody>
      </p:sp>
      <p:sp>
        <p:nvSpPr>
          <p:cNvPr id="16" name="TextBox 15"/>
          <p:cNvSpPr txBox="1"/>
          <p:nvPr/>
        </p:nvSpPr>
        <p:spPr>
          <a:xfrm>
            <a:off x="4919472" y="3236976"/>
            <a:ext cx="3520440" cy="438912"/>
          </a:xfrm>
          <a:prstGeom prst="rect">
            <a:avLst/>
          </a:prstGeom>
          <a:noFill/>
        </p:spPr>
        <p:txBody>
          <a:bodyPr wrap="square" lIns="0" tIns="0" rIns="0" bIns="0" anchor="t">
            <a:spAutoFit/>
          </a:bodyPr>
          <a:lstStyle/>
          <a:p>
            <a:pPr algn="l">
              <a:lnSpc>
                <a:spcPct val="105000"/>
              </a:lnSpc>
            </a:pPr>
            <a:r>
              <a:rPr sz="1250" b="1">
                <a:solidFill>
                  <a:srgbClr val="7C3AED"/>
                </a:solidFill>
                <a:latin typeface="Calibri"/>
              </a:rPr>
              <a:t>•  </a:t>
            </a:r>
            <a:r>
              <a:rPr sz="1250" b="0">
                <a:solidFill>
                  <a:srgbClr val="2D1155"/>
                </a:solidFill>
                <a:latin typeface="Calibri"/>
              </a:rPr>
              <a:t>Gates that block a change that fails.</a:t>
            </a:r>
          </a:p>
        </p:txBody>
      </p:sp>
      <p:sp>
        <p:nvSpPr>
          <p:cNvPr id="17" name="TextBox 16"/>
          <p:cNvSpPr txBox="1"/>
          <p:nvPr/>
        </p:nvSpPr>
        <p:spPr>
          <a:xfrm>
            <a:off x="457200" y="4069080"/>
            <a:ext cx="8229600" cy="457200"/>
          </a:xfrm>
          <a:prstGeom prst="rect">
            <a:avLst/>
          </a:prstGeom>
          <a:noFill/>
        </p:spPr>
        <p:txBody>
          <a:bodyPr wrap="square" lIns="0" tIns="0" rIns="0" bIns="0" anchor="t">
            <a:spAutoFit/>
          </a:bodyPr>
          <a:lstStyle/>
          <a:p>
            <a:pPr algn="l"/>
            <a:r>
              <a:rPr sz="1250" b="0">
                <a:solidFill>
                  <a:srgbClr val="6E6389"/>
                </a:solidFill>
                <a:latin typeface="Calibri"/>
              </a:rPr>
              <a:t>You stop being the line reviewer and become the person who designs how correctness gets proved.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THE FOUR MOVES</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Everything in this section is one of these. Nothing else.</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481328"/>
            <a:ext cx="7772400" cy="758952"/>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81328"/>
            <a:ext cx="658368" cy="75895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481328"/>
            <a:ext cx="658368" cy="758952"/>
          </a:xfrm>
          <a:prstGeom prst="rect">
            <a:avLst/>
          </a:prstGeom>
          <a:noFill/>
        </p:spPr>
        <p:txBody>
          <a:bodyPr wrap="square" lIns="0" tIns="0" rIns="0" bIns="0" anchor="ctr">
            <a:spAutoFit/>
          </a:bodyPr>
          <a:lstStyle/>
          <a:p>
            <a:pPr algn="ctr"/>
            <a:r>
              <a:rPr sz="2000" b="1">
                <a:solidFill>
                  <a:srgbClr val="FFFFFF"/>
                </a:solidFill>
                <a:latin typeface="Arial Black"/>
              </a:rPr>
              <a:t>1</a:t>
            </a:r>
          </a:p>
        </p:txBody>
      </p:sp>
      <p:sp>
        <p:nvSpPr>
          <p:cNvPr id="8" name="TextBox 7"/>
          <p:cNvSpPr txBox="1"/>
          <p:nvPr/>
        </p:nvSpPr>
        <p:spPr>
          <a:xfrm>
            <a:off x="1325880" y="1609344"/>
            <a:ext cx="2743200" cy="292608"/>
          </a:xfrm>
          <a:prstGeom prst="rect">
            <a:avLst/>
          </a:prstGeom>
          <a:noFill/>
        </p:spPr>
        <p:txBody>
          <a:bodyPr wrap="square" lIns="0" tIns="0" rIns="0" bIns="0" anchor="t">
            <a:spAutoFit/>
          </a:bodyPr>
          <a:lstStyle/>
          <a:p>
            <a:pPr algn="l"/>
            <a:r>
              <a:rPr sz="1400" b="1">
                <a:solidFill>
                  <a:srgbClr val="2D1155"/>
                </a:solidFill>
                <a:latin typeface="Arial Black"/>
              </a:rPr>
              <a:t>Build the harness</a:t>
            </a:r>
          </a:p>
        </p:txBody>
      </p:sp>
      <p:sp>
        <p:nvSpPr>
          <p:cNvPr id="9" name="TextBox 8"/>
          <p:cNvSpPr txBox="1"/>
          <p:nvPr/>
        </p:nvSpPr>
        <p:spPr>
          <a:xfrm>
            <a:off x="1325880" y="1920240"/>
            <a:ext cx="6217920" cy="274320"/>
          </a:xfrm>
          <a:prstGeom prst="rect">
            <a:avLst/>
          </a:prstGeom>
          <a:noFill/>
        </p:spPr>
        <p:txBody>
          <a:bodyPr wrap="square" lIns="0" tIns="0" rIns="0" bIns="0" anchor="t">
            <a:spAutoFit/>
          </a:bodyPr>
          <a:lstStyle/>
          <a:p>
            <a:pPr algn="l"/>
            <a:r>
              <a:rPr sz="1200" b="0">
                <a:solidFill>
                  <a:srgbClr val="6E6389"/>
                </a:solidFill>
                <a:latin typeface="Calibri"/>
              </a:rPr>
              <a:t>One command that proves the code still works: lint, types, tests.</a:t>
            </a:r>
          </a:p>
        </p:txBody>
      </p:sp>
      <p:sp>
        <p:nvSpPr>
          <p:cNvPr id="10" name="Rectangle 9"/>
          <p:cNvSpPr/>
          <p:nvPr/>
        </p:nvSpPr>
        <p:spPr>
          <a:xfrm>
            <a:off x="457200" y="2340864"/>
            <a:ext cx="7772400" cy="758952"/>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2340864"/>
            <a:ext cx="658368" cy="75895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2340864"/>
            <a:ext cx="658368" cy="758952"/>
          </a:xfrm>
          <a:prstGeom prst="rect">
            <a:avLst/>
          </a:prstGeom>
          <a:noFill/>
        </p:spPr>
        <p:txBody>
          <a:bodyPr wrap="square" lIns="0" tIns="0" rIns="0" bIns="0" anchor="ctr">
            <a:spAutoFit/>
          </a:bodyPr>
          <a:lstStyle/>
          <a:p>
            <a:pPr algn="ctr"/>
            <a:r>
              <a:rPr sz="2000" b="1">
                <a:solidFill>
                  <a:srgbClr val="FFFFFF"/>
                </a:solidFill>
                <a:latin typeface="Arial Black"/>
              </a:rPr>
              <a:t>2</a:t>
            </a:r>
          </a:p>
        </p:txBody>
      </p:sp>
      <p:sp>
        <p:nvSpPr>
          <p:cNvPr id="13" name="TextBox 12"/>
          <p:cNvSpPr txBox="1"/>
          <p:nvPr/>
        </p:nvSpPr>
        <p:spPr>
          <a:xfrm>
            <a:off x="1325880" y="2468880"/>
            <a:ext cx="2743200" cy="292608"/>
          </a:xfrm>
          <a:prstGeom prst="rect">
            <a:avLst/>
          </a:prstGeom>
          <a:noFill/>
        </p:spPr>
        <p:txBody>
          <a:bodyPr wrap="square" lIns="0" tIns="0" rIns="0" bIns="0" anchor="t">
            <a:spAutoFit/>
          </a:bodyPr>
          <a:lstStyle/>
          <a:p>
            <a:pPr algn="l"/>
            <a:r>
              <a:rPr sz="1400" b="1">
                <a:solidFill>
                  <a:srgbClr val="2D1155"/>
                </a:solidFill>
                <a:latin typeface="Arial Black"/>
              </a:rPr>
              <a:t>Split the jobs</a:t>
            </a:r>
          </a:p>
        </p:txBody>
      </p:sp>
      <p:sp>
        <p:nvSpPr>
          <p:cNvPr id="14" name="TextBox 13"/>
          <p:cNvSpPr txBox="1"/>
          <p:nvPr/>
        </p:nvSpPr>
        <p:spPr>
          <a:xfrm>
            <a:off x="1325880" y="2779776"/>
            <a:ext cx="6217920" cy="274320"/>
          </a:xfrm>
          <a:prstGeom prst="rect">
            <a:avLst/>
          </a:prstGeom>
          <a:noFill/>
        </p:spPr>
        <p:txBody>
          <a:bodyPr wrap="square" lIns="0" tIns="0" rIns="0" bIns="0" anchor="t">
            <a:spAutoFit/>
          </a:bodyPr>
          <a:lstStyle/>
          <a:p>
            <a:pPr algn="l"/>
            <a:r>
              <a:rPr sz="1200" b="0">
                <a:solidFill>
                  <a:srgbClr val="6E6389"/>
                </a:solidFill>
                <a:latin typeface="Calibri"/>
              </a:rPr>
              <a:t>Narrow sub-agents: one writes tests, one reviews, one verifies.</a:t>
            </a:r>
          </a:p>
        </p:txBody>
      </p:sp>
      <p:sp>
        <p:nvSpPr>
          <p:cNvPr id="15" name="Rectangle 14"/>
          <p:cNvSpPr/>
          <p:nvPr/>
        </p:nvSpPr>
        <p:spPr>
          <a:xfrm>
            <a:off x="457200" y="3200400"/>
            <a:ext cx="7772400" cy="758952"/>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7200" y="3200400"/>
            <a:ext cx="658368" cy="75895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3200400"/>
            <a:ext cx="658368" cy="758952"/>
          </a:xfrm>
          <a:prstGeom prst="rect">
            <a:avLst/>
          </a:prstGeom>
          <a:noFill/>
        </p:spPr>
        <p:txBody>
          <a:bodyPr wrap="square" lIns="0" tIns="0" rIns="0" bIns="0" anchor="ctr">
            <a:spAutoFit/>
          </a:bodyPr>
          <a:lstStyle/>
          <a:p>
            <a:pPr algn="ctr"/>
            <a:r>
              <a:rPr sz="2000" b="1">
                <a:solidFill>
                  <a:srgbClr val="FFFFFF"/>
                </a:solidFill>
                <a:latin typeface="Arial Black"/>
              </a:rPr>
              <a:t>3</a:t>
            </a:r>
          </a:p>
        </p:txBody>
      </p:sp>
      <p:sp>
        <p:nvSpPr>
          <p:cNvPr id="18" name="TextBox 17"/>
          <p:cNvSpPr txBox="1"/>
          <p:nvPr/>
        </p:nvSpPr>
        <p:spPr>
          <a:xfrm>
            <a:off x="1325880" y="3328416"/>
            <a:ext cx="2743200" cy="292608"/>
          </a:xfrm>
          <a:prstGeom prst="rect">
            <a:avLst/>
          </a:prstGeom>
          <a:noFill/>
        </p:spPr>
        <p:txBody>
          <a:bodyPr wrap="square" lIns="0" tIns="0" rIns="0" bIns="0" anchor="t">
            <a:spAutoFit/>
          </a:bodyPr>
          <a:lstStyle/>
          <a:p>
            <a:pPr algn="l"/>
            <a:r>
              <a:rPr sz="1400" b="1">
                <a:solidFill>
                  <a:srgbClr val="2D1155"/>
                </a:solidFill>
                <a:latin typeface="Arial Black"/>
              </a:rPr>
              <a:t>Run the team</a:t>
            </a:r>
          </a:p>
        </p:txBody>
      </p:sp>
      <p:sp>
        <p:nvSpPr>
          <p:cNvPr id="19" name="TextBox 18"/>
          <p:cNvSpPr txBox="1"/>
          <p:nvPr/>
        </p:nvSpPr>
        <p:spPr>
          <a:xfrm>
            <a:off x="1325880" y="3639312"/>
            <a:ext cx="6217920" cy="274320"/>
          </a:xfrm>
          <a:prstGeom prst="rect">
            <a:avLst/>
          </a:prstGeom>
          <a:noFill/>
        </p:spPr>
        <p:txBody>
          <a:bodyPr wrap="square" lIns="0" tIns="0" rIns="0" bIns="0" anchor="t">
            <a:spAutoFit/>
          </a:bodyPr>
          <a:lstStyle/>
          <a:p>
            <a:pPr algn="l"/>
            <a:r>
              <a:rPr sz="1200" b="0">
                <a:solidFill>
                  <a:srgbClr val="6E6389"/>
                </a:solidFill>
                <a:latin typeface="Calibri"/>
              </a:rPr>
              <a:t>They work in parallel while you orchestrate and arbitrate.</a:t>
            </a:r>
          </a:p>
        </p:txBody>
      </p:sp>
      <p:sp>
        <p:nvSpPr>
          <p:cNvPr id="20" name="Rectangle 19"/>
          <p:cNvSpPr/>
          <p:nvPr/>
        </p:nvSpPr>
        <p:spPr>
          <a:xfrm>
            <a:off x="457200" y="4059935"/>
            <a:ext cx="7772400" cy="758952"/>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 y="4059935"/>
            <a:ext cx="658368" cy="75895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4059935"/>
            <a:ext cx="658368" cy="758952"/>
          </a:xfrm>
          <a:prstGeom prst="rect">
            <a:avLst/>
          </a:prstGeom>
          <a:noFill/>
        </p:spPr>
        <p:txBody>
          <a:bodyPr wrap="square" lIns="0" tIns="0" rIns="0" bIns="0" anchor="ctr">
            <a:spAutoFit/>
          </a:bodyPr>
          <a:lstStyle/>
          <a:p>
            <a:pPr algn="ctr"/>
            <a:r>
              <a:rPr sz="2000" b="1">
                <a:solidFill>
                  <a:srgbClr val="FFFFFF"/>
                </a:solidFill>
                <a:latin typeface="Arial Black"/>
              </a:rPr>
              <a:t>4</a:t>
            </a:r>
          </a:p>
        </p:txBody>
      </p:sp>
      <p:sp>
        <p:nvSpPr>
          <p:cNvPr id="23" name="TextBox 22"/>
          <p:cNvSpPr txBox="1"/>
          <p:nvPr/>
        </p:nvSpPr>
        <p:spPr>
          <a:xfrm>
            <a:off x="1325880" y="4187951"/>
            <a:ext cx="2743200" cy="292608"/>
          </a:xfrm>
          <a:prstGeom prst="rect">
            <a:avLst/>
          </a:prstGeom>
          <a:noFill/>
        </p:spPr>
        <p:txBody>
          <a:bodyPr wrap="square" lIns="0" tIns="0" rIns="0" bIns="0" anchor="t">
            <a:spAutoFit/>
          </a:bodyPr>
          <a:lstStyle/>
          <a:p>
            <a:pPr algn="l"/>
            <a:r>
              <a:rPr sz="1400" b="1">
                <a:solidFill>
                  <a:srgbClr val="2D1155"/>
                </a:solidFill>
                <a:latin typeface="Arial Black"/>
              </a:rPr>
              <a:t>Make it non-optional</a:t>
            </a:r>
          </a:p>
        </p:txBody>
      </p:sp>
      <p:sp>
        <p:nvSpPr>
          <p:cNvPr id="24" name="TextBox 23"/>
          <p:cNvSpPr txBox="1"/>
          <p:nvPr/>
        </p:nvSpPr>
        <p:spPr>
          <a:xfrm>
            <a:off x="1325880" y="4498848"/>
            <a:ext cx="6217920" cy="274320"/>
          </a:xfrm>
          <a:prstGeom prst="rect">
            <a:avLst/>
          </a:prstGeom>
          <a:noFill/>
        </p:spPr>
        <p:txBody>
          <a:bodyPr wrap="square" lIns="0" tIns="0" rIns="0" bIns="0" anchor="t">
            <a:spAutoFit/>
          </a:bodyPr>
          <a:lstStyle/>
          <a:p>
            <a:pPr algn="l"/>
            <a:r>
              <a:rPr sz="1200" b="0">
                <a:solidFill>
                  <a:srgbClr val="6E6389"/>
                </a:solidFill>
                <a:latin typeface="Calibri"/>
              </a:rPr>
              <a:t>Hooks and CI, so the discipline survives a bad day.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MOVE 1 · THE HARNESS</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One command the agent runs against itself, every single turn.</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481328"/>
            <a:ext cx="4892040" cy="1572768"/>
          </a:xfrm>
          <a:prstGeom prst="rect">
            <a:avLst/>
          </a:prstGeom>
          <a:solidFill>
            <a:srgbClr val="1E0B3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645920"/>
            <a:ext cx="4489703" cy="1243584"/>
          </a:xfrm>
          <a:prstGeom prst="rect">
            <a:avLst/>
          </a:prstGeom>
          <a:noFill/>
        </p:spPr>
        <p:txBody>
          <a:bodyPr wrap="square" lIns="0" tIns="0" rIns="0" bIns="0" anchor="t">
            <a:spAutoFit/>
          </a:bodyPr>
          <a:lstStyle/>
          <a:p>
            <a:pPr algn="l">
              <a:lnSpc>
                <a:spcPct val="132000"/>
              </a:lnSpc>
            </a:pPr>
            <a:r>
              <a:rPr sz="1150" b="0">
                <a:solidFill>
                  <a:srgbClr val="FFFFFF"/>
                </a:solidFill>
                <a:latin typeface="Courier New"/>
              </a:rPr>
              <a:t>$ make check</a:t>
            </a:r>
          </a:p>
          <a:p>
            <a:pPr algn="l">
              <a:lnSpc>
                <a:spcPct val="132000"/>
              </a:lnSpc>
            </a:pPr>
            <a:r>
              <a:rPr sz="1150" b="0">
                <a:solidFill>
                  <a:srgbClr val="C4B5E8"/>
                </a:solidFill>
                <a:latin typeface="Courier New"/>
              </a:rPr>
              <a:t>  ruff .            # lint  — style and dead code</a:t>
            </a:r>
          </a:p>
          <a:p>
            <a:pPr algn="l">
              <a:lnSpc>
                <a:spcPct val="132000"/>
              </a:lnSpc>
            </a:pPr>
            <a:r>
              <a:rPr sz="1150" b="0">
                <a:solidFill>
                  <a:srgbClr val="C4B5E8"/>
                </a:solidFill>
                <a:latin typeface="Courier New"/>
              </a:rPr>
              <a:t>  mypy backend/     # types — wrong shapes</a:t>
            </a:r>
          </a:p>
          <a:p>
            <a:pPr algn="l">
              <a:lnSpc>
                <a:spcPct val="132000"/>
              </a:lnSpc>
            </a:pPr>
            <a:r>
              <a:rPr sz="1150" b="0">
                <a:solidFill>
                  <a:srgbClr val="C4B5E8"/>
                </a:solidFill>
                <a:latin typeface="Courier New"/>
              </a:rPr>
              <a:t>  pytest tests -q   # tests — wrong behaviour</a:t>
            </a:r>
          </a:p>
        </p:txBody>
      </p:sp>
      <p:sp>
        <p:nvSpPr>
          <p:cNvPr id="7" name="Rectangle 6"/>
          <p:cNvSpPr/>
          <p:nvPr/>
        </p:nvSpPr>
        <p:spPr>
          <a:xfrm>
            <a:off x="5577840" y="1481328"/>
            <a:ext cx="3108960" cy="157276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806440" y="1682496"/>
            <a:ext cx="2651760" cy="274320"/>
          </a:xfrm>
          <a:prstGeom prst="rect">
            <a:avLst/>
          </a:prstGeom>
          <a:noFill/>
        </p:spPr>
        <p:txBody>
          <a:bodyPr wrap="square" lIns="0" tIns="0" rIns="0" bIns="0" anchor="t">
            <a:spAutoFit/>
          </a:bodyPr>
          <a:lstStyle/>
          <a:p>
            <a:pPr algn="l"/>
            <a:r>
              <a:rPr sz="1050" b="1">
                <a:solidFill>
                  <a:srgbClr val="7C3AED"/>
                </a:solidFill>
                <a:latin typeface="Calibri"/>
              </a:rPr>
              <a:t>WHY ONE COMMAND</a:t>
            </a:r>
          </a:p>
        </p:txBody>
      </p:sp>
      <p:sp>
        <p:nvSpPr>
          <p:cNvPr id="9" name="TextBox 8"/>
          <p:cNvSpPr txBox="1"/>
          <p:nvPr/>
        </p:nvSpPr>
        <p:spPr>
          <a:xfrm>
            <a:off x="5806440" y="2011680"/>
            <a:ext cx="2651760" cy="914400"/>
          </a:xfrm>
          <a:prstGeom prst="rect">
            <a:avLst/>
          </a:prstGeom>
          <a:noFill/>
        </p:spPr>
        <p:txBody>
          <a:bodyPr wrap="square" lIns="0" tIns="0" rIns="0" bIns="0" anchor="t">
            <a:spAutoFit/>
          </a:bodyPr>
          <a:lstStyle/>
          <a:p>
            <a:pPr algn="l">
              <a:lnSpc>
                <a:spcPct val="110000"/>
              </a:lnSpc>
            </a:pPr>
            <a:r>
              <a:rPr sz="1200" b="0">
                <a:solidFill>
                  <a:srgbClr val="2D1155"/>
                </a:solidFill>
                <a:latin typeface="Calibri"/>
              </a:rPr>
              <a:t>The agent can run it, read the failure, and fix itself — without asking you.</a:t>
            </a:r>
          </a:p>
        </p:txBody>
      </p:sp>
      <p:sp>
        <p:nvSpPr>
          <p:cNvPr id="10" name="TextBox 9"/>
          <p:cNvSpPr txBox="1"/>
          <p:nvPr/>
        </p:nvSpPr>
        <p:spPr>
          <a:xfrm>
            <a:off x="457200" y="3200400"/>
            <a:ext cx="8229600" cy="384048"/>
          </a:xfrm>
          <a:prstGeom prst="rect">
            <a:avLst/>
          </a:prstGeom>
          <a:noFill/>
        </p:spPr>
        <p:txBody>
          <a:bodyPr wrap="square" lIns="0" tIns="0" rIns="0" bIns="0" anchor="t">
            <a:spAutoFit/>
          </a:bodyPr>
          <a:lstStyle/>
          <a:p>
            <a:pPr algn="l">
              <a:lnSpc>
                <a:spcPct val="108000"/>
              </a:lnSpc>
            </a:pPr>
            <a:r>
              <a:rPr sz="900" b="1">
                <a:solidFill>
                  <a:srgbClr val="F59E0B"/>
                </a:solidFill>
                <a:latin typeface="Calibri"/>
              </a:rPr>
              <a:t>IN PLAIN TERMS   </a:t>
            </a:r>
            <a:r>
              <a:rPr sz="1200" b="0">
                <a:solidFill>
                  <a:srgbClr val="6E6389"/>
                </a:solidFill>
                <a:latin typeface="Calibri"/>
              </a:rPr>
              <a:t>A harness is just a single command that says yes or no. If it passes, the agent has proof. If it fails, it has a specific error to work from.</a:t>
            </a:r>
          </a:p>
        </p:txBody>
      </p:sp>
      <p:sp>
        <p:nvSpPr>
          <p:cNvPr id="11" name="Rectangle 10"/>
          <p:cNvSpPr/>
          <p:nvPr/>
        </p:nvSpPr>
        <p:spPr>
          <a:xfrm>
            <a:off x="457200" y="3794760"/>
            <a:ext cx="8229600" cy="713232"/>
          </a:xfrm>
          <a:prstGeom prst="rect">
            <a:avLst/>
          </a:prstGeom>
          <a:solidFill>
            <a:srgbClr val="2D1155"/>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3794760"/>
            <a:ext cx="7498079" cy="713232"/>
          </a:xfrm>
          <a:prstGeom prst="rect">
            <a:avLst/>
          </a:prstGeom>
          <a:noFill/>
        </p:spPr>
        <p:txBody>
          <a:bodyPr wrap="square" lIns="0" tIns="0" rIns="0" bIns="0" anchor="ctr">
            <a:spAutoFit/>
          </a:bodyPr>
          <a:lstStyle/>
          <a:p>
            <a:pPr algn="l"/>
            <a:r>
              <a:rPr sz="1400" b="1">
                <a:solidFill>
                  <a:srgbClr val="FFFFFF"/>
                </a:solidFill>
                <a:latin typeface="Arial Black"/>
              </a:rPr>
              <a:t>The cheapest reliability win there is: the agent self-verifies at the end of every turn.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THE TESTS ARE THE SPEC</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Write them before the implementation — and make them fail first.</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481328"/>
            <a:ext cx="8229600" cy="137160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1664208"/>
            <a:ext cx="7772400" cy="256032"/>
          </a:xfrm>
          <a:prstGeom prst="rect">
            <a:avLst/>
          </a:prstGeom>
          <a:noFill/>
        </p:spPr>
        <p:txBody>
          <a:bodyPr wrap="square" lIns="0" tIns="0" rIns="0" bIns="0" anchor="t">
            <a:spAutoFit/>
          </a:bodyPr>
          <a:lstStyle/>
          <a:p>
            <a:pPr algn="l"/>
            <a:r>
              <a:rPr sz="1000" b="1">
                <a:solidFill>
                  <a:srgbClr val="7C3AED"/>
                </a:solidFill>
                <a:latin typeface="Calibri"/>
              </a:rPr>
              <a:t>PROMPT</a:t>
            </a:r>
          </a:p>
        </p:txBody>
      </p:sp>
      <p:sp>
        <p:nvSpPr>
          <p:cNvPr id="7" name="TextBox 6"/>
          <p:cNvSpPr txBox="1"/>
          <p:nvPr/>
        </p:nvSpPr>
        <p:spPr>
          <a:xfrm>
            <a:off x="713232" y="1956816"/>
            <a:ext cx="7772400" cy="822960"/>
          </a:xfrm>
          <a:prstGeom prst="rect">
            <a:avLst/>
          </a:prstGeom>
          <a:noFill/>
        </p:spPr>
        <p:txBody>
          <a:bodyPr wrap="square" lIns="0" tIns="0" rIns="0" bIns="0" anchor="t">
            <a:spAutoFit/>
          </a:bodyPr>
          <a:lstStyle/>
          <a:p>
            <a:pPr algn="l">
              <a:lnSpc>
                <a:spcPct val="112000"/>
              </a:lnSpc>
            </a:pPr>
            <a:r>
              <a:rPr sz="1200" b="0">
                <a:solidFill>
                  <a:srgbClr val="2D1155"/>
                </a:solidFill>
                <a:latin typeface="Calibri"/>
              </a:rPr>
              <a:t>“Write a pytest suite for the streak logic, covering the edge cases we skipped: a missed day resets the streak; completing twice in one day is idempotent; the timezone boundary is handled. Run them, show me one failing, then make it pass.”</a:t>
            </a:r>
          </a:p>
        </p:txBody>
      </p:sp>
      <p:sp>
        <p:nvSpPr>
          <p:cNvPr id="8" name="Rectangle 7"/>
          <p:cNvSpPr/>
          <p:nvPr/>
        </p:nvSpPr>
        <p:spPr>
          <a:xfrm>
            <a:off x="457200" y="2999232"/>
            <a:ext cx="2615184" cy="1170432"/>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3163824"/>
            <a:ext cx="2240280" cy="256032"/>
          </a:xfrm>
          <a:prstGeom prst="rect">
            <a:avLst/>
          </a:prstGeom>
          <a:noFill/>
        </p:spPr>
        <p:txBody>
          <a:bodyPr wrap="square" lIns="0" tIns="0" rIns="0" bIns="0" anchor="t">
            <a:spAutoFit/>
          </a:bodyPr>
          <a:lstStyle/>
          <a:p>
            <a:pPr algn="l"/>
            <a:r>
              <a:rPr sz="1050" b="1">
                <a:solidFill>
                  <a:srgbClr val="F59E0B"/>
                </a:solidFill>
                <a:latin typeface="Calibri"/>
              </a:rPr>
              <a:t>MISSED DAY</a:t>
            </a:r>
          </a:p>
        </p:txBody>
      </p:sp>
      <p:sp>
        <p:nvSpPr>
          <p:cNvPr id="10" name="TextBox 9"/>
          <p:cNvSpPr txBox="1"/>
          <p:nvPr/>
        </p:nvSpPr>
        <p:spPr>
          <a:xfrm>
            <a:off x="658368" y="3456432"/>
            <a:ext cx="2240280" cy="658368"/>
          </a:xfrm>
          <a:prstGeom prst="rect">
            <a:avLst/>
          </a:prstGeom>
          <a:noFill/>
        </p:spPr>
        <p:txBody>
          <a:bodyPr wrap="square" lIns="0" tIns="0" rIns="0" bIns="0" anchor="t">
            <a:spAutoFit/>
          </a:bodyPr>
          <a:lstStyle/>
          <a:p>
            <a:pPr algn="l">
              <a:lnSpc>
                <a:spcPct val="108000"/>
              </a:lnSpc>
            </a:pPr>
            <a:r>
              <a:rPr sz="1150" b="0">
                <a:solidFill>
                  <a:srgbClr val="2D1155"/>
                </a:solidFill>
                <a:latin typeface="Calibri"/>
              </a:rPr>
              <a:t>Streak resets to zero — the rule the whole app rests on.</a:t>
            </a:r>
          </a:p>
        </p:txBody>
      </p:sp>
      <p:sp>
        <p:nvSpPr>
          <p:cNvPr id="11" name="Rectangle 10"/>
          <p:cNvSpPr/>
          <p:nvPr/>
        </p:nvSpPr>
        <p:spPr>
          <a:xfrm>
            <a:off x="3264408" y="2999232"/>
            <a:ext cx="2615184" cy="1170432"/>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65576" y="3163824"/>
            <a:ext cx="2240280" cy="256032"/>
          </a:xfrm>
          <a:prstGeom prst="rect">
            <a:avLst/>
          </a:prstGeom>
          <a:noFill/>
        </p:spPr>
        <p:txBody>
          <a:bodyPr wrap="square" lIns="0" tIns="0" rIns="0" bIns="0" anchor="t">
            <a:spAutoFit/>
          </a:bodyPr>
          <a:lstStyle/>
          <a:p>
            <a:pPr algn="l"/>
            <a:r>
              <a:rPr sz="1050" b="1">
                <a:solidFill>
                  <a:srgbClr val="F59E0B"/>
                </a:solidFill>
                <a:latin typeface="Calibri"/>
              </a:rPr>
              <a:t>DOUBLE-TICK</a:t>
            </a:r>
          </a:p>
        </p:txBody>
      </p:sp>
      <p:sp>
        <p:nvSpPr>
          <p:cNvPr id="13" name="TextBox 12"/>
          <p:cNvSpPr txBox="1"/>
          <p:nvPr/>
        </p:nvSpPr>
        <p:spPr>
          <a:xfrm>
            <a:off x="3465576" y="3456432"/>
            <a:ext cx="2240280" cy="658368"/>
          </a:xfrm>
          <a:prstGeom prst="rect">
            <a:avLst/>
          </a:prstGeom>
          <a:noFill/>
        </p:spPr>
        <p:txBody>
          <a:bodyPr wrap="square" lIns="0" tIns="0" rIns="0" bIns="0" anchor="t">
            <a:spAutoFit/>
          </a:bodyPr>
          <a:lstStyle/>
          <a:p>
            <a:pPr algn="l">
              <a:lnSpc>
                <a:spcPct val="108000"/>
              </a:lnSpc>
            </a:pPr>
            <a:r>
              <a:rPr sz="1150" b="0">
                <a:solidFill>
                  <a:srgbClr val="2D1155"/>
                </a:solidFill>
                <a:latin typeface="Calibri"/>
              </a:rPr>
              <a:t>Two taps in one day is still one completion. (Idempotent.)</a:t>
            </a:r>
          </a:p>
        </p:txBody>
      </p:sp>
      <p:sp>
        <p:nvSpPr>
          <p:cNvPr id="14" name="Rectangle 13"/>
          <p:cNvSpPr/>
          <p:nvPr/>
        </p:nvSpPr>
        <p:spPr>
          <a:xfrm>
            <a:off x="6071616" y="2999232"/>
            <a:ext cx="2615184" cy="1170432"/>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72783" y="3163824"/>
            <a:ext cx="2240280" cy="256032"/>
          </a:xfrm>
          <a:prstGeom prst="rect">
            <a:avLst/>
          </a:prstGeom>
          <a:noFill/>
        </p:spPr>
        <p:txBody>
          <a:bodyPr wrap="square" lIns="0" tIns="0" rIns="0" bIns="0" anchor="t">
            <a:spAutoFit/>
          </a:bodyPr>
          <a:lstStyle/>
          <a:p>
            <a:pPr algn="l"/>
            <a:r>
              <a:rPr sz="1050" b="1">
                <a:solidFill>
                  <a:srgbClr val="F59E0B"/>
                </a:solidFill>
                <a:latin typeface="Calibri"/>
              </a:rPr>
              <a:t>MIDNIGHT</a:t>
            </a:r>
          </a:p>
        </p:txBody>
      </p:sp>
      <p:sp>
        <p:nvSpPr>
          <p:cNvPr id="16" name="TextBox 15"/>
          <p:cNvSpPr txBox="1"/>
          <p:nvPr/>
        </p:nvSpPr>
        <p:spPr>
          <a:xfrm>
            <a:off x="6272783" y="3456432"/>
            <a:ext cx="2240280" cy="658368"/>
          </a:xfrm>
          <a:prstGeom prst="rect">
            <a:avLst/>
          </a:prstGeom>
          <a:noFill/>
        </p:spPr>
        <p:txBody>
          <a:bodyPr wrap="square" lIns="0" tIns="0" rIns="0" bIns="0" anchor="t">
            <a:spAutoFit/>
          </a:bodyPr>
          <a:lstStyle/>
          <a:p>
            <a:pPr algn="l">
              <a:lnSpc>
                <a:spcPct val="108000"/>
              </a:lnSpc>
            </a:pPr>
            <a:r>
              <a:rPr sz="1150" b="0">
                <a:solidFill>
                  <a:srgbClr val="2D1155"/>
                </a:solidFill>
                <a:latin typeface="Calibri"/>
              </a:rPr>
              <a:t>Whose “today”? Timezones are where streaks quietly lie.</a:t>
            </a:r>
          </a:p>
        </p:txBody>
      </p:sp>
      <p:sp>
        <p:nvSpPr>
          <p:cNvPr id="17" name="TextBox 16"/>
          <p:cNvSpPr txBox="1"/>
          <p:nvPr/>
        </p:nvSpPr>
        <p:spPr>
          <a:xfrm>
            <a:off x="457200" y="4315968"/>
            <a:ext cx="8229600" cy="320040"/>
          </a:xfrm>
          <a:prstGeom prst="rect">
            <a:avLst/>
          </a:prstGeom>
          <a:noFill/>
        </p:spPr>
        <p:txBody>
          <a:bodyPr wrap="square" lIns="0" tIns="0" rIns="0" bIns="0" anchor="t">
            <a:spAutoFit/>
          </a:bodyPr>
          <a:lstStyle/>
          <a:p>
            <a:pPr algn="l"/>
            <a:r>
              <a:rPr sz="1200" b="0">
                <a:solidFill>
                  <a:srgbClr val="6E6389"/>
                </a:solidFill>
                <a:latin typeface="Calibri"/>
              </a:rPr>
              <a:t>Seeing it fail first is the proof the test is real. A test that never failed proves nothing.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MOVE 2 · SUB-AGENTS</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Three narrow jobs, each with its own fresh context and minimal tools.</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481328"/>
            <a:ext cx="2615184" cy="214884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81328"/>
            <a:ext cx="2615184" cy="4572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481328"/>
            <a:ext cx="2615184" cy="457200"/>
          </a:xfrm>
          <a:prstGeom prst="rect">
            <a:avLst/>
          </a:prstGeom>
          <a:noFill/>
        </p:spPr>
        <p:txBody>
          <a:bodyPr wrap="square" lIns="0" tIns="0" rIns="0" bIns="0" anchor="ctr">
            <a:spAutoFit/>
          </a:bodyPr>
          <a:lstStyle/>
          <a:p>
            <a:pPr algn="ctr"/>
            <a:r>
              <a:rPr sz="1100" b="1">
                <a:solidFill>
                  <a:srgbClr val="FFFFFF"/>
                </a:solidFill>
                <a:latin typeface="Calibri"/>
              </a:rPr>
              <a:t>TEST-WRITER</a:t>
            </a:r>
          </a:p>
        </p:txBody>
      </p:sp>
      <p:sp>
        <p:nvSpPr>
          <p:cNvPr id="8" name="TextBox 7"/>
          <p:cNvSpPr txBox="1"/>
          <p:nvPr/>
        </p:nvSpPr>
        <p:spPr>
          <a:xfrm>
            <a:off x="658368" y="2121408"/>
            <a:ext cx="2240280" cy="1005840"/>
          </a:xfrm>
          <a:prstGeom prst="rect">
            <a:avLst/>
          </a:prstGeom>
          <a:noFill/>
        </p:spPr>
        <p:txBody>
          <a:bodyPr wrap="square" lIns="0" tIns="0" rIns="0" bIns="0" anchor="t">
            <a:spAutoFit/>
          </a:bodyPr>
          <a:lstStyle/>
          <a:p>
            <a:pPr algn="l">
              <a:lnSpc>
                <a:spcPct val="112000"/>
              </a:lnSpc>
            </a:pPr>
            <a:r>
              <a:rPr sz="1200" b="0">
                <a:solidFill>
                  <a:srgbClr val="2D1155"/>
                </a:solidFill>
                <a:latin typeface="Calibri"/>
              </a:rPr>
              <a:t>Writes failing tests from the requirement. Never implements.</a:t>
            </a:r>
          </a:p>
        </p:txBody>
      </p:sp>
      <p:sp>
        <p:nvSpPr>
          <p:cNvPr id="9" name="TextBox 8"/>
          <p:cNvSpPr txBox="1"/>
          <p:nvPr/>
        </p:nvSpPr>
        <p:spPr>
          <a:xfrm>
            <a:off x="658368" y="3200400"/>
            <a:ext cx="2240280" cy="292608"/>
          </a:xfrm>
          <a:prstGeom prst="rect">
            <a:avLst/>
          </a:prstGeom>
          <a:noFill/>
        </p:spPr>
        <p:txBody>
          <a:bodyPr wrap="square" lIns="0" tIns="0" rIns="0" bIns="0" anchor="t">
            <a:spAutoFit/>
          </a:bodyPr>
          <a:lstStyle/>
          <a:p>
            <a:pPr algn="l"/>
            <a:r>
              <a:rPr sz="900" b="1">
                <a:solidFill>
                  <a:srgbClr val="F59E0B"/>
                </a:solidFill>
                <a:latin typeface="Calibri"/>
              </a:rPr>
              <a:t>TOOLS:  </a:t>
            </a:r>
            <a:r>
              <a:rPr sz="1050" b="0">
                <a:solidFill>
                  <a:srgbClr val="6E6389"/>
                </a:solidFill>
                <a:latin typeface="Courier New"/>
              </a:rPr>
              <a:t>read + write tests</a:t>
            </a:r>
          </a:p>
        </p:txBody>
      </p:sp>
      <p:sp>
        <p:nvSpPr>
          <p:cNvPr id="10" name="Rectangle 9"/>
          <p:cNvSpPr/>
          <p:nvPr/>
        </p:nvSpPr>
        <p:spPr>
          <a:xfrm>
            <a:off x="3264408" y="1481328"/>
            <a:ext cx="2615184" cy="214884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64408" y="1481328"/>
            <a:ext cx="2615184" cy="4572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64408" y="1481328"/>
            <a:ext cx="2615184" cy="457200"/>
          </a:xfrm>
          <a:prstGeom prst="rect">
            <a:avLst/>
          </a:prstGeom>
          <a:noFill/>
        </p:spPr>
        <p:txBody>
          <a:bodyPr wrap="square" lIns="0" tIns="0" rIns="0" bIns="0" anchor="ctr">
            <a:spAutoFit/>
          </a:bodyPr>
          <a:lstStyle/>
          <a:p>
            <a:pPr algn="ctr"/>
            <a:r>
              <a:rPr sz="1100" b="1">
                <a:solidFill>
                  <a:srgbClr val="FFFFFF"/>
                </a:solidFill>
                <a:latin typeface="Calibri"/>
              </a:rPr>
              <a:t>REVIEWER</a:t>
            </a:r>
          </a:p>
        </p:txBody>
      </p:sp>
      <p:sp>
        <p:nvSpPr>
          <p:cNvPr id="13" name="TextBox 12"/>
          <p:cNvSpPr txBox="1"/>
          <p:nvPr/>
        </p:nvSpPr>
        <p:spPr>
          <a:xfrm>
            <a:off x="3465576" y="2121408"/>
            <a:ext cx="2240280" cy="1005840"/>
          </a:xfrm>
          <a:prstGeom prst="rect">
            <a:avLst/>
          </a:prstGeom>
          <a:noFill/>
        </p:spPr>
        <p:txBody>
          <a:bodyPr wrap="square" lIns="0" tIns="0" rIns="0" bIns="0" anchor="t">
            <a:spAutoFit/>
          </a:bodyPr>
          <a:lstStyle/>
          <a:p>
            <a:pPr algn="l">
              <a:lnSpc>
                <a:spcPct val="112000"/>
              </a:lnSpc>
            </a:pPr>
            <a:r>
              <a:rPr sz="1200" b="0">
                <a:solidFill>
                  <a:srgbClr val="2D1155"/>
                </a:solidFill>
                <a:latin typeface="Calibri"/>
              </a:rPr>
              <a:t>Reads the diff, reports bugs as a numbered list with file:line.</a:t>
            </a:r>
          </a:p>
        </p:txBody>
      </p:sp>
      <p:sp>
        <p:nvSpPr>
          <p:cNvPr id="14" name="TextBox 13"/>
          <p:cNvSpPr txBox="1"/>
          <p:nvPr/>
        </p:nvSpPr>
        <p:spPr>
          <a:xfrm>
            <a:off x="3465576" y="3200400"/>
            <a:ext cx="2240280" cy="292608"/>
          </a:xfrm>
          <a:prstGeom prst="rect">
            <a:avLst/>
          </a:prstGeom>
          <a:noFill/>
        </p:spPr>
        <p:txBody>
          <a:bodyPr wrap="square" lIns="0" tIns="0" rIns="0" bIns="0" anchor="t">
            <a:spAutoFit/>
          </a:bodyPr>
          <a:lstStyle/>
          <a:p>
            <a:pPr algn="l"/>
            <a:r>
              <a:rPr sz="900" b="1">
                <a:solidFill>
                  <a:srgbClr val="F59E0B"/>
                </a:solidFill>
                <a:latin typeface="Calibri"/>
              </a:rPr>
              <a:t>TOOLS:  </a:t>
            </a:r>
            <a:r>
              <a:rPr sz="1050" b="0">
                <a:solidFill>
                  <a:srgbClr val="6E6389"/>
                </a:solidFill>
                <a:latin typeface="Courier New"/>
              </a:rPr>
              <a:t>read-only — no edits</a:t>
            </a:r>
          </a:p>
        </p:txBody>
      </p:sp>
      <p:sp>
        <p:nvSpPr>
          <p:cNvPr id="15" name="Rectangle 14"/>
          <p:cNvSpPr/>
          <p:nvPr/>
        </p:nvSpPr>
        <p:spPr>
          <a:xfrm>
            <a:off x="6071616" y="1481328"/>
            <a:ext cx="2615184" cy="214884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071616" y="1481328"/>
            <a:ext cx="2615184" cy="4572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071616" y="1481328"/>
            <a:ext cx="2615184" cy="457200"/>
          </a:xfrm>
          <a:prstGeom prst="rect">
            <a:avLst/>
          </a:prstGeom>
          <a:noFill/>
        </p:spPr>
        <p:txBody>
          <a:bodyPr wrap="square" lIns="0" tIns="0" rIns="0" bIns="0" anchor="ctr">
            <a:spAutoFit/>
          </a:bodyPr>
          <a:lstStyle/>
          <a:p>
            <a:pPr algn="ctr"/>
            <a:r>
              <a:rPr sz="1100" b="1">
                <a:solidFill>
                  <a:srgbClr val="FFFFFF"/>
                </a:solidFill>
                <a:latin typeface="Calibri"/>
              </a:rPr>
              <a:t>VERIFIER</a:t>
            </a:r>
          </a:p>
        </p:txBody>
      </p:sp>
      <p:sp>
        <p:nvSpPr>
          <p:cNvPr id="18" name="TextBox 17"/>
          <p:cNvSpPr txBox="1"/>
          <p:nvPr/>
        </p:nvSpPr>
        <p:spPr>
          <a:xfrm>
            <a:off x="6272783" y="2121408"/>
            <a:ext cx="2240280" cy="1005840"/>
          </a:xfrm>
          <a:prstGeom prst="rect">
            <a:avLst/>
          </a:prstGeom>
          <a:noFill/>
        </p:spPr>
        <p:txBody>
          <a:bodyPr wrap="square" lIns="0" tIns="0" rIns="0" bIns="0" anchor="t">
            <a:spAutoFit/>
          </a:bodyPr>
          <a:lstStyle/>
          <a:p>
            <a:pPr algn="l">
              <a:lnSpc>
                <a:spcPct val="112000"/>
              </a:lnSpc>
            </a:pPr>
            <a:r>
              <a:rPr sz="1200" b="0">
                <a:solidFill>
                  <a:srgbClr val="2D1155"/>
                </a:solidFill>
                <a:latin typeface="Calibri"/>
              </a:rPr>
              <a:t>Runs make check and the app. Confirms green, or says why not.</a:t>
            </a:r>
          </a:p>
        </p:txBody>
      </p:sp>
      <p:sp>
        <p:nvSpPr>
          <p:cNvPr id="19" name="TextBox 18"/>
          <p:cNvSpPr txBox="1"/>
          <p:nvPr/>
        </p:nvSpPr>
        <p:spPr>
          <a:xfrm>
            <a:off x="6272783" y="3200400"/>
            <a:ext cx="2240280" cy="292608"/>
          </a:xfrm>
          <a:prstGeom prst="rect">
            <a:avLst/>
          </a:prstGeom>
          <a:noFill/>
        </p:spPr>
        <p:txBody>
          <a:bodyPr wrap="square" lIns="0" tIns="0" rIns="0" bIns="0" anchor="t">
            <a:spAutoFit/>
          </a:bodyPr>
          <a:lstStyle/>
          <a:p>
            <a:pPr algn="l"/>
            <a:r>
              <a:rPr sz="900" b="1">
                <a:solidFill>
                  <a:srgbClr val="F59E0B"/>
                </a:solidFill>
                <a:latin typeface="Calibri"/>
              </a:rPr>
              <a:t>TOOLS:  </a:t>
            </a:r>
            <a:r>
              <a:rPr sz="1050" b="0">
                <a:solidFill>
                  <a:srgbClr val="6E6389"/>
                </a:solidFill>
                <a:latin typeface="Courier New"/>
              </a:rPr>
              <a:t>read + run shell</a:t>
            </a:r>
          </a:p>
        </p:txBody>
      </p:sp>
      <p:sp>
        <p:nvSpPr>
          <p:cNvPr id="20" name="Rectangle 19"/>
          <p:cNvSpPr/>
          <p:nvPr/>
        </p:nvSpPr>
        <p:spPr>
          <a:xfrm>
            <a:off x="457200" y="3749039"/>
            <a:ext cx="7772400" cy="822960"/>
          </a:xfrm>
          <a:prstGeom prst="rect">
            <a:avLst/>
          </a:prstGeom>
          <a:solidFill>
            <a:srgbClr val="1E0B3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8368" y="3913631"/>
            <a:ext cx="7370064" cy="493776"/>
          </a:xfrm>
          <a:prstGeom prst="rect">
            <a:avLst/>
          </a:prstGeom>
          <a:noFill/>
        </p:spPr>
        <p:txBody>
          <a:bodyPr wrap="square" lIns="0" tIns="0" rIns="0" bIns="0" anchor="t">
            <a:spAutoFit/>
          </a:bodyPr>
          <a:lstStyle/>
          <a:p>
            <a:pPr algn="l">
              <a:lnSpc>
                <a:spcPct val="132000"/>
              </a:lnSpc>
            </a:pPr>
            <a:r>
              <a:rPr sz="1050" b="0">
                <a:solidFill>
                  <a:srgbClr val="C4B5E8"/>
                </a:solidFill>
                <a:latin typeface="Courier New"/>
              </a:rPr>
              <a:t>Claude Code   .claude/agents/reviewer.md     # markdown + frontmatter, /agents</a:t>
            </a:r>
          </a:p>
          <a:p>
            <a:pPr algn="l">
              <a:lnSpc>
                <a:spcPct val="132000"/>
              </a:lnSpc>
            </a:pPr>
            <a:r>
              <a:rPr sz="1050" b="0">
                <a:solidFill>
                  <a:srgbClr val="C4B5E8"/>
                </a:solidFill>
                <a:latin typeface="Courier New"/>
              </a:rPr>
              <a:t>Codex         .codex/agents/reviewer.toml   # sandbox_mode = "read-only"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WHY NARROW BEATS CAPABLE</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The counter-intuitive bit — give each agent less, not more.</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572768"/>
            <a:ext cx="4023360" cy="214884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572768"/>
            <a:ext cx="4023360" cy="475488"/>
          </a:xfrm>
          <a:prstGeom prst="rect">
            <a:avLst/>
          </a:prstGeom>
          <a:solidFill>
            <a:srgbClr val="9B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572768"/>
            <a:ext cx="4023360" cy="475488"/>
          </a:xfrm>
          <a:prstGeom prst="rect">
            <a:avLst/>
          </a:prstGeom>
          <a:noFill/>
        </p:spPr>
        <p:txBody>
          <a:bodyPr wrap="square" lIns="0" tIns="0" rIns="0" bIns="0" anchor="ctr">
            <a:spAutoFit/>
          </a:bodyPr>
          <a:lstStyle/>
          <a:p>
            <a:pPr algn="ctr"/>
            <a:r>
              <a:rPr sz="1100" b="1">
                <a:solidFill>
                  <a:srgbClr val="FFFFFF"/>
                </a:solidFill>
                <a:latin typeface="Calibri"/>
              </a:rPr>
              <a:t>✕   ONE AGENT, ALL THE JOBS</a:t>
            </a:r>
          </a:p>
        </p:txBody>
      </p:sp>
      <p:sp>
        <p:nvSpPr>
          <p:cNvPr id="8" name="TextBox 7"/>
          <p:cNvSpPr txBox="1"/>
          <p:nvPr/>
        </p:nvSpPr>
        <p:spPr>
          <a:xfrm>
            <a:off x="713232" y="2267712"/>
            <a:ext cx="3520440" cy="1325880"/>
          </a:xfrm>
          <a:prstGeom prst="rect">
            <a:avLst/>
          </a:prstGeom>
          <a:noFill/>
        </p:spPr>
        <p:txBody>
          <a:bodyPr wrap="square" lIns="0" tIns="0" rIns="0" bIns="0" anchor="t">
            <a:spAutoFit/>
          </a:bodyPr>
          <a:lstStyle/>
          <a:p>
            <a:pPr algn="l">
              <a:lnSpc>
                <a:spcPct val="112000"/>
              </a:lnSpc>
            </a:pPr>
            <a:r>
              <a:rPr sz="1250" b="0">
                <a:solidFill>
                  <a:srgbClr val="2D1155"/>
                </a:solidFill>
                <a:latin typeface="Calibri"/>
              </a:rPr>
              <a:t>It wrote the code, so it reviews its own work kindly. Its context is full of the reasons it thought the code was fine — the same blind spot, twice.</a:t>
            </a:r>
          </a:p>
        </p:txBody>
      </p:sp>
      <p:sp>
        <p:nvSpPr>
          <p:cNvPr id="9" name="Rectangle 8"/>
          <p:cNvSpPr/>
          <p:nvPr/>
        </p:nvSpPr>
        <p:spPr>
          <a:xfrm>
            <a:off x="4663440" y="1572768"/>
            <a:ext cx="4023360" cy="214884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663440" y="1572768"/>
            <a:ext cx="4023360" cy="475488"/>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63440" y="1572768"/>
            <a:ext cx="4023360" cy="475488"/>
          </a:xfrm>
          <a:prstGeom prst="rect">
            <a:avLst/>
          </a:prstGeom>
          <a:noFill/>
        </p:spPr>
        <p:txBody>
          <a:bodyPr wrap="square" lIns="0" tIns="0" rIns="0" bIns="0" anchor="ctr">
            <a:spAutoFit/>
          </a:bodyPr>
          <a:lstStyle/>
          <a:p>
            <a:pPr algn="ctr"/>
            <a:r>
              <a:rPr sz="1100" b="1">
                <a:solidFill>
                  <a:srgbClr val="FFFFFF"/>
                </a:solidFill>
                <a:latin typeface="Calibri"/>
              </a:rPr>
              <a:t>✓   SEPARATE, NARROW AGENTS</a:t>
            </a:r>
          </a:p>
        </p:txBody>
      </p:sp>
      <p:sp>
        <p:nvSpPr>
          <p:cNvPr id="12" name="TextBox 11"/>
          <p:cNvSpPr txBox="1"/>
          <p:nvPr/>
        </p:nvSpPr>
        <p:spPr>
          <a:xfrm>
            <a:off x="4919472" y="2267712"/>
            <a:ext cx="3520440" cy="1325880"/>
          </a:xfrm>
          <a:prstGeom prst="rect">
            <a:avLst/>
          </a:prstGeom>
          <a:noFill/>
        </p:spPr>
        <p:txBody>
          <a:bodyPr wrap="square" lIns="0" tIns="0" rIns="0" bIns="0" anchor="t">
            <a:spAutoFit/>
          </a:bodyPr>
          <a:lstStyle/>
          <a:p>
            <a:pPr algn="l">
              <a:lnSpc>
                <a:spcPct val="112000"/>
              </a:lnSpc>
            </a:pPr>
            <a:r>
              <a:rPr sz="1250" b="0">
                <a:solidFill>
                  <a:srgbClr val="2D1155"/>
                </a:solidFill>
                <a:latin typeface="Calibri"/>
              </a:rPr>
              <a:t>A reviewer that never saw the reasoning arrives fresh. And one with no write access can only report problems — it can’t quietly “fix” them into hiding.</a:t>
            </a:r>
          </a:p>
        </p:txBody>
      </p:sp>
      <p:sp>
        <p:nvSpPr>
          <p:cNvPr id="13" name="Rectangle 12"/>
          <p:cNvSpPr/>
          <p:nvPr/>
        </p:nvSpPr>
        <p:spPr>
          <a:xfrm>
            <a:off x="457200" y="3822191"/>
            <a:ext cx="8229600" cy="658368"/>
          </a:xfrm>
          <a:prstGeom prst="rect">
            <a:avLst/>
          </a:prstGeom>
          <a:solidFill>
            <a:srgbClr val="2D1155"/>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3822191"/>
            <a:ext cx="7498079" cy="658368"/>
          </a:xfrm>
          <a:prstGeom prst="rect">
            <a:avLst/>
          </a:prstGeom>
          <a:noFill/>
        </p:spPr>
        <p:txBody>
          <a:bodyPr wrap="square" lIns="0" tIns="0" rIns="0" bIns="0" anchor="ctr">
            <a:spAutoFit/>
          </a:bodyPr>
          <a:lstStyle/>
          <a:p>
            <a:pPr algn="l"/>
            <a:r>
              <a:rPr sz="1500" b="1">
                <a:solidFill>
                  <a:srgbClr val="FFFFFF"/>
                </a:solidFill>
                <a:latin typeface="Arial Black"/>
              </a:rPr>
              <a:t>A reviewer with no write access gives more honest reviews.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MOVE 3 · THE AGENT TEAM</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The centrepiece. Four roles in sequence, you at the top.</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572768"/>
            <a:ext cx="1828800" cy="105156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783080"/>
            <a:ext cx="1645920" cy="292608"/>
          </a:xfrm>
          <a:prstGeom prst="rect">
            <a:avLst/>
          </a:prstGeom>
          <a:noFill/>
        </p:spPr>
        <p:txBody>
          <a:bodyPr wrap="square" lIns="0" tIns="0" rIns="0" bIns="0" anchor="t">
            <a:spAutoFit/>
          </a:bodyPr>
          <a:lstStyle/>
          <a:p>
            <a:pPr algn="ctr"/>
            <a:r>
              <a:rPr sz="1150" b="1">
                <a:solidFill>
                  <a:srgbClr val="2D1155"/>
                </a:solidFill>
                <a:latin typeface="Arial Black"/>
              </a:rPr>
              <a:t>TEST-WRITER</a:t>
            </a:r>
          </a:p>
        </p:txBody>
      </p:sp>
      <p:sp>
        <p:nvSpPr>
          <p:cNvPr id="7" name="TextBox 6"/>
          <p:cNvSpPr txBox="1"/>
          <p:nvPr/>
        </p:nvSpPr>
        <p:spPr>
          <a:xfrm>
            <a:off x="548640" y="2121408"/>
            <a:ext cx="1645920" cy="411480"/>
          </a:xfrm>
          <a:prstGeom prst="rect">
            <a:avLst/>
          </a:prstGeom>
          <a:noFill/>
        </p:spPr>
        <p:txBody>
          <a:bodyPr wrap="square" lIns="0" tIns="0" rIns="0" bIns="0" anchor="t">
            <a:spAutoFit/>
          </a:bodyPr>
          <a:lstStyle/>
          <a:p>
            <a:pPr algn="ctr"/>
            <a:r>
              <a:rPr sz="1050" b="0">
                <a:solidFill>
                  <a:srgbClr val="6E6389"/>
                </a:solidFill>
                <a:latin typeface="Calibri"/>
              </a:rPr>
              <a:t>writes failing tests</a:t>
            </a:r>
          </a:p>
        </p:txBody>
      </p:sp>
      <p:sp>
        <p:nvSpPr>
          <p:cNvPr id="8" name="TextBox 7"/>
          <p:cNvSpPr txBox="1"/>
          <p:nvPr/>
        </p:nvSpPr>
        <p:spPr>
          <a:xfrm>
            <a:off x="2286000" y="1572768"/>
            <a:ext cx="301752" cy="1051560"/>
          </a:xfrm>
          <a:prstGeom prst="rect">
            <a:avLst/>
          </a:prstGeom>
          <a:noFill/>
        </p:spPr>
        <p:txBody>
          <a:bodyPr wrap="square" lIns="0" tIns="0" rIns="0" bIns="0" anchor="ctr">
            <a:spAutoFit/>
          </a:bodyPr>
          <a:lstStyle/>
          <a:p>
            <a:pPr algn="ctr"/>
            <a:r>
              <a:rPr sz="2400" b="1">
                <a:solidFill>
                  <a:srgbClr val="7C3AED"/>
                </a:solidFill>
                <a:latin typeface="Arial Black"/>
              </a:rPr>
              <a:t>›</a:t>
            </a:r>
          </a:p>
        </p:txBody>
      </p:sp>
      <p:sp>
        <p:nvSpPr>
          <p:cNvPr id="9" name="Rectangle 8"/>
          <p:cNvSpPr/>
          <p:nvPr/>
        </p:nvSpPr>
        <p:spPr>
          <a:xfrm>
            <a:off x="2587752" y="1572768"/>
            <a:ext cx="1828800" cy="105156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679192" y="1783080"/>
            <a:ext cx="1645920" cy="292608"/>
          </a:xfrm>
          <a:prstGeom prst="rect">
            <a:avLst/>
          </a:prstGeom>
          <a:noFill/>
        </p:spPr>
        <p:txBody>
          <a:bodyPr wrap="square" lIns="0" tIns="0" rIns="0" bIns="0" anchor="t">
            <a:spAutoFit/>
          </a:bodyPr>
          <a:lstStyle/>
          <a:p>
            <a:pPr algn="ctr"/>
            <a:r>
              <a:rPr sz="1150" b="1">
                <a:solidFill>
                  <a:srgbClr val="2D1155"/>
                </a:solidFill>
                <a:latin typeface="Arial Black"/>
              </a:rPr>
              <a:t>IMPLEMENTER</a:t>
            </a:r>
          </a:p>
        </p:txBody>
      </p:sp>
      <p:sp>
        <p:nvSpPr>
          <p:cNvPr id="11" name="TextBox 10"/>
          <p:cNvSpPr txBox="1"/>
          <p:nvPr/>
        </p:nvSpPr>
        <p:spPr>
          <a:xfrm>
            <a:off x="2679192" y="2121408"/>
            <a:ext cx="1645920" cy="411480"/>
          </a:xfrm>
          <a:prstGeom prst="rect">
            <a:avLst/>
          </a:prstGeom>
          <a:noFill/>
        </p:spPr>
        <p:txBody>
          <a:bodyPr wrap="square" lIns="0" tIns="0" rIns="0" bIns="0" anchor="t">
            <a:spAutoFit/>
          </a:bodyPr>
          <a:lstStyle/>
          <a:p>
            <a:pPr algn="ctr"/>
            <a:r>
              <a:rPr sz="1050" b="0">
                <a:solidFill>
                  <a:srgbClr val="6E6389"/>
                </a:solidFill>
                <a:latin typeface="Calibri"/>
              </a:rPr>
              <a:t>codes until green</a:t>
            </a:r>
          </a:p>
        </p:txBody>
      </p:sp>
      <p:sp>
        <p:nvSpPr>
          <p:cNvPr id="12" name="TextBox 11"/>
          <p:cNvSpPr txBox="1"/>
          <p:nvPr/>
        </p:nvSpPr>
        <p:spPr>
          <a:xfrm>
            <a:off x="4416552" y="1572768"/>
            <a:ext cx="301752" cy="1051560"/>
          </a:xfrm>
          <a:prstGeom prst="rect">
            <a:avLst/>
          </a:prstGeom>
          <a:noFill/>
        </p:spPr>
        <p:txBody>
          <a:bodyPr wrap="square" lIns="0" tIns="0" rIns="0" bIns="0" anchor="ctr">
            <a:spAutoFit/>
          </a:bodyPr>
          <a:lstStyle/>
          <a:p>
            <a:pPr algn="ctr"/>
            <a:r>
              <a:rPr sz="2400" b="1">
                <a:solidFill>
                  <a:srgbClr val="7C3AED"/>
                </a:solidFill>
                <a:latin typeface="Arial Black"/>
              </a:rPr>
              <a:t>›</a:t>
            </a:r>
          </a:p>
        </p:txBody>
      </p:sp>
      <p:sp>
        <p:nvSpPr>
          <p:cNvPr id="13" name="Rectangle 12"/>
          <p:cNvSpPr/>
          <p:nvPr/>
        </p:nvSpPr>
        <p:spPr>
          <a:xfrm>
            <a:off x="4718304" y="1572768"/>
            <a:ext cx="1828800" cy="105156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09744" y="1783080"/>
            <a:ext cx="1645920" cy="292608"/>
          </a:xfrm>
          <a:prstGeom prst="rect">
            <a:avLst/>
          </a:prstGeom>
          <a:noFill/>
        </p:spPr>
        <p:txBody>
          <a:bodyPr wrap="square" lIns="0" tIns="0" rIns="0" bIns="0" anchor="t">
            <a:spAutoFit/>
          </a:bodyPr>
          <a:lstStyle/>
          <a:p>
            <a:pPr algn="ctr"/>
            <a:r>
              <a:rPr sz="1150" b="1">
                <a:solidFill>
                  <a:srgbClr val="2D1155"/>
                </a:solidFill>
                <a:latin typeface="Arial Black"/>
              </a:rPr>
              <a:t>REVIEWER</a:t>
            </a:r>
          </a:p>
        </p:txBody>
      </p:sp>
      <p:sp>
        <p:nvSpPr>
          <p:cNvPr id="15" name="TextBox 14"/>
          <p:cNvSpPr txBox="1"/>
          <p:nvPr/>
        </p:nvSpPr>
        <p:spPr>
          <a:xfrm>
            <a:off x="4809744" y="2121408"/>
            <a:ext cx="1645920" cy="411480"/>
          </a:xfrm>
          <a:prstGeom prst="rect">
            <a:avLst/>
          </a:prstGeom>
          <a:noFill/>
        </p:spPr>
        <p:txBody>
          <a:bodyPr wrap="square" lIns="0" tIns="0" rIns="0" bIns="0" anchor="t">
            <a:spAutoFit/>
          </a:bodyPr>
          <a:lstStyle/>
          <a:p>
            <a:pPr algn="ctr"/>
            <a:r>
              <a:rPr sz="1050" b="0">
                <a:solidFill>
                  <a:srgbClr val="6E6389"/>
                </a:solidFill>
                <a:latin typeface="Calibri"/>
              </a:rPr>
              <a:t>critiques the diff</a:t>
            </a:r>
          </a:p>
        </p:txBody>
      </p:sp>
      <p:sp>
        <p:nvSpPr>
          <p:cNvPr id="16" name="TextBox 15"/>
          <p:cNvSpPr txBox="1"/>
          <p:nvPr/>
        </p:nvSpPr>
        <p:spPr>
          <a:xfrm>
            <a:off x="6547104" y="1572768"/>
            <a:ext cx="301752" cy="1051560"/>
          </a:xfrm>
          <a:prstGeom prst="rect">
            <a:avLst/>
          </a:prstGeom>
          <a:noFill/>
        </p:spPr>
        <p:txBody>
          <a:bodyPr wrap="square" lIns="0" tIns="0" rIns="0" bIns="0" anchor="ctr">
            <a:spAutoFit/>
          </a:bodyPr>
          <a:lstStyle/>
          <a:p>
            <a:pPr algn="ctr"/>
            <a:r>
              <a:rPr sz="2400" b="1">
                <a:solidFill>
                  <a:srgbClr val="7C3AED"/>
                </a:solidFill>
                <a:latin typeface="Arial Black"/>
              </a:rPr>
              <a:t>›</a:t>
            </a:r>
          </a:p>
        </p:txBody>
      </p:sp>
      <p:sp>
        <p:nvSpPr>
          <p:cNvPr id="17" name="Rectangle 16"/>
          <p:cNvSpPr/>
          <p:nvPr/>
        </p:nvSpPr>
        <p:spPr>
          <a:xfrm>
            <a:off x="6848856" y="1572768"/>
            <a:ext cx="1828800" cy="105156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0296" y="1783080"/>
            <a:ext cx="1645920" cy="292608"/>
          </a:xfrm>
          <a:prstGeom prst="rect">
            <a:avLst/>
          </a:prstGeom>
          <a:noFill/>
        </p:spPr>
        <p:txBody>
          <a:bodyPr wrap="square" lIns="0" tIns="0" rIns="0" bIns="0" anchor="t">
            <a:spAutoFit/>
          </a:bodyPr>
          <a:lstStyle/>
          <a:p>
            <a:pPr algn="ctr"/>
            <a:r>
              <a:rPr sz="1150" b="1">
                <a:solidFill>
                  <a:srgbClr val="2D1155"/>
                </a:solidFill>
                <a:latin typeface="Arial Black"/>
              </a:rPr>
              <a:t>VERIFIER</a:t>
            </a:r>
          </a:p>
        </p:txBody>
      </p:sp>
      <p:sp>
        <p:nvSpPr>
          <p:cNvPr id="19" name="TextBox 18"/>
          <p:cNvSpPr txBox="1"/>
          <p:nvPr/>
        </p:nvSpPr>
        <p:spPr>
          <a:xfrm>
            <a:off x="6940296" y="2121408"/>
            <a:ext cx="1645920" cy="411480"/>
          </a:xfrm>
          <a:prstGeom prst="rect">
            <a:avLst/>
          </a:prstGeom>
          <a:noFill/>
        </p:spPr>
        <p:txBody>
          <a:bodyPr wrap="square" lIns="0" tIns="0" rIns="0" bIns="0" anchor="t">
            <a:spAutoFit/>
          </a:bodyPr>
          <a:lstStyle/>
          <a:p>
            <a:pPr algn="ctr"/>
            <a:r>
              <a:rPr sz="1050" b="0">
                <a:solidFill>
                  <a:srgbClr val="6E6389"/>
                </a:solidFill>
                <a:latin typeface="Calibri"/>
              </a:rPr>
              <a:t>runs make check</a:t>
            </a:r>
          </a:p>
        </p:txBody>
      </p:sp>
      <p:sp>
        <p:nvSpPr>
          <p:cNvPr id="20" name="Rectangle 19"/>
          <p:cNvSpPr/>
          <p:nvPr/>
        </p:nvSpPr>
        <p:spPr>
          <a:xfrm>
            <a:off x="457200" y="2788920"/>
            <a:ext cx="8229600" cy="658368"/>
          </a:xfrm>
          <a:prstGeom prst="rect">
            <a:avLst/>
          </a:prstGeom>
          <a:solidFill>
            <a:srgbClr val="2D1155"/>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2788920"/>
            <a:ext cx="7498079" cy="658368"/>
          </a:xfrm>
          <a:prstGeom prst="rect">
            <a:avLst/>
          </a:prstGeom>
          <a:noFill/>
        </p:spPr>
        <p:txBody>
          <a:bodyPr wrap="square" lIns="0" tIns="0" rIns="0" bIns="0" anchor="ctr">
            <a:spAutoFit/>
          </a:bodyPr>
          <a:lstStyle/>
          <a:p>
            <a:pPr algn="l"/>
            <a:r>
              <a:rPr sz="1450" b="1">
                <a:solidFill>
                  <a:srgbClr val="FFFFFF"/>
                </a:solidFill>
                <a:latin typeface="Arial Black"/>
              </a:rPr>
              <a:t>You orchestrate and arbitrate. You do not type the implementation.</a:t>
            </a:r>
          </a:p>
        </p:txBody>
      </p:sp>
      <p:sp>
        <p:nvSpPr>
          <p:cNvPr id="22" name="TextBox 21"/>
          <p:cNvSpPr txBox="1"/>
          <p:nvPr/>
        </p:nvSpPr>
        <p:spPr>
          <a:xfrm>
            <a:off x="457200" y="3611880"/>
            <a:ext cx="8229600" cy="384048"/>
          </a:xfrm>
          <a:prstGeom prst="rect">
            <a:avLst/>
          </a:prstGeom>
          <a:noFill/>
        </p:spPr>
        <p:txBody>
          <a:bodyPr wrap="square" lIns="0" tIns="0" rIns="0" bIns="0" anchor="t">
            <a:spAutoFit/>
          </a:bodyPr>
          <a:lstStyle/>
          <a:p>
            <a:pPr algn="l">
              <a:lnSpc>
                <a:spcPct val="108000"/>
              </a:lnSpc>
            </a:pPr>
            <a:r>
              <a:rPr sz="900" b="1">
                <a:solidFill>
                  <a:srgbClr val="F59E0B"/>
                </a:solidFill>
                <a:latin typeface="Calibri"/>
              </a:rPr>
              <a:t>IN PLAIN TERMS   </a:t>
            </a:r>
            <a:r>
              <a:rPr sz="1200" b="0">
                <a:solidFill>
                  <a:srgbClr val="6E6389"/>
                </a:solidFill>
                <a:latin typeface="Calibri"/>
              </a:rPr>
              <a:t>You are the tech lead, not the developer. You pick the feature, settle disagreements between agents, and decide when it’s done.</a:t>
            </a:r>
          </a:p>
        </p:txBody>
      </p:sp>
      <p:sp>
        <p:nvSpPr>
          <p:cNvPr id="23" name="TextBox 22"/>
          <p:cNvSpPr txBox="1"/>
          <p:nvPr/>
        </p:nvSpPr>
        <p:spPr>
          <a:xfrm>
            <a:off x="457200" y="4224528"/>
            <a:ext cx="8229600" cy="365760"/>
          </a:xfrm>
          <a:prstGeom prst="rect">
            <a:avLst/>
          </a:prstGeom>
          <a:noFill/>
        </p:spPr>
        <p:txBody>
          <a:bodyPr wrap="square" lIns="0" tIns="0" rIns="0" bIns="0" anchor="t">
            <a:spAutoFit/>
          </a:bodyPr>
          <a:lstStyle/>
          <a:p>
            <a:pPr algn="l"/>
            <a:r>
              <a:rPr sz="1200" b="0">
                <a:solidFill>
                  <a:srgbClr val="6E6389"/>
                </a:solidFill>
                <a:latin typeface="Calibri"/>
              </a:rPr>
              <a:t>If it stalls, the fix is almost never a better prompt — it’s a clearer definition of done.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PARALLEL WITHOUT COLLISIONS</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How several agents work the same repo at once — the mechanism behind the team.</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481328"/>
            <a:ext cx="8229600" cy="1572768"/>
          </a:xfrm>
          <a:prstGeom prst="rect">
            <a:avLst/>
          </a:prstGeom>
          <a:solidFill>
            <a:srgbClr val="1E0B3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645920"/>
            <a:ext cx="7827264" cy="1243584"/>
          </a:xfrm>
          <a:prstGeom prst="rect">
            <a:avLst/>
          </a:prstGeom>
          <a:noFill/>
        </p:spPr>
        <p:txBody>
          <a:bodyPr wrap="square" lIns="0" tIns="0" rIns="0" bIns="0" anchor="t">
            <a:spAutoFit/>
          </a:bodyPr>
          <a:lstStyle/>
          <a:p>
            <a:pPr algn="l">
              <a:lnSpc>
                <a:spcPct val="132000"/>
              </a:lnSpc>
            </a:pPr>
            <a:r>
              <a:rPr sz="1100" b="0">
                <a:solidFill>
                  <a:srgbClr val="C4B5E8"/>
                </a:solidFill>
                <a:latin typeface="Courier New"/>
              </a:rPr>
              <a:t>$ git worktree add ../tca-feature -b feature   # its own folder, its own branch</a:t>
            </a:r>
          </a:p>
          <a:p>
            <a:pPr algn="l">
              <a:lnSpc>
                <a:spcPct val="132000"/>
              </a:lnSpc>
            </a:pPr>
            <a:r>
              <a:rPr sz="1100" b="0">
                <a:solidFill>
                  <a:srgbClr val="C4B5E8"/>
                </a:solidFill>
                <a:latin typeface="Courier New"/>
              </a:rPr>
              <a:t>$ cd tca-habits    &amp;&amp; claude                   # Terminal 1</a:t>
            </a:r>
          </a:p>
          <a:p>
            <a:pPr algn="l">
              <a:lnSpc>
                <a:spcPct val="132000"/>
              </a:lnSpc>
            </a:pPr>
            <a:r>
              <a:rPr sz="1100" b="0">
                <a:solidFill>
                  <a:srgbClr val="C4B5E8"/>
                </a:solidFill>
                <a:latin typeface="Courier New"/>
              </a:rPr>
              <a:t>$ cd ../tca-feature &amp;&amp; codex                   # Terminal 2, same prompt</a:t>
            </a:r>
          </a:p>
          <a:p>
            <a:pPr algn="l">
              <a:lnSpc>
                <a:spcPct val="132000"/>
              </a:lnSpc>
            </a:pPr>
            <a:r>
              <a:rPr sz="1100" b="0">
                <a:solidFill>
                  <a:srgbClr val="C4B5E8"/>
                </a:solidFill>
                <a:latin typeface="Courier New"/>
              </a:rPr>
              <a:t>$ git diff main feature --stat                 # compare, then merge the better one</a:t>
            </a:r>
          </a:p>
        </p:txBody>
      </p:sp>
      <p:sp>
        <p:nvSpPr>
          <p:cNvPr id="7" name="TextBox 6"/>
          <p:cNvSpPr txBox="1"/>
          <p:nvPr/>
        </p:nvSpPr>
        <p:spPr>
          <a:xfrm>
            <a:off x="457200" y="3200400"/>
            <a:ext cx="8229600" cy="384048"/>
          </a:xfrm>
          <a:prstGeom prst="rect">
            <a:avLst/>
          </a:prstGeom>
          <a:noFill/>
        </p:spPr>
        <p:txBody>
          <a:bodyPr wrap="square" lIns="0" tIns="0" rIns="0" bIns="0" anchor="t">
            <a:spAutoFit/>
          </a:bodyPr>
          <a:lstStyle/>
          <a:p>
            <a:pPr algn="l">
              <a:lnSpc>
                <a:spcPct val="108000"/>
              </a:lnSpc>
            </a:pPr>
            <a:r>
              <a:rPr sz="900" b="1">
                <a:solidFill>
                  <a:srgbClr val="F59E0B"/>
                </a:solidFill>
                <a:latin typeface="Calibri"/>
              </a:rPr>
              <a:t>IN PLAIN TERMS   </a:t>
            </a:r>
            <a:r>
              <a:rPr sz="1200" b="0">
                <a:solidFill>
                  <a:srgbClr val="6E6389"/>
                </a:solidFill>
                <a:latin typeface="Calibri"/>
              </a:rPr>
              <a:t>A worktree is a second copy of your project on a different branch, sharing one git history. Two agents, two folders, no fighting over the same file.</a:t>
            </a:r>
          </a:p>
        </p:txBody>
      </p:sp>
      <p:sp>
        <p:nvSpPr>
          <p:cNvPr id="8" name="Rectangle 7"/>
          <p:cNvSpPr/>
          <p:nvPr/>
        </p:nvSpPr>
        <p:spPr>
          <a:xfrm>
            <a:off x="457200" y="3730752"/>
            <a:ext cx="3794760" cy="74980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3877056"/>
            <a:ext cx="3429000" cy="457200"/>
          </a:xfrm>
          <a:prstGeom prst="rect">
            <a:avLst/>
          </a:prstGeom>
          <a:noFill/>
        </p:spPr>
        <p:txBody>
          <a:bodyPr wrap="square" lIns="0" tIns="0" rIns="0" bIns="0" anchor="t">
            <a:spAutoFit/>
          </a:bodyPr>
          <a:lstStyle/>
          <a:p>
            <a:pPr algn="l">
              <a:lnSpc>
                <a:spcPct val="105000"/>
              </a:lnSpc>
            </a:pPr>
            <a:r>
              <a:rPr sz="1150" b="0">
                <a:solidFill>
                  <a:srgbClr val="2D1155"/>
                </a:solidFill>
                <a:latin typeface="Calibri"/>
              </a:rPr>
              <a:t>Name it the same as the feature: </a:t>
            </a:r>
            <a:r>
              <a:rPr sz="1150" b="1">
                <a:solidFill>
                  <a:srgbClr val="7C3AED"/>
                </a:solidFill>
                <a:latin typeface="Calibri"/>
              </a:rPr>
              <a:t>branch = folder.</a:t>
            </a:r>
          </a:p>
        </p:txBody>
      </p:sp>
      <p:sp>
        <p:nvSpPr>
          <p:cNvPr id="10" name="Rectangle 9"/>
          <p:cNvSpPr/>
          <p:nvPr/>
        </p:nvSpPr>
        <p:spPr>
          <a:xfrm>
            <a:off x="4434840" y="3730752"/>
            <a:ext cx="3794760" cy="74980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36008" y="3877056"/>
            <a:ext cx="3429000" cy="457200"/>
          </a:xfrm>
          <a:prstGeom prst="rect">
            <a:avLst/>
          </a:prstGeom>
          <a:noFill/>
        </p:spPr>
        <p:txBody>
          <a:bodyPr wrap="square" lIns="0" tIns="0" rIns="0" bIns="0" anchor="t">
            <a:spAutoFit/>
          </a:bodyPr>
          <a:lstStyle/>
          <a:p>
            <a:pPr algn="l">
              <a:lnSpc>
                <a:spcPct val="105000"/>
              </a:lnSpc>
            </a:pPr>
            <a:r>
              <a:rPr sz="1150" b="0">
                <a:solidFill>
                  <a:srgbClr val="2D1155"/>
                </a:solidFill>
                <a:latin typeface="Calibri"/>
              </a:rPr>
              <a:t>Small, labelled commits are what keep the work </a:t>
            </a:r>
            <a:r>
              <a:rPr sz="1150" b="1">
                <a:solidFill>
                  <a:srgbClr val="7C3AED"/>
                </a:solidFill>
                <a:latin typeface="Calibri"/>
              </a:rPr>
              <a:t>mergeable.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MOVE 4 · MAKE IT NON-OPTIONAL</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A hook is a rule the tool enforces for you — not something you remember on good days.</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481328"/>
            <a:ext cx="4023360" cy="1874519"/>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81328"/>
            <a:ext cx="4023360" cy="4572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481328"/>
            <a:ext cx="4023360" cy="457200"/>
          </a:xfrm>
          <a:prstGeom prst="rect">
            <a:avLst/>
          </a:prstGeom>
          <a:noFill/>
        </p:spPr>
        <p:txBody>
          <a:bodyPr wrap="square" lIns="0" tIns="0" rIns="0" bIns="0" anchor="ctr">
            <a:spAutoFit/>
          </a:bodyPr>
          <a:lstStyle/>
          <a:p>
            <a:pPr algn="ctr"/>
            <a:r>
              <a:rPr sz="1100" b="1">
                <a:solidFill>
                  <a:srgbClr val="FFFFFF"/>
                </a:solidFill>
                <a:latin typeface="Calibri"/>
              </a:rPr>
              <a:t>STOP HOOK</a:t>
            </a:r>
          </a:p>
        </p:txBody>
      </p:sp>
      <p:sp>
        <p:nvSpPr>
          <p:cNvPr id="8" name="TextBox 7"/>
          <p:cNvSpPr txBox="1"/>
          <p:nvPr/>
        </p:nvSpPr>
        <p:spPr>
          <a:xfrm>
            <a:off x="685800" y="2103120"/>
            <a:ext cx="3566160" cy="548640"/>
          </a:xfrm>
          <a:prstGeom prst="rect">
            <a:avLst/>
          </a:prstGeom>
          <a:noFill/>
        </p:spPr>
        <p:txBody>
          <a:bodyPr wrap="square" lIns="0" tIns="0" rIns="0" bIns="0" anchor="t">
            <a:spAutoFit/>
          </a:bodyPr>
          <a:lstStyle/>
          <a:p>
            <a:pPr algn="l">
              <a:lnSpc>
                <a:spcPct val="110000"/>
              </a:lnSpc>
            </a:pPr>
            <a:r>
              <a:rPr sz="1250" b="1">
                <a:solidFill>
                  <a:srgbClr val="2D1155"/>
                </a:solidFill>
                <a:latin typeface="Calibri"/>
              </a:rPr>
              <a:t>Runs make check at the end of every turn.</a:t>
            </a:r>
          </a:p>
        </p:txBody>
      </p:sp>
      <p:sp>
        <p:nvSpPr>
          <p:cNvPr id="9" name="TextBox 8"/>
          <p:cNvSpPr txBox="1"/>
          <p:nvPr/>
        </p:nvSpPr>
        <p:spPr>
          <a:xfrm>
            <a:off x="685800" y="2697480"/>
            <a:ext cx="3566160" cy="548640"/>
          </a:xfrm>
          <a:prstGeom prst="rect">
            <a:avLst/>
          </a:prstGeom>
          <a:noFill/>
        </p:spPr>
        <p:txBody>
          <a:bodyPr wrap="square" lIns="0" tIns="0" rIns="0" bIns="0" anchor="t">
            <a:spAutoFit/>
          </a:bodyPr>
          <a:lstStyle/>
          <a:p>
            <a:pPr algn="l">
              <a:lnSpc>
                <a:spcPct val="110000"/>
              </a:lnSpc>
            </a:pPr>
            <a:r>
              <a:rPr sz="1200" b="0">
                <a:solidFill>
                  <a:srgbClr val="6E6389"/>
                </a:solidFill>
                <a:latin typeface="Calibri"/>
              </a:rPr>
              <a:t>The agent can’t call it done until the harness is green.</a:t>
            </a:r>
          </a:p>
        </p:txBody>
      </p:sp>
      <p:sp>
        <p:nvSpPr>
          <p:cNvPr id="10" name="Rectangle 9"/>
          <p:cNvSpPr/>
          <p:nvPr/>
        </p:nvSpPr>
        <p:spPr>
          <a:xfrm>
            <a:off x="4663440" y="1481328"/>
            <a:ext cx="4023360" cy="1874519"/>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663440" y="1481328"/>
            <a:ext cx="4023360" cy="4572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63440" y="1481328"/>
            <a:ext cx="4023360" cy="457200"/>
          </a:xfrm>
          <a:prstGeom prst="rect">
            <a:avLst/>
          </a:prstGeom>
          <a:noFill/>
        </p:spPr>
        <p:txBody>
          <a:bodyPr wrap="square" lIns="0" tIns="0" rIns="0" bIns="0" anchor="ctr">
            <a:spAutoFit/>
          </a:bodyPr>
          <a:lstStyle/>
          <a:p>
            <a:pPr algn="ctr"/>
            <a:r>
              <a:rPr sz="1100" b="1">
                <a:solidFill>
                  <a:srgbClr val="FFFFFF"/>
                </a:solidFill>
                <a:latin typeface="Calibri"/>
              </a:rPr>
              <a:t>PRETOOLUSE HOOK</a:t>
            </a:r>
          </a:p>
        </p:txBody>
      </p:sp>
      <p:sp>
        <p:nvSpPr>
          <p:cNvPr id="13" name="TextBox 12"/>
          <p:cNvSpPr txBox="1"/>
          <p:nvPr/>
        </p:nvSpPr>
        <p:spPr>
          <a:xfrm>
            <a:off x="4892040" y="2103120"/>
            <a:ext cx="3566160" cy="548640"/>
          </a:xfrm>
          <a:prstGeom prst="rect">
            <a:avLst/>
          </a:prstGeom>
          <a:noFill/>
        </p:spPr>
        <p:txBody>
          <a:bodyPr wrap="square" lIns="0" tIns="0" rIns="0" bIns="0" anchor="t">
            <a:spAutoFit/>
          </a:bodyPr>
          <a:lstStyle/>
          <a:p>
            <a:pPr algn="l">
              <a:lnSpc>
                <a:spcPct val="110000"/>
              </a:lnSpc>
            </a:pPr>
            <a:r>
              <a:rPr sz="1250" b="1">
                <a:solidFill>
                  <a:srgbClr val="2D1155"/>
                </a:solidFill>
                <a:latin typeface="Calibri"/>
              </a:rPr>
              <a:t>Blocks an edit to the streak logic unless a test changes too.</a:t>
            </a:r>
          </a:p>
        </p:txBody>
      </p:sp>
      <p:sp>
        <p:nvSpPr>
          <p:cNvPr id="14" name="TextBox 13"/>
          <p:cNvSpPr txBox="1"/>
          <p:nvPr/>
        </p:nvSpPr>
        <p:spPr>
          <a:xfrm>
            <a:off x="4892040" y="2697480"/>
            <a:ext cx="3566160" cy="548640"/>
          </a:xfrm>
          <a:prstGeom prst="rect">
            <a:avLst/>
          </a:prstGeom>
          <a:noFill/>
        </p:spPr>
        <p:txBody>
          <a:bodyPr wrap="square" lIns="0" tIns="0" rIns="0" bIns="0" anchor="t">
            <a:spAutoFit/>
          </a:bodyPr>
          <a:lstStyle/>
          <a:p>
            <a:pPr algn="l">
              <a:lnSpc>
                <a:spcPct val="110000"/>
              </a:lnSpc>
            </a:pPr>
            <a:r>
              <a:rPr sz="1200" b="0">
                <a:solidFill>
                  <a:srgbClr val="6E6389"/>
                </a:solidFill>
                <a:latin typeface="Calibri"/>
              </a:rPr>
              <a:t>The one rule in our contract, now physically impossible to break.</a:t>
            </a:r>
          </a:p>
        </p:txBody>
      </p:sp>
      <p:sp>
        <p:nvSpPr>
          <p:cNvPr id="15" name="Rectangle 14"/>
          <p:cNvSpPr/>
          <p:nvPr/>
        </p:nvSpPr>
        <p:spPr>
          <a:xfrm>
            <a:off x="457200" y="3493008"/>
            <a:ext cx="8229600" cy="896112"/>
          </a:xfrm>
          <a:prstGeom prst="rect">
            <a:avLst/>
          </a:prstGeom>
          <a:solidFill>
            <a:srgbClr val="1E0B3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 y="3657600"/>
            <a:ext cx="7827264" cy="566928"/>
          </a:xfrm>
          <a:prstGeom prst="rect">
            <a:avLst/>
          </a:prstGeom>
          <a:noFill/>
        </p:spPr>
        <p:txBody>
          <a:bodyPr wrap="square" lIns="0" tIns="0" rIns="0" bIns="0" anchor="t">
            <a:spAutoFit/>
          </a:bodyPr>
          <a:lstStyle/>
          <a:p>
            <a:pPr algn="l">
              <a:lnSpc>
                <a:spcPct val="132000"/>
              </a:lnSpc>
            </a:pPr>
            <a:r>
              <a:rPr sz="1050" b="0">
                <a:solidFill>
                  <a:srgbClr val="C4B5E8"/>
                </a:solidFill>
                <a:latin typeface="Courier New"/>
              </a:rPr>
              <a:t>Claude Code   .claude/settings.json  +  .claude/hooks/</a:t>
            </a:r>
          </a:p>
          <a:p>
            <a:pPr algn="l">
              <a:lnSpc>
                <a:spcPct val="132000"/>
              </a:lnSpc>
            </a:pPr>
            <a:r>
              <a:rPr sz="1050" b="0">
                <a:solidFill>
                  <a:srgbClr val="C4B5E8"/>
                </a:solidFill>
                <a:latin typeface="Courier New"/>
              </a:rPr>
              <a:t>Codex         .codex/hooks.json      +  .codex/hooks/</a:t>
            </a:r>
          </a:p>
        </p:txBody>
      </p:sp>
      <p:sp>
        <p:nvSpPr>
          <p:cNvPr id="17" name="TextBox 16"/>
          <p:cNvSpPr txBox="1"/>
          <p:nvPr/>
        </p:nvSpPr>
        <p:spPr>
          <a:xfrm>
            <a:off x="457200" y="4526280"/>
            <a:ext cx="8229600" cy="320040"/>
          </a:xfrm>
          <a:prstGeom prst="rect">
            <a:avLst/>
          </a:prstGeom>
          <a:noFill/>
        </p:spPr>
        <p:txBody>
          <a:bodyPr wrap="square" lIns="0" tIns="0" rIns="0" bIns="0" anchor="t">
            <a:spAutoFit/>
          </a:bodyPr>
          <a:lstStyle/>
          <a:p>
            <a:pPr algn="l"/>
            <a:r>
              <a:rPr sz="1200" b="0">
                <a:solidFill>
                  <a:srgbClr val="6E6389"/>
                </a:solidFill>
                <a:latin typeface="Calibri"/>
              </a:rPr>
              <a:t>Wire it once for the tool you’re using. After that it just happens.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SCORING WHAT TESTS CAN’T</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Some output has no right answer — like the weekly summary paragraph.</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536192"/>
            <a:ext cx="2615184" cy="160020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719072"/>
            <a:ext cx="2240280" cy="411480"/>
          </a:xfrm>
          <a:prstGeom prst="rect">
            <a:avLst/>
          </a:prstGeom>
          <a:noFill/>
        </p:spPr>
        <p:txBody>
          <a:bodyPr wrap="square" lIns="0" tIns="0" rIns="0" bIns="0" anchor="t">
            <a:spAutoFit/>
          </a:bodyPr>
          <a:lstStyle/>
          <a:p>
            <a:pPr algn="l"/>
            <a:r>
              <a:rPr sz="2200" b="1">
                <a:solidFill>
                  <a:srgbClr val="F59E0B"/>
                </a:solidFill>
                <a:latin typeface="Arial Black"/>
              </a:rPr>
              <a:t>1</a:t>
            </a:r>
          </a:p>
        </p:txBody>
      </p:sp>
      <p:sp>
        <p:nvSpPr>
          <p:cNvPr id="7" name="TextBox 6"/>
          <p:cNvSpPr txBox="1"/>
          <p:nvPr/>
        </p:nvSpPr>
        <p:spPr>
          <a:xfrm>
            <a:off x="658368" y="2157984"/>
            <a:ext cx="2240280" cy="292608"/>
          </a:xfrm>
          <a:prstGeom prst="rect">
            <a:avLst/>
          </a:prstGeom>
          <a:noFill/>
        </p:spPr>
        <p:txBody>
          <a:bodyPr wrap="square" lIns="0" tIns="0" rIns="0" bIns="0" anchor="t">
            <a:spAutoFit/>
          </a:bodyPr>
          <a:lstStyle/>
          <a:p>
            <a:pPr algn="l"/>
            <a:r>
              <a:rPr sz="1300" b="1">
                <a:solidFill>
                  <a:srgbClr val="2D1155"/>
                </a:solidFill>
                <a:latin typeface="Arial Black"/>
              </a:rPr>
              <a:t>Write a rubric</a:t>
            </a:r>
          </a:p>
        </p:txBody>
      </p:sp>
      <p:sp>
        <p:nvSpPr>
          <p:cNvPr id="8" name="TextBox 7"/>
          <p:cNvSpPr txBox="1"/>
          <p:nvPr/>
        </p:nvSpPr>
        <p:spPr>
          <a:xfrm>
            <a:off x="658368" y="2487168"/>
            <a:ext cx="2240280" cy="566928"/>
          </a:xfrm>
          <a:prstGeom prst="rect">
            <a:avLst/>
          </a:prstGeom>
          <a:noFill/>
        </p:spPr>
        <p:txBody>
          <a:bodyPr wrap="square" lIns="0" tIns="0" rIns="0" bIns="0" anchor="t">
            <a:spAutoFit/>
          </a:bodyPr>
          <a:lstStyle/>
          <a:p>
            <a:pPr algn="l">
              <a:lnSpc>
                <a:spcPct val="110000"/>
              </a:lnSpc>
            </a:pPr>
            <a:r>
              <a:rPr sz="1150" b="0">
                <a:solidFill>
                  <a:srgbClr val="6E6389"/>
                </a:solidFill>
                <a:latin typeface="Calibri"/>
              </a:rPr>
              <a:t>5 cases, each with what a good answer must contain.</a:t>
            </a:r>
          </a:p>
        </p:txBody>
      </p:sp>
      <p:sp>
        <p:nvSpPr>
          <p:cNvPr id="9" name="Rectangle 8"/>
          <p:cNvSpPr/>
          <p:nvPr/>
        </p:nvSpPr>
        <p:spPr>
          <a:xfrm>
            <a:off x="3264408" y="1536192"/>
            <a:ext cx="2615184" cy="160020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65576" y="1719072"/>
            <a:ext cx="2240280" cy="411480"/>
          </a:xfrm>
          <a:prstGeom prst="rect">
            <a:avLst/>
          </a:prstGeom>
          <a:noFill/>
        </p:spPr>
        <p:txBody>
          <a:bodyPr wrap="square" lIns="0" tIns="0" rIns="0" bIns="0" anchor="t">
            <a:spAutoFit/>
          </a:bodyPr>
          <a:lstStyle/>
          <a:p>
            <a:pPr algn="l"/>
            <a:r>
              <a:rPr sz="2200" b="1">
                <a:solidFill>
                  <a:srgbClr val="F59E0B"/>
                </a:solidFill>
                <a:latin typeface="Arial Black"/>
              </a:rPr>
              <a:t>2</a:t>
            </a:r>
          </a:p>
        </p:txBody>
      </p:sp>
      <p:sp>
        <p:nvSpPr>
          <p:cNvPr id="11" name="TextBox 10"/>
          <p:cNvSpPr txBox="1"/>
          <p:nvPr/>
        </p:nvSpPr>
        <p:spPr>
          <a:xfrm>
            <a:off x="3465576" y="2157984"/>
            <a:ext cx="2240280" cy="292608"/>
          </a:xfrm>
          <a:prstGeom prst="rect">
            <a:avLst/>
          </a:prstGeom>
          <a:noFill/>
        </p:spPr>
        <p:txBody>
          <a:bodyPr wrap="square" lIns="0" tIns="0" rIns="0" bIns="0" anchor="t">
            <a:spAutoFit/>
          </a:bodyPr>
          <a:lstStyle/>
          <a:p>
            <a:pPr algn="l"/>
            <a:r>
              <a:rPr sz="1300" b="1">
                <a:solidFill>
                  <a:srgbClr val="2D1155"/>
                </a:solidFill>
                <a:latin typeface="Arial Black"/>
              </a:rPr>
              <a:t>Let a model grade</a:t>
            </a:r>
          </a:p>
        </p:txBody>
      </p:sp>
      <p:sp>
        <p:nvSpPr>
          <p:cNvPr id="12" name="TextBox 11"/>
          <p:cNvSpPr txBox="1"/>
          <p:nvPr/>
        </p:nvSpPr>
        <p:spPr>
          <a:xfrm>
            <a:off x="3465576" y="2487168"/>
            <a:ext cx="2240280" cy="566928"/>
          </a:xfrm>
          <a:prstGeom prst="rect">
            <a:avLst/>
          </a:prstGeom>
          <a:noFill/>
        </p:spPr>
        <p:txBody>
          <a:bodyPr wrap="square" lIns="0" tIns="0" rIns="0" bIns="0" anchor="t">
            <a:spAutoFit/>
          </a:bodyPr>
          <a:lstStyle/>
          <a:p>
            <a:pPr algn="l">
              <a:lnSpc>
                <a:spcPct val="110000"/>
              </a:lnSpc>
            </a:pPr>
            <a:r>
              <a:rPr sz="1150" b="0">
                <a:solidFill>
                  <a:srgbClr val="6E6389"/>
                </a:solidFill>
                <a:latin typeface="Calibri"/>
              </a:rPr>
              <a:t>A sub-agent scores each output against the rubric.</a:t>
            </a:r>
          </a:p>
        </p:txBody>
      </p:sp>
      <p:sp>
        <p:nvSpPr>
          <p:cNvPr id="13" name="Rectangle 12"/>
          <p:cNvSpPr/>
          <p:nvPr/>
        </p:nvSpPr>
        <p:spPr>
          <a:xfrm>
            <a:off x="6071616" y="1536192"/>
            <a:ext cx="2615184" cy="160020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72783" y="1719072"/>
            <a:ext cx="2240280" cy="411480"/>
          </a:xfrm>
          <a:prstGeom prst="rect">
            <a:avLst/>
          </a:prstGeom>
          <a:noFill/>
        </p:spPr>
        <p:txBody>
          <a:bodyPr wrap="square" lIns="0" tIns="0" rIns="0" bIns="0" anchor="t">
            <a:spAutoFit/>
          </a:bodyPr>
          <a:lstStyle/>
          <a:p>
            <a:pPr algn="l"/>
            <a:r>
              <a:rPr sz="2200" b="1">
                <a:solidFill>
                  <a:srgbClr val="F59E0B"/>
                </a:solidFill>
                <a:latin typeface="Arial Black"/>
              </a:rPr>
              <a:t>3</a:t>
            </a:r>
          </a:p>
        </p:txBody>
      </p:sp>
      <p:sp>
        <p:nvSpPr>
          <p:cNvPr id="15" name="TextBox 14"/>
          <p:cNvSpPr txBox="1"/>
          <p:nvPr/>
        </p:nvSpPr>
        <p:spPr>
          <a:xfrm>
            <a:off x="6272783" y="2157984"/>
            <a:ext cx="2240280" cy="292608"/>
          </a:xfrm>
          <a:prstGeom prst="rect">
            <a:avLst/>
          </a:prstGeom>
          <a:noFill/>
        </p:spPr>
        <p:txBody>
          <a:bodyPr wrap="square" lIns="0" tIns="0" rIns="0" bIns="0" anchor="t">
            <a:spAutoFit/>
          </a:bodyPr>
          <a:lstStyle/>
          <a:p>
            <a:pPr algn="l"/>
            <a:r>
              <a:rPr sz="1300" b="1">
                <a:solidFill>
                  <a:srgbClr val="2D1155"/>
                </a:solidFill>
                <a:latin typeface="Arial Black"/>
              </a:rPr>
              <a:t>Gate on the score</a:t>
            </a:r>
          </a:p>
        </p:txBody>
      </p:sp>
      <p:sp>
        <p:nvSpPr>
          <p:cNvPr id="16" name="TextBox 15"/>
          <p:cNvSpPr txBox="1"/>
          <p:nvPr/>
        </p:nvSpPr>
        <p:spPr>
          <a:xfrm>
            <a:off x="6272783" y="2487168"/>
            <a:ext cx="2240280" cy="566928"/>
          </a:xfrm>
          <a:prstGeom prst="rect">
            <a:avLst/>
          </a:prstGeom>
          <a:noFill/>
        </p:spPr>
        <p:txBody>
          <a:bodyPr wrap="square" lIns="0" tIns="0" rIns="0" bIns="0" anchor="t">
            <a:spAutoFit/>
          </a:bodyPr>
          <a:lstStyle/>
          <a:p>
            <a:pPr algn="l">
              <a:lnSpc>
                <a:spcPct val="110000"/>
              </a:lnSpc>
            </a:pPr>
            <a:r>
              <a:rPr sz="1150" b="0">
                <a:solidFill>
                  <a:srgbClr val="6E6389"/>
                </a:solidFill>
                <a:latin typeface="Calibri"/>
              </a:rPr>
              <a:t>CI blocks any change that drops the score.</a:t>
            </a:r>
          </a:p>
        </p:txBody>
      </p:sp>
      <p:sp>
        <p:nvSpPr>
          <p:cNvPr id="17" name="TextBox 16"/>
          <p:cNvSpPr txBox="1"/>
          <p:nvPr/>
        </p:nvSpPr>
        <p:spPr>
          <a:xfrm>
            <a:off x="457200" y="3291840"/>
            <a:ext cx="8229600" cy="384048"/>
          </a:xfrm>
          <a:prstGeom prst="rect">
            <a:avLst/>
          </a:prstGeom>
          <a:noFill/>
        </p:spPr>
        <p:txBody>
          <a:bodyPr wrap="square" lIns="0" tIns="0" rIns="0" bIns="0" anchor="t">
            <a:spAutoFit/>
          </a:bodyPr>
          <a:lstStyle/>
          <a:p>
            <a:pPr algn="l">
              <a:lnSpc>
                <a:spcPct val="108000"/>
              </a:lnSpc>
            </a:pPr>
            <a:r>
              <a:rPr sz="900" b="1">
                <a:solidFill>
                  <a:srgbClr val="F59E0B"/>
                </a:solidFill>
                <a:latin typeface="Calibri"/>
              </a:rPr>
              <a:t>IN PLAIN TERMS   </a:t>
            </a:r>
            <a:r>
              <a:rPr sz="1200" b="0">
                <a:solidFill>
                  <a:srgbClr val="6E6389"/>
                </a:solidFill>
                <a:latin typeface="Calibri"/>
              </a:rPr>
              <a:t>This is called an eval. A test asks “is this correct?”. An eval asks “is this good enough?” — and turns a vague opinion into a number you can gate on.</a:t>
            </a:r>
          </a:p>
        </p:txBody>
      </p:sp>
      <p:sp>
        <p:nvSpPr>
          <p:cNvPr id="18" name="Rectangle 17"/>
          <p:cNvSpPr/>
          <p:nvPr/>
        </p:nvSpPr>
        <p:spPr>
          <a:xfrm>
            <a:off x="457200" y="3858768"/>
            <a:ext cx="8229600" cy="621792"/>
          </a:xfrm>
          <a:prstGeom prst="rect">
            <a:avLst/>
          </a:prstGeom>
          <a:solidFill>
            <a:srgbClr val="2D1155"/>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3858768"/>
            <a:ext cx="7498079" cy="621792"/>
          </a:xfrm>
          <a:prstGeom prst="rect">
            <a:avLst/>
          </a:prstGeom>
          <a:noFill/>
        </p:spPr>
        <p:txBody>
          <a:bodyPr wrap="square" lIns="0" tIns="0" rIns="0" bIns="0" anchor="ctr">
            <a:spAutoFit/>
          </a:bodyPr>
          <a:lstStyle/>
          <a:p>
            <a:pPr algn="l"/>
            <a:r>
              <a:rPr sz="1450" b="1">
                <a:solidFill>
                  <a:srgbClr val="FFFFFF"/>
                </a:solidFill>
                <a:latin typeface="Arial Black"/>
              </a:rPr>
              <a:t>If you can’t test it, score it. If you can’t score it, don’t automate it.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SO IT OUTLIVES THE ROOM</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Three things that keep the discipline running when nobody is watching.</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554480"/>
            <a:ext cx="2615184" cy="224028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755648"/>
            <a:ext cx="2240280" cy="292608"/>
          </a:xfrm>
          <a:prstGeom prst="rect">
            <a:avLst/>
          </a:prstGeom>
          <a:noFill/>
        </p:spPr>
        <p:txBody>
          <a:bodyPr wrap="square" lIns="0" tIns="0" rIns="0" bIns="0" anchor="t">
            <a:spAutoFit/>
          </a:bodyPr>
          <a:lstStyle/>
          <a:p>
            <a:pPr algn="l"/>
            <a:r>
              <a:rPr sz="1250" b="1">
                <a:solidFill>
                  <a:srgbClr val="7C3AED"/>
                </a:solidFill>
                <a:latin typeface="Arial Black"/>
              </a:rPr>
              <a:t>CI</a:t>
            </a:r>
          </a:p>
        </p:txBody>
      </p:sp>
      <p:sp>
        <p:nvSpPr>
          <p:cNvPr id="7" name="TextBox 6"/>
          <p:cNvSpPr txBox="1"/>
          <p:nvPr/>
        </p:nvSpPr>
        <p:spPr>
          <a:xfrm>
            <a:off x="658368" y="2121408"/>
            <a:ext cx="2240280" cy="1051560"/>
          </a:xfrm>
          <a:prstGeom prst="rect">
            <a:avLst/>
          </a:prstGeom>
          <a:noFill/>
        </p:spPr>
        <p:txBody>
          <a:bodyPr wrap="square" lIns="0" tIns="0" rIns="0" bIns="0" anchor="t">
            <a:spAutoFit/>
          </a:bodyPr>
          <a:lstStyle/>
          <a:p>
            <a:pPr algn="l">
              <a:lnSpc>
                <a:spcPct val="112000"/>
              </a:lnSpc>
            </a:pPr>
            <a:r>
              <a:rPr sz="1200" b="0">
                <a:solidFill>
                  <a:srgbClr val="2D1155"/>
                </a:solidFill>
                <a:latin typeface="Calibri"/>
              </a:rPr>
              <a:t>GitHub Actions runs the harness and the build on every push and PR.</a:t>
            </a:r>
          </a:p>
        </p:txBody>
      </p:sp>
      <p:sp>
        <p:nvSpPr>
          <p:cNvPr id="8" name="Rectangle 7"/>
          <p:cNvSpPr/>
          <p:nvPr/>
        </p:nvSpPr>
        <p:spPr>
          <a:xfrm>
            <a:off x="658368" y="3218688"/>
            <a:ext cx="2240280" cy="402336"/>
          </a:xfrm>
          <a:prstGeom prst="rect">
            <a:avLst/>
          </a:prstGeom>
          <a:solidFill>
            <a:srgbClr val="1E0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3218688"/>
            <a:ext cx="2103120" cy="402336"/>
          </a:xfrm>
          <a:prstGeom prst="rect">
            <a:avLst/>
          </a:prstGeom>
          <a:noFill/>
        </p:spPr>
        <p:txBody>
          <a:bodyPr wrap="square" lIns="0" tIns="0" rIns="0" bIns="0" anchor="ctr">
            <a:spAutoFit/>
          </a:bodyPr>
          <a:lstStyle/>
          <a:p>
            <a:pPr algn="l"/>
            <a:r>
              <a:rPr sz="900" b="0">
                <a:solidFill>
                  <a:srgbClr val="C4B5E8"/>
                </a:solidFill>
                <a:latin typeface="Courier New"/>
              </a:rPr>
              <a:t>.github/workflows/ci.yml</a:t>
            </a:r>
          </a:p>
        </p:txBody>
      </p:sp>
      <p:sp>
        <p:nvSpPr>
          <p:cNvPr id="10" name="Rectangle 9"/>
          <p:cNvSpPr/>
          <p:nvPr/>
        </p:nvSpPr>
        <p:spPr>
          <a:xfrm>
            <a:off x="3264408" y="1554480"/>
            <a:ext cx="2615184" cy="224028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65576" y="1755648"/>
            <a:ext cx="2240280" cy="292608"/>
          </a:xfrm>
          <a:prstGeom prst="rect">
            <a:avLst/>
          </a:prstGeom>
          <a:noFill/>
        </p:spPr>
        <p:txBody>
          <a:bodyPr wrap="square" lIns="0" tIns="0" rIns="0" bIns="0" anchor="t">
            <a:spAutoFit/>
          </a:bodyPr>
          <a:lstStyle/>
          <a:p>
            <a:pPr algn="l"/>
            <a:r>
              <a:rPr sz="1250" b="1">
                <a:solidFill>
                  <a:srgbClr val="7C3AED"/>
                </a:solidFill>
                <a:latin typeface="Arial Black"/>
              </a:rPr>
              <a:t>HEADLESS</a:t>
            </a:r>
          </a:p>
        </p:txBody>
      </p:sp>
      <p:sp>
        <p:nvSpPr>
          <p:cNvPr id="12" name="TextBox 11"/>
          <p:cNvSpPr txBox="1"/>
          <p:nvPr/>
        </p:nvSpPr>
        <p:spPr>
          <a:xfrm>
            <a:off x="3465576" y="2121408"/>
            <a:ext cx="2240280" cy="1051560"/>
          </a:xfrm>
          <a:prstGeom prst="rect">
            <a:avLst/>
          </a:prstGeom>
          <a:noFill/>
        </p:spPr>
        <p:txBody>
          <a:bodyPr wrap="square" lIns="0" tIns="0" rIns="0" bIns="0" anchor="t">
            <a:spAutoFit/>
          </a:bodyPr>
          <a:lstStyle/>
          <a:p>
            <a:pPr algn="l">
              <a:lnSpc>
                <a:spcPct val="112000"/>
              </a:lnSpc>
            </a:pPr>
            <a:r>
              <a:rPr sz="1200" b="0">
                <a:solidFill>
                  <a:srgbClr val="2D1155"/>
                </a:solidFill>
                <a:latin typeface="Calibri"/>
              </a:rPr>
              <a:t>Run the agent one-shot from a script, inside a verification loop.</a:t>
            </a:r>
          </a:p>
        </p:txBody>
      </p:sp>
      <p:sp>
        <p:nvSpPr>
          <p:cNvPr id="13" name="Rectangle 12"/>
          <p:cNvSpPr/>
          <p:nvPr/>
        </p:nvSpPr>
        <p:spPr>
          <a:xfrm>
            <a:off x="3465576" y="3218688"/>
            <a:ext cx="2240280" cy="402336"/>
          </a:xfrm>
          <a:prstGeom prst="rect">
            <a:avLst/>
          </a:prstGeom>
          <a:solidFill>
            <a:srgbClr val="1E0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38727" y="3218688"/>
            <a:ext cx="2103120" cy="402336"/>
          </a:xfrm>
          <a:prstGeom prst="rect">
            <a:avLst/>
          </a:prstGeom>
          <a:noFill/>
        </p:spPr>
        <p:txBody>
          <a:bodyPr wrap="square" lIns="0" tIns="0" rIns="0" bIns="0" anchor="ctr">
            <a:spAutoFit/>
          </a:bodyPr>
          <a:lstStyle/>
          <a:p>
            <a:pPr algn="l"/>
            <a:r>
              <a:rPr sz="900" b="0">
                <a:solidFill>
                  <a:srgbClr val="C4B5E8"/>
                </a:solidFill>
                <a:latin typeface="Courier New"/>
              </a:rPr>
              <a:t>claude -p   /   codex exec</a:t>
            </a:r>
          </a:p>
        </p:txBody>
      </p:sp>
      <p:sp>
        <p:nvSpPr>
          <p:cNvPr id="15" name="Rectangle 14"/>
          <p:cNvSpPr/>
          <p:nvPr/>
        </p:nvSpPr>
        <p:spPr>
          <a:xfrm>
            <a:off x="6071616" y="1554480"/>
            <a:ext cx="2615184" cy="224028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72783" y="1755648"/>
            <a:ext cx="2240280" cy="292608"/>
          </a:xfrm>
          <a:prstGeom prst="rect">
            <a:avLst/>
          </a:prstGeom>
          <a:noFill/>
        </p:spPr>
        <p:txBody>
          <a:bodyPr wrap="square" lIns="0" tIns="0" rIns="0" bIns="0" anchor="t">
            <a:spAutoFit/>
          </a:bodyPr>
          <a:lstStyle/>
          <a:p>
            <a:pPr algn="l"/>
            <a:r>
              <a:rPr sz="1250" b="1">
                <a:solidFill>
                  <a:srgbClr val="7C3AED"/>
                </a:solidFill>
                <a:latin typeface="Arial Black"/>
              </a:rPr>
              <a:t>SECURITY PASS</a:t>
            </a:r>
          </a:p>
        </p:txBody>
      </p:sp>
      <p:sp>
        <p:nvSpPr>
          <p:cNvPr id="17" name="TextBox 16"/>
          <p:cNvSpPr txBox="1"/>
          <p:nvPr/>
        </p:nvSpPr>
        <p:spPr>
          <a:xfrm>
            <a:off x="6272783" y="2121408"/>
            <a:ext cx="2240280" cy="1051560"/>
          </a:xfrm>
          <a:prstGeom prst="rect">
            <a:avLst/>
          </a:prstGeom>
          <a:noFill/>
        </p:spPr>
        <p:txBody>
          <a:bodyPr wrap="square" lIns="0" tIns="0" rIns="0" bIns="0" anchor="t">
            <a:spAutoFit/>
          </a:bodyPr>
          <a:lstStyle/>
          <a:p>
            <a:pPr algn="l">
              <a:lnSpc>
                <a:spcPct val="112000"/>
              </a:lnSpc>
            </a:pPr>
            <a:r>
              <a:rPr sz="1200" b="0">
                <a:solidFill>
                  <a:srgbClr val="2D1155"/>
                </a:solidFill>
                <a:latin typeface="Calibri"/>
              </a:rPr>
              <a:t>Correctness, secrets and licensing reviewed before merge.</a:t>
            </a:r>
          </a:p>
        </p:txBody>
      </p:sp>
      <p:sp>
        <p:nvSpPr>
          <p:cNvPr id="18" name="Rectangle 17"/>
          <p:cNvSpPr/>
          <p:nvPr/>
        </p:nvSpPr>
        <p:spPr>
          <a:xfrm>
            <a:off x="6272783" y="3218688"/>
            <a:ext cx="2240280" cy="402336"/>
          </a:xfrm>
          <a:prstGeom prst="rect">
            <a:avLst/>
          </a:prstGeom>
          <a:solidFill>
            <a:srgbClr val="1E0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45936" y="3218688"/>
            <a:ext cx="2103120" cy="402336"/>
          </a:xfrm>
          <a:prstGeom prst="rect">
            <a:avLst/>
          </a:prstGeom>
          <a:noFill/>
        </p:spPr>
        <p:txBody>
          <a:bodyPr wrap="square" lIns="0" tIns="0" rIns="0" bIns="0" anchor="ctr">
            <a:spAutoFit/>
          </a:bodyPr>
          <a:lstStyle/>
          <a:p>
            <a:pPr algn="l"/>
            <a:r>
              <a:rPr sz="900" b="0">
                <a:solidFill>
                  <a:srgbClr val="C4B5E8"/>
                </a:solidFill>
                <a:latin typeface="Courier New"/>
              </a:rPr>
              <a:t>/security-review   /   /review</a:t>
            </a:r>
          </a:p>
        </p:txBody>
      </p:sp>
      <p:sp>
        <p:nvSpPr>
          <p:cNvPr id="20" name="TextBox 19"/>
          <p:cNvSpPr txBox="1"/>
          <p:nvPr/>
        </p:nvSpPr>
        <p:spPr>
          <a:xfrm>
            <a:off x="457200" y="3977639"/>
            <a:ext cx="8229600" cy="640080"/>
          </a:xfrm>
          <a:prstGeom prst="rect">
            <a:avLst/>
          </a:prstGeom>
          <a:noFill/>
        </p:spPr>
        <p:txBody>
          <a:bodyPr wrap="square" lIns="0" tIns="0" rIns="0" bIns="0" anchor="t">
            <a:spAutoFit/>
          </a:bodyPr>
          <a:lstStyle/>
          <a:p>
            <a:pPr algn="l">
              <a:lnSpc>
                <a:spcPct val="110000"/>
              </a:lnSpc>
            </a:pPr>
            <a:r>
              <a:rPr sz="1250" b="0">
                <a:solidFill>
                  <a:srgbClr val="6E6389"/>
                </a:solidFill>
                <a:latin typeface="Calibri"/>
              </a:rPr>
              <a:t>The security and licensing gate stays human, and it stays yours. Everything else can be automated; sign-off shouldn’t be.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D1155"/>
        </a:solidFill>
        <a:effectLst/>
      </p:bgPr>
    </p:bg>
    <p:spTree>
      <p:nvGrpSpPr>
        <p:cNvPr id="1" name=""/>
        <p:cNvGrpSpPr/>
        <p:nvPr/>
      </p:nvGrpSpPr>
      <p:grpSpPr>
        <a:xfrm>
          <a:off x="0" y="0"/>
          <a:ext cx="0" cy="0"/>
          <a:chOff x="0" y="0"/>
          <a:chExt cx="0" cy="0"/>
        </a:xfrm>
      </p:grpSpPr>
      <p:sp>
        <p:nvSpPr>
          <p:cNvPr id="2" name="Rectangle 1"/>
          <p:cNvSpPr/>
          <p:nvPr/>
        </p:nvSpPr>
        <p:spPr>
          <a:xfrm>
            <a:off x="6400800" y="0"/>
            <a:ext cx="2743200" cy="51435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0" y="0"/>
            <a:ext cx="128016" cy="51435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051560"/>
            <a:ext cx="82296" cy="2651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097280"/>
            <a:ext cx="5486400" cy="274320"/>
          </a:xfrm>
          <a:prstGeom prst="rect">
            <a:avLst/>
          </a:prstGeom>
          <a:noFill/>
        </p:spPr>
        <p:txBody>
          <a:bodyPr wrap="square" lIns="0" tIns="0" rIns="0" bIns="0" anchor="t">
            <a:spAutoFit/>
          </a:bodyPr>
          <a:lstStyle/>
          <a:p>
            <a:pPr algn="l"/>
            <a:r>
              <a:rPr sz="1200" b="1">
                <a:solidFill>
                  <a:srgbClr val="F59E0B"/>
                </a:solidFill>
                <a:latin typeface="Calibri"/>
              </a:rPr>
              <a:t>THE ONE RULE FOR THIS AFTERNOON</a:t>
            </a:r>
          </a:p>
        </p:txBody>
      </p:sp>
      <p:sp>
        <p:nvSpPr>
          <p:cNvPr id="7" name="TextBox 6"/>
          <p:cNvSpPr txBox="1"/>
          <p:nvPr/>
        </p:nvSpPr>
        <p:spPr>
          <a:xfrm>
            <a:off x="658368" y="1463040"/>
            <a:ext cx="5623560" cy="1188720"/>
          </a:xfrm>
          <a:prstGeom prst="rect">
            <a:avLst/>
          </a:prstGeom>
          <a:noFill/>
        </p:spPr>
        <p:txBody>
          <a:bodyPr wrap="square" lIns="0" tIns="0" rIns="0" bIns="0" anchor="t">
            <a:spAutoFit/>
          </a:bodyPr>
          <a:lstStyle/>
          <a:p>
            <a:pPr algn="l">
              <a:lnSpc>
                <a:spcPct val="100000"/>
              </a:lnSpc>
            </a:pPr>
            <a:r>
              <a:rPr sz="3600" b="1">
                <a:solidFill>
                  <a:srgbClr val="FFFFFF"/>
                </a:solidFill>
                <a:latin typeface="Arial Black"/>
              </a:rPr>
              <a:t>Don’t read harder.</a:t>
            </a:r>
          </a:p>
          <a:p>
            <a:pPr algn="l">
              <a:lnSpc>
                <a:spcPct val="100000"/>
              </a:lnSpc>
            </a:pPr>
            <a:r>
              <a:rPr sz="3600" b="1">
                <a:solidFill>
                  <a:srgbClr val="F59E0B"/>
                </a:solidFill>
                <a:latin typeface="Arial Black"/>
              </a:rPr>
              <a:t>Build the proof.</a:t>
            </a:r>
          </a:p>
        </p:txBody>
      </p:sp>
      <p:sp>
        <p:nvSpPr>
          <p:cNvPr id="8" name="TextBox 7"/>
          <p:cNvSpPr txBox="1"/>
          <p:nvPr/>
        </p:nvSpPr>
        <p:spPr>
          <a:xfrm>
            <a:off x="676656" y="2880360"/>
            <a:ext cx="5486400" cy="822960"/>
          </a:xfrm>
          <a:prstGeom prst="rect">
            <a:avLst/>
          </a:prstGeom>
          <a:noFill/>
        </p:spPr>
        <p:txBody>
          <a:bodyPr wrap="square" lIns="0" tIns="0" rIns="0" bIns="0" anchor="t">
            <a:spAutoFit/>
          </a:bodyPr>
          <a:lstStyle/>
          <a:p>
            <a:pPr algn="l">
              <a:lnSpc>
                <a:spcPct val="112000"/>
              </a:lnSpc>
            </a:pPr>
            <a:r>
              <a:rPr sz="1300" b="0">
                <a:solidFill>
                  <a:srgbClr val="DDD6FE"/>
                </a:solidFill>
                <a:latin typeface="Calibri"/>
              </a:rPr>
              <a:t>Every time you feel the urge to scroll the diff looking for the bug, ask instead: what test, what sub-agent, or what gate would have caught this for me?</a:t>
            </a:r>
          </a:p>
        </p:txBody>
      </p:sp>
      <p:sp>
        <p:nvSpPr>
          <p:cNvPr id="9" name="TextBox 8"/>
          <p:cNvSpPr txBox="1"/>
          <p:nvPr/>
        </p:nvSpPr>
        <p:spPr>
          <a:xfrm>
            <a:off x="676656" y="3886200"/>
            <a:ext cx="5486400" cy="292608"/>
          </a:xfrm>
          <a:prstGeom prst="rect">
            <a:avLst/>
          </a:prstGeom>
          <a:noFill/>
        </p:spPr>
        <p:txBody>
          <a:bodyPr wrap="square" lIns="0" tIns="0" rIns="0" bIns="0" anchor="t">
            <a:spAutoFit/>
          </a:bodyPr>
          <a:lstStyle/>
          <a:p>
            <a:pPr algn="l"/>
            <a:r>
              <a:rPr sz="1150" b="0">
                <a:solidFill>
                  <a:srgbClr val="C4B5E8"/>
                </a:solidFill>
                <a:latin typeface="Calibri"/>
              </a:rPr>
              <a:t>Rusty: you never trusted the output by eye anyway — this is your advantage.</a:t>
            </a:r>
          </a:p>
        </p:txBody>
      </p:sp>
      <p:sp>
        <p:nvSpPr>
          <p:cNvPr id="10" name="TextBox 9"/>
          <p:cNvSpPr txBox="1"/>
          <p:nvPr/>
        </p:nvSpPr>
        <p:spPr>
          <a:xfrm>
            <a:off x="676656" y="4224528"/>
            <a:ext cx="5486400" cy="292608"/>
          </a:xfrm>
          <a:prstGeom prst="rect">
            <a:avLst/>
          </a:prstGeom>
          <a:noFill/>
        </p:spPr>
        <p:txBody>
          <a:bodyPr wrap="square" lIns="0" tIns="0" rIns="0" bIns="0" anchor="t">
            <a:spAutoFit/>
          </a:bodyPr>
          <a:lstStyle/>
          <a:p>
            <a:pPr algn="l"/>
            <a:r>
              <a:rPr sz="1150" b="0">
                <a:solidFill>
                  <a:srgbClr val="C4B5E8"/>
                </a:solidFill>
                <a:latin typeface="Calibri"/>
              </a:rPr>
              <a:t>Confident: your reading is good. It still isn’t fast enough. This one’s for you.</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IN THE LAB — 60 MINUTES</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Four blocks. You orchestrate; you don’t type implementation.</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463040"/>
            <a:ext cx="7772400" cy="676656"/>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63040"/>
            <a:ext cx="585216" cy="676656"/>
          </a:xfrm>
          <a:prstGeom prst="rect">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463040"/>
            <a:ext cx="585216" cy="676656"/>
          </a:xfrm>
          <a:prstGeom prst="rect">
            <a:avLst/>
          </a:prstGeom>
          <a:noFill/>
        </p:spPr>
        <p:txBody>
          <a:bodyPr wrap="square" lIns="0" tIns="0" rIns="0" bIns="0" anchor="ctr">
            <a:spAutoFit/>
          </a:bodyPr>
          <a:lstStyle/>
          <a:p>
            <a:pPr algn="ctr"/>
            <a:r>
              <a:rPr sz="1800" b="1">
                <a:solidFill>
                  <a:srgbClr val="F59E0B"/>
                </a:solidFill>
                <a:latin typeface="Arial Black"/>
              </a:rPr>
              <a:t>A</a:t>
            </a:r>
          </a:p>
        </p:txBody>
      </p:sp>
      <p:sp>
        <p:nvSpPr>
          <p:cNvPr id="8" name="TextBox 7"/>
          <p:cNvSpPr txBox="1"/>
          <p:nvPr/>
        </p:nvSpPr>
        <p:spPr>
          <a:xfrm>
            <a:off x="1234440" y="1563624"/>
            <a:ext cx="2194560" cy="274320"/>
          </a:xfrm>
          <a:prstGeom prst="rect">
            <a:avLst/>
          </a:prstGeom>
          <a:noFill/>
        </p:spPr>
        <p:txBody>
          <a:bodyPr wrap="square" lIns="0" tIns="0" rIns="0" bIns="0" anchor="t">
            <a:spAutoFit/>
          </a:bodyPr>
          <a:lstStyle/>
          <a:p>
            <a:pPr algn="l"/>
            <a:r>
              <a:rPr sz="1300" b="1">
                <a:solidFill>
                  <a:srgbClr val="2D1155"/>
                </a:solidFill>
                <a:latin typeface="Arial Black"/>
              </a:rPr>
              <a:t>The harness</a:t>
            </a:r>
          </a:p>
        </p:txBody>
      </p:sp>
      <p:sp>
        <p:nvSpPr>
          <p:cNvPr id="9" name="TextBox 8"/>
          <p:cNvSpPr txBox="1"/>
          <p:nvPr/>
        </p:nvSpPr>
        <p:spPr>
          <a:xfrm>
            <a:off x="1234440" y="1847088"/>
            <a:ext cx="5486400" cy="274320"/>
          </a:xfrm>
          <a:prstGeom prst="rect">
            <a:avLst/>
          </a:prstGeom>
          <a:noFill/>
        </p:spPr>
        <p:txBody>
          <a:bodyPr wrap="square" lIns="0" tIns="0" rIns="0" bIns="0" anchor="t">
            <a:spAutoFit/>
          </a:bodyPr>
          <a:lstStyle/>
          <a:p>
            <a:pPr algn="l"/>
            <a:r>
              <a:rPr sz="1150" b="0">
                <a:solidFill>
                  <a:srgbClr val="6E6389"/>
                </a:solidFill>
                <a:latin typeface="Calibri"/>
              </a:rPr>
              <a:t>Tests for the edge cases we skipped. See one fail, then make it pass.</a:t>
            </a:r>
          </a:p>
        </p:txBody>
      </p:sp>
      <p:sp>
        <p:nvSpPr>
          <p:cNvPr id="10" name="TextBox 9"/>
          <p:cNvSpPr txBox="1"/>
          <p:nvPr/>
        </p:nvSpPr>
        <p:spPr>
          <a:xfrm>
            <a:off x="6949440" y="1563624"/>
            <a:ext cx="1005840" cy="274320"/>
          </a:xfrm>
          <a:prstGeom prst="rect">
            <a:avLst/>
          </a:prstGeom>
          <a:noFill/>
        </p:spPr>
        <p:txBody>
          <a:bodyPr wrap="square" lIns="0" tIns="0" rIns="0" bIns="0" anchor="t">
            <a:spAutoFit/>
          </a:bodyPr>
          <a:lstStyle/>
          <a:p>
            <a:pPr algn="r"/>
            <a:r>
              <a:rPr sz="1100" b="1">
                <a:solidFill>
                  <a:srgbClr val="7C3AED"/>
                </a:solidFill>
                <a:latin typeface="Calibri"/>
              </a:rPr>
              <a:t>15 min</a:t>
            </a:r>
          </a:p>
        </p:txBody>
      </p:sp>
      <p:sp>
        <p:nvSpPr>
          <p:cNvPr id="11" name="Rectangle 10"/>
          <p:cNvSpPr/>
          <p:nvPr/>
        </p:nvSpPr>
        <p:spPr>
          <a:xfrm>
            <a:off x="457200" y="2231136"/>
            <a:ext cx="7772400" cy="676656"/>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2231136"/>
            <a:ext cx="585216" cy="676656"/>
          </a:xfrm>
          <a:prstGeom prst="rect">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2231136"/>
            <a:ext cx="585216" cy="676656"/>
          </a:xfrm>
          <a:prstGeom prst="rect">
            <a:avLst/>
          </a:prstGeom>
          <a:noFill/>
        </p:spPr>
        <p:txBody>
          <a:bodyPr wrap="square" lIns="0" tIns="0" rIns="0" bIns="0" anchor="ctr">
            <a:spAutoFit/>
          </a:bodyPr>
          <a:lstStyle/>
          <a:p>
            <a:pPr algn="ctr"/>
            <a:r>
              <a:rPr sz="1800" b="1">
                <a:solidFill>
                  <a:srgbClr val="F59E0B"/>
                </a:solidFill>
                <a:latin typeface="Arial Black"/>
              </a:rPr>
              <a:t>B</a:t>
            </a:r>
          </a:p>
        </p:txBody>
      </p:sp>
      <p:sp>
        <p:nvSpPr>
          <p:cNvPr id="14" name="TextBox 13"/>
          <p:cNvSpPr txBox="1"/>
          <p:nvPr/>
        </p:nvSpPr>
        <p:spPr>
          <a:xfrm>
            <a:off x="1234440" y="2331720"/>
            <a:ext cx="2194560" cy="274320"/>
          </a:xfrm>
          <a:prstGeom prst="rect">
            <a:avLst/>
          </a:prstGeom>
          <a:noFill/>
        </p:spPr>
        <p:txBody>
          <a:bodyPr wrap="square" lIns="0" tIns="0" rIns="0" bIns="0" anchor="t">
            <a:spAutoFit/>
          </a:bodyPr>
          <a:lstStyle/>
          <a:p>
            <a:pPr algn="l"/>
            <a:r>
              <a:rPr sz="1300" b="1">
                <a:solidFill>
                  <a:srgbClr val="2D1155"/>
                </a:solidFill>
                <a:latin typeface="Arial Black"/>
              </a:rPr>
              <a:t>The sub-agents</a:t>
            </a:r>
          </a:p>
        </p:txBody>
      </p:sp>
      <p:sp>
        <p:nvSpPr>
          <p:cNvPr id="15" name="TextBox 14"/>
          <p:cNvSpPr txBox="1"/>
          <p:nvPr/>
        </p:nvSpPr>
        <p:spPr>
          <a:xfrm>
            <a:off x="1234440" y="2615184"/>
            <a:ext cx="5486400" cy="274320"/>
          </a:xfrm>
          <a:prstGeom prst="rect">
            <a:avLst/>
          </a:prstGeom>
          <a:noFill/>
        </p:spPr>
        <p:txBody>
          <a:bodyPr wrap="square" lIns="0" tIns="0" rIns="0" bIns="0" anchor="t">
            <a:spAutoFit/>
          </a:bodyPr>
          <a:lstStyle/>
          <a:p>
            <a:pPr algn="l"/>
            <a:r>
              <a:rPr sz="1150" b="0">
                <a:solidFill>
                  <a:srgbClr val="6E6389"/>
                </a:solidFill>
                <a:latin typeface="Calibri"/>
              </a:rPr>
              <a:t>Create the test-writer, the read-only reviewer, and the verifier.</a:t>
            </a:r>
          </a:p>
        </p:txBody>
      </p:sp>
      <p:sp>
        <p:nvSpPr>
          <p:cNvPr id="16" name="TextBox 15"/>
          <p:cNvSpPr txBox="1"/>
          <p:nvPr/>
        </p:nvSpPr>
        <p:spPr>
          <a:xfrm>
            <a:off x="6949440" y="2331720"/>
            <a:ext cx="1005840" cy="274320"/>
          </a:xfrm>
          <a:prstGeom prst="rect">
            <a:avLst/>
          </a:prstGeom>
          <a:noFill/>
        </p:spPr>
        <p:txBody>
          <a:bodyPr wrap="square" lIns="0" tIns="0" rIns="0" bIns="0" anchor="t">
            <a:spAutoFit/>
          </a:bodyPr>
          <a:lstStyle/>
          <a:p>
            <a:pPr algn="r"/>
            <a:r>
              <a:rPr sz="1100" b="1">
                <a:solidFill>
                  <a:srgbClr val="7C3AED"/>
                </a:solidFill>
                <a:latin typeface="Calibri"/>
              </a:rPr>
              <a:t>15 min</a:t>
            </a:r>
          </a:p>
        </p:txBody>
      </p:sp>
      <p:sp>
        <p:nvSpPr>
          <p:cNvPr id="17" name="Rectangle 16"/>
          <p:cNvSpPr/>
          <p:nvPr/>
        </p:nvSpPr>
        <p:spPr>
          <a:xfrm>
            <a:off x="457200" y="2999232"/>
            <a:ext cx="7772400" cy="676656"/>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 y="2999232"/>
            <a:ext cx="585216" cy="676656"/>
          </a:xfrm>
          <a:prstGeom prst="rect">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2999232"/>
            <a:ext cx="585216" cy="676656"/>
          </a:xfrm>
          <a:prstGeom prst="rect">
            <a:avLst/>
          </a:prstGeom>
          <a:noFill/>
        </p:spPr>
        <p:txBody>
          <a:bodyPr wrap="square" lIns="0" tIns="0" rIns="0" bIns="0" anchor="ctr">
            <a:spAutoFit/>
          </a:bodyPr>
          <a:lstStyle/>
          <a:p>
            <a:pPr algn="ctr"/>
            <a:r>
              <a:rPr sz="1800" b="1">
                <a:solidFill>
                  <a:srgbClr val="F59E0B"/>
                </a:solidFill>
                <a:latin typeface="Arial Black"/>
              </a:rPr>
              <a:t>C</a:t>
            </a:r>
          </a:p>
        </p:txBody>
      </p:sp>
      <p:sp>
        <p:nvSpPr>
          <p:cNvPr id="20" name="TextBox 19"/>
          <p:cNvSpPr txBox="1"/>
          <p:nvPr/>
        </p:nvSpPr>
        <p:spPr>
          <a:xfrm>
            <a:off x="1234440" y="3099815"/>
            <a:ext cx="2194560" cy="274320"/>
          </a:xfrm>
          <a:prstGeom prst="rect">
            <a:avLst/>
          </a:prstGeom>
          <a:noFill/>
        </p:spPr>
        <p:txBody>
          <a:bodyPr wrap="square" lIns="0" tIns="0" rIns="0" bIns="0" anchor="t">
            <a:spAutoFit/>
          </a:bodyPr>
          <a:lstStyle/>
          <a:p>
            <a:pPr algn="l"/>
            <a:r>
              <a:rPr sz="1300" b="1">
                <a:solidFill>
                  <a:srgbClr val="2D1155"/>
                </a:solidFill>
                <a:latin typeface="Arial Black"/>
              </a:rPr>
              <a:t>The team</a:t>
            </a:r>
          </a:p>
        </p:txBody>
      </p:sp>
      <p:sp>
        <p:nvSpPr>
          <p:cNvPr id="21" name="TextBox 20"/>
          <p:cNvSpPr txBox="1"/>
          <p:nvPr/>
        </p:nvSpPr>
        <p:spPr>
          <a:xfrm>
            <a:off x="1234440" y="3383279"/>
            <a:ext cx="5486400" cy="274320"/>
          </a:xfrm>
          <a:prstGeom prst="rect">
            <a:avLst/>
          </a:prstGeom>
          <a:noFill/>
        </p:spPr>
        <p:txBody>
          <a:bodyPr wrap="square" lIns="0" tIns="0" rIns="0" bIns="0" anchor="t">
            <a:spAutoFit/>
          </a:bodyPr>
          <a:lstStyle/>
          <a:p>
            <a:pPr algn="l"/>
            <a:r>
              <a:rPr sz="1150" b="0">
                <a:solidFill>
                  <a:srgbClr val="6E6389"/>
                </a:solidFill>
                <a:latin typeface="Calibri"/>
              </a:rPr>
              <a:t>Ship a monthly progress ring end to end, under TDD.</a:t>
            </a:r>
          </a:p>
        </p:txBody>
      </p:sp>
      <p:sp>
        <p:nvSpPr>
          <p:cNvPr id="22" name="TextBox 21"/>
          <p:cNvSpPr txBox="1"/>
          <p:nvPr/>
        </p:nvSpPr>
        <p:spPr>
          <a:xfrm>
            <a:off x="6949440" y="3099815"/>
            <a:ext cx="1005840" cy="274320"/>
          </a:xfrm>
          <a:prstGeom prst="rect">
            <a:avLst/>
          </a:prstGeom>
          <a:noFill/>
        </p:spPr>
        <p:txBody>
          <a:bodyPr wrap="square" lIns="0" tIns="0" rIns="0" bIns="0" anchor="t">
            <a:spAutoFit/>
          </a:bodyPr>
          <a:lstStyle/>
          <a:p>
            <a:pPr algn="r"/>
            <a:r>
              <a:rPr sz="1100" b="1">
                <a:solidFill>
                  <a:srgbClr val="7C3AED"/>
                </a:solidFill>
                <a:latin typeface="Calibri"/>
              </a:rPr>
              <a:t>20 min</a:t>
            </a:r>
          </a:p>
        </p:txBody>
      </p:sp>
      <p:sp>
        <p:nvSpPr>
          <p:cNvPr id="23" name="Rectangle 22"/>
          <p:cNvSpPr/>
          <p:nvPr/>
        </p:nvSpPr>
        <p:spPr>
          <a:xfrm>
            <a:off x="457200" y="3767328"/>
            <a:ext cx="7772400" cy="676656"/>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57200" y="3767328"/>
            <a:ext cx="585216" cy="676656"/>
          </a:xfrm>
          <a:prstGeom prst="rect">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3767328"/>
            <a:ext cx="585216" cy="676656"/>
          </a:xfrm>
          <a:prstGeom prst="rect">
            <a:avLst/>
          </a:prstGeom>
          <a:noFill/>
        </p:spPr>
        <p:txBody>
          <a:bodyPr wrap="square" lIns="0" tIns="0" rIns="0" bIns="0" anchor="ctr">
            <a:spAutoFit/>
          </a:bodyPr>
          <a:lstStyle/>
          <a:p>
            <a:pPr algn="ctr"/>
            <a:r>
              <a:rPr sz="1800" b="1">
                <a:solidFill>
                  <a:srgbClr val="F59E0B"/>
                </a:solidFill>
                <a:latin typeface="Arial Black"/>
              </a:rPr>
              <a:t>D</a:t>
            </a:r>
          </a:p>
        </p:txBody>
      </p:sp>
      <p:sp>
        <p:nvSpPr>
          <p:cNvPr id="26" name="TextBox 25"/>
          <p:cNvSpPr txBox="1"/>
          <p:nvPr/>
        </p:nvSpPr>
        <p:spPr>
          <a:xfrm>
            <a:off x="1234440" y="3867912"/>
            <a:ext cx="2194560" cy="274320"/>
          </a:xfrm>
          <a:prstGeom prst="rect">
            <a:avLst/>
          </a:prstGeom>
          <a:noFill/>
        </p:spPr>
        <p:txBody>
          <a:bodyPr wrap="square" lIns="0" tIns="0" rIns="0" bIns="0" anchor="t">
            <a:spAutoFit/>
          </a:bodyPr>
          <a:lstStyle/>
          <a:p>
            <a:pPr algn="l"/>
            <a:r>
              <a:rPr sz="1300" b="1">
                <a:solidFill>
                  <a:srgbClr val="2D1155"/>
                </a:solidFill>
                <a:latin typeface="Arial Black"/>
              </a:rPr>
              <a:t>Lock it in</a:t>
            </a:r>
          </a:p>
        </p:txBody>
      </p:sp>
      <p:sp>
        <p:nvSpPr>
          <p:cNvPr id="27" name="TextBox 26"/>
          <p:cNvSpPr txBox="1"/>
          <p:nvPr/>
        </p:nvSpPr>
        <p:spPr>
          <a:xfrm>
            <a:off x="1234440" y="4151376"/>
            <a:ext cx="5486400" cy="274320"/>
          </a:xfrm>
          <a:prstGeom prst="rect">
            <a:avLst/>
          </a:prstGeom>
          <a:noFill/>
        </p:spPr>
        <p:txBody>
          <a:bodyPr wrap="square" lIns="0" tIns="0" rIns="0" bIns="0" anchor="t">
            <a:spAutoFit/>
          </a:bodyPr>
          <a:lstStyle/>
          <a:p>
            <a:pPr algn="l"/>
            <a:r>
              <a:rPr sz="1150" b="0">
                <a:solidFill>
                  <a:srgbClr val="6E6389"/>
                </a:solidFill>
                <a:latin typeface="Calibri"/>
              </a:rPr>
              <a:t>Hooks, CI, and a security pass. Commit and tag.</a:t>
            </a:r>
          </a:p>
        </p:txBody>
      </p:sp>
      <p:sp>
        <p:nvSpPr>
          <p:cNvPr id="28" name="TextBox 27"/>
          <p:cNvSpPr txBox="1"/>
          <p:nvPr/>
        </p:nvSpPr>
        <p:spPr>
          <a:xfrm>
            <a:off x="6949440" y="3867912"/>
            <a:ext cx="1005840" cy="274320"/>
          </a:xfrm>
          <a:prstGeom prst="rect">
            <a:avLst/>
          </a:prstGeom>
          <a:noFill/>
        </p:spPr>
        <p:txBody>
          <a:bodyPr wrap="square" lIns="0" tIns="0" rIns="0" bIns="0" anchor="t">
            <a:spAutoFit/>
          </a:bodyPr>
          <a:lstStyle/>
          <a:p>
            <a:pPr algn="r"/>
            <a:r>
              <a:rPr sz="1100" b="1">
                <a:solidFill>
                  <a:srgbClr val="7C3AED"/>
                </a:solidFill>
                <a:latin typeface="Calibri"/>
              </a:rPr>
              <a:t>10 min</a:t>
            </a:r>
          </a:p>
        </p:txBody>
      </p:sp>
      <p:sp>
        <p:nvSpPr>
          <p:cNvPr id="29" name="TextBox 28"/>
          <p:cNvSpPr txBox="1"/>
          <p:nvPr/>
        </p:nvSpPr>
        <p:spPr>
          <a:xfrm>
            <a:off x="457200" y="4553712"/>
            <a:ext cx="7315200" cy="274320"/>
          </a:xfrm>
          <a:prstGeom prst="rect">
            <a:avLst/>
          </a:prstGeom>
          <a:noFill/>
        </p:spPr>
        <p:txBody>
          <a:bodyPr wrap="square" lIns="0" tIns="0" rIns="0" bIns="0" anchor="t">
            <a:spAutoFit/>
          </a:bodyPr>
          <a:lstStyle/>
          <a:p>
            <a:pPr algn="l"/>
            <a:r>
              <a:rPr sz="1150" b="0">
                <a:solidFill>
                  <a:srgbClr val="6E6389"/>
                </a:solidFill>
                <a:latin typeface="Calibri"/>
              </a:rPr>
              <a:t>Behind? Reset to checkpoint-2-features and start the block clean.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FIVE GOLDEN RULES</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Carry these into the lab.</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444752"/>
            <a:ext cx="7772400" cy="56692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44752"/>
            <a:ext cx="530352"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444752"/>
            <a:ext cx="530352" cy="566928"/>
          </a:xfrm>
          <a:prstGeom prst="rect">
            <a:avLst/>
          </a:prstGeom>
          <a:noFill/>
        </p:spPr>
        <p:txBody>
          <a:bodyPr wrap="square" lIns="0" tIns="0" rIns="0" bIns="0" anchor="ctr">
            <a:spAutoFit/>
          </a:bodyPr>
          <a:lstStyle/>
          <a:p>
            <a:pPr algn="ctr"/>
            <a:r>
              <a:rPr sz="1600" b="1">
                <a:solidFill>
                  <a:srgbClr val="2D1155"/>
                </a:solidFill>
                <a:latin typeface="Arial Black"/>
              </a:rPr>
              <a:t>1</a:t>
            </a:r>
          </a:p>
        </p:txBody>
      </p:sp>
      <p:sp>
        <p:nvSpPr>
          <p:cNvPr id="8" name="TextBox 7"/>
          <p:cNvSpPr txBox="1"/>
          <p:nvPr/>
        </p:nvSpPr>
        <p:spPr>
          <a:xfrm>
            <a:off x="1188720" y="1444752"/>
            <a:ext cx="6858000" cy="566928"/>
          </a:xfrm>
          <a:prstGeom prst="rect">
            <a:avLst/>
          </a:prstGeom>
          <a:noFill/>
        </p:spPr>
        <p:txBody>
          <a:bodyPr wrap="square" lIns="0" tIns="0" rIns="0" bIns="0" anchor="ctr">
            <a:spAutoFit/>
          </a:bodyPr>
          <a:lstStyle/>
          <a:p>
            <a:pPr algn="l"/>
            <a:r>
              <a:rPr sz="1250" b="1">
                <a:solidFill>
                  <a:srgbClr val="2D1155"/>
                </a:solidFill>
                <a:latin typeface="Arial Black"/>
              </a:rPr>
              <a:t>Harness first.   </a:t>
            </a:r>
            <a:r>
              <a:rPr sz="1150" b="0">
                <a:solidFill>
                  <a:srgbClr val="6E6389"/>
                </a:solidFill>
                <a:latin typeface="Calibri"/>
              </a:rPr>
              <a:t>Write the check before the feature. Green is the definition of done.</a:t>
            </a:r>
          </a:p>
        </p:txBody>
      </p:sp>
      <p:sp>
        <p:nvSpPr>
          <p:cNvPr id="9" name="Rectangle 8"/>
          <p:cNvSpPr/>
          <p:nvPr/>
        </p:nvSpPr>
        <p:spPr>
          <a:xfrm>
            <a:off x="457200" y="2103120"/>
            <a:ext cx="7772400" cy="56692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2103120"/>
            <a:ext cx="530352"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2103120"/>
            <a:ext cx="530352" cy="566928"/>
          </a:xfrm>
          <a:prstGeom prst="rect">
            <a:avLst/>
          </a:prstGeom>
          <a:noFill/>
        </p:spPr>
        <p:txBody>
          <a:bodyPr wrap="square" lIns="0" tIns="0" rIns="0" bIns="0" anchor="ctr">
            <a:spAutoFit/>
          </a:bodyPr>
          <a:lstStyle/>
          <a:p>
            <a:pPr algn="ctr"/>
            <a:r>
              <a:rPr sz="1600" b="1">
                <a:solidFill>
                  <a:srgbClr val="2D1155"/>
                </a:solidFill>
                <a:latin typeface="Arial Black"/>
              </a:rPr>
              <a:t>2</a:t>
            </a:r>
          </a:p>
        </p:txBody>
      </p:sp>
      <p:sp>
        <p:nvSpPr>
          <p:cNvPr id="12" name="TextBox 11"/>
          <p:cNvSpPr txBox="1"/>
          <p:nvPr/>
        </p:nvSpPr>
        <p:spPr>
          <a:xfrm>
            <a:off x="1188720" y="2103120"/>
            <a:ext cx="6858000" cy="566928"/>
          </a:xfrm>
          <a:prstGeom prst="rect">
            <a:avLst/>
          </a:prstGeom>
          <a:noFill/>
        </p:spPr>
        <p:txBody>
          <a:bodyPr wrap="square" lIns="0" tIns="0" rIns="0" bIns="0" anchor="ctr">
            <a:spAutoFit/>
          </a:bodyPr>
          <a:lstStyle/>
          <a:p>
            <a:pPr algn="l"/>
            <a:r>
              <a:rPr sz="1250" b="1">
                <a:solidFill>
                  <a:srgbClr val="2D1155"/>
                </a:solidFill>
                <a:latin typeface="Arial Black"/>
              </a:rPr>
              <a:t>Fail it once.   </a:t>
            </a:r>
            <a:r>
              <a:rPr sz="1150" b="0">
                <a:solidFill>
                  <a:srgbClr val="6E6389"/>
                </a:solidFill>
                <a:latin typeface="Calibri"/>
              </a:rPr>
              <a:t>A test that has never failed is decoration, not proof.</a:t>
            </a:r>
          </a:p>
        </p:txBody>
      </p:sp>
      <p:sp>
        <p:nvSpPr>
          <p:cNvPr id="13" name="Rectangle 12"/>
          <p:cNvSpPr/>
          <p:nvPr/>
        </p:nvSpPr>
        <p:spPr>
          <a:xfrm>
            <a:off x="457200" y="2761487"/>
            <a:ext cx="7772400" cy="56692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2761487"/>
            <a:ext cx="530352"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2761487"/>
            <a:ext cx="530352" cy="566928"/>
          </a:xfrm>
          <a:prstGeom prst="rect">
            <a:avLst/>
          </a:prstGeom>
          <a:noFill/>
        </p:spPr>
        <p:txBody>
          <a:bodyPr wrap="square" lIns="0" tIns="0" rIns="0" bIns="0" anchor="ctr">
            <a:spAutoFit/>
          </a:bodyPr>
          <a:lstStyle/>
          <a:p>
            <a:pPr algn="ctr"/>
            <a:r>
              <a:rPr sz="1600" b="1">
                <a:solidFill>
                  <a:srgbClr val="2D1155"/>
                </a:solidFill>
                <a:latin typeface="Arial Black"/>
              </a:rPr>
              <a:t>3</a:t>
            </a:r>
          </a:p>
        </p:txBody>
      </p:sp>
      <p:sp>
        <p:nvSpPr>
          <p:cNvPr id="16" name="TextBox 15"/>
          <p:cNvSpPr txBox="1"/>
          <p:nvPr/>
        </p:nvSpPr>
        <p:spPr>
          <a:xfrm>
            <a:off x="1188720" y="2761487"/>
            <a:ext cx="6858000" cy="566928"/>
          </a:xfrm>
          <a:prstGeom prst="rect">
            <a:avLst/>
          </a:prstGeom>
          <a:noFill/>
        </p:spPr>
        <p:txBody>
          <a:bodyPr wrap="square" lIns="0" tIns="0" rIns="0" bIns="0" anchor="ctr">
            <a:spAutoFit/>
          </a:bodyPr>
          <a:lstStyle/>
          <a:p>
            <a:pPr algn="l"/>
            <a:r>
              <a:rPr sz="1250" b="1">
                <a:solidFill>
                  <a:srgbClr val="2D1155"/>
                </a:solidFill>
                <a:latin typeface="Arial Black"/>
              </a:rPr>
              <a:t>Narrow the agents.   </a:t>
            </a:r>
            <a:r>
              <a:rPr sz="1150" b="0">
                <a:solidFill>
                  <a:srgbClr val="6E6389"/>
                </a:solidFill>
                <a:latin typeface="Calibri"/>
              </a:rPr>
              <a:t>One job, minimal tools. The reviewer never gets write access.</a:t>
            </a:r>
          </a:p>
        </p:txBody>
      </p:sp>
      <p:sp>
        <p:nvSpPr>
          <p:cNvPr id="17" name="Rectangle 16"/>
          <p:cNvSpPr/>
          <p:nvPr/>
        </p:nvSpPr>
        <p:spPr>
          <a:xfrm>
            <a:off x="457200" y="3419855"/>
            <a:ext cx="7772400" cy="56692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 y="3419855"/>
            <a:ext cx="530352"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3419855"/>
            <a:ext cx="530352" cy="566928"/>
          </a:xfrm>
          <a:prstGeom prst="rect">
            <a:avLst/>
          </a:prstGeom>
          <a:noFill/>
        </p:spPr>
        <p:txBody>
          <a:bodyPr wrap="square" lIns="0" tIns="0" rIns="0" bIns="0" anchor="ctr">
            <a:spAutoFit/>
          </a:bodyPr>
          <a:lstStyle/>
          <a:p>
            <a:pPr algn="ctr"/>
            <a:r>
              <a:rPr sz="1600" b="1">
                <a:solidFill>
                  <a:srgbClr val="2D1155"/>
                </a:solidFill>
                <a:latin typeface="Arial Black"/>
              </a:rPr>
              <a:t>4</a:t>
            </a:r>
          </a:p>
        </p:txBody>
      </p:sp>
      <p:sp>
        <p:nvSpPr>
          <p:cNvPr id="20" name="TextBox 19"/>
          <p:cNvSpPr txBox="1"/>
          <p:nvPr/>
        </p:nvSpPr>
        <p:spPr>
          <a:xfrm>
            <a:off x="1188720" y="3419855"/>
            <a:ext cx="6858000" cy="566928"/>
          </a:xfrm>
          <a:prstGeom prst="rect">
            <a:avLst/>
          </a:prstGeom>
          <a:noFill/>
        </p:spPr>
        <p:txBody>
          <a:bodyPr wrap="square" lIns="0" tIns="0" rIns="0" bIns="0" anchor="ctr">
            <a:spAutoFit/>
          </a:bodyPr>
          <a:lstStyle/>
          <a:p>
            <a:pPr algn="l"/>
            <a:r>
              <a:rPr sz="1250" b="1">
                <a:solidFill>
                  <a:srgbClr val="2D1155"/>
                </a:solidFill>
                <a:latin typeface="Arial Black"/>
              </a:rPr>
              <a:t>Orchestrate, don’t type.   </a:t>
            </a:r>
            <a:r>
              <a:rPr sz="1150" b="0">
                <a:solidFill>
                  <a:srgbClr val="6E6389"/>
                </a:solidFill>
                <a:latin typeface="Calibri"/>
              </a:rPr>
              <a:t>Pick the work, arbitrate disputes, decide when it’s finished.</a:t>
            </a:r>
          </a:p>
        </p:txBody>
      </p:sp>
      <p:sp>
        <p:nvSpPr>
          <p:cNvPr id="21" name="Rectangle 20"/>
          <p:cNvSpPr/>
          <p:nvPr/>
        </p:nvSpPr>
        <p:spPr>
          <a:xfrm>
            <a:off x="457200" y="4078223"/>
            <a:ext cx="7772400" cy="56692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200" y="4078223"/>
            <a:ext cx="530352"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078223"/>
            <a:ext cx="530352" cy="566928"/>
          </a:xfrm>
          <a:prstGeom prst="rect">
            <a:avLst/>
          </a:prstGeom>
          <a:noFill/>
        </p:spPr>
        <p:txBody>
          <a:bodyPr wrap="square" lIns="0" tIns="0" rIns="0" bIns="0" anchor="ctr">
            <a:spAutoFit/>
          </a:bodyPr>
          <a:lstStyle/>
          <a:p>
            <a:pPr algn="ctr"/>
            <a:r>
              <a:rPr sz="1600" b="1">
                <a:solidFill>
                  <a:srgbClr val="2D1155"/>
                </a:solidFill>
                <a:latin typeface="Arial Black"/>
              </a:rPr>
              <a:t>5</a:t>
            </a:r>
          </a:p>
        </p:txBody>
      </p:sp>
      <p:sp>
        <p:nvSpPr>
          <p:cNvPr id="24" name="TextBox 23"/>
          <p:cNvSpPr txBox="1"/>
          <p:nvPr/>
        </p:nvSpPr>
        <p:spPr>
          <a:xfrm>
            <a:off x="1188720" y="4078223"/>
            <a:ext cx="6858000" cy="566928"/>
          </a:xfrm>
          <a:prstGeom prst="rect">
            <a:avLst/>
          </a:prstGeom>
          <a:noFill/>
        </p:spPr>
        <p:txBody>
          <a:bodyPr wrap="square" lIns="0" tIns="0" rIns="0" bIns="0" anchor="ctr">
            <a:spAutoFit/>
          </a:bodyPr>
          <a:lstStyle/>
          <a:p>
            <a:pPr algn="l"/>
            <a:r>
              <a:rPr sz="1250" b="1">
                <a:solidFill>
                  <a:srgbClr val="2D1155"/>
                </a:solidFill>
                <a:latin typeface="Arial Black"/>
              </a:rPr>
              <a:t>Enforce it in the tool.   </a:t>
            </a:r>
            <a:r>
              <a:rPr sz="1150" b="0">
                <a:solidFill>
                  <a:srgbClr val="6E6389"/>
                </a:solidFill>
                <a:latin typeface="Calibri"/>
              </a:rPr>
              <a:t>Hooks and CI, not good intentions.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D1155"/>
        </a:solidFill>
        <a:effectLst/>
      </p:bgPr>
    </p:bg>
    <p:spTree>
      <p:nvGrpSpPr>
        <p:cNvPr id="1" name=""/>
        <p:cNvGrpSpPr/>
        <p:nvPr/>
      </p:nvGrpSpPr>
      <p:grpSpPr>
        <a:xfrm>
          <a:off x="0" y="0"/>
          <a:ext cx="0" cy="0"/>
          <a:chOff x="0" y="0"/>
          <a:chExt cx="0" cy="0"/>
        </a:xfrm>
      </p:grpSpPr>
      <p:sp>
        <p:nvSpPr>
          <p:cNvPr id="2" name="Rectangle 1"/>
          <p:cNvSpPr/>
          <p:nvPr/>
        </p:nvSpPr>
        <p:spPr>
          <a:xfrm>
            <a:off x="6400800" y="0"/>
            <a:ext cx="2743200" cy="51435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0" y="0"/>
            <a:ext cx="128016" cy="51435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2.png"/>
          <p:cNvPicPr>
            <a:picLocks noChangeAspect="1"/>
          </p:cNvPicPr>
          <p:nvPr/>
        </p:nvPicPr>
        <p:blipFill>
          <a:blip r:embed="rId3"/>
          <a:stretch>
            <a:fillRect/>
          </a:stretch>
        </p:blipFill>
        <p:spPr>
          <a:xfrm>
            <a:off x="457200" y="384048"/>
            <a:ext cx="2148840" cy="484632"/>
          </a:xfrm>
          <a:prstGeom prst="rect">
            <a:avLst/>
          </a:prstGeom>
        </p:spPr>
      </p:pic>
      <p:sp>
        <p:nvSpPr>
          <p:cNvPr id="5" name="Rectangle 4"/>
          <p:cNvSpPr/>
          <p:nvPr/>
        </p:nvSpPr>
        <p:spPr>
          <a:xfrm>
            <a:off x="457200" y="1234440"/>
            <a:ext cx="82296"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1.jpeg"/>
          <p:cNvPicPr>
            <a:picLocks noChangeAspect="1"/>
          </p:cNvPicPr>
          <p:nvPr/>
        </p:nvPicPr>
        <p:blipFill>
          <a:blip r:embed="rId4"/>
          <a:stretch>
            <a:fillRect/>
          </a:stretch>
        </p:blipFill>
        <p:spPr>
          <a:xfrm>
            <a:off x="8366760" y="4526280"/>
            <a:ext cx="411480" cy="411480"/>
          </a:xfrm>
          <a:prstGeom prst="rect">
            <a:avLst/>
          </a:prstGeom>
        </p:spPr>
      </p:pic>
      <p:sp>
        <p:nvSpPr>
          <p:cNvPr id="7" name="TextBox 6"/>
          <p:cNvSpPr txBox="1"/>
          <p:nvPr/>
        </p:nvSpPr>
        <p:spPr>
          <a:xfrm>
            <a:off x="457200" y="4709160"/>
            <a:ext cx="5669280" cy="274320"/>
          </a:xfrm>
          <a:prstGeom prst="rect">
            <a:avLst/>
          </a:prstGeom>
          <a:noFill/>
        </p:spPr>
        <p:txBody>
          <a:bodyPr wrap="square" lIns="0" tIns="0" rIns="0" bIns="0" anchor="t">
            <a:spAutoFit/>
          </a:bodyPr>
          <a:lstStyle/>
          <a:p>
            <a:pPr algn="l"/>
            <a:r>
              <a:rPr sz="900" b="0">
                <a:solidFill>
                  <a:srgbClr val="C4B5E8"/>
                </a:solidFill>
                <a:latin typeface="Calibri"/>
              </a:rPr>
              <a:t>Tech Council of Australia  |  techcouncil.com.au</a:t>
            </a:r>
          </a:p>
        </p:txBody>
      </p:sp>
      <p:sp>
        <p:nvSpPr>
          <p:cNvPr id="8" name="TextBox 7"/>
          <p:cNvSpPr txBox="1"/>
          <p:nvPr/>
        </p:nvSpPr>
        <p:spPr>
          <a:xfrm>
            <a:off x="658368" y="1371600"/>
            <a:ext cx="5486400" cy="274320"/>
          </a:xfrm>
          <a:prstGeom prst="rect">
            <a:avLst/>
          </a:prstGeom>
          <a:noFill/>
        </p:spPr>
        <p:txBody>
          <a:bodyPr wrap="square" lIns="0" tIns="0" rIns="0" bIns="0" anchor="t">
            <a:spAutoFit/>
          </a:bodyPr>
          <a:lstStyle/>
          <a:p>
            <a:pPr algn="l"/>
            <a:r>
              <a:rPr sz="1000" b="1">
                <a:solidFill>
                  <a:srgbClr val="F59E0B"/>
                </a:solidFill>
                <a:latin typeface="Calibri"/>
              </a:rPr>
              <a:t>BY 4PM: A HARDENED APP AND A TEAM THAT BUILT IT</a:t>
            </a:r>
          </a:p>
        </p:txBody>
      </p:sp>
      <p:sp>
        <p:nvSpPr>
          <p:cNvPr id="9" name="TextBox 8"/>
          <p:cNvSpPr txBox="1"/>
          <p:nvPr/>
        </p:nvSpPr>
        <p:spPr>
          <a:xfrm>
            <a:off x="658368" y="1691640"/>
            <a:ext cx="5577840" cy="914400"/>
          </a:xfrm>
          <a:prstGeom prst="rect">
            <a:avLst/>
          </a:prstGeom>
          <a:noFill/>
        </p:spPr>
        <p:txBody>
          <a:bodyPr wrap="square" lIns="0" tIns="0" rIns="0" bIns="0" anchor="t">
            <a:spAutoFit/>
          </a:bodyPr>
          <a:lstStyle/>
          <a:p>
            <a:pPr algn="l"/>
            <a:r>
              <a:rPr sz="4200" b="1">
                <a:solidFill>
                  <a:srgbClr val="FFFFFF"/>
                </a:solidFill>
                <a:latin typeface="Arial Black"/>
              </a:rPr>
              <a:t>Let’s harden it.</a:t>
            </a:r>
          </a:p>
        </p:txBody>
      </p:sp>
      <p:sp>
        <p:nvSpPr>
          <p:cNvPr id="10" name="TextBox 9"/>
          <p:cNvSpPr txBox="1"/>
          <p:nvPr/>
        </p:nvSpPr>
        <p:spPr>
          <a:xfrm>
            <a:off x="676656" y="2834640"/>
            <a:ext cx="5486400" cy="1371600"/>
          </a:xfrm>
          <a:prstGeom prst="rect">
            <a:avLst/>
          </a:prstGeom>
          <a:noFill/>
        </p:spPr>
        <p:txBody>
          <a:bodyPr wrap="square" lIns="0" tIns="0" rIns="0" bIns="0" anchor="t">
            <a:spAutoFit/>
          </a:bodyPr>
          <a:lstStyle/>
          <a:p>
            <a:pPr algn="l">
              <a:lnSpc>
                <a:spcPct val="115000"/>
              </a:lnSpc>
            </a:pPr>
            <a:r>
              <a:rPr sz="1350" b="0">
                <a:solidFill>
                  <a:srgbClr val="DDD6FE"/>
                </a:solidFill>
                <a:latin typeface="Calibri"/>
              </a:rPr>
              <a:t>You ran the loop this morning. You made it repeatable before lunch. Now you build the system that produces the work and proves it — the same skills scale from a weekend project to a production service. Only the size of the harness changes.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5118</Words>
  <Application>Microsoft Macintosh PowerPoint</Application>
  <PresentationFormat>On-screen Show (16:9)</PresentationFormat>
  <Paragraphs>387</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Arial Black</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Paul Keen</cp:lastModifiedBy>
  <cp:revision>1</cp:revision>
  <dcterms:created xsi:type="dcterms:W3CDTF">2013-01-27T09:14:16Z</dcterms:created>
  <dcterms:modified xsi:type="dcterms:W3CDTF">2026-07-27T08:44:16Z</dcterms:modified>
  <cp:category/>
</cp:coreProperties>
</file>