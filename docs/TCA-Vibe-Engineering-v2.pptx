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115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2" d="100"/>
          <a:sy n="142" d="100"/>
        </p:scale>
        <p:origin x="723"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is Dries" userId="3a9fb2fe-2381-4be2-9cb8-d23038ce3fa3" providerId="ADAL" clId="{663B3108-CAD0-477A-B706-7E65984F9CCB}"/>
    <pc:docChg chg="undo custSel mod modSld">
      <pc:chgData name="Joris Dries" userId="3a9fb2fe-2381-4be2-9cb8-d23038ce3fa3" providerId="ADAL" clId="{663B3108-CAD0-477A-B706-7E65984F9CCB}" dt="2026-07-26T05:05:43.447" v="72" actId="20577"/>
      <pc:docMkLst>
        <pc:docMk/>
      </pc:docMkLst>
      <pc:sldChg chg="modSp mod">
        <pc:chgData name="Joris Dries" userId="3a9fb2fe-2381-4be2-9cb8-d23038ce3fa3" providerId="ADAL" clId="{663B3108-CAD0-477A-B706-7E65984F9CCB}" dt="2026-07-26T04:55:26.114" v="2" actId="20577"/>
        <pc:sldMkLst>
          <pc:docMk/>
          <pc:sldMk cId="0" sldId="260"/>
        </pc:sldMkLst>
        <pc:spChg chg="mod">
          <ac:chgData name="Joris Dries" userId="3a9fb2fe-2381-4be2-9cb8-d23038ce3fa3" providerId="ADAL" clId="{663B3108-CAD0-477A-B706-7E65984F9CCB}" dt="2026-07-26T04:55:26.114" v="2" actId="20577"/>
          <ac:spMkLst>
            <pc:docMk/>
            <pc:sldMk cId="0" sldId="260"/>
            <ac:spMk id="18" creationId="{00000000-0000-0000-0000-000000000000}"/>
          </ac:spMkLst>
        </pc:spChg>
      </pc:sldChg>
      <pc:sldChg chg="modSp mod">
        <pc:chgData name="Joris Dries" userId="3a9fb2fe-2381-4be2-9cb8-d23038ce3fa3" providerId="ADAL" clId="{663B3108-CAD0-477A-B706-7E65984F9CCB}" dt="2026-07-26T04:55:58.584" v="6" actId="20577"/>
        <pc:sldMkLst>
          <pc:docMk/>
          <pc:sldMk cId="0" sldId="261"/>
        </pc:sldMkLst>
        <pc:spChg chg="mod">
          <ac:chgData name="Joris Dries" userId="3a9fb2fe-2381-4be2-9cb8-d23038ce3fa3" providerId="ADAL" clId="{663B3108-CAD0-477A-B706-7E65984F9CCB}" dt="2026-07-26T04:55:58.584" v="6" actId="20577"/>
          <ac:spMkLst>
            <pc:docMk/>
            <pc:sldMk cId="0" sldId="261"/>
            <ac:spMk id="5" creationId="{00000000-0000-0000-0000-000000000000}"/>
          </ac:spMkLst>
        </pc:spChg>
      </pc:sldChg>
      <pc:sldChg chg="modSp mod">
        <pc:chgData name="Joris Dries" userId="3a9fb2fe-2381-4be2-9cb8-d23038ce3fa3" providerId="ADAL" clId="{663B3108-CAD0-477A-B706-7E65984F9CCB}" dt="2026-07-26T04:56:13.726" v="8" actId="20577"/>
        <pc:sldMkLst>
          <pc:docMk/>
          <pc:sldMk cId="0" sldId="262"/>
        </pc:sldMkLst>
        <pc:spChg chg="mod">
          <ac:chgData name="Joris Dries" userId="3a9fb2fe-2381-4be2-9cb8-d23038ce3fa3" providerId="ADAL" clId="{663B3108-CAD0-477A-B706-7E65984F9CCB}" dt="2026-07-26T04:56:13.726" v="8" actId="20577"/>
          <ac:spMkLst>
            <pc:docMk/>
            <pc:sldMk cId="0" sldId="262"/>
            <ac:spMk id="3" creationId="{00000000-0000-0000-0000-000000000000}"/>
          </ac:spMkLst>
        </pc:spChg>
      </pc:sldChg>
      <pc:sldChg chg="modSp mod">
        <pc:chgData name="Joris Dries" userId="3a9fb2fe-2381-4be2-9cb8-d23038ce3fa3" providerId="ADAL" clId="{663B3108-CAD0-477A-B706-7E65984F9CCB}" dt="2026-07-26T04:56:34.587" v="10" actId="20577"/>
        <pc:sldMkLst>
          <pc:docMk/>
          <pc:sldMk cId="0" sldId="263"/>
        </pc:sldMkLst>
        <pc:spChg chg="mod">
          <ac:chgData name="Joris Dries" userId="3a9fb2fe-2381-4be2-9cb8-d23038ce3fa3" providerId="ADAL" clId="{663B3108-CAD0-477A-B706-7E65984F9CCB}" dt="2026-07-26T04:56:34.587" v="10" actId="20577"/>
          <ac:spMkLst>
            <pc:docMk/>
            <pc:sldMk cId="0" sldId="263"/>
            <ac:spMk id="3" creationId="{00000000-0000-0000-0000-000000000000}"/>
          </ac:spMkLst>
        </pc:spChg>
      </pc:sldChg>
      <pc:sldChg chg="modSp mod">
        <pc:chgData name="Joris Dries" userId="3a9fb2fe-2381-4be2-9cb8-d23038ce3fa3" providerId="ADAL" clId="{663B3108-CAD0-477A-B706-7E65984F9CCB}" dt="2026-07-26T04:57:20.052" v="22" actId="20577"/>
        <pc:sldMkLst>
          <pc:docMk/>
          <pc:sldMk cId="0" sldId="264"/>
        </pc:sldMkLst>
        <pc:spChg chg="mod">
          <ac:chgData name="Joris Dries" userId="3a9fb2fe-2381-4be2-9cb8-d23038ce3fa3" providerId="ADAL" clId="{663B3108-CAD0-477A-B706-7E65984F9CCB}" dt="2026-07-26T04:56:55.630" v="13" actId="20577"/>
          <ac:spMkLst>
            <pc:docMk/>
            <pc:sldMk cId="0" sldId="264"/>
            <ac:spMk id="3" creationId="{00000000-0000-0000-0000-000000000000}"/>
          </ac:spMkLst>
        </pc:spChg>
        <pc:spChg chg="mod">
          <ac:chgData name="Joris Dries" userId="3a9fb2fe-2381-4be2-9cb8-d23038ce3fa3" providerId="ADAL" clId="{663B3108-CAD0-477A-B706-7E65984F9CCB}" dt="2026-07-26T04:57:11.463" v="19" actId="20577"/>
          <ac:spMkLst>
            <pc:docMk/>
            <pc:sldMk cId="0" sldId="264"/>
            <ac:spMk id="8" creationId="{00000000-0000-0000-0000-000000000000}"/>
          </ac:spMkLst>
        </pc:spChg>
        <pc:spChg chg="mod">
          <ac:chgData name="Joris Dries" userId="3a9fb2fe-2381-4be2-9cb8-d23038ce3fa3" providerId="ADAL" clId="{663B3108-CAD0-477A-B706-7E65984F9CCB}" dt="2026-07-26T04:57:20.052" v="22" actId="20577"/>
          <ac:spMkLst>
            <pc:docMk/>
            <pc:sldMk cId="0" sldId="264"/>
            <ac:spMk id="12" creationId="{00000000-0000-0000-0000-000000000000}"/>
          </ac:spMkLst>
        </pc:spChg>
      </pc:sldChg>
      <pc:sldChg chg="modSp mod">
        <pc:chgData name="Joris Dries" userId="3a9fb2fe-2381-4be2-9cb8-d23038ce3fa3" providerId="ADAL" clId="{663B3108-CAD0-477A-B706-7E65984F9CCB}" dt="2026-07-26T04:57:34.173" v="28" actId="20577"/>
        <pc:sldMkLst>
          <pc:docMk/>
          <pc:sldMk cId="0" sldId="265"/>
        </pc:sldMkLst>
        <pc:spChg chg="mod">
          <ac:chgData name="Joris Dries" userId="3a9fb2fe-2381-4be2-9cb8-d23038ce3fa3" providerId="ADAL" clId="{663B3108-CAD0-477A-B706-7E65984F9CCB}" dt="2026-07-26T04:57:28.985" v="25" actId="20577"/>
          <ac:spMkLst>
            <pc:docMk/>
            <pc:sldMk cId="0" sldId="265"/>
            <ac:spMk id="3" creationId="{00000000-0000-0000-0000-000000000000}"/>
          </ac:spMkLst>
        </pc:spChg>
        <pc:spChg chg="mod">
          <ac:chgData name="Joris Dries" userId="3a9fb2fe-2381-4be2-9cb8-d23038ce3fa3" providerId="ADAL" clId="{663B3108-CAD0-477A-B706-7E65984F9CCB}" dt="2026-07-26T04:57:34.173" v="28" actId="20577"/>
          <ac:spMkLst>
            <pc:docMk/>
            <pc:sldMk cId="0" sldId="265"/>
            <ac:spMk id="5" creationId="{00000000-0000-0000-0000-000000000000}"/>
          </ac:spMkLst>
        </pc:spChg>
      </pc:sldChg>
      <pc:sldChg chg="modSp mod">
        <pc:chgData name="Joris Dries" userId="3a9fb2fe-2381-4be2-9cb8-d23038ce3fa3" providerId="ADAL" clId="{663B3108-CAD0-477A-B706-7E65984F9CCB}" dt="2026-07-26T04:59:58.931" v="69" actId="20577"/>
        <pc:sldMkLst>
          <pc:docMk/>
          <pc:sldMk cId="0" sldId="266"/>
        </pc:sldMkLst>
        <pc:spChg chg="mod">
          <ac:chgData name="Joris Dries" userId="3a9fb2fe-2381-4be2-9cb8-d23038ce3fa3" providerId="ADAL" clId="{663B3108-CAD0-477A-B706-7E65984F9CCB}" dt="2026-07-26T04:57:56.033" v="31" actId="20577"/>
          <ac:spMkLst>
            <pc:docMk/>
            <pc:sldMk cId="0" sldId="266"/>
            <ac:spMk id="3" creationId="{00000000-0000-0000-0000-000000000000}"/>
          </ac:spMkLst>
        </pc:spChg>
        <pc:spChg chg="mod">
          <ac:chgData name="Joris Dries" userId="3a9fb2fe-2381-4be2-9cb8-d23038ce3fa3" providerId="ADAL" clId="{663B3108-CAD0-477A-B706-7E65984F9CCB}" dt="2026-07-26T04:59:40.110" v="49" actId="20577"/>
          <ac:spMkLst>
            <pc:docMk/>
            <pc:sldMk cId="0" sldId="266"/>
            <ac:spMk id="7" creationId="{00000000-0000-0000-0000-000000000000}"/>
          </ac:spMkLst>
        </pc:spChg>
        <pc:spChg chg="mod">
          <ac:chgData name="Joris Dries" userId="3a9fb2fe-2381-4be2-9cb8-d23038ce3fa3" providerId="ADAL" clId="{663B3108-CAD0-477A-B706-7E65984F9CCB}" dt="2026-07-26T04:59:45.540" v="54" actId="20577"/>
          <ac:spMkLst>
            <pc:docMk/>
            <pc:sldMk cId="0" sldId="266"/>
            <ac:spMk id="10" creationId="{00000000-0000-0000-0000-000000000000}"/>
          </ac:spMkLst>
        </pc:spChg>
        <pc:spChg chg="mod">
          <ac:chgData name="Joris Dries" userId="3a9fb2fe-2381-4be2-9cb8-d23038ce3fa3" providerId="ADAL" clId="{663B3108-CAD0-477A-B706-7E65984F9CCB}" dt="2026-07-26T04:59:50.150" v="59" actId="20577"/>
          <ac:spMkLst>
            <pc:docMk/>
            <pc:sldMk cId="0" sldId="266"/>
            <ac:spMk id="13" creationId="{00000000-0000-0000-0000-000000000000}"/>
          </ac:spMkLst>
        </pc:spChg>
        <pc:spChg chg="mod">
          <ac:chgData name="Joris Dries" userId="3a9fb2fe-2381-4be2-9cb8-d23038ce3fa3" providerId="ADAL" clId="{663B3108-CAD0-477A-B706-7E65984F9CCB}" dt="2026-07-26T04:59:54.780" v="64" actId="20577"/>
          <ac:spMkLst>
            <pc:docMk/>
            <pc:sldMk cId="0" sldId="266"/>
            <ac:spMk id="16" creationId="{00000000-0000-0000-0000-000000000000}"/>
          </ac:spMkLst>
        </pc:spChg>
        <pc:spChg chg="mod">
          <ac:chgData name="Joris Dries" userId="3a9fb2fe-2381-4be2-9cb8-d23038ce3fa3" providerId="ADAL" clId="{663B3108-CAD0-477A-B706-7E65984F9CCB}" dt="2026-07-26T04:59:58.931" v="69" actId="20577"/>
          <ac:spMkLst>
            <pc:docMk/>
            <pc:sldMk cId="0" sldId="266"/>
            <ac:spMk id="19" creationId="{00000000-0000-0000-0000-000000000000}"/>
          </ac:spMkLst>
        </pc:spChg>
      </pc:sldChg>
      <pc:sldChg chg="modSp mod">
        <pc:chgData name="Joris Dries" userId="3a9fb2fe-2381-4be2-9cb8-d23038ce3fa3" providerId="ADAL" clId="{663B3108-CAD0-477A-B706-7E65984F9CCB}" dt="2026-07-26T04:58:40.237" v="38" actId="20577"/>
        <pc:sldMkLst>
          <pc:docMk/>
          <pc:sldMk cId="0" sldId="267"/>
        </pc:sldMkLst>
        <pc:spChg chg="mod">
          <ac:chgData name="Joris Dries" userId="3a9fb2fe-2381-4be2-9cb8-d23038ce3fa3" providerId="ADAL" clId="{663B3108-CAD0-477A-B706-7E65984F9CCB}" dt="2026-07-26T04:58:33.678" v="35" actId="207"/>
          <ac:spMkLst>
            <pc:docMk/>
            <pc:sldMk cId="0" sldId="267"/>
            <ac:spMk id="5" creationId="{00000000-0000-0000-0000-000000000000}"/>
          </ac:spMkLst>
        </pc:spChg>
        <pc:spChg chg="mod">
          <ac:chgData name="Joris Dries" userId="3a9fb2fe-2381-4be2-9cb8-d23038ce3fa3" providerId="ADAL" clId="{663B3108-CAD0-477A-B706-7E65984F9CCB}" dt="2026-07-26T04:58:17.534" v="32" actId="108"/>
          <ac:spMkLst>
            <pc:docMk/>
            <pc:sldMk cId="0" sldId="267"/>
            <ac:spMk id="6" creationId="{00000000-0000-0000-0000-000000000000}"/>
          </ac:spMkLst>
        </pc:spChg>
        <pc:spChg chg="mod">
          <ac:chgData name="Joris Dries" userId="3a9fb2fe-2381-4be2-9cb8-d23038ce3fa3" providerId="ADAL" clId="{663B3108-CAD0-477A-B706-7E65984F9CCB}" dt="2026-07-26T04:58:40.237" v="38" actId="20577"/>
          <ac:spMkLst>
            <pc:docMk/>
            <pc:sldMk cId="0" sldId="267"/>
            <ac:spMk id="16" creationId="{00000000-0000-0000-0000-000000000000}"/>
          </ac:spMkLst>
        </pc:spChg>
      </pc:sldChg>
      <pc:sldChg chg="modSp mod">
        <pc:chgData name="Joris Dries" userId="3a9fb2fe-2381-4be2-9cb8-d23038ce3fa3" providerId="ADAL" clId="{663B3108-CAD0-477A-B706-7E65984F9CCB}" dt="2026-07-26T05:05:43.447" v="72" actId="20577"/>
        <pc:sldMkLst>
          <pc:docMk/>
          <pc:sldMk cId="0" sldId="268"/>
        </pc:sldMkLst>
        <pc:spChg chg="mod">
          <ac:chgData name="Joris Dries" userId="3a9fb2fe-2381-4be2-9cb8-d23038ce3fa3" providerId="ADAL" clId="{663B3108-CAD0-477A-B706-7E65984F9CCB}" dt="2026-07-26T05:05:43.447" v="72" actId="20577"/>
          <ac:spMkLst>
            <pc:docMk/>
            <pc:sldMk cId="0" sldId="268"/>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260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[0:00 · 30 sec]  Post-break, so lift the energy before the content.</a:t>
            </a:r>
          </a:p>
          <a:p>
            <a:r>
              <a:rPr sz="1200"/>
              <a:t>Say: "This is Vibe Engineering, rung two. This morning you learned to fly the agent. Now you make it reliable."</a:t>
            </a:r>
          </a:p>
          <a:p>
            <a:r>
              <a:rPr sz="1200"/>
              <a:t>One line for the session: stop re-explaining yourself.</a:t>
            </a:r>
          </a:p>
          <a:p>
            <a:r>
              <a:rPr sz="1200"/>
              <a:t>Twenty minutes of teaching, then an hour in the lab. That ratio is deliberate: this rung is mostly muscle.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[0:30 · 45 sec]  Callback, with the marker moved. Rung one is done: they have a working tracker.</a:t>
            </a:r>
          </a:p>
          <a:p>
            <a:r>
              <a:rPr sz="1200"/>
              <a:t>This rung is about your relationship to the process, not to the app. The app barely changes shape today; the way you drive it does.</a:t>
            </a:r>
          </a:p>
          <a:p>
            <a:r>
              <a:rPr sz="1200"/>
              <a:t>Each rung removes a crutch. This morning it was the keyboard. Now it is repetition.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[1:15 · 1.5 min]  Say the one-liner and let it land. This is not a new tool or a new loop, it is the same Claude Code or Codex used with intent.</a:t>
            </a:r>
          </a:p>
          <a:p>
            <a:r>
              <a:rPr sz="1200"/>
              <a:t>Name the pain first, because they felt it an hour ago: every good instruction lived in one chat window. New session, forgotten, retyped.</a:t>
            </a:r>
          </a:p>
          <a:p>
            <a:r>
              <a:rPr sz="1200"/>
              <a:t>Then the shift: from re-explaining how we do things here, to a project that already knows.</a:t>
            </a:r>
          </a:p>
          <a:p>
            <a:r>
              <a:rPr sz="1200"/>
              <a:t>If someone asks whether this is just documentation: no. Documentation is for humans who might read it. A contract is read, in full, at the start of every session, by the thing doing the 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[2:45 · 1 min]  The map for the next fifteen minutes. Do not teach here.</a:t>
            </a:r>
          </a:p>
          <a:p>
            <a:r>
              <a:rPr sz="1200"/>
              <a:t>Contract first, so it remembers. Then a reusable workflow, then context discipline, then parallelism, then external data.</a:t>
            </a:r>
          </a:p>
          <a:p>
            <a:r>
              <a:rPr sz="1200"/>
              <a:t>Say: "Every one of these exists to stop you repeating yourself." Then move.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[3:45 · 3 min]  Highest-leverage move of the section. Give it the full three minutes.</a:t>
            </a:r>
          </a:p>
          <a:p>
            <a:r>
              <a:rPr sz="1200"/>
              <a:t>The framing that works: the contract is the agent's onboarding doc. Everything you would tell a new starter on day one, written once, read at the start of every session.</a:t>
            </a:r>
          </a:p>
          <a:p>
            <a:r>
              <a:rPr sz="1200"/>
              <a:t>Walk the left column with their own app in mind: the commands, where things live, and the sharp edges. That third one is the point. The 0=Sunday weekday convention, computing streaks fresh rather than storing them, the checklist for adding a field. Precisely the things an agent gets wrong when nobody wrote them down.</a:t>
            </a:r>
          </a:p>
          <a:p>
            <a:r>
              <a:rPr sz="1200"/>
              <a:t>Cross-tool: AGENTS.md is the standard both tools read. Codex reads it directly. Claude Code reads CLAUDE.md, so CLAUDE.md is one line importing AGENTS.md. /init scaffolds it in both.</a:t>
            </a:r>
          </a:p>
          <a:p>
            <a:r>
              <a:rPr sz="1200"/>
              <a:t>Keep it short, and say why: a sixty-line contract gets followed, a four-hundred-line one gets skimmed by everybody including the model.</a:t>
            </a:r>
          </a:p>
          <a:p>
            <a:r>
              <a:rPr sz="1200"/>
              <a:t>The lab proof is the good bit: ask a question in a fresh session whose answer can only come from the contract.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[6:45 · 2.5 min]  This morning their best prompt lived in one chat and died there. Now they save it.</a:t>
            </a:r>
          </a:p>
          <a:p>
            <a:r>
              <a:rPr sz="1200"/>
              <a:t>Walk the five steps and give each one its reason. Explore, so it reads before it writes. Plan, so decisions get surfaced rather than made quietly. Implement, following the contract. Run, to prove it end to end. Summarise, so you can see the diff at a glance.</a:t>
            </a:r>
          </a:p>
          <a:p>
            <a:r>
              <a:rPr sz="1200"/>
              <a:t>Where it lives: .claude/commands/ or .claude/skills/ in Claude Code, ~/.codex/prompts/ in Codex. Same body either way.</a:t>
            </a:r>
          </a:p>
          <a:p>
            <a:r>
              <a:rPr sz="1200"/>
              <a:t>Worth saying out loud, because it dates fast: both tools are converging on skills as the home for this. If the room is on a newer build, ask the agent where the current home is. Teaching people to ask the agent about its own version is more durable than any path on a slide.</a:t>
            </a:r>
          </a:p>
          <a:p>
            <a:r>
              <a:rPr sz="1200"/>
              <a:t>The payoff: it is checked into the repo, so the whole team runs the same recipe. A prompt stops being a memory and becomes an asset.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[9:15 · 2 min]  The fuel gauge from this morning, now managed on purpose rather than reactively.</a:t>
            </a:r>
          </a:p>
          <a:p>
            <a:r>
              <a:rPr sz="1200"/>
              <a:t>Three habits. One task per session, so stale assumptions cannot bleed in. Trim when it bloats. Pin the files that matter with @path, and glance at /context before anything big.</a:t>
            </a:r>
          </a:p>
          <a:p>
            <a:r>
              <a:rPr sz="1200"/>
              <a:t>The point is the discipline, not the commands. A repeatable agent needs a predictable desk.</a:t>
            </a:r>
          </a:p>
          <a:p>
            <a:r>
              <a:rPr sz="1200"/>
              <a:t>Say it plainly: most people never reset, then blame the model. New task means new window.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[11:15 · 2.5 min]  A worktree gives a branch its own directory, so two agents work the same repository at once without fighting over files. Not a clone: one git history, two working directories.</a:t>
            </a:r>
          </a:p>
          <a:p>
            <a:r>
              <a:rPr sz="1200"/>
              <a:t>Two uses. Same task in two agents, then compare, which is the second opinion. Or two features in parallel.</a:t>
            </a:r>
          </a:p>
          <a:p>
            <a:r>
              <a:rPr sz="1200"/>
              <a:t>Discipline, and say both parts: name the branch and the folder the same thing, or you will lose track of which terminal you are in. Commit small and labelled in each tree, or the merge becomes archaeology.</a:t>
            </a:r>
          </a:p>
          <a:p>
            <a:r>
              <a:rPr sz="1200"/>
              <a:t>The -b in the command matters: without it git expects the branch to already exist and refuses.</a:t>
            </a:r>
          </a:p>
          <a:p>
            <a:r>
              <a:rPr sz="1200"/>
              <a:t>This is also the mechanism behind the Section 3 agent team, so plant it here and they will recognise it after lunch.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[13:45 · 1.5 min]  So far everything lived inside the repo. MCP lets the agent reach outside it, through one connector both tools understand.</a:t>
            </a:r>
          </a:p>
          <a:p>
            <a:r>
              <a:rPr sz="1200"/>
              <a:t>Concrete example, and it is the one that makes people sit up: connect your calendar and have the agent suggest habit times around your actual schedule. That is the difference between a toy and something that fits your life.</a:t>
            </a:r>
          </a:p>
          <a:p>
            <a:r>
              <a:rPr sz="1200"/>
              <a:t>Two cautions. Every server you enable costs context, so turn on only what the task needs. And connecting a tool is a decision you make, not a door you leave open.</a:t>
            </a:r>
          </a:p>
          <a:p>
            <a:r>
              <a:rPr sz="1200"/>
              <a:t>This is a stretch goal in the lab, not core path. Say so now, so nobody derails Block A trying to wire a calendar.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[15:15 · 2.5 min]  The heart of the section. This is where the word engineering earns its place.</a:t>
            </a:r>
          </a:p>
          <a:p>
            <a:r>
              <a:rPr sz="1200"/>
              <a:t>A weekly summary sounds trivial and hides a real decision: where does the prose come from? A static template, or a model call?</a:t>
            </a:r>
          </a:p>
          <a:p>
            <a:r>
              <a:rPr sz="1200"/>
              <a:t>Walk both columns honestly. Template: instant, offline, free, predictable, and identical every week. Model: varied, personal, genuinely warm, and now you have a dependency, a key, latency and cost.</a:t>
            </a:r>
          </a:p>
          <a:p>
            <a:r>
              <a:rPr sz="1200"/>
              <a:t>There is no universally right answer, which is exactly why it is a good teaching example. The failure mode is not choosing wrong. It is the agent choosing silently while you look at something else.</a:t>
            </a:r>
          </a:p>
          <a:p>
            <a:r>
              <a:rPr sz="1200"/>
              <a:t>Plan mode is the fix: Shift+Tab in Claude Code, /plan in Codex. It forces the choice up to you.</a:t>
            </a:r>
          </a:p>
          <a:p>
            <a:r>
              <a:rPr sz="1200"/>
              <a:t>The line: deciding is the engineering. Ask two or three people in the lab what they picked and why, and do not correct them.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[17:45 · 1 min]  Show the finish line so the lab has a target.</a:t>
            </a:r>
          </a:p>
          <a:p>
            <a:r>
              <a:rPr sz="1200"/>
              <a:t>Same tracker, now with a contract, a reusable command, scheduled days and colour tiles, a weekly summary, and an AI nudge.</a:t>
            </a:r>
          </a:p>
          <a:p>
            <a:r>
              <a:rPr sz="1200"/>
              <a:t>Flag the priority out loud, because the lab is tight: scheduled days is the one the afternoon depends on. If they only get one of Block C's two prompts done, it is that one.</a:t>
            </a:r>
          </a:p>
          <a:p>
            <a:r>
              <a:rPr sz="1200"/>
              <a:t>Then the net: fall behind and you drop into the reference at checkpoint-2-features. Expected, not failure.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[18:45 · 1 min]  Five takeaways, one line each. The section in miniature.</a:t>
            </a:r>
          </a:p>
          <a:p>
            <a:r>
              <a:rPr sz="1200"/>
              <a:t>Write it down once. Save your best prompts. Keep a clean desk. Get a second opinion. Make the agent surface decisions.</a:t>
            </a:r>
          </a:p>
          <a:p>
            <a:r>
              <a:rPr sz="1200"/>
              <a:t>Emphasise the last one, because it is the bridge: this afternoon you stop trusting output and start proving it.</a:t>
            </a:r>
          </a:p>
          <a:p>
            <a:r>
              <a:rPr sz="1200"/>
              <a:t>All five are on the handout.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[19:45 · 45 sec]  Land it, then point forward, then go to lunch on time.</a:t>
            </a:r>
          </a:p>
          <a:p>
            <a:r>
              <a:rPr sz="1200"/>
              <a:t>Say: "This morning you learned to fly the loop. This session you made it repeatable. But repeatable is not trustworthy. You still could not put this in front of users with a straight face."</a:t>
            </a:r>
          </a:p>
          <a:p>
            <a:r>
              <a:rPr sz="1200"/>
              <a:t>That is Section 3: a test harness, sub-agents that check the work, an agent team that ships a feature under test.</a:t>
            </a:r>
          </a:p>
          <a:p>
            <a:r>
              <a:rPr sz="1200"/>
              <a:t>The hook to leave hanging over lunch: "After lunch, we stop hoping." Then say the time you are restarting, and mean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28816" y="822960"/>
            <a:ext cx="2615184" cy="2743200"/>
          </a:xfrm>
          <a:prstGeom prst="rect">
            <a:avLst/>
          </a:prstGeom>
          <a:noFill/>
        </p:spPr>
        <p:txBody>
          <a:bodyPr wrap="square" lIns="0" tIns="0" rIns="0" bIns="0" anchor="ctr">
            <a:spAutoFit/>
          </a:bodyPr>
          <a:lstStyle/>
          <a:p>
            <a:pPr algn="ctr">
              <a:spcBef>
                <a:spcPts val="0"/>
              </a:spcBef>
              <a:spcAft>
                <a:spcPts val="200"/>
              </a:spcAft>
            </a:pPr>
            <a:r>
              <a:rPr sz="15000" b="1">
                <a:solidFill>
                  <a:srgbClr val="6D36C9"/>
                </a:solidFill>
                <a:latin typeface="Arial Black"/>
              </a:rPr>
              <a:t>02</a:t>
            </a:r>
          </a:p>
        </p:txBody>
      </p:sp>
      <p:sp>
        <p:nvSpPr>
          <p:cNvPr id="5" name="TextBox 4"/>
          <p:cNvSpPr txBox="1"/>
          <p:nvPr/>
        </p:nvSpPr>
        <p:spPr>
          <a:xfrm>
            <a:off x="6528816" y="3611880"/>
            <a:ext cx="2615184" cy="365760"/>
          </a:xfrm>
          <a:prstGeom prst="rect">
            <a:avLst/>
          </a:prstGeom>
          <a:noFill/>
        </p:spPr>
        <p:txBody>
          <a:bodyPr wrap="square" lIns="0" tIns="0" rIns="0" bIns="0" anchor="t">
            <a:spAutoFit/>
          </a:bodyPr>
          <a:lstStyle/>
          <a:p>
            <a:pPr algn="ctr">
              <a:spcBef>
                <a:spcPts val="0"/>
              </a:spcBef>
              <a:spcAft>
                <a:spcPts val="200"/>
              </a:spcAft>
            </a:pPr>
            <a:r>
              <a:rPr sz="1000" b="1">
                <a:solidFill>
                  <a:srgbClr val="DDD6FE"/>
                </a:solidFill>
                <a:latin typeface="Calibri"/>
              </a:rPr>
              <a:t>SECTION TWO OF THREE</a:t>
            </a:r>
          </a:p>
        </p:txBody>
      </p:sp>
      <p:pic>
        <p:nvPicPr>
          <p:cNvPr id="6" name="Picture 5" descr="image1.jpeg"/>
          <p:cNvPicPr>
            <a:picLocks noChangeAspect="1"/>
          </p:cNvPicPr>
          <p:nvPr/>
        </p:nvPicPr>
        <p:blipFill>
          <a:blip r:embed="rId3"/>
          <a:stretch>
            <a:fillRect/>
          </a:stretch>
        </p:blipFill>
        <p:spPr>
          <a:xfrm>
            <a:off x="8366760" y="4526280"/>
            <a:ext cx="411480" cy="411480"/>
          </a:xfrm>
          <a:prstGeom prst="rect">
            <a:avLst/>
          </a:prstGeom>
        </p:spPr>
      </p:pic>
      <p:sp>
        <p:nvSpPr>
          <p:cNvPr id="7" name="Rectangle 6"/>
          <p:cNvSpPr/>
          <p:nvPr/>
        </p:nvSpPr>
        <p:spPr>
          <a:xfrm>
            <a:off x="457200" y="1234440"/>
            <a:ext cx="82296"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2.png"/>
          <p:cNvPicPr>
            <a:picLocks noChangeAspect="1"/>
          </p:cNvPicPr>
          <p:nvPr/>
        </p:nvPicPr>
        <p:blipFill>
          <a:blip r:embed="rId4"/>
          <a:stretch>
            <a:fillRect/>
          </a:stretch>
        </p:blipFill>
        <p:spPr>
          <a:xfrm>
            <a:off x="457200" y="384048"/>
            <a:ext cx="2148840" cy="488289"/>
          </a:xfrm>
          <a:prstGeom prst="rect">
            <a:avLst/>
          </a:prstGeom>
        </p:spPr>
      </p:pic>
      <p:sp>
        <p:nvSpPr>
          <p:cNvPr id="9" name="TextBox 8"/>
          <p:cNvSpPr txBox="1"/>
          <p:nvPr/>
        </p:nvSpPr>
        <p:spPr>
          <a:xfrm>
            <a:off x="658368" y="1325880"/>
            <a:ext cx="5669280" cy="274320"/>
          </a:xfrm>
          <a:prstGeom prst="rect">
            <a:avLst/>
          </a:prstGeom>
          <a:noFill/>
        </p:spPr>
        <p:txBody>
          <a:bodyPr wrap="square" lIns="0" tIns="0" rIns="0" bIns="0" anchor="t">
            <a:spAutoFit/>
          </a:bodyPr>
          <a:lstStyle/>
          <a:p>
            <a:pPr algn="l">
              <a:spcBef>
                <a:spcPts val="0"/>
              </a:spcBef>
              <a:spcAft>
                <a:spcPts val="200"/>
              </a:spcAft>
            </a:pPr>
            <a:r>
              <a:rPr sz="1200" b="1">
                <a:solidFill>
                  <a:srgbClr val="F59E0B"/>
                </a:solidFill>
                <a:latin typeface="Calibri"/>
              </a:rPr>
              <a:t>SECTION 02  ·  MAKE IT REPEATABLE</a:t>
            </a:r>
          </a:p>
        </p:txBody>
      </p:sp>
      <p:sp>
        <p:nvSpPr>
          <p:cNvPr id="10" name="TextBox 9"/>
          <p:cNvSpPr txBox="1"/>
          <p:nvPr/>
        </p:nvSpPr>
        <p:spPr>
          <a:xfrm>
            <a:off x="640080" y="1572768"/>
            <a:ext cx="5669280" cy="1051560"/>
          </a:xfrm>
          <a:prstGeom prst="rect">
            <a:avLst/>
          </a:prstGeom>
          <a:noFill/>
        </p:spPr>
        <p:txBody>
          <a:bodyPr wrap="square" lIns="0" tIns="0" rIns="0" bIns="0" anchor="t">
            <a:spAutoFit/>
          </a:bodyPr>
          <a:lstStyle/>
          <a:p>
            <a:pPr algn="l">
              <a:spcBef>
                <a:spcPts val="0"/>
              </a:spcBef>
              <a:spcAft>
                <a:spcPts val="200"/>
              </a:spcAft>
            </a:pPr>
            <a:r>
              <a:rPr sz="4600" b="1">
                <a:solidFill>
                  <a:srgbClr val="2D1155"/>
                </a:solidFill>
                <a:latin typeface="Arial Black"/>
              </a:rPr>
              <a:t>Vibe Engineering</a:t>
            </a:r>
          </a:p>
        </p:txBody>
      </p:sp>
      <p:sp>
        <p:nvSpPr>
          <p:cNvPr id="11" name="TextBox 10"/>
          <p:cNvSpPr txBox="1"/>
          <p:nvPr/>
        </p:nvSpPr>
        <p:spPr>
          <a:xfrm>
            <a:off x="676656" y="2724912"/>
            <a:ext cx="5486400" cy="822960"/>
          </a:xfrm>
          <a:prstGeom prst="rect">
            <a:avLst/>
          </a:prstGeom>
          <a:noFill/>
        </p:spPr>
        <p:txBody>
          <a:bodyPr wrap="square" lIns="0" tIns="0" rIns="0" bIns="0" anchor="t">
            <a:spAutoFit/>
          </a:bodyPr>
          <a:lstStyle/>
          <a:p>
            <a:pPr algn="l">
              <a:spcBef>
                <a:spcPts val="0"/>
              </a:spcBef>
              <a:spcAft>
                <a:spcPts val="200"/>
              </a:spcAft>
            </a:pPr>
            <a:r>
              <a:rPr sz="1500" b="0">
                <a:solidFill>
                  <a:srgbClr val="6E6389"/>
                </a:solidFill>
                <a:latin typeface="Calibri"/>
              </a:rPr>
              <a:t>Stop re-explaining yourself. Make the agent behave the</a:t>
            </a:r>
          </a:p>
          <a:p>
            <a:pPr algn="l">
              <a:spcBef>
                <a:spcPts val="0"/>
              </a:spcBef>
              <a:spcAft>
                <a:spcPts val="200"/>
              </a:spcAft>
            </a:pPr>
            <a:r>
              <a:rPr sz="1500" b="0">
                <a:solidFill>
                  <a:srgbClr val="6E6389"/>
                </a:solidFill>
                <a:latin typeface="Calibri"/>
              </a:rPr>
              <a:t>same tomorrow as today — and make good prompts reusable.</a:t>
            </a:r>
          </a:p>
        </p:txBody>
      </p:sp>
      <p:sp>
        <p:nvSpPr>
          <p:cNvPr id="12" name="Rounded Rectangle 11"/>
          <p:cNvSpPr/>
          <p:nvPr/>
        </p:nvSpPr>
        <p:spPr>
          <a:xfrm>
            <a:off x="676656" y="3703320"/>
            <a:ext cx="4526280" cy="38404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 y="3703320"/>
            <a:ext cx="4526280" cy="384048"/>
          </a:xfrm>
          <a:prstGeom prst="rect">
            <a:avLst/>
          </a:prstGeom>
          <a:noFill/>
        </p:spPr>
        <p:txBody>
          <a:bodyPr wrap="square" lIns="0" tIns="0" rIns="0" bIns="0" anchor="ctr">
            <a:spAutoFit/>
          </a:bodyPr>
          <a:lstStyle/>
          <a:p>
            <a:pPr algn="ctr">
              <a:spcBef>
                <a:spcPts val="0"/>
              </a:spcBef>
              <a:spcAft>
                <a:spcPts val="200"/>
              </a:spcAft>
            </a:pPr>
            <a:r>
              <a:rPr sz="900" b="1">
                <a:solidFill>
                  <a:srgbClr val="FFFFFF"/>
                </a:solidFill>
                <a:latin typeface="Calibri"/>
              </a:rPr>
              <a:t>20 MINUTES   ·   ONE CONTRACT   ·   TWO TOOLS</a:t>
            </a:r>
          </a:p>
        </p:txBody>
      </p:sp>
      <p:sp>
        <p:nvSpPr>
          <p:cNvPr id="14" name="TextBox 13"/>
          <p:cNvSpPr txBox="1"/>
          <p:nvPr/>
        </p:nvSpPr>
        <p:spPr>
          <a:xfrm>
            <a:off x="457200" y="4709160"/>
            <a:ext cx="5669280" cy="274320"/>
          </a:xfrm>
          <a:prstGeom prst="rect">
            <a:avLst/>
          </a:prstGeom>
          <a:noFill/>
        </p:spPr>
        <p:txBody>
          <a:bodyPr wrap="square" lIns="0" tIns="0" rIns="0" bIns="0" anchor="t">
            <a:spAutoFit/>
          </a:bodyPr>
          <a:lstStyle/>
          <a:p>
            <a:pPr algn="l">
              <a:spcBef>
                <a:spcPts val="0"/>
              </a:spcBef>
              <a:spcAft>
                <a:spcPts val="200"/>
              </a:spcAft>
            </a:pPr>
            <a:r>
              <a:rPr sz="900" b="0">
                <a:solidFill>
                  <a:srgbClr val="6E6389"/>
                </a:solidFill>
                <a:latin typeface="Calibri"/>
              </a:rPr>
              <a:t>Tech Council of Australia  |  techcouncil.com.au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THE DAY IS A LADDER</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spcBef>
                <a:spcPts val="0"/>
              </a:spcBef>
              <a:spcAft>
                <a:spcPts val="200"/>
              </a:spcAft>
            </a:pPr>
            <a:r>
              <a:rPr sz="1300" b="0">
                <a:solidFill>
                  <a:srgbClr val="6E6389"/>
                </a:solidFill>
                <a:latin typeface="Calibri"/>
              </a:rPr>
              <a:t>Rung two. You have a working app — now make building it repeatable.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ounded Rectangle 4"/>
          <p:cNvSpPr/>
          <p:nvPr/>
        </p:nvSpPr>
        <p:spPr>
          <a:xfrm>
            <a:off x="457200" y="1481328"/>
            <a:ext cx="8229600" cy="9326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81328"/>
            <a:ext cx="914400" cy="932688"/>
          </a:xfrm>
          <a:prstGeom prst="rect">
            <a:avLst/>
          </a:prstGeom>
          <a:noFill/>
        </p:spPr>
        <p:txBody>
          <a:bodyPr wrap="square" lIns="0" tIns="0" rIns="0" bIns="0" anchor="ctr">
            <a:spAutoFit/>
          </a:bodyPr>
          <a:lstStyle/>
          <a:p>
            <a:pPr algn="ctr">
              <a:spcBef>
                <a:spcPts val="0"/>
              </a:spcBef>
              <a:spcAft>
                <a:spcPts val="200"/>
              </a:spcAft>
            </a:pPr>
            <a:r>
              <a:rPr sz="3000" b="1">
                <a:solidFill>
                  <a:srgbClr val="DDD6FE"/>
                </a:solidFill>
                <a:latin typeface="Arial Black"/>
              </a:rPr>
              <a:t>01</a:t>
            </a:r>
          </a:p>
        </p:txBody>
      </p:sp>
      <p:sp>
        <p:nvSpPr>
          <p:cNvPr id="7" name="TextBox 6"/>
          <p:cNvSpPr txBox="1"/>
          <p:nvPr/>
        </p:nvSpPr>
        <p:spPr>
          <a:xfrm>
            <a:off x="1691640" y="1609344"/>
            <a:ext cx="4754880" cy="384048"/>
          </a:xfrm>
          <a:prstGeom prst="rect">
            <a:avLst/>
          </a:prstGeom>
          <a:noFill/>
        </p:spPr>
        <p:txBody>
          <a:bodyPr wrap="square" lIns="0" tIns="0" rIns="0" bIns="0" anchor="t">
            <a:spAutoFit/>
          </a:bodyPr>
          <a:lstStyle/>
          <a:p>
            <a:pPr algn="l">
              <a:spcBef>
                <a:spcPts val="0"/>
              </a:spcBef>
              <a:spcAft>
                <a:spcPts val="200"/>
              </a:spcAft>
            </a:pPr>
            <a:r>
              <a:rPr sz="1500" b="1">
                <a:solidFill>
                  <a:srgbClr val="2D1155"/>
                </a:solidFill>
                <a:latin typeface="Arial Black"/>
              </a:rPr>
              <a:t>Vibe Coding</a:t>
            </a:r>
          </a:p>
        </p:txBody>
      </p:sp>
      <p:sp>
        <p:nvSpPr>
          <p:cNvPr id="8" name="TextBox 7"/>
          <p:cNvSpPr txBox="1"/>
          <p:nvPr/>
        </p:nvSpPr>
        <p:spPr>
          <a:xfrm>
            <a:off x="1691640" y="1993392"/>
            <a:ext cx="6035040" cy="347472"/>
          </a:xfrm>
          <a:prstGeom prst="rect">
            <a:avLst/>
          </a:prstGeom>
          <a:noFill/>
        </p:spPr>
        <p:txBody>
          <a:bodyPr wrap="square" lIns="0" tIns="0" rIns="0" bIns="0" anchor="t">
            <a:spAutoFit/>
          </a:bodyPr>
          <a:lstStyle/>
          <a:p>
            <a:pPr algn="l">
              <a:spcBef>
                <a:spcPts val="0"/>
              </a:spcBef>
              <a:spcAft>
                <a:spcPts val="200"/>
              </a:spcAft>
            </a:pPr>
            <a:r>
              <a:rPr sz="1200" b="0">
                <a:solidFill>
                  <a:srgbClr val="6E6389"/>
                </a:solidFill>
                <a:latin typeface="Calibri"/>
              </a:rPr>
              <a:t>Use the tool. Make it work, don't care how.</a:t>
            </a:r>
          </a:p>
        </p:txBody>
      </p:sp>
      <p:sp>
        <p:nvSpPr>
          <p:cNvPr id="9" name="Rounded Rectangle 8"/>
          <p:cNvSpPr/>
          <p:nvPr/>
        </p:nvSpPr>
        <p:spPr>
          <a:xfrm>
            <a:off x="7086600" y="1792224"/>
            <a:ext cx="1417320" cy="310896"/>
          </a:xfrm>
          <a:prstGeom prst="roundRect">
            <a:avLst>
              <a:gd name="adj" fmla="val 50000"/>
            </a:avLst>
          </a:prstGeom>
          <a:solidFill>
            <a:srgbClr val="DDD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86600" y="1792224"/>
            <a:ext cx="1417320" cy="310896"/>
          </a:xfrm>
          <a:prstGeom prst="rect">
            <a:avLst/>
          </a:prstGeom>
          <a:noFill/>
        </p:spPr>
        <p:txBody>
          <a:bodyPr wrap="square" lIns="0" tIns="0" rIns="0" bIns="0" anchor="ctr">
            <a:spAutoFit/>
          </a:bodyPr>
          <a:lstStyle/>
          <a:p>
            <a:pPr algn="ctr">
              <a:spcBef>
                <a:spcPts val="0"/>
              </a:spcBef>
              <a:spcAft>
                <a:spcPts val="200"/>
              </a:spcAft>
            </a:pPr>
            <a:r>
              <a:rPr sz="900" b="1">
                <a:solidFill>
                  <a:srgbClr val="2D1155"/>
                </a:solidFill>
                <a:latin typeface="Calibri"/>
              </a:rPr>
              <a:t>DONE</a:t>
            </a:r>
          </a:p>
        </p:txBody>
      </p:sp>
      <p:sp>
        <p:nvSpPr>
          <p:cNvPr id="11" name="Rounded Rectangle 10"/>
          <p:cNvSpPr/>
          <p:nvPr/>
        </p:nvSpPr>
        <p:spPr>
          <a:xfrm>
            <a:off x="457200" y="2523744"/>
            <a:ext cx="8229600" cy="932688"/>
          </a:xfrm>
          <a:prstGeom prst="roundRect">
            <a:avLst>
              <a:gd name="adj" fmla="val 9000"/>
            </a:avLst>
          </a:prstGeom>
          <a:solidFill>
            <a:srgbClr val="2D1155"/>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523744"/>
            <a:ext cx="914400" cy="932688"/>
          </a:xfrm>
          <a:prstGeom prst="rect">
            <a:avLst/>
          </a:prstGeom>
          <a:noFill/>
        </p:spPr>
        <p:txBody>
          <a:bodyPr wrap="square" lIns="0" tIns="0" rIns="0" bIns="0" anchor="ctr">
            <a:spAutoFit/>
          </a:bodyPr>
          <a:lstStyle/>
          <a:p>
            <a:pPr algn="ctr">
              <a:spcBef>
                <a:spcPts val="0"/>
              </a:spcBef>
              <a:spcAft>
                <a:spcPts val="200"/>
              </a:spcAft>
            </a:pPr>
            <a:r>
              <a:rPr sz="3000" b="1">
                <a:solidFill>
                  <a:srgbClr val="F59E0B"/>
                </a:solidFill>
                <a:latin typeface="Arial Black"/>
              </a:rPr>
              <a:t>02</a:t>
            </a:r>
          </a:p>
        </p:txBody>
      </p:sp>
      <p:sp>
        <p:nvSpPr>
          <p:cNvPr id="13" name="TextBox 12"/>
          <p:cNvSpPr txBox="1"/>
          <p:nvPr/>
        </p:nvSpPr>
        <p:spPr>
          <a:xfrm>
            <a:off x="1691640" y="2651760"/>
            <a:ext cx="4754880" cy="384048"/>
          </a:xfrm>
          <a:prstGeom prst="rect">
            <a:avLst/>
          </a:prstGeom>
          <a:noFill/>
        </p:spPr>
        <p:txBody>
          <a:bodyPr wrap="square" lIns="0" tIns="0" rIns="0" bIns="0" anchor="t">
            <a:spAutoFit/>
          </a:bodyPr>
          <a:lstStyle/>
          <a:p>
            <a:pPr algn="l">
              <a:spcBef>
                <a:spcPts val="0"/>
              </a:spcBef>
              <a:spcAft>
                <a:spcPts val="200"/>
              </a:spcAft>
            </a:pPr>
            <a:r>
              <a:rPr sz="1500" b="1">
                <a:solidFill>
                  <a:srgbClr val="FFFFFF"/>
                </a:solidFill>
                <a:latin typeface="Arial Black"/>
              </a:rPr>
              <a:t>Vibe Engineering</a:t>
            </a:r>
          </a:p>
        </p:txBody>
      </p:sp>
      <p:sp>
        <p:nvSpPr>
          <p:cNvPr id="14" name="TextBox 13"/>
          <p:cNvSpPr txBox="1"/>
          <p:nvPr/>
        </p:nvSpPr>
        <p:spPr>
          <a:xfrm>
            <a:off x="1691640" y="3035808"/>
            <a:ext cx="6035040" cy="347472"/>
          </a:xfrm>
          <a:prstGeom prst="rect">
            <a:avLst/>
          </a:prstGeom>
          <a:noFill/>
        </p:spPr>
        <p:txBody>
          <a:bodyPr wrap="square" lIns="0" tIns="0" rIns="0" bIns="0" anchor="t">
            <a:spAutoFit/>
          </a:bodyPr>
          <a:lstStyle/>
          <a:p>
            <a:pPr algn="l">
              <a:spcBef>
                <a:spcPts val="0"/>
              </a:spcBef>
              <a:spcAft>
                <a:spcPts val="200"/>
              </a:spcAft>
            </a:pPr>
            <a:r>
              <a:rPr sz="1200" b="0">
                <a:solidFill>
                  <a:srgbClr val="DDD6FE"/>
                </a:solidFill>
                <a:latin typeface="Calibri"/>
              </a:rPr>
              <a:t>Make it repeatable. Stop repeating yourself.</a:t>
            </a:r>
          </a:p>
        </p:txBody>
      </p:sp>
      <p:sp>
        <p:nvSpPr>
          <p:cNvPr id="15" name="Rounded Rectangle 14"/>
          <p:cNvSpPr/>
          <p:nvPr/>
        </p:nvSpPr>
        <p:spPr>
          <a:xfrm>
            <a:off x="7086600" y="2834639"/>
            <a:ext cx="1417320" cy="31089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86600" y="2834639"/>
            <a:ext cx="1417320" cy="310896"/>
          </a:xfrm>
          <a:prstGeom prst="rect">
            <a:avLst/>
          </a:prstGeom>
          <a:noFill/>
        </p:spPr>
        <p:txBody>
          <a:bodyPr wrap="square" lIns="0" tIns="0" rIns="0" bIns="0" anchor="ctr">
            <a:spAutoFit/>
          </a:bodyPr>
          <a:lstStyle/>
          <a:p>
            <a:pPr algn="ctr">
              <a:spcBef>
                <a:spcPts val="0"/>
              </a:spcBef>
              <a:spcAft>
                <a:spcPts val="200"/>
              </a:spcAft>
            </a:pPr>
            <a:r>
              <a:rPr sz="900" b="1">
                <a:solidFill>
                  <a:srgbClr val="2D1155"/>
                </a:solidFill>
                <a:latin typeface="Calibri"/>
              </a:rPr>
              <a:t>YOU ARE HERE</a:t>
            </a:r>
          </a:p>
        </p:txBody>
      </p:sp>
      <p:sp>
        <p:nvSpPr>
          <p:cNvPr id="17" name="Rounded Rectangle 16"/>
          <p:cNvSpPr/>
          <p:nvPr/>
        </p:nvSpPr>
        <p:spPr>
          <a:xfrm>
            <a:off x="457200" y="3566160"/>
            <a:ext cx="8229600" cy="9326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566160"/>
            <a:ext cx="914400" cy="932688"/>
          </a:xfrm>
          <a:prstGeom prst="rect">
            <a:avLst/>
          </a:prstGeom>
          <a:noFill/>
        </p:spPr>
        <p:txBody>
          <a:bodyPr wrap="square" lIns="0" tIns="0" rIns="0" bIns="0" anchor="ctr">
            <a:spAutoFit/>
          </a:bodyPr>
          <a:lstStyle/>
          <a:p>
            <a:pPr algn="ctr">
              <a:spcBef>
                <a:spcPts val="0"/>
              </a:spcBef>
              <a:spcAft>
                <a:spcPts val="200"/>
              </a:spcAft>
            </a:pPr>
            <a:r>
              <a:rPr sz="3000" b="1">
                <a:solidFill>
                  <a:srgbClr val="DDD6FE"/>
                </a:solidFill>
                <a:latin typeface="Arial Black"/>
              </a:rPr>
              <a:t>03</a:t>
            </a:r>
          </a:p>
        </p:txBody>
      </p:sp>
      <p:sp>
        <p:nvSpPr>
          <p:cNvPr id="19" name="TextBox 18"/>
          <p:cNvSpPr txBox="1"/>
          <p:nvPr/>
        </p:nvSpPr>
        <p:spPr>
          <a:xfrm>
            <a:off x="1691640" y="3694176"/>
            <a:ext cx="4754880" cy="384048"/>
          </a:xfrm>
          <a:prstGeom prst="rect">
            <a:avLst/>
          </a:prstGeom>
          <a:noFill/>
        </p:spPr>
        <p:txBody>
          <a:bodyPr wrap="square" lIns="0" tIns="0" rIns="0" bIns="0" anchor="t">
            <a:spAutoFit/>
          </a:bodyPr>
          <a:lstStyle/>
          <a:p>
            <a:pPr algn="l">
              <a:spcBef>
                <a:spcPts val="0"/>
              </a:spcBef>
              <a:spcAft>
                <a:spcPts val="200"/>
              </a:spcAft>
            </a:pPr>
            <a:r>
              <a:rPr sz="1500" b="1">
                <a:solidFill>
                  <a:srgbClr val="2D1155"/>
                </a:solidFill>
                <a:latin typeface="Arial Black"/>
              </a:rPr>
              <a:t>Agentic Engineering</a:t>
            </a:r>
          </a:p>
        </p:txBody>
      </p:sp>
      <p:sp>
        <p:nvSpPr>
          <p:cNvPr id="20" name="TextBox 19"/>
          <p:cNvSpPr txBox="1"/>
          <p:nvPr/>
        </p:nvSpPr>
        <p:spPr>
          <a:xfrm>
            <a:off x="1691640" y="4078224"/>
            <a:ext cx="6035040" cy="347472"/>
          </a:xfrm>
          <a:prstGeom prst="rect">
            <a:avLst/>
          </a:prstGeom>
          <a:noFill/>
        </p:spPr>
        <p:txBody>
          <a:bodyPr wrap="square" lIns="0" tIns="0" rIns="0" bIns="0" anchor="t">
            <a:spAutoFit/>
          </a:bodyPr>
          <a:lstStyle/>
          <a:p>
            <a:pPr algn="l">
              <a:spcBef>
                <a:spcPts val="0"/>
              </a:spcBef>
              <a:spcAft>
                <a:spcPts val="200"/>
              </a:spcAft>
            </a:pPr>
            <a:r>
              <a:rPr sz="1200" b="0">
                <a:solidFill>
                  <a:srgbClr val="6E6389"/>
                </a:solidFill>
                <a:latin typeface="Calibri"/>
              </a:rPr>
              <a:t>Stop trusting the agent. Engineer around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WHAT VIBE ENGINEERING IS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The one-line definition.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457200" y="1481328"/>
            <a:ext cx="8229600" cy="548640"/>
          </a:xfrm>
          <a:prstGeom prst="rect">
            <a:avLst/>
          </a:prstGeom>
          <a:noFill/>
        </p:spPr>
        <p:txBody>
          <a:bodyPr wrap="square" lIns="0" tIns="0" rIns="0" bIns="0" anchor="t">
            <a:spAutoFit/>
          </a:bodyPr>
          <a:lstStyle/>
          <a:p>
            <a:pPr algn="l">
              <a:spcBef>
                <a:spcPts val="0"/>
              </a:spcBef>
              <a:spcAft>
                <a:spcPts val="200"/>
              </a:spcAft>
            </a:pPr>
            <a:r>
              <a:rPr sz="2100" b="1">
                <a:solidFill>
                  <a:srgbClr val="2D1155"/>
                </a:solidFill>
                <a:latin typeface="Arial Black"/>
              </a:rPr>
              <a:t>Deliberate, repeatable use of the tool — so it's fast and consistent.</a:t>
            </a:r>
          </a:p>
        </p:txBody>
      </p:sp>
      <p:sp>
        <p:nvSpPr>
          <p:cNvPr id="6" name="TextBox 5"/>
          <p:cNvSpPr txBox="1"/>
          <p:nvPr/>
        </p:nvSpPr>
        <p:spPr>
          <a:xfrm>
            <a:off x="457200" y="2148840"/>
            <a:ext cx="8229600" cy="868680"/>
          </a:xfrm>
          <a:prstGeom prst="rect">
            <a:avLst/>
          </a:prstGeom>
          <a:noFill/>
        </p:spPr>
        <p:txBody>
          <a:bodyPr wrap="square" lIns="0" tIns="0" rIns="0" bIns="0" anchor="t">
            <a:spAutoFit/>
          </a:bodyPr>
          <a:lstStyle/>
          <a:p>
            <a:pPr algn="l">
              <a:lnSpc>
                <a:spcPct val="105000"/>
              </a:lnSpc>
              <a:spcBef>
                <a:spcPts val="0"/>
              </a:spcBef>
              <a:spcAft>
                <a:spcPts val="200"/>
              </a:spcAft>
            </a:pPr>
            <a:r>
              <a:rPr sz="1450" b="0" dirty="0">
                <a:solidFill>
                  <a:srgbClr val="6E6389"/>
                </a:solidFill>
                <a:latin typeface="Calibri"/>
              </a:rPr>
              <a:t>Same agent, same loop as this morning. What changes is discipline: the project </a:t>
            </a:r>
            <a:r>
              <a:rPr sz="1450" b="1" dirty="0">
                <a:solidFill>
                  <a:srgbClr val="2D1155"/>
                </a:solidFill>
                <a:latin typeface="Calibri"/>
              </a:rPr>
              <a:t>remembers</a:t>
            </a:r>
            <a:r>
              <a:rPr sz="1450" b="0" dirty="0">
                <a:solidFill>
                  <a:srgbClr val="6E6389"/>
                </a:solidFill>
                <a:latin typeface="Calibri"/>
              </a:rPr>
              <a:t> your conventions, and your best prompts become </a:t>
            </a:r>
            <a:r>
              <a:rPr sz="1450" b="1" dirty="0">
                <a:solidFill>
                  <a:srgbClr val="2D1155"/>
                </a:solidFill>
                <a:latin typeface="Calibri"/>
              </a:rPr>
              <a:t>shared assets</a:t>
            </a:r>
            <a:r>
              <a:rPr sz="1450" b="0" dirty="0">
                <a:solidFill>
                  <a:srgbClr val="6E6389"/>
                </a:solidFill>
                <a:latin typeface="Calibri"/>
              </a:rPr>
              <a:t> instead of vanishing into one chat.</a:t>
            </a:r>
          </a:p>
        </p:txBody>
      </p:sp>
      <p:sp>
        <p:nvSpPr>
          <p:cNvPr id="7" name="Rounded Rectangle 6"/>
          <p:cNvSpPr/>
          <p:nvPr/>
        </p:nvSpPr>
        <p:spPr>
          <a:xfrm>
            <a:off x="457200" y="3200400"/>
            <a:ext cx="8229600" cy="1280160"/>
          </a:xfrm>
          <a:prstGeom prst="roundRect">
            <a:avLst>
              <a:gd name="adj" fmla="val 6000"/>
            </a:avLst>
          </a:prstGeom>
          <a:solidFill>
            <a:srgbClr val="DDD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7680960" cy="274320"/>
          </a:xfrm>
          <a:prstGeom prst="rect">
            <a:avLst/>
          </a:prstGeom>
          <a:noFill/>
        </p:spPr>
        <p:txBody>
          <a:bodyPr wrap="square" lIns="0" tIns="0" rIns="0" bIns="0" anchor="t">
            <a:spAutoFit/>
          </a:bodyPr>
          <a:lstStyle/>
          <a:p>
            <a:pPr algn="l">
              <a:spcBef>
                <a:spcPts val="0"/>
              </a:spcBef>
              <a:spcAft>
                <a:spcPts val="200"/>
              </a:spcAft>
            </a:pPr>
            <a:r>
              <a:rPr sz="1100" b="1">
                <a:solidFill>
                  <a:srgbClr val="5B21B6"/>
                </a:solidFill>
                <a:latin typeface="Calibri"/>
              </a:rPr>
              <a:t>THE MINDSET SHIFT</a:t>
            </a:r>
          </a:p>
        </p:txBody>
      </p:sp>
      <p:sp>
        <p:nvSpPr>
          <p:cNvPr id="9" name="TextBox 8"/>
          <p:cNvSpPr txBox="1"/>
          <p:nvPr/>
        </p:nvSpPr>
        <p:spPr>
          <a:xfrm>
            <a:off x="731520" y="3675887"/>
            <a:ext cx="7680960" cy="384048"/>
          </a:xfrm>
          <a:prstGeom prst="rect">
            <a:avLst/>
          </a:prstGeom>
          <a:noFill/>
        </p:spPr>
        <p:txBody>
          <a:bodyPr wrap="square" lIns="0" tIns="0" rIns="0" bIns="0" anchor="t">
            <a:spAutoFit/>
          </a:bodyPr>
          <a:lstStyle/>
          <a:p>
            <a:pPr algn="l">
              <a:spcBef>
                <a:spcPts val="0"/>
              </a:spcBef>
              <a:spcAft>
                <a:spcPts val="200"/>
              </a:spcAft>
            </a:pPr>
            <a:r>
              <a:rPr sz="1500" b="1">
                <a:solidFill>
                  <a:srgbClr val="2D1155"/>
                </a:solidFill>
                <a:latin typeface="Calibri"/>
              </a:rPr>
              <a:t>FROM   </a:t>
            </a:r>
            <a:r>
              <a:rPr sz="1500" b="0">
                <a:solidFill>
                  <a:srgbClr val="6E6389"/>
                </a:solidFill>
                <a:latin typeface="Calibri"/>
              </a:rPr>
              <a:t>“Let me re-explain how we do things here… again.”</a:t>
            </a:r>
          </a:p>
        </p:txBody>
      </p:sp>
      <p:sp>
        <p:nvSpPr>
          <p:cNvPr id="10" name="TextBox 9"/>
          <p:cNvSpPr txBox="1"/>
          <p:nvPr/>
        </p:nvSpPr>
        <p:spPr>
          <a:xfrm>
            <a:off x="731520" y="4069080"/>
            <a:ext cx="7680960" cy="384048"/>
          </a:xfrm>
          <a:prstGeom prst="rect">
            <a:avLst/>
          </a:prstGeom>
          <a:noFill/>
        </p:spPr>
        <p:txBody>
          <a:bodyPr wrap="square" lIns="0" tIns="0" rIns="0" bIns="0" anchor="t">
            <a:spAutoFit/>
          </a:bodyPr>
          <a:lstStyle/>
          <a:p>
            <a:pPr algn="l">
              <a:spcBef>
                <a:spcPts val="0"/>
              </a:spcBef>
              <a:spcAft>
                <a:spcPts val="200"/>
              </a:spcAft>
            </a:pPr>
            <a:r>
              <a:rPr sz="1500" b="1">
                <a:solidFill>
                  <a:srgbClr val="2D1155"/>
                </a:solidFill>
                <a:latin typeface="Calibri"/>
              </a:rPr>
              <a:t>TO   </a:t>
            </a:r>
            <a:r>
              <a:rPr sz="1500" b="0">
                <a:solidFill>
                  <a:srgbClr val="2D1155"/>
                </a:solidFill>
                <a:latin typeface="Calibri"/>
              </a:rPr>
              <a:t>“The contract already tells you how we do things 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FIVE MOVES THIS SESSION</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spcBef>
                <a:spcPts val="0"/>
              </a:spcBef>
              <a:spcAft>
                <a:spcPts val="200"/>
              </a:spcAft>
            </a:pPr>
            <a:r>
              <a:rPr sz="1300" b="0">
                <a:solidFill>
                  <a:srgbClr val="6E6389"/>
                </a:solidFill>
                <a:latin typeface="Calibri"/>
              </a:rPr>
              <a:t>Each one stops you repeating yourself.</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502920" y="1481328"/>
            <a:ext cx="4572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481328"/>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2D1155"/>
                </a:solidFill>
                <a:latin typeface="Arial Black"/>
              </a:rPr>
              <a:t>1</a:t>
            </a:r>
          </a:p>
        </p:txBody>
      </p:sp>
      <p:sp>
        <p:nvSpPr>
          <p:cNvPr id="7" name="TextBox 6"/>
          <p:cNvSpPr txBox="1"/>
          <p:nvPr/>
        </p:nvSpPr>
        <p:spPr>
          <a:xfrm>
            <a:off x="1143000" y="1444752"/>
            <a:ext cx="7498079" cy="54864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A project contract.   </a:t>
            </a:r>
            <a:r>
              <a:rPr sz="1450" b="0">
                <a:solidFill>
                  <a:srgbClr val="6E6389"/>
                </a:solidFill>
                <a:latin typeface="Calibri"/>
              </a:rPr>
              <a:t>The agent remembers your conventions — written once, read every session.</a:t>
            </a:r>
          </a:p>
        </p:txBody>
      </p:sp>
      <p:sp>
        <p:nvSpPr>
          <p:cNvPr id="8" name="Rectangle 7"/>
          <p:cNvSpPr/>
          <p:nvPr/>
        </p:nvSpPr>
        <p:spPr>
          <a:xfrm>
            <a:off x="502920" y="2103120"/>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103120"/>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2</a:t>
            </a:r>
          </a:p>
        </p:txBody>
      </p:sp>
      <p:sp>
        <p:nvSpPr>
          <p:cNvPr id="10" name="TextBox 9"/>
          <p:cNvSpPr txBox="1"/>
          <p:nvPr/>
        </p:nvSpPr>
        <p:spPr>
          <a:xfrm>
            <a:off x="1143000" y="2066544"/>
            <a:ext cx="7498079" cy="54864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A reusable workflow.   </a:t>
            </a:r>
            <a:r>
              <a:rPr sz="1450" b="0">
                <a:solidFill>
                  <a:srgbClr val="6E6389"/>
                </a:solidFill>
                <a:latin typeface="Calibri"/>
              </a:rPr>
              <a:t>Your best “add a feature” prompt becomes a command you invoke by name.</a:t>
            </a:r>
          </a:p>
        </p:txBody>
      </p:sp>
      <p:sp>
        <p:nvSpPr>
          <p:cNvPr id="11" name="Rectangle 10"/>
          <p:cNvSpPr/>
          <p:nvPr/>
        </p:nvSpPr>
        <p:spPr>
          <a:xfrm>
            <a:off x="502920" y="2724912"/>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724912"/>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3</a:t>
            </a:r>
          </a:p>
        </p:txBody>
      </p:sp>
      <p:sp>
        <p:nvSpPr>
          <p:cNvPr id="13" name="TextBox 12"/>
          <p:cNvSpPr txBox="1"/>
          <p:nvPr/>
        </p:nvSpPr>
        <p:spPr>
          <a:xfrm>
            <a:off x="1143000" y="2688336"/>
            <a:ext cx="7498079" cy="54864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Context on purpose.   </a:t>
            </a:r>
            <a:r>
              <a:rPr sz="1450" b="0">
                <a:solidFill>
                  <a:srgbClr val="6E6389"/>
                </a:solidFill>
                <a:latin typeface="Calibri"/>
              </a:rPr>
              <a:t>/compact, /clear, fresh sessions — keep the agent's desk clean.</a:t>
            </a:r>
          </a:p>
        </p:txBody>
      </p:sp>
      <p:sp>
        <p:nvSpPr>
          <p:cNvPr id="14" name="Rectangle 13"/>
          <p:cNvSpPr/>
          <p:nvPr/>
        </p:nvSpPr>
        <p:spPr>
          <a:xfrm>
            <a:off x="502920" y="3346704"/>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346704"/>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4</a:t>
            </a:r>
          </a:p>
        </p:txBody>
      </p:sp>
      <p:sp>
        <p:nvSpPr>
          <p:cNvPr id="16" name="TextBox 15"/>
          <p:cNvSpPr txBox="1"/>
          <p:nvPr/>
        </p:nvSpPr>
        <p:spPr>
          <a:xfrm>
            <a:off x="1143000" y="3310128"/>
            <a:ext cx="7498079" cy="548640"/>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Two agents in parallel.   </a:t>
            </a:r>
            <a:r>
              <a:rPr sz="1450" b="0" dirty="0">
                <a:solidFill>
                  <a:srgbClr val="6E6389"/>
                </a:solidFill>
                <a:latin typeface="Calibri"/>
              </a:rPr>
              <a:t>git </a:t>
            </a:r>
            <a:r>
              <a:rPr sz="1450" b="0" dirty="0" err="1">
                <a:solidFill>
                  <a:srgbClr val="6E6389"/>
                </a:solidFill>
                <a:latin typeface="Calibri"/>
              </a:rPr>
              <a:t>worktrees</a:t>
            </a:r>
            <a:r>
              <a:rPr sz="1450" b="0" dirty="0">
                <a:solidFill>
                  <a:srgbClr val="6E6389"/>
                </a:solidFill>
                <a:latin typeface="Calibri"/>
              </a:rPr>
              <a:t> let two agents work at once; compare and take a second opinion.</a:t>
            </a:r>
          </a:p>
        </p:txBody>
      </p:sp>
      <p:sp>
        <p:nvSpPr>
          <p:cNvPr id="17" name="Rectangle 16"/>
          <p:cNvSpPr/>
          <p:nvPr/>
        </p:nvSpPr>
        <p:spPr>
          <a:xfrm>
            <a:off x="502920" y="3968496"/>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3968496"/>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5</a:t>
            </a:r>
          </a:p>
        </p:txBody>
      </p:sp>
      <p:sp>
        <p:nvSpPr>
          <p:cNvPr id="19" name="TextBox 18"/>
          <p:cNvSpPr txBox="1"/>
          <p:nvPr/>
        </p:nvSpPr>
        <p:spPr>
          <a:xfrm>
            <a:off x="1143000" y="3931920"/>
            <a:ext cx="7498079" cy="54864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Reach real data.   </a:t>
            </a:r>
            <a:r>
              <a:rPr sz="1450" b="0">
                <a:solidFill>
                  <a:srgbClr val="6E6389"/>
                </a:solidFill>
                <a:latin typeface="Calibri"/>
              </a:rPr>
              <a:t>Connect an external tool over MCP so the agent sees more than your files.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MOVE 1 · THE PROJECT CONTRACT</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AGENTS.md / CLAUDE.md — written once, read every session.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ounded Rectangle 4"/>
          <p:cNvSpPr/>
          <p:nvPr/>
        </p:nvSpPr>
        <p:spPr>
          <a:xfrm>
            <a:off x="457200" y="1463040"/>
            <a:ext cx="4023360" cy="2788920"/>
          </a:xfrm>
          <a:prstGeom prst="roundRect">
            <a:avLst>
              <a:gd name="adj" fmla="val 5000"/>
            </a:avLst>
          </a:prstGeom>
          <a:solidFill>
            <a:srgbClr val="FFFFFF"/>
          </a:solidFill>
          <a:ln w="1587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627632"/>
            <a:ext cx="3566160" cy="320040"/>
          </a:xfrm>
          <a:prstGeom prst="rect">
            <a:avLst/>
          </a:prstGeom>
          <a:noFill/>
        </p:spPr>
        <p:txBody>
          <a:bodyPr wrap="square" lIns="0" tIns="0" rIns="0" bIns="0" anchor="t">
            <a:spAutoFit/>
          </a:bodyPr>
          <a:lstStyle/>
          <a:p>
            <a:pPr algn="l">
              <a:spcBef>
                <a:spcPts val="0"/>
              </a:spcBef>
              <a:spcAft>
                <a:spcPts val="200"/>
              </a:spcAft>
            </a:pPr>
            <a:r>
              <a:rPr sz="1100" b="1">
                <a:solidFill>
                  <a:srgbClr val="5B21B6"/>
                </a:solidFill>
                <a:latin typeface="Calibri"/>
              </a:rPr>
              <a:t>WHAT GOES IN IT</a:t>
            </a:r>
          </a:p>
        </p:txBody>
      </p:sp>
      <p:sp>
        <p:nvSpPr>
          <p:cNvPr id="7" name="TextBox 6"/>
          <p:cNvSpPr txBox="1"/>
          <p:nvPr/>
        </p:nvSpPr>
        <p:spPr>
          <a:xfrm>
            <a:off x="713232" y="2011680"/>
            <a:ext cx="3611880" cy="365760"/>
          </a:xfrm>
          <a:prstGeom prst="rect">
            <a:avLst/>
          </a:prstGeom>
          <a:noFill/>
        </p:spPr>
        <p:txBody>
          <a:bodyPr wrap="square" lIns="0" tIns="0" rIns="0" bIns="0" anchor="t">
            <a:spAutoFit/>
          </a:bodyPr>
          <a:lstStyle/>
          <a:p>
            <a:pPr algn="l">
              <a:spcBef>
                <a:spcPts val="0"/>
              </a:spcBef>
              <a:spcAft>
                <a:spcPts val="200"/>
              </a:spcAft>
            </a:pPr>
            <a:r>
              <a:rPr sz="1250" b="0" dirty="0">
                <a:solidFill>
                  <a:srgbClr val="2D1155"/>
                </a:solidFill>
                <a:latin typeface="Calibri"/>
              </a:rPr>
              <a:t>•  Commands: make dev / test / check</a:t>
            </a:r>
          </a:p>
        </p:txBody>
      </p:sp>
      <p:sp>
        <p:nvSpPr>
          <p:cNvPr id="8" name="TextBox 7"/>
          <p:cNvSpPr txBox="1"/>
          <p:nvPr/>
        </p:nvSpPr>
        <p:spPr>
          <a:xfrm>
            <a:off x="713232" y="2414016"/>
            <a:ext cx="3611880" cy="365760"/>
          </a:xfrm>
          <a:prstGeom prst="rect">
            <a:avLst/>
          </a:prstGeom>
          <a:noFill/>
        </p:spPr>
        <p:txBody>
          <a:bodyPr wrap="square" lIns="0" tIns="0" rIns="0" bIns="0" anchor="t">
            <a:spAutoFit/>
          </a:bodyPr>
          <a:lstStyle/>
          <a:p>
            <a:pPr algn="l">
              <a:spcBef>
                <a:spcPts val="0"/>
              </a:spcBef>
              <a:spcAft>
                <a:spcPts val="200"/>
              </a:spcAft>
            </a:pPr>
            <a:r>
              <a:rPr sz="1250" b="0" dirty="0">
                <a:solidFill>
                  <a:srgbClr val="2D1155"/>
                </a:solidFill>
                <a:latin typeface="Calibri"/>
              </a:rPr>
              <a:t>•  Architecture: where things live</a:t>
            </a:r>
          </a:p>
        </p:txBody>
      </p:sp>
      <p:sp>
        <p:nvSpPr>
          <p:cNvPr id="9" name="TextBox 8"/>
          <p:cNvSpPr txBox="1"/>
          <p:nvPr/>
        </p:nvSpPr>
        <p:spPr>
          <a:xfrm>
            <a:off x="713232" y="2816352"/>
            <a:ext cx="3611880" cy="365760"/>
          </a:xfrm>
          <a:prstGeom prst="rect">
            <a:avLst/>
          </a:prstGeom>
          <a:noFill/>
        </p:spPr>
        <p:txBody>
          <a:bodyPr wrap="square" lIns="0" tIns="0" rIns="0" bIns="0" anchor="t">
            <a:spAutoFit/>
          </a:bodyPr>
          <a:lstStyle/>
          <a:p>
            <a:pPr algn="l">
              <a:spcBef>
                <a:spcPts val="0"/>
              </a:spcBef>
              <a:spcAft>
                <a:spcPts val="200"/>
              </a:spcAft>
            </a:pPr>
            <a:r>
              <a:rPr sz="1250" b="0" dirty="0">
                <a:solidFill>
                  <a:srgbClr val="2D1155"/>
                </a:solidFill>
                <a:latin typeface="Calibri"/>
              </a:rPr>
              <a:t>•  Key patterns: weekday encoding,</a:t>
            </a:r>
          </a:p>
        </p:txBody>
      </p:sp>
      <p:sp>
        <p:nvSpPr>
          <p:cNvPr id="10" name="TextBox 9"/>
          <p:cNvSpPr txBox="1"/>
          <p:nvPr/>
        </p:nvSpPr>
        <p:spPr>
          <a:xfrm>
            <a:off x="713232" y="3218688"/>
            <a:ext cx="3611880" cy="365760"/>
          </a:xfrm>
          <a:prstGeom prst="rect">
            <a:avLst/>
          </a:prstGeom>
          <a:noFill/>
        </p:spPr>
        <p:txBody>
          <a:bodyPr wrap="square" lIns="0" tIns="0" rIns="0" bIns="0" anchor="t">
            <a:spAutoFit/>
          </a:bodyPr>
          <a:lstStyle/>
          <a:p>
            <a:pPr algn="l">
              <a:spcBef>
                <a:spcPts val="0"/>
              </a:spcBef>
              <a:spcAft>
                <a:spcPts val="200"/>
              </a:spcAft>
            </a:pPr>
            <a:r>
              <a:rPr sz="1250" b="0" dirty="0">
                <a:solidFill>
                  <a:srgbClr val="6E6389"/>
                </a:solidFill>
                <a:latin typeface="Calibri"/>
              </a:rPr>
              <a:t>     the fresh-streak rule, idempotency</a:t>
            </a:r>
          </a:p>
        </p:txBody>
      </p:sp>
      <p:sp>
        <p:nvSpPr>
          <p:cNvPr id="11" name="TextBox 10"/>
          <p:cNvSpPr txBox="1"/>
          <p:nvPr/>
        </p:nvSpPr>
        <p:spPr>
          <a:xfrm>
            <a:off x="713232" y="3621024"/>
            <a:ext cx="3611880" cy="365760"/>
          </a:xfrm>
          <a:prstGeom prst="rect">
            <a:avLst/>
          </a:prstGeom>
          <a:noFill/>
        </p:spPr>
        <p:txBody>
          <a:bodyPr wrap="square" lIns="0" tIns="0" rIns="0" bIns="0" anchor="t">
            <a:spAutoFit/>
          </a:bodyPr>
          <a:lstStyle/>
          <a:p>
            <a:pPr algn="l">
              <a:spcBef>
                <a:spcPts val="0"/>
              </a:spcBef>
              <a:spcAft>
                <a:spcPts val="200"/>
              </a:spcAft>
            </a:pPr>
            <a:r>
              <a:rPr sz="1250" b="0" dirty="0">
                <a:solidFill>
                  <a:srgbClr val="2D1155"/>
                </a:solidFill>
                <a:latin typeface="Calibri"/>
              </a:rPr>
              <a:t>•  The “adding a new field” checklist</a:t>
            </a:r>
          </a:p>
        </p:txBody>
      </p:sp>
      <p:sp>
        <p:nvSpPr>
          <p:cNvPr id="12" name="Rounded Rectangle 11"/>
          <p:cNvSpPr/>
          <p:nvPr/>
        </p:nvSpPr>
        <p:spPr>
          <a:xfrm>
            <a:off x="4663440" y="1463040"/>
            <a:ext cx="4023360" cy="2788920"/>
          </a:xfrm>
          <a:prstGeom prst="roundRect">
            <a:avLst>
              <a:gd name="adj" fmla="val 5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19472" y="1627632"/>
            <a:ext cx="3566160" cy="320040"/>
          </a:xfrm>
          <a:prstGeom prst="rect">
            <a:avLst/>
          </a:prstGeom>
          <a:noFill/>
        </p:spPr>
        <p:txBody>
          <a:bodyPr wrap="square" lIns="0" tIns="0" rIns="0" bIns="0" anchor="t">
            <a:spAutoFit/>
          </a:bodyPr>
          <a:lstStyle/>
          <a:p>
            <a:pPr algn="l">
              <a:spcBef>
                <a:spcPts val="0"/>
              </a:spcBef>
              <a:spcAft>
                <a:spcPts val="200"/>
              </a:spcAft>
            </a:pPr>
            <a:r>
              <a:rPr sz="1100" b="1">
                <a:solidFill>
                  <a:srgbClr val="F59E0B"/>
                </a:solidFill>
                <a:latin typeface="Calibri"/>
              </a:rPr>
              <a:t>WHY IT PAYS OFF</a:t>
            </a:r>
          </a:p>
        </p:txBody>
      </p:sp>
      <p:sp>
        <p:nvSpPr>
          <p:cNvPr id="14" name="TextBox 13"/>
          <p:cNvSpPr txBox="1"/>
          <p:nvPr/>
        </p:nvSpPr>
        <p:spPr>
          <a:xfrm>
            <a:off x="4919472" y="2011680"/>
            <a:ext cx="3611880" cy="365760"/>
          </a:xfrm>
          <a:prstGeom prst="rect">
            <a:avLst/>
          </a:prstGeom>
          <a:noFill/>
        </p:spPr>
        <p:txBody>
          <a:bodyPr wrap="square" lIns="0" tIns="0" rIns="0" bIns="0" anchor="t">
            <a:spAutoFit/>
          </a:bodyPr>
          <a:lstStyle/>
          <a:p>
            <a:pPr algn="l">
              <a:spcBef>
                <a:spcPts val="0"/>
              </a:spcBef>
              <a:spcAft>
                <a:spcPts val="200"/>
              </a:spcAft>
            </a:pPr>
            <a:r>
              <a:rPr sz="1250" b="0">
                <a:solidFill>
                  <a:srgbClr val="FFFFFF"/>
                </a:solidFill>
                <a:latin typeface="Calibri"/>
              </a:rPr>
              <a:t>•  It follows your conventions without</a:t>
            </a:r>
          </a:p>
        </p:txBody>
      </p:sp>
      <p:sp>
        <p:nvSpPr>
          <p:cNvPr id="15" name="TextBox 14"/>
          <p:cNvSpPr txBox="1"/>
          <p:nvPr/>
        </p:nvSpPr>
        <p:spPr>
          <a:xfrm>
            <a:off x="4919472" y="2414016"/>
            <a:ext cx="3611880" cy="365760"/>
          </a:xfrm>
          <a:prstGeom prst="rect">
            <a:avLst/>
          </a:prstGeom>
          <a:noFill/>
        </p:spPr>
        <p:txBody>
          <a:bodyPr wrap="square" lIns="0" tIns="0" rIns="0" bIns="0" anchor="t">
            <a:spAutoFit/>
          </a:bodyPr>
          <a:lstStyle/>
          <a:p>
            <a:pPr algn="l">
              <a:spcBef>
                <a:spcPts val="0"/>
              </a:spcBef>
              <a:spcAft>
                <a:spcPts val="200"/>
              </a:spcAft>
            </a:pPr>
            <a:r>
              <a:rPr sz="1250" b="0">
                <a:solidFill>
                  <a:srgbClr val="DDD6FE"/>
                </a:solidFill>
                <a:latin typeface="Calibri"/>
              </a:rPr>
              <a:t>     being told, every session</a:t>
            </a:r>
          </a:p>
        </p:txBody>
      </p:sp>
      <p:sp>
        <p:nvSpPr>
          <p:cNvPr id="16" name="TextBox 15"/>
          <p:cNvSpPr txBox="1"/>
          <p:nvPr/>
        </p:nvSpPr>
        <p:spPr>
          <a:xfrm>
            <a:off x="4919472" y="2816352"/>
            <a:ext cx="3611880" cy="365760"/>
          </a:xfrm>
          <a:prstGeom prst="rect">
            <a:avLst/>
          </a:prstGeom>
          <a:noFill/>
        </p:spPr>
        <p:txBody>
          <a:bodyPr wrap="square" lIns="0" tIns="0" rIns="0" bIns="0" anchor="t">
            <a:spAutoFit/>
          </a:bodyPr>
          <a:lstStyle/>
          <a:p>
            <a:pPr algn="l">
              <a:spcBef>
                <a:spcPts val="0"/>
              </a:spcBef>
              <a:spcAft>
                <a:spcPts val="200"/>
              </a:spcAft>
            </a:pPr>
            <a:r>
              <a:rPr sz="1250" b="0">
                <a:solidFill>
                  <a:srgbClr val="FFFFFF"/>
                </a:solidFill>
                <a:latin typeface="Calibri"/>
              </a:rPr>
              <a:t>•  New chats start smart, not blank</a:t>
            </a:r>
          </a:p>
        </p:txBody>
      </p:sp>
      <p:sp>
        <p:nvSpPr>
          <p:cNvPr id="17" name="TextBox 16"/>
          <p:cNvSpPr txBox="1"/>
          <p:nvPr/>
        </p:nvSpPr>
        <p:spPr>
          <a:xfrm>
            <a:off x="4919472" y="3218688"/>
            <a:ext cx="3611880" cy="365760"/>
          </a:xfrm>
          <a:prstGeom prst="rect">
            <a:avLst/>
          </a:prstGeom>
          <a:noFill/>
        </p:spPr>
        <p:txBody>
          <a:bodyPr wrap="square" lIns="0" tIns="0" rIns="0" bIns="0" anchor="t">
            <a:spAutoFit/>
          </a:bodyPr>
          <a:lstStyle/>
          <a:p>
            <a:pPr algn="l">
              <a:spcBef>
                <a:spcPts val="0"/>
              </a:spcBef>
              <a:spcAft>
                <a:spcPts val="200"/>
              </a:spcAft>
            </a:pPr>
            <a:r>
              <a:rPr sz="1250" b="0">
                <a:solidFill>
                  <a:srgbClr val="FFFFFF"/>
                </a:solidFill>
                <a:latin typeface="Calibri"/>
              </a:rPr>
              <a:t>•  One shared asset for the whole cohort</a:t>
            </a:r>
          </a:p>
        </p:txBody>
      </p:sp>
      <p:sp>
        <p:nvSpPr>
          <p:cNvPr id="18" name="TextBox 17"/>
          <p:cNvSpPr txBox="1"/>
          <p:nvPr/>
        </p:nvSpPr>
        <p:spPr>
          <a:xfrm>
            <a:off x="4919472" y="3621024"/>
            <a:ext cx="3611880" cy="192360"/>
          </a:xfrm>
          <a:prstGeom prst="rect">
            <a:avLst/>
          </a:prstGeom>
          <a:noFill/>
        </p:spPr>
        <p:txBody>
          <a:bodyPr wrap="square" lIns="0" tIns="0" rIns="0" bIns="0" anchor="t">
            <a:spAutoFit/>
          </a:bodyPr>
          <a:lstStyle/>
          <a:p>
            <a:pPr algn="l">
              <a:spcBef>
                <a:spcPts val="0"/>
              </a:spcBef>
              <a:spcAft>
                <a:spcPts val="200"/>
              </a:spcAft>
            </a:pPr>
            <a:r>
              <a:rPr sz="1250" b="0" dirty="0">
                <a:solidFill>
                  <a:srgbClr val="FFFFFF"/>
                </a:solidFill>
                <a:latin typeface="Calibri"/>
              </a:rPr>
              <a:t>•  Codex reads it too</a:t>
            </a:r>
            <a:r>
              <a:rPr lang="en-AU" sz="1250" b="0" dirty="0">
                <a:solidFill>
                  <a:srgbClr val="FFFFFF"/>
                </a:solidFill>
                <a:latin typeface="Calibri"/>
              </a:rPr>
              <a:t>,</a:t>
            </a:r>
            <a:r>
              <a:rPr sz="1250" b="0" dirty="0">
                <a:solidFill>
                  <a:srgbClr val="FFFFFF"/>
                </a:solidFill>
                <a:latin typeface="Calibri"/>
              </a:rPr>
              <a:t> same file</a:t>
            </a:r>
          </a:p>
        </p:txBody>
      </p:sp>
      <p:sp>
        <p:nvSpPr>
          <p:cNvPr id="19" name="Rounded Rectangle 18"/>
          <p:cNvSpPr/>
          <p:nvPr/>
        </p:nvSpPr>
        <p:spPr>
          <a:xfrm>
            <a:off x="457200" y="4370832"/>
            <a:ext cx="8229600" cy="457200"/>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370832"/>
            <a:ext cx="8229600" cy="457200"/>
          </a:xfrm>
          <a:prstGeom prst="rect">
            <a:avLst/>
          </a:prstGeom>
          <a:noFill/>
        </p:spPr>
        <p:txBody>
          <a:bodyPr wrap="square" lIns="0" tIns="0" rIns="0" bIns="0" anchor="ctr">
            <a:spAutoFit/>
          </a:bodyPr>
          <a:lstStyle/>
          <a:p>
            <a:pPr algn="l">
              <a:spcBef>
                <a:spcPts val="0"/>
              </a:spcBef>
              <a:spcAft>
                <a:spcPts val="200"/>
              </a:spcAft>
            </a:pPr>
            <a:r>
              <a:rPr sz="1200" b="1">
                <a:solidFill>
                  <a:srgbClr val="5B21B6"/>
                </a:solidFill>
                <a:latin typeface="Courier New"/>
              </a:rPr>
              <a:t>/init</a:t>
            </a:r>
            <a:r>
              <a:rPr sz="1200" b="0">
                <a:solidFill>
                  <a:srgbClr val="6E6389"/>
                </a:solidFill>
                <a:latin typeface="Calibri"/>
              </a:rPr>
              <a:t> scaffolds it in both tools. Keep </a:t>
            </a:r>
            <a:r>
              <a:rPr sz="1200" b="1">
                <a:solidFill>
                  <a:srgbClr val="2D1155"/>
                </a:solidFill>
                <a:latin typeface="Courier New"/>
              </a:rPr>
              <a:t>AGENTS.md</a:t>
            </a:r>
            <a:r>
              <a:rPr sz="1200" b="0">
                <a:solidFill>
                  <a:srgbClr val="6E6389"/>
                </a:solidFill>
                <a:latin typeface="Calibri"/>
              </a:rPr>
              <a:t> the source of truth; Claude reads it via </a:t>
            </a:r>
            <a:r>
              <a:rPr sz="1200" b="1">
                <a:solidFill>
                  <a:srgbClr val="2D1155"/>
                </a:solidFill>
                <a:latin typeface="Courier New"/>
              </a:rPr>
              <a:t>@AGENTS.md</a:t>
            </a:r>
            <a:r>
              <a:rPr sz="1200" b="0">
                <a:solidFill>
                  <a:srgbClr val="6E6389"/>
                </a:solidFill>
                <a:latin typeface="Calibr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MOVE 2 · CODIFY A WORKFLOW</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spcBef>
                <a:spcPts val="0"/>
              </a:spcBef>
              <a:spcAft>
                <a:spcPts val="200"/>
              </a:spcAft>
            </a:pPr>
            <a:r>
              <a:rPr sz="1300" b="0">
                <a:solidFill>
                  <a:srgbClr val="6E6389"/>
                </a:solidFill>
                <a:latin typeface="Calibri"/>
              </a:rPr>
              <a:t>A good prompt, saved once, reused forever.</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457200" y="1371600"/>
            <a:ext cx="8229600" cy="200055"/>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Capture your “add a feature” recipe as a command</a:t>
            </a:r>
            <a:r>
              <a:rPr lang="en-AU" sz="1300" b="0" dirty="0">
                <a:solidFill>
                  <a:srgbClr val="6E6389"/>
                </a:solidFill>
                <a:latin typeface="Calibri"/>
              </a:rPr>
              <a:t>,</a:t>
            </a:r>
            <a:r>
              <a:rPr sz="1300" b="0" dirty="0">
                <a:solidFill>
                  <a:srgbClr val="6E6389"/>
                </a:solidFill>
                <a:latin typeface="Calibri"/>
              </a:rPr>
              <a:t> the same five steps every time:</a:t>
            </a:r>
          </a:p>
        </p:txBody>
      </p:sp>
      <p:sp>
        <p:nvSpPr>
          <p:cNvPr id="6" name="Rounded Rectangle 5"/>
          <p:cNvSpPr/>
          <p:nvPr/>
        </p:nvSpPr>
        <p:spPr>
          <a:xfrm>
            <a:off x="457200" y="1828800"/>
            <a:ext cx="1517904" cy="1051560"/>
          </a:xfrm>
          <a:prstGeom prst="roundRect">
            <a:avLst>
              <a:gd name="adj" fmla="val 9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938528"/>
            <a:ext cx="1517904" cy="310896"/>
          </a:xfrm>
          <a:prstGeom prst="rect">
            <a:avLst/>
          </a:prstGeom>
          <a:noFill/>
        </p:spPr>
        <p:txBody>
          <a:bodyPr wrap="square" lIns="0" tIns="0" rIns="0" bIns="0" anchor="t">
            <a:spAutoFit/>
          </a:bodyPr>
          <a:lstStyle/>
          <a:p>
            <a:pPr algn="ctr">
              <a:spcBef>
                <a:spcPts val="0"/>
              </a:spcBef>
              <a:spcAft>
                <a:spcPts val="200"/>
              </a:spcAft>
            </a:pPr>
            <a:r>
              <a:rPr sz="1600" b="1">
                <a:solidFill>
                  <a:srgbClr val="F59E0B"/>
                </a:solidFill>
                <a:latin typeface="Arial Black"/>
              </a:rPr>
              <a:t>1</a:t>
            </a:r>
          </a:p>
        </p:txBody>
      </p:sp>
      <p:sp>
        <p:nvSpPr>
          <p:cNvPr id="8" name="TextBox 7"/>
          <p:cNvSpPr txBox="1"/>
          <p:nvPr/>
        </p:nvSpPr>
        <p:spPr>
          <a:xfrm>
            <a:off x="457200" y="2286000"/>
            <a:ext cx="1517904" cy="274320"/>
          </a:xfrm>
          <a:prstGeom prst="rect">
            <a:avLst/>
          </a:prstGeom>
          <a:noFill/>
        </p:spPr>
        <p:txBody>
          <a:bodyPr wrap="square" lIns="0" tIns="0" rIns="0" bIns="0" anchor="t">
            <a:spAutoFit/>
          </a:bodyPr>
          <a:lstStyle/>
          <a:p>
            <a:pPr algn="ctr">
              <a:spcBef>
                <a:spcPts val="0"/>
              </a:spcBef>
              <a:spcAft>
                <a:spcPts val="200"/>
              </a:spcAft>
            </a:pPr>
            <a:r>
              <a:rPr sz="1050" b="1">
                <a:solidFill>
                  <a:srgbClr val="FFFFFF"/>
                </a:solidFill>
                <a:latin typeface="Arial Black"/>
              </a:rPr>
              <a:t>EXPLORE</a:t>
            </a:r>
          </a:p>
        </p:txBody>
      </p:sp>
      <p:sp>
        <p:nvSpPr>
          <p:cNvPr id="9" name="TextBox 8"/>
          <p:cNvSpPr txBox="1"/>
          <p:nvPr/>
        </p:nvSpPr>
        <p:spPr>
          <a:xfrm>
            <a:off x="457200" y="2578608"/>
            <a:ext cx="1517904" cy="274320"/>
          </a:xfrm>
          <a:prstGeom prst="rect">
            <a:avLst/>
          </a:prstGeom>
          <a:noFill/>
        </p:spPr>
        <p:txBody>
          <a:bodyPr wrap="square" lIns="0" tIns="0" rIns="0" bIns="0" anchor="t">
            <a:spAutoFit/>
          </a:bodyPr>
          <a:lstStyle/>
          <a:p>
            <a:pPr algn="ctr">
              <a:spcBef>
                <a:spcPts val="0"/>
              </a:spcBef>
              <a:spcAft>
                <a:spcPts val="200"/>
              </a:spcAft>
            </a:pPr>
            <a:r>
              <a:rPr sz="900" b="0">
                <a:solidFill>
                  <a:srgbClr val="DDD6FE"/>
                </a:solidFill>
                <a:latin typeface="Calibri"/>
              </a:rPr>
              <a:t>read what it touches</a:t>
            </a:r>
          </a:p>
        </p:txBody>
      </p:sp>
      <p:sp>
        <p:nvSpPr>
          <p:cNvPr id="10" name="TextBox 9"/>
          <p:cNvSpPr txBox="1"/>
          <p:nvPr/>
        </p:nvSpPr>
        <p:spPr>
          <a:xfrm>
            <a:off x="1975104" y="2084831"/>
            <a:ext cx="164592" cy="548640"/>
          </a:xfrm>
          <a:prstGeom prst="rect">
            <a:avLst/>
          </a:prstGeom>
          <a:noFill/>
        </p:spPr>
        <p:txBody>
          <a:bodyPr wrap="square" lIns="0" tIns="0" rIns="0" bIns="0" anchor="t">
            <a:spAutoFit/>
          </a:bodyPr>
          <a:lstStyle/>
          <a:p>
            <a:pPr algn="ctr">
              <a:spcBef>
                <a:spcPts val="0"/>
              </a:spcBef>
              <a:spcAft>
                <a:spcPts val="200"/>
              </a:spcAft>
            </a:pPr>
            <a:r>
              <a:rPr sz="2000" b="1">
                <a:solidFill>
                  <a:srgbClr val="7C3AED"/>
                </a:solidFill>
                <a:latin typeface="Calibri"/>
              </a:rPr>
              <a:t>›</a:t>
            </a:r>
          </a:p>
        </p:txBody>
      </p:sp>
      <p:sp>
        <p:nvSpPr>
          <p:cNvPr id="11" name="Rounded Rectangle 10"/>
          <p:cNvSpPr/>
          <p:nvPr/>
        </p:nvSpPr>
        <p:spPr>
          <a:xfrm>
            <a:off x="2139696" y="1828800"/>
            <a:ext cx="1517904" cy="1051560"/>
          </a:xfrm>
          <a:prstGeom prst="roundRect">
            <a:avLst>
              <a:gd name="adj" fmla="val 9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39696" y="1938528"/>
            <a:ext cx="1517904" cy="310896"/>
          </a:xfrm>
          <a:prstGeom prst="rect">
            <a:avLst/>
          </a:prstGeom>
          <a:noFill/>
        </p:spPr>
        <p:txBody>
          <a:bodyPr wrap="square" lIns="0" tIns="0" rIns="0" bIns="0" anchor="t">
            <a:spAutoFit/>
          </a:bodyPr>
          <a:lstStyle/>
          <a:p>
            <a:pPr algn="ctr">
              <a:spcBef>
                <a:spcPts val="0"/>
              </a:spcBef>
              <a:spcAft>
                <a:spcPts val="200"/>
              </a:spcAft>
            </a:pPr>
            <a:r>
              <a:rPr sz="1600" b="1">
                <a:solidFill>
                  <a:srgbClr val="7C3AED"/>
                </a:solidFill>
                <a:latin typeface="Arial Black"/>
              </a:rPr>
              <a:t>2</a:t>
            </a:r>
          </a:p>
        </p:txBody>
      </p:sp>
      <p:sp>
        <p:nvSpPr>
          <p:cNvPr id="13" name="TextBox 12"/>
          <p:cNvSpPr txBox="1"/>
          <p:nvPr/>
        </p:nvSpPr>
        <p:spPr>
          <a:xfrm>
            <a:off x="2139696" y="2286000"/>
            <a:ext cx="1517904" cy="274320"/>
          </a:xfrm>
          <a:prstGeom prst="rect">
            <a:avLst/>
          </a:prstGeom>
          <a:noFill/>
        </p:spPr>
        <p:txBody>
          <a:bodyPr wrap="square" lIns="0" tIns="0" rIns="0" bIns="0" anchor="t">
            <a:spAutoFit/>
          </a:bodyPr>
          <a:lstStyle/>
          <a:p>
            <a:pPr algn="ctr">
              <a:spcBef>
                <a:spcPts val="0"/>
              </a:spcBef>
              <a:spcAft>
                <a:spcPts val="200"/>
              </a:spcAft>
            </a:pPr>
            <a:r>
              <a:rPr sz="1050" b="1">
                <a:solidFill>
                  <a:srgbClr val="FFFFFF"/>
                </a:solidFill>
                <a:latin typeface="Arial Black"/>
              </a:rPr>
              <a:t>PLAN</a:t>
            </a:r>
          </a:p>
        </p:txBody>
      </p:sp>
      <p:sp>
        <p:nvSpPr>
          <p:cNvPr id="14" name="TextBox 13"/>
          <p:cNvSpPr txBox="1"/>
          <p:nvPr/>
        </p:nvSpPr>
        <p:spPr>
          <a:xfrm>
            <a:off x="2139696" y="2578608"/>
            <a:ext cx="1517904" cy="274320"/>
          </a:xfrm>
          <a:prstGeom prst="rect">
            <a:avLst/>
          </a:prstGeom>
          <a:noFill/>
        </p:spPr>
        <p:txBody>
          <a:bodyPr wrap="square" lIns="0" tIns="0" rIns="0" bIns="0" anchor="t">
            <a:spAutoFit/>
          </a:bodyPr>
          <a:lstStyle/>
          <a:p>
            <a:pPr algn="ctr">
              <a:spcBef>
                <a:spcPts val="0"/>
              </a:spcBef>
              <a:spcAft>
                <a:spcPts val="200"/>
              </a:spcAft>
            </a:pPr>
            <a:r>
              <a:rPr sz="900" b="0">
                <a:solidFill>
                  <a:srgbClr val="DDD6FE"/>
                </a:solidFill>
                <a:latin typeface="Calibri"/>
              </a:rPr>
              <a:t>surface decisions</a:t>
            </a:r>
          </a:p>
        </p:txBody>
      </p:sp>
      <p:sp>
        <p:nvSpPr>
          <p:cNvPr id="15" name="TextBox 14"/>
          <p:cNvSpPr txBox="1"/>
          <p:nvPr/>
        </p:nvSpPr>
        <p:spPr>
          <a:xfrm>
            <a:off x="3657600" y="2084831"/>
            <a:ext cx="164592" cy="548640"/>
          </a:xfrm>
          <a:prstGeom prst="rect">
            <a:avLst/>
          </a:prstGeom>
          <a:noFill/>
        </p:spPr>
        <p:txBody>
          <a:bodyPr wrap="square" lIns="0" tIns="0" rIns="0" bIns="0" anchor="t">
            <a:spAutoFit/>
          </a:bodyPr>
          <a:lstStyle/>
          <a:p>
            <a:pPr algn="ctr">
              <a:spcBef>
                <a:spcPts val="0"/>
              </a:spcBef>
              <a:spcAft>
                <a:spcPts val="200"/>
              </a:spcAft>
            </a:pPr>
            <a:r>
              <a:rPr sz="2000" b="1">
                <a:solidFill>
                  <a:srgbClr val="7C3AED"/>
                </a:solidFill>
                <a:latin typeface="Calibri"/>
              </a:rPr>
              <a:t>›</a:t>
            </a:r>
          </a:p>
        </p:txBody>
      </p:sp>
      <p:sp>
        <p:nvSpPr>
          <p:cNvPr id="16" name="Rounded Rectangle 15"/>
          <p:cNvSpPr/>
          <p:nvPr/>
        </p:nvSpPr>
        <p:spPr>
          <a:xfrm>
            <a:off x="3822191" y="1828800"/>
            <a:ext cx="1517904" cy="1051560"/>
          </a:xfrm>
          <a:prstGeom prst="roundRect">
            <a:avLst>
              <a:gd name="adj" fmla="val 9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22191" y="1938528"/>
            <a:ext cx="1517904" cy="310896"/>
          </a:xfrm>
          <a:prstGeom prst="rect">
            <a:avLst/>
          </a:prstGeom>
          <a:noFill/>
        </p:spPr>
        <p:txBody>
          <a:bodyPr wrap="square" lIns="0" tIns="0" rIns="0" bIns="0" anchor="t">
            <a:spAutoFit/>
          </a:bodyPr>
          <a:lstStyle/>
          <a:p>
            <a:pPr algn="ctr">
              <a:spcBef>
                <a:spcPts val="0"/>
              </a:spcBef>
              <a:spcAft>
                <a:spcPts val="200"/>
              </a:spcAft>
            </a:pPr>
            <a:r>
              <a:rPr sz="1600" b="1">
                <a:solidFill>
                  <a:srgbClr val="7C3AED"/>
                </a:solidFill>
                <a:latin typeface="Arial Black"/>
              </a:rPr>
              <a:t>3</a:t>
            </a:r>
          </a:p>
        </p:txBody>
      </p:sp>
      <p:sp>
        <p:nvSpPr>
          <p:cNvPr id="18" name="TextBox 17"/>
          <p:cNvSpPr txBox="1"/>
          <p:nvPr/>
        </p:nvSpPr>
        <p:spPr>
          <a:xfrm>
            <a:off x="3822191" y="2286000"/>
            <a:ext cx="1517904" cy="274320"/>
          </a:xfrm>
          <a:prstGeom prst="rect">
            <a:avLst/>
          </a:prstGeom>
          <a:noFill/>
        </p:spPr>
        <p:txBody>
          <a:bodyPr wrap="square" lIns="0" tIns="0" rIns="0" bIns="0" anchor="t">
            <a:spAutoFit/>
          </a:bodyPr>
          <a:lstStyle/>
          <a:p>
            <a:pPr algn="ctr">
              <a:spcBef>
                <a:spcPts val="0"/>
              </a:spcBef>
              <a:spcAft>
                <a:spcPts val="200"/>
              </a:spcAft>
            </a:pPr>
            <a:r>
              <a:rPr sz="1050" b="1">
                <a:solidFill>
                  <a:srgbClr val="FFFFFF"/>
                </a:solidFill>
                <a:latin typeface="Arial Black"/>
              </a:rPr>
              <a:t>IMPLEMENT</a:t>
            </a:r>
          </a:p>
        </p:txBody>
      </p:sp>
      <p:sp>
        <p:nvSpPr>
          <p:cNvPr id="19" name="TextBox 18"/>
          <p:cNvSpPr txBox="1"/>
          <p:nvPr/>
        </p:nvSpPr>
        <p:spPr>
          <a:xfrm>
            <a:off x="3822191" y="2578608"/>
            <a:ext cx="1517904" cy="274320"/>
          </a:xfrm>
          <a:prstGeom prst="rect">
            <a:avLst/>
          </a:prstGeom>
          <a:noFill/>
        </p:spPr>
        <p:txBody>
          <a:bodyPr wrap="square" lIns="0" tIns="0" rIns="0" bIns="0" anchor="t">
            <a:spAutoFit/>
          </a:bodyPr>
          <a:lstStyle/>
          <a:p>
            <a:pPr algn="ctr">
              <a:spcBef>
                <a:spcPts val="0"/>
              </a:spcBef>
              <a:spcAft>
                <a:spcPts val="200"/>
              </a:spcAft>
            </a:pPr>
            <a:r>
              <a:rPr sz="900" b="0">
                <a:solidFill>
                  <a:srgbClr val="DDD6FE"/>
                </a:solidFill>
                <a:latin typeface="Calibri"/>
              </a:rPr>
              <a:t>follow the contract</a:t>
            </a:r>
          </a:p>
        </p:txBody>
      </p:sp>
      <p:sp>
        <p:nvSpPr>
          <p:cNvPr id="20" name="TextBox 19"/>
          <p:cNvSpPr txBox="1"/>
          <p:nvPr/>
        </p:nvSpPr>
        <p:spPr>
          <a:xfrm>
            <a:off x="5340096" y="2084831"/>
            <a:ext cx="164592" cy="548640"/>
          </a:xfrm>
          <a:prstGeom prst="rect">
            <a:avLst/>
          </a:prstGeom>
          <a:noFill/>
        </p:spPr>
        <p:txBody>
          <a:bodyPr wrap="square" lIns="0" tIns="0" rIns="0" bIns="0" anchor="t">
            <a:spAutoFit/>
          </a:bodyPr>
          <a:lstStyle/>
          <a:p>
            <a:pPr algn="ctr">
              <a:spcBef>
                <a:spcPts val="0"/>
              </a:spcBef>
              <a:spcAft>
                <a:spcPts val="200"/>
              </a:spcAft>
            </a:pPr>
            <a:r>
              <a:rPr sz="2000" b="1">
                <a:solidFill>
                  <a:srgbClr val="7C3AED"/>
                </a:solidFill>
                <a:latin typeface="Calibri"/>
              </a:rPr>
              <a:t>›</a:t>
            </a:r>
          </a:p>
        </p:txBody>
      </p:sp>
      <p:sp>
        <p:nvSpPr>
          <p:cNvPr id="21" name="Rounded Rectangle 20"/>
          <p:cNvSpPr/>
          <p:nvPr/>
        </p:nvSpPr>
        <p:spPr>
          <a:xfrm>
            <a:off x="5504688" y="1828800"/>
            <a:ext cx="1517904" cy="1051560"/>
          </a:xfrm>
          <a:prstGeom prst="roundRect">
            <a:avLst>
              <a:gd name="adj" fmla="val 9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04688" y="1938528"/>
            <a:ext cx="1517904" cy="310896"/>
          </a:xfrm>
          <a:prstGeom prst="rect">
            <a:avLst/>
          </a:prstGeom>
          <a:noFill/>
        </p:spPr>
        <p:txBody>
          <a:bodyPr wrap="square" lIns="0" tIns="0" rIns="0" bIns="0" anchor="t">
            <a:spAutoFit/>
          </a:bodyPr>
          <a:lstStyle/>
          <a:p>
            <a:pPr algn="ctr">
              <a:spcBef>
                <a:spcPts val="0"/>
              </a:spcBef>
              <a:spcAft>
                <a:spcPts val="200"/>
              </a:spcAft>
            </a:pPr>
            <a:r>
              <a:rPr sz="1600" b="1">
                <a:solidFill>
                  <a:srgbClr val="7C3AED"/>
                </a:solidFill>
                <a:latin typeface="Arial Black"/>
              </a:rPr>
              <a:t>4</a:t>
            </a:r>
          </a:p>
        </p:txBody>
      </p:sp>
      <p:sp>
        <p:nvSpPr>
          <p:cNvPr id="23" name="TextBox 22"/>
          <p:cNvSpPr txBox="1"/>
          <p:nvPr/>
        </p:nvSpPr>
        <p:spPr>
          <a:xfrm>
            <a:off x="5504688" y="2286000"/>
            <a:ext cx="1517904" cy="274320"/>
          </a:xfrm>
          <a:prstGeom prst="rect">
            <a:avLst/>
          </a:prstGeom>
          <a:noFill/>
        </p:spPr>
        <p:txBody>
          <a:bodyPr wrap="square" lIns="0" tIns="0" rIns="0" bIns="0" anchor="t">
            <a:spAutoFit/>
          </a:bodyPr>
          <a:lstStyle/>
          <a:p>
            <a:pPr algn="ctr">
              <a:spcBef>
                <a:spcPts val="0"/>
              </a:spcBef>
              <a:spcAft>
                <a:spcPts val="200"/>
              </a:spcAft>
            </a:pPr>
            <a:r>
              <a:rPr sz="1050" b="1">
                <a:solidFill>
                  <a:srgbClr val="FFFFFF"/>
                </a:solidFill>
                <a:latin typeface="Arial Black"/>
              </a:rPr>
              <a:t>RUN</a:t>
            </a:r>
          </a:p>
        </p:txBody>
      </p:sp>
      <p:sp>
        <p:nvSpPr>
          <p:cNvPr id="24" name="TextBox 23"/>
          <p:cNvSpPr txBox="1"/>
          <p:nvPr/>
        </p:nvSpPr>
        <p:spPr>
          <a:xfrm>
            <a:off x="5504688" y="2578608"/>
            <a:ext cx="1517904" cy="274320"/>
          </a:xfrm>
          <a:prstGeom prst="rect">
            <a:avLst/>
          </a:prstGeom>
          <a:noFill/>
        </p:spPr>
        <p:txBody>
          <a:bodyPr wrap="square" lIns="0" tIns="0" rIns="0" bIns="0" anchor="t">
            <a:spAutoFit/>
          </a:bodyPr>
          <a:lstStyle/>
          <a:p>
            <a:pPr algn="ctr">
              <a:spcBef>
                <a:spcPts val="0"/>
              </a:spcBef>
              <a:spcAft>
                <a:spcPts val="200"/>
              </a:spcAft>
            </a:pPr>
            <a:r>
              <a:rPr sz="900" b="0">
                <a:solidFill>
                  <a:srgbClr val="DDD6FE"/>
                </a:solidFill>
                <a:latin typeface="Calibri"/>
              </a:rPr>
              <a:t>prove it works</a:t>
            </a:r>
          </a:p>
        </p:txBody>
      </p:sp>
      <p:sp>
        <p:nvSpPr>
          <p:cNvPr id="25" name="TextBox 24"/>
          <p:cNvSpPr txBox="1"/>
          <p:nvPr/>
        </p:nvSpPr>
        <p:spPr>
          <a:xfrm>
            <a:off x="7022592" y="2084831"/>
            <a:ext cx="164592" cy="548640"/>
          </a:xfrm>
          <a:prstGeom prst="rect">
            <a:avLst/>
          </a:prstGeom>
          <a:noFill/>
        </p:spPr>
        <p:txBody>
          <a:bodyPr wrap="square" lIns="0" tIns="0" rIns="0" bIns="0" anchor="t">
            <a:spAutoFit/>
          </a:bodyPr>
          <a:lstStyle/>
          <a:p>
            <a:pPr algn="ctr">
              <a:spcBef>
                <a:spcPts val="0"/>
              </a:spcBef>
              <a:spcAft>
                <a:spcPts val="200"/>
              </a:spcAft>
            </a:pPr>
            <a:r>
              <a:rPr sz="2000" b="1">
                <a:solidFill>
                  <a:srgbClr val="7C3AED"/>
                </a:solidFill>
                <a:latin typeface="Calibri"/>
              </a:rPr>
              <a:t>›</a:t>
            </a:r>
          </a:p>
        </p:txBody>
      </p:sp>
      <p:sp>
        <p:nvSpPr>
          <p:cNvPr id="26" name="Rounded Rectangle 25"/>
          <p:cNvSpPr/>
          <p:nvPr/>
        </p:nvSpPr>
        <p:spPr>
          <a:xfrm>
            <a:off x="7187183" y="1828800"/>
            <a:ext cx="1517904" cy="1051560"/>
          </a:xfrm>
          <a:prstGeom prst="roundRect">
            <a:avLst>
              <a:gd name="adj" fmla="val 9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87183" y="1938528"/>
            <a:ext cx="1517904" cy="310896"/>
          </a:xfrm>
          <a:prstGeom prst="rect">
            <a:avLst/>
          </a:prstGeom>
          <a:noFill/>
        </p:spPr>
        <p:txBody>
          <a:bodyPr wrap="square" lIns="0" tIns="0" rIns="0" bIns="0" anchor="t">
            <a:spAutoFit/>
          </a:bodyPr>
          <a:lstStyle/>
          <a:p>
            <a:pPr algn="ctr">
              <a:spcBef>
                <a:spcPts val="0"/>
              </a:spcBef>
              <a:spcAft>
                <a:spcPts val="200"/>
              </a:spcAft>
            </a:pPr>
            <a:r>
              <a:rPr sz="1600" b="1">
                <a:solidFill>
                  <a:srgbClr val="F59E0B"/>
                </a:solidFill>
                <a:latin typeface="Arial Black"/>
              </a:rPr>
              <a:t>5</a:t>
            </a:r>
          </a:p>
        </p:txBody>
      </p:sp>
      <p:sp>
        <p:nvSpPr>
          <p:cNvPr id="28" name="TextBox 27"/>
          <p:cNvSpPr txBox="1"/>
          <p:nvPr/>
        </p:nvSpPr>
        <p:spPr>
          <a:xfrm>
            <a:off x="7187183" y="2286000"/>
            <a:ext cx="1517904" cy="274320"/>
          </a:xfrm>
          <a:prstGeom prst="rect">
            <a:avLst/>
          </a:prstGeom>
          <a:noFill/>
        </p:spPr>
        <p:txBody>
          <a:bodyPr wrap="square" lIns="0" tIns="0" rIns="0" bIns="0" anchor="t">
            <a:spAutoFit/>
          </a:bodyPr>
          <a:lstStyle/>
          <a:p>
            <a:pPr algn="ctr">
              <a:spcBef>
                <a:spcPts val="0"/>
              </a:spcBef>
              <a:spcAft>
                <a:spcPts val="200"/>
              </a:spcAft>
            </a:pPr>
            <a:r>
              <a:rPr sz="1050" b="1">
                <a:solidFill>
                  <a:srgbClr val="FFFFFF"/>
                </a:solidFill>
                <a:latin typeface="Arial Black"/>
              </a:rPr>
              <a:t>SUMMARISE</a:t>
            </a:r>
          </a:p>
        </p:txBody>
      </p:sp>
      <p:sp>
        <p:nvSpPr>
          <p:cNvPr id="29" name="TextBox 28"/>
          <p:cNvSpPr txBox="1"/>
          <p:nvPr/>
        </p:nvSpPr>
        <p:spPr>
          <a:xfrm>
            <a:off x="7187183" y="2578608"/>
            <a:ext cx="1517904" cy="274320"/>
          </a:xfrm>
          <a:prstGeom prst="rect">
            <a:avLst/>
          </a:prstGeom>
          <a:noFill/>
        </p:spPr>
        <p:txBody>
          <a:bodyPr wrap="square" lIns="0" tIns="0" rIns="0" bIns="0" anchor="t">
            <a:spAutoFit/>
          </a:bodyPr>
          <a:lstStyle/>
          <a:p>
            <a:pPr algn="ctr">
              <a:spcBef>
                <a:spcPts val="0"/>
              </a:spcBef>
              <a:spcAft>
                <a:spcPts val="200"/>
              </a:spcAft>
            </a:pPr>
            <a:r>
              <a:rPr sz="900" b="0">
                <a:solidFill>
                  <a:srgbClr val="DDD6FE"/>
                </a:solidFill>
                <a:latin typeface="Calibri"/>
              </a:rPr>
              <a:t>diff at a glance</a:t>
            </a:r>
          </a:p>
        </p:txBody>
      </p:sp>
      <p:sp>
        <p:nvSpPr>
          <p:cNvPr id="30" name="Rectangle 29"/>
          <p:cNvSpPr/>
          <p:nvPr/>
        </p:nvSpPr>
        <p:spPr>
          <a:xfrm>
            <a:off x="457200" y="3200400"/>
            <a:ext cx="8229600" cy="457200"/>
          </a:xfrm>
          <a:prstGeom prst="rect">
            <a:avLst/>
          </a:prstGeom>
          <a:solidFill>
            <a:srgbClr val="DDD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3200400"/>
            <a:ext cx="2926080" cy="457200"/>
          </a:xfrm>
          <a:prstGeom prst="rect">
            <a:avLst/>
          </a:prstGeom>
          <a:noFill/>
        </p:spPr>
        <p:txBody>
          <a:bodyPr wrap="square" lIns="0" tIns="0" rIns="0" bIns="0" anchor="ctr">
            <a:spAutoFit/>
          </a:bodyPr>
          <a:lstStyle/>
          <a:p>
            <a:pPr algn="l">
              <a:spcBef>
                <a:spcPts val="0"/>
              </a:spcBef>
              <a:spcAft>
                <a:spcPts val="200"/>
              </a:spcAft>
            </a:pPr>
            <a:r>
              <a:rPr sz="1200" b="0">
                <a:solidFill>
                  <a:srgbClr val="2D1155"/>
                </a:solidFill>
                <a:latin typeface="Calibri"/>
              </a:rPr>
              <a:t>Where the command lives</a:t>
            </a:r>
          </a:p>
        </p:txBody>
      </p:sp>
      <p:sp>
        <p:nvSpPr>
          <p:cNvPr id="32" name="TextBox 31"/>
          <p:cNvSpPr txBox="1"/>
          <p:nvPr/>
        </p:nvSpPr>
        <p:spPr>
          <a:xfrm>
            <a:off x="3749039" y="3200400"/>
            <a:ext cx="2560320" cy="457200"/>
          </a:xfrm>
          <a:prstGeom prst="rect">
            <a:avLst/>
          </a:prstGeom>
          <a:noFill/>
        </p:spPr>
        <p:txBody>
          <a:bodyPr wrap="square" lIns="0" tIns="0" rIns="0" bIns="0" anchor="ctr">
            <a:spAutoFit/>
          </a:bodyPr>
          <a:lstStyle/>
          <a:p>
            <a:pPr algn="l">
              <a:spcBef>
                <a:spcPts val="0"/>
              </a:spcBef>
              <a:spcAft>
                <a:spcPts val="200"/>
              </a:spcAft>
            </a:pPr>
            <a:r>
              <a:rPr sz="1150" b="1">
                <a:solidFill>
                  <a:srgbClr val="5B21B6"/>
                </a:solidFill>
                <a:latin typeface="Courier New"/>
              </a:rPr>
              <a:t>.claude/commands/  or  .claude/skills/</a:t>
            </a:r>
          </a:p>
        </p:txBody>
      </p:sp>
      <p:sp>
        <p:nvSpPr>
          <p:cNvPr id="33" name="TextBox 32"/>
          <p:cNvSpPr txBox="1"/>
          <p:nvPr/>
        </p:nvSpPr>
        <p:spPr>
          <a:xfrm>
            <a:off x="6355080" y="3200400"/>
            <a:ext cx="2286000" cy="457200"/>
          </a:xfrm>
          <a:prstGeom prst="rect">
            <a:avLst/>
          </a:prstGeom>
          <a:noFill/>
        </p:spPr>
        <p:txBody>
          <a:bodyPr wrap="square" lIns="0" tIns="0" rIns="0" bIns="0" anchor="ctr">
            <a:spAutoFit/>
          </a:bodyPr>
          <a:lstStyle/>
          <a:p>
            <a:pPr algn="l">
              <a:spcBef>
                <a:spcPts val="0"/>
              </a:spcBef>
              <a:spcAft>
                <a:spcPts val="200"/>
              </a:spcAft>
            </a:pPr>
            <a:r>
              <a:rPr sz="1150" b="1">
                <a:solidFill>
                  <a:srgbClr val="7C3AED"/>
                </a:solidFill>
                <a:latin typeface="Courier New"/>
              </a:rPr>
              <a:t>~/.codex/prompts/</a:t>
            </a:r>
          </a:p>
        </p:txBody>
      </p:sp>
      <p:sp>
        <p:nvSpPr>
          <p:cNvPr id="34" name="Rectangle 33"/>
          <p:cNvSpPr/>
          <p:nvPr/>
        </p:nvSpPr>
        <p:spPr>
          <a:xfrm>
            <a:off x="457200" y="3657600"/>
            <a:ext cx="82296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3657600"/>
            <a:ext cx="2926080" cy="457200"/>
          </a:xfrm>
          <a:prstGeom prst="rect">
            <a:avLst/>
          </a:prstGeom>
          <a:noFill/>
        </p:spPr>
        <p:txBody>
          <a:bodyPr wrap="square" lIns="0" tIns="0" rIns="0" bIns="0" anchor="ctr">
            <a:spAutoFit/>
          </a:bodyPr>
          <a:lstStyle/>
          <a:p>
            <a:pPr algn="l">
              <a:spcBef>
                <a:spcPts val="0"/>
              </a:spcBef>
              <a:spcAft>
                <a:spcPts val="200"/>
              </a:spcAft>
            </a:pPr>
            <a:r>
              <a:rPr sz="1200" b="0">
                <a:solidFill>
                  <a:srgbClr val="2D1155"/>
                </a:solidFill>
                <a:latin typeface="Calibri"/>
              </a:rPr>
              <a:t>Invoke it by name</a:t>
            </a:r>
          </a:p>
        </p:txBody>
      </p:sp>
      <p:sp>
        <p:nvSpPr>
          <p:cNvPr id="36" name="TextBox 35"/>
          <p:cNvSpPr txBox="1"/>
          <p:nvPr/>
        </p:nvSpPr>
        <p:spPr>
          <a:xfrm>
            <a:off x="3749039" y="3657600"/>
            <a:ext cx="4846320" cy="457200"/>
          </a:xfrm>
          <a:prstGeom prst="rect">
            <a:avLst/>
          </a:prstGeom>
          <a:noFill/>
        </p:spPr>
        <p:txBody>
          <a:bodyPr wrap="square" lIns="0" tIns="0" rIns="0" bIns="0" anchor="ctr">
            <a:spAutoFit/>
          </a:bodyPr>
          <a:lstStyle/>
          <a:p>
            <a:pPr algn="l">
              <a:spcBef>
                <a:spcPts val="0"/>
              </a:spcBef>
              <a:spcAft>
                <a:spcPts val="200"/>
              </a:spcAft>
            </a:pPr>
            <a:r>
              <a:rPr sz="1200" b="1" dirty="0">
                <a:solidFill>
                  <a:srgbClr val="2D1155"/>
                </a:solidFill>
                <a:latin typeface="Courier New"/>
              </a:rPr>
              <a:t>/add-feature “longest streak”</a:t>
            </a:r>
          </a:p>
        </p:txBody>
      </p:sp>
      <p:sp>
        <p:nvSpPr>
          <p:cNvPr id="37" name="TextBox 36"/>
          <p:cNvSpPr txBox="1"/>
          <p:nvPr/>
        </p:nvSpPr>
        <p:spPr>
          <a:xfrm>
            <a:off x="457200" y="4315968"/>
            <a:ext cx="8229600" cy="320040"/>
          </a:xfrm>
          <a:prstGeom prst="rect">
            <a:avLst/>
          </a:prstGeom>
          <a:noFill/>
        </p:spPr>
        <p:txBody>
          <a:bodyPr wrap="square" lIns="0" tIns="0" rIns="0" bIns="0" anchor="t">
            <a:spAutoFit/>
          </a:bodyPr>
          <a:lstStyle/>
          <a:p>
            <a:pPr algn="l">
              <a:spcBef>
                <a:spcPts val="0"/>
              </a:spcBef>
              <a:spcAft>
                <a:spcPts val="200"/>
              </a:spcAft>
            </a:pPr>
            <a:r>
              <a:rPr sz="1150" b="0">
                <a:solidFill>
                  <a:srgbClr val="6E6389"/>
                </a:solidFill>
                <a:latin typeface="Calibri"/>
              </a:rPr>
              <a:t>Same body in both tools. The prompt stops being something you retype — it's a shared, versioned asset.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MOVE 3 · MANAGE CONTEXT ON PURPOSE</a:t>
            </a:r>
          </a:p>
        </p:txBody>
      </p:sp>
      <p:sp>
        <p:nvSpPr>
          <p:cNvPr id="3" name="TextBox 2"/>
          <p:cNvSpPr txBox="1"/>
          <p:nvPr/>
        </p:nvSpPr>
        <p:spPr>
          <a:xfrm>
            <a:off x="475488" y="896112"/>
            <a:ext cx="8229600" cy="200055"/>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Context is the fuel</a:t>
            </a:r>
            <a:r>
              <a:rPr lang="en-AU" sz="1300" b="0" dirty="0">
                <a:solidFill>
                  <a:srgbClr val="6E6389"/>
                </a:solidFill>
                <a:latin typeface="Calibri"/>
              </a:rPr>
              <a:t>, </a:t>
            </a:r>
            <a:r>
              <a:rPr sz="1300" b="0" dirty="0">
                <a:solidFill>
                  <a:srgbClr val="6E6389"/>
                </a:solidFill>
                <a:latin typeface="Calibri"/>
              </a:rPr>
              <a:t>spend it deliberately.</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ounded Rectangle 4"/>
          <p:cNvSpPr/>
          <p:nvPr/>
        </p:nvSpPr>
        <p:spPr>
          <a:xfrm>
            <a:off x="457200" y="1554480"/>
            <a:ext cx="2688336" cy="2331720"/>
          </a:xfrm>
          <a:prstGeom prst="roundRect">
            <a:avLst>
              <a:gd name="adj" fmla="val 6000"/>
            </a:avLst>
          </a:prstGeom>
          <a:solidFill>
            <a:srgbClr val="FFFFFF"/>
          </a:solidFill>
          <a:ln w="1587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54480"/>
            <a:ext cx="2688336"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828800"/>
            <a:ext cx="2286000" cy="457200"/>
          </a:xfrm>
          <a:prstGeom prst="rect">
            <a:avLst/>
          </a:prstGeom>
          <a:noFill/>
        </p:spPr>
        <p:txBody>
          <a:bodyPr wrap="square" lIns="0" tIns="0" rIns="0" bIns="0" anchor="t">
            <a:spAutoFit/>
          </a:bodyPr>
          <a:lstStyle/>
          <a:p>
            <a:pPr algn="l">
              <a:spcBef>
                <a:spcPts val="0"/>
              </a:spcBef>
              <a:spcAft>
                <a:spcPts val="200"/>
              </a:spcAft>
            </a:pPr>
            <a:r>
              <a:rPr sz="1300" b="1">
                <a:solidFill>
                  <a:srgbClr val="2D1155"/>
                </a:solidFill>
                <a:latin typeface="Arial Black"/>
              </a:rPr>
              <a:t>One task, one session</a:t>
            </a:r>
          </a:p>
        </p:txBody>
      </p:sp>
      <p:sp>
        <p:nvSpPr>
          <p:cNvPr id="8" name="TextBox 7"/>
          <p:cNvSpPr txBox="1"/>
          <p:nvPr/>
        </p:nvSpPr>
        <p:spPr>
          <a:xfrm>
            <a:off x="658368" y="2377440"/>
            <a:ext cx="2286000" cy="1005840"/>
          </a:xfrm>
          <a:prstGeom prst="rect">
            <a:avLst/>
          </a:prstGeom>
          <a:noFill/>
        </p:spPr>
        <p:txBody>
          <a:bodyPr wrap="square" lIns="0" tIns="0" rIns="0" bIns="0" anchor="t">
            <a:spAutoFit/>
          </a:bodyPr>
          <a:lstStyle/>
          <a:p>
            <a:pPr algn="l">
              <a:lnSpc>
                <a:spcPct val="105000"/>
              </a:lnSpc>
              <a:spcBef>
                <a:spcPts val="0"/>
              </a:spcBef>
              <a:spcAft>
                <a:spcPts val="200"/>
              </a:spcAft>
            </a:pPr>
            <a:r>
              <a:rPr sz="1200" b="0">
                <a:solidFill>
                  <a:srgbClr val="6E6389"/>
                </a:solidFill>
                <a:latin typeface="Calibri"/>
              </a:rPr>
              <a:t>Start fresh for a new job so an old thread's assumptions don't leak in.</a:t>
            </a:r>
          </a:p>
        </p:txBody>
      </p:sp>
      <p:sp>
        <p:nvSpPr>
          <p:cNvPr id="9" name="Rounded Rectangle 8"/>
          <p:cNvSpPr/>
          <p:nvPr/>
        </p:nvSpPr>
        <p:spPr>
          <a:xfrm>
            <a:off x="658368" y="3401568"/>
            <a:ext cx="2286000" cy="384048"/>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3401568"/>
            <a:ext cx="2286000" cy="384048"/>
          </a:xfrm>
          <a:prstGeom prst="rect">
            <a:avLst/>
          </a:prstGeom>
          <a:noFill/>
        </p:spPr>
        <p:txBody>
          <a:bodyPr wrap="square" lIns="0" tIns="0" rIns="0" bIns="0" anchor="ctr">
            <a:spAutoFit/>
          </a:bodyPr>
          <a:lstStyle/>
          <a:p>
            <a:pPr algn="ctr">
              <a:spcBef>
                <a:spcPts val="0"/>
              </a:spcBef>
              <a:spcAft>
                <a:spcPts val="200"/>
              </a:spcAft>
            </a:pPr>
            <a:r>
              <a:rPr sz="1050" b="1">
                <a:solidFill>
                  <a:srgbClr val="5B21B6"/>
                </a:solidFill>
                <a:latin typeface="Courier New"/>
              </a:rPr>
              <a:t>/clear  ·  new session</a:t>
            </a:r>
          </a:p>
        </p:txBody>
      </p:sp>
      <p:sp>
        <p:nvSpPr>
          <p:cNvPr id="11" name="Rounded Rectangle 10"/>
          <p:cNvSpPr/>
          <p:nvPr/>
        </p:nvSpPr>
        <p:spPr>
          <a:xfrm>
            <a:off x="3227832" y="1554480"/>
            <a:ext cx="2688336" cy="2331720"/>
          </a:xfrm>
          <a:prstGeom prst="roundRect">
            <a:avLst>
              <a:gd name="adj" fmla="val 6000"/>
            </a:avLst>
          </a:prstGeom>
          <a:solidFill>
            <a:srgbClr val="FFFFFF"/>
          </a:solidFill>
          <a:ln w="1587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27832" y="1554480"/>
            <a:ext cx="2688336"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1828800"/>
            <a:ext cx="2286000" cy="457200"/>
          </a:xfrm>
          <a:prstGeom prst="rect">
            <a:avLst/>
          </a:prstGeom>
          <a:noFill/>
        </p:spPr>
        <p:txBody>
          <a:bodyPr wrap="square" lIns="0" tIns="0" rIns="0" bIns="0" anchor="t">
            <a:spAutoFit/>
          </a:bodyPr>
          <a:lstStyle/>
          <a:p>
            <a:pPr algn="l">
              <a:spcBef>
                <a:spcPts val="0"/>
              </a:spcBef>
              <a:spcAft>
                <a:spcPts val="200"/>
              </a:spcAft>
            </a:pPr>
            <a:r>
              <a:rPr sz="1300" b="1">
                <a:solidFill>
                  <a:srgbClr val="2D1155"/>
                </a:solidFill>
                <a:latin typeface="Arial Black"/>
              </a:rPr>
              <a:t>Trim when it bloats</a:t>
            </a:r>
          </a:p>
        </p:txBody>
      </p:sp>
      <p:sp>
        <p:nvSpPr>
          <p:cNvPr id="14" name="TextBox 13"/>
          <p:cNvSpPr txBox="1"/>
          <p:nvPr/>
        </p:nvSpPr>
        <p:spPr>
          <a:xfrm>
            <a:off x="3429000" y="2377440"/>
            <a:ext cx="2286000" cy="1005840"/>
          </a:xfrm>
          <a:prstGeom prst="rect">
            <a:avLst/>
          </a:prstGeom>
          <a:noFill/>
        </p:spPr>
        <p:txBody>
          <a:bodyPr wrap="square" lIns="0" tIns="0" rIns="0" bIns="0" anchor="t">
            <a:spAutoFit/>
          </a:bodyPr>
          <a:lstStyle/>
          <a:p>
            <a:pPr algn="l">
              <a:lnSpc>
                <a:spcPct val="105000"/>
              </a:lnSpc>
              <a:spcBef>
                <a:spcPts val="0"/>
              </a:spcBef>
              <a:spcAft>
                <a:spcPts val="200"/>
              </a:spcAft>
            </a:pPr>
            <a:r>
              <a:rPr sz="1200" b="0">
                <a:solidFill>
                  <a:srgbClr val="6E6389"/>
                </a:solidFill>
                <a:latin typeface="Calibri"/>
              </a:rPr>
              <a:t>When answers drift or the gauge fills, compact before you continue.</a:t>
            </a:r>
          </a:p>
        </p:txBody>
      </p:sp>
      <p:sp>
        <p:nvSpPr>
          <p:cNvPr id="15" name="Rounded Rectangle 14"/>
          <p:cNvSpPr/>
          <p:nvPr/>
        </p:nvSpPr>
        <p:spPr>
          <a:xfrm>
            <a:off x="3429000" y="3401568"/>
            <a:ext cx="2286000" cy="384048"/>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29000" y="3401568"/>
            <a:ext cx="2286000" cy="384048"/>
          </a:xfrm>
          <a:prstGeom prst="rect">
            <a:avLst/>
          </a:prstGeom>
          <a:noFill/>
        </p:spPr>
        <p:txBody>
          <a:bodyPr wrap="square" lIns="0" tIns="0" rIns="0" bIns="0" anchor="ctr">
            <a:spAutoFit/>
          </a:bodyPr>
          <a:lstStyle/>
          <a:p>
            <a:pPr algn="ctr">
              <a:spcBef>
                <a:spcPts val="0"/>
              </a:spcBef>
              <a:spcAft>
                <a:spcPts val="200"/>
              </a:spcAft>
            </a:pPr>
            <a:r>
              <a:rPr sz="1050" b="1">
                <a:solidFill>
                  <a:srgbClr val="5B21B6"/>
                </a:solidFill>
                <a:latin typeface="Courier New"/>
              </a:rPr>
              <a:t>/compact</a:t>
            </a:r>
          </a:p>
        </p:txBody>
      </p:sp>
      <p:sp>
        <p:nvSpPr>
          <p:cNvPr id="17" name="Rounded Rectangle 16"/>
          <p:cNvSpPr/>
          <p:nvPr/>
        </p:nvSpPr>
        <p:spPr>
          <a:xfrm>
            <a:off x="5998464" y="1554480"/>
            <a:ext cx="2688336" cy="2331720"/>
          </a:xfrm>
          <a:prstGeom prst="roundRect">
            <a:avLst>
              <a:gd name="adj" fmla="val 6000"/>
            </a:avLst>
          </a:prstGeom>
          <a:solidFill>
            <a:srgbClr val="FFFFFF"/>
          </a:solidFill>
          <a:ln w="1587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98464" y="1554480"/>
            <a:ext cx="2688336"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99631" y="1828800"/>
            <a:ext cx="2286000" cy="457200"/>
          </a:xfrm>
          <a:prstGeom prst="rect">
            <a:avLst/>
          </a:prstGeom>
          <a:noFill/>
        </p:spPr>
        <p:txBody>
          <a:bodyPr wrap="square" lIns="0" tIns="0" rIns="0" bIns="0" anchor="t">
            <a:spAutoFit/>
          </a:bodyPr>
          <a:lstStyle/>
          <a:p>
            <a:pPr algn="l">
              <a:spcBef>
                <a:spcPts val="0"/>
              </a:spcBef>
              <a:spcAft>
                <a:spcPts val="200"/>
              </a:spcAft>
            </a:pPr>
            <a:r>
              <a:rPr sz="1300" b="1">
                <a:solidFill>
                  <a:srgbClr val="2D1155"/>
                </a:solidFill>
                <a:latin typeface="Arial Black"/>
              </a:rPr>
              <a:t>Pin what matters</a:t>
            </a:r>
          </a:p>
        </p:txBody>
      </p:sp>
      <p:sp>
        <p:nvSpPr>
          <p:cNvPr id="20" name="TextBox 19"/>
          <p:cNvSpPr txBox="1"/>
          <p:nvPr/>
        </p:nvSpPr>
        <p:spPr>
          <a:xfrm>
            <a:off x="6199631" y="2377440"/>
            <a:ext cx="2286000" cy="1005840"/>
          </a:xfrm>
          <a:prstGeom prst="rect">
            <a:avLst/>
          </a:prstGeom>
          <a:noFill/>
        </p:spPr>
        <p:txBody>
          <a:bodyPr wrap="square" lIns="0" tIns="0" rIns="0" bIns="0" anchor="t">
            <a:spAutoFit/>
          </a:bodyPr>
          <a:lstStyle/>
          <a:p>
            <a:pPr algn="l">
              <a:lnSpc>
                <a:spcPct val="105000"/>
              </a:lnSpc>
              <a:spcBef>
                <a:spcPts val="0"/>
              </a:spcBef>
              <a:spcAft>
                <a:spcPts val="200"/>
              </a:spcAft>
            </a:pPr>
            <a:r>
              <a:rPr sz="1200" b="0">
                <a:solidFill>
                  <a:srgbClr val="6E6389"/>
                </a:solidFill>
                <a:latin typeface="Calibri"/>
              </a:rPr>
              <a:t>Point the agent at the exact files; check what it's carrying first.</a:t>
            </a:r>
          </a:p>
        </p:txBody>
      </p:sp>
      <p:sp>
        <p:nvSpPr>
          <p:cNvPr id="21" name="Rounded Rectangle 20"/>
          <p:cNvSpPr/>
          <p:nvPr/>
        </p:nvSpPr>
        <p:spPr>
          <a:xfrm>
            <a:off x="6199631" y="3401568"/>
            <a:ext cx="2286000" cy="384048"/>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99631" y="3401568"/>
            <a:ext cx="2286000" cy="384048"/>
          </a:xfrm>
          <a:prstGeom prst="rect">
            <a:avLst/>
          </a:prstGeom>
          <a:noFill/>
        </p:spPr>
        <p:txBody>
          <a:bodyPr wrap="square" lIns="0" tIns="0" rIns="0" bIns="0" anchor="ctr">
            <a:spAutoFit/>
          </a:bodyPr>
          <a:lstStyle/>
          <a:p>
            <a:pPr algn="ctr">
              <a:spcBef>
                <a:spcPts val="0"/>
              </a:spcBef>
              <a:spcAft>
                <a:spcPts val="200"/>
              </a:spcAft>
            </a:pPr>
            <a:r>
              <a:rPr sz="1050" b="1">
                <a:solidFill>
                  <a:srgbClr val="5B21B6"/>
                </a:solidFill>
                <a:latin typeface="Courier New"/>
              </a:rPr>
              <a:t>@path  ·  /context (/status)</a:t>
            </a:r>
          </a:p>
        </p:txBody>
      </p:sp>
      <p:sp>
        <p:nvSpPr>
          <p:cNvPr id="23" name="TextBox 22"/>
          <p:cNvSpPr txBox="1"/>
          <p:nvPr/>
        </p:nvSpPr>
        <p:spPr>
          <a:xfrm>
            <a:off x="457200" y="4114800"/>
            <a:ext cx="8229600" cy="457200"/>
          </a:xfrm>
          <a:prstGeom prst="rect">
            <a:avLst/>
          </a:prstGeom>
          <a:noFill/>
        </p:spPr>
        <p:txBody>
          <a:bodyPr wrap="square" lIns="0" tIns="0" rIns="0" bIns="0" anchor="t">
            <a:spAutoFit/>
          </a:bodyPr>
          <a:lstStyle/>
          <a:p>
            <a:pPr algn="l">
              <a:spcBef>
                <a:spcPts val="0"/>
              </a:spcBef>
              <a:spcAft>
                <a:spcPts val="200"/>
              </a:spcAft>
            </a:pPr>
            <a:r>
              <a:rPr sz="1300" b="1">
                <a:solidFill>
                  <a:srgbClr val="2D1155"/>
                </a:solidFill>
                <a:latin typeface="Calibri"/>
              </a:rPr>
              <a:t>A repeatable agent needs a clean desk. </a:t>
            </a:r>
            <a:r>
              <a:rPr sz="1300" b="0">
                <a:solidFill>
                  <a:srgbClr val="6E6389"/>
                </a:solidFill>
                <a:latin typeface="Calibri"/>
              </a:rPr>
              <a:t>Same discipline every task — not a scramble when answers go vague.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MOVE 4 · TWO AGENTS, IN PARALLEL</a:t>
            </a:r>
          </a:p>
        </p:txBody>
      </p:sp>
      <p:sp>
        <p:nvSpPr>
          <p:cNvPr id="3" name="TextBox 2"/>
          <p:cNvSpPr txBox="1"/>
          <p:nvPr/>
        </p:nvSpPr>
        <p:spPr>
          <a:xfrm>
            <a:off x="475488" y="896112"/>
            <a:ext cx="8229600" cy="200055"/>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git </a:t>
            </a:r>
            <a:r>
              <a:rPr sz="1300" b="0" dirty="0" err="1">
                <a:solidFill>
                  <a:srgbClr val="6E6389"/>
                </a:solidFill>
                <a:latin typeface="Calibri"/>
              </a:rPr>
              <a:t>worktrees</a:t>
            </a:r>
            <a:r>
              <a:rPr lang="en-AU" sz="1300" b="0" dirty="0">
                <a:solidFill>
                  <a:srgbClr val="6E6389"/>
                </a:solidFill>
                <a:latin typeface="Calibri"/>
              </a:rPr>
              <a:t>, </a:t>
            </a:r>
            <a:r>
              <a:rPr sz="1300" b="0" dirty="0">
                <a:solidFill>
                  <a:srgbClr val="6E6389"/>
                </a:solidFill>
                <a:latin typeface="Calibri"/>
              </a:rPr>
              <a:t>two agents work the same repo without stepping on each other.</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ounded Rectangle 4"/>
          <p:cNvSpPr/>
          <p:nvPr/>
        </p:nvSpPr>
        <p:spPr>
          <a:xfrm>
            <a:off x="457200" y="1600200"/>
            <a:ext cx="1737360" cy="868680"/>
          </a:xfrm>
          <a:prstGeom prst="roundRect">
            <a:avLst>
              <a:gd name="adj" fmla="val 9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737360" cy="365760"/>
          </a:xfrm>
          <a:prstGeom prst="rect">
            <a:avLst/>
          </a:prstGeom>
          <a:noFill/>
        </p:spPr>
        <p:txBody>
          <a:bodyPr wrap="square" lIns="0" tIns="0" rIns="0" bIns="0" anchor="t">
            <a:spAutoFit/>
          </a:bodyPr>
          <a:lstStyle/>
          <a:p>
            <a:pPr algn="ctr">
              <a:spcBef>
                <a:spcPts val="0"/>
              </a:spcBef>
              <a:spcAft>
                <a:spcPts val="200"/>
              </a:spcAft>
            </a:pPr>
            <a:r>
              <a:rPr sz="1200" b="1">
                <a:solidFill>
                  <a:srgbClr val="FFFFFF"/>
                </a:solidFill>
                <a:latin typeface="Arial Black"/>
              </a:rPr>
              <a:t>main repo</a:t>
            </a:r>
          </a:p>
        </p:txBody>
      </p:sp>
      <p:sp>
        <p:nvSpPr>
          <p:cNvPr id="7" name="TextBox 6"/>
          <p:cNvSpPr txBox="1"/>
          <p:nvPr/>
        </p:nvSpPr>
        <p:spPr>
          <a:xfrm>
            <a:off x="457200" y="2057400"/>
            <a:ext cx="1737360" cy="365760"/>
          </a:xfrm>
          <a:prstGeom prst="rect">
            <a:avLst/>
          </a:prstGeom>
          <a:noFill/>
        </p:spPr>
        <p:txBody>
          <a:bodyPr wrap="square" lIns="0" tIns="0" rIns="0" bIns="0" anchor="t">
            <a:spAutoFit/>
          </a:bodyPr>
          <a:lstStyle/>
          <a:p>
            <a:pPr algn="ctr">
              <a:spcBef>
                <a:spcPts val="0"/>
              </a:spcBef>
              <a:spcAft>
                <a:spcPts val="200"/>
              </a:spcAft>
            </a:pPr>
            <a:r>
              <a:rPr sz="950" b="0">
                <a:solidFill>
                  <a:srgbClr val="DDD6FE"/>
                </a:solidFill>
                <a:latin typeface="Calibri"/>
              </a:rPr>
              <a:t>your source of truth</a:t>
            </a:r>
          </a:p>
        </p:txBody>
      </p:sp>
      <p:sp>
        <p:nvSpPr>
          <p:cNvPr id="8" name="TextBox 7"/>
          <p:cNvSpPr txBox="1"/>
          <p:nvPr/>
        </p:nvSpPr>
        <p:spPr>
          <a:xfrm>
            <a:off x="2286000" y="1828800"/>
            <a:ext cx="365760" cy="457200"/>
          </a:xfrm>
          <a:prstGeom prst="rect">
            <a:avLst/>
          </a:prstGeom>
          <a:noFill/>
        </p:spPr>
        <p:txBody>
          <a:bodyPr wrap="square" lIns="0" tIns="0" rIns="0" bIns="0" anchor="t">
            <a:spAutoFit/>
          </a:bodyPr>
          <a:lstStyle/>
          <a:p>
            <a:pPr algn="ctr">
              <a:spcBef>
                <a:spcPts val="0"/>
              </a:spcBef>
              <a:spcAft>
                <a:spcPts val="200"/>
              </a:spcAft>
            </a:pPr>
            <a:r>
              <a:rPr sz="2200" b="1">
                <a:solidFill>
                  <a:srgbClr val="7C3AED"/>
                </a:solidFill>
                <a:latin typeface="Calibri"/>
              </a:rPr>
              <a:t>›</a:t>
            </a:r>
          </a:p>
        </p:txBody>
      </p:sp>
      <p:sp>
        <p:nvSpPr>
          <p:cNvPr id="9" name="Rounded Rectangle 8"/>
          <p:cNvSpPr/>
          <p:nvPr/>
        </p:nvSpPr>
        <p:spPr>
          <a:xfrm>
            <a:off x="2743200" y="1463040"/>
            <a:ext cx="3383280" cy="914400"/>
          </a:xfrm>
          <a:prstGeom prst="roundRect">
            <a:avLst>
              <a:gd name="adj" fmla="val 8000"/>
            </a:avLst>
          </a:prstGeom>
          <a:solidFill>
            <a:srgbClr val="F5F3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572768"/>
            <a:ext cx="3108960" cy="320040"/>
          </a:xfrm>
          <a:prstGeom prst="rect">
            <a:avLst/>
          </a:prstGeom>
          <a:noFill/>
        </p:spPr>
        <p:txBody>
          <a:bodyPr wrap="square" lIns="0" tIns="0" rIns="0" bIns="0" anchor="t">
            <a:spAutoFit/>
          </a:bodyPr>
          <a:lstStyle/>
          <a:p>
            <a:pPr algn="l">
              <a:spcBef>
                <a:spcPts val="0"/>
              </a:spcBef>
              <a:spcAft>
                <a:spcPts val="200"/>
              </a:spcAft>
            </a:pPr>
            <a:r>
              <a:rPr sz="1250" b="1">
                <a:solidFill>
                  <a:srgbClr val="2D1155"/>
                </a:solidFill>
                <a:latin typeface="Arial Black"/>
              </a:rPr>
              <a:t>Agent A</a:t>
            </a:r>
          </a:p>
        </p:txBody>
      </p:sp>
      <p:sp>
        <p:nvSpPr>
          <p:cNvPr id="11" name="TextBox 10"/>
          <p:cNvSpPr txBox="1"/>
          <p:nvPr/>
        </p:nvSpPr>
        <p:spPr>
          <a:xfrm>
            <a:off x="2926080" y="1920240"/>
            <a:ext cx="3108960" cy="365760"/>
          </a:xfrm>
          <a:prstGeom prst="rect">
            <a:avLst/>
          </a:prstGeom>
          <a:noFill/>
        </p:spPr>
        <p:txBody>
          <a:bodyPr wrap="square" lIns="0" tIns="0" rIns="0" bIns="0" anchor="t">
            <a:spAutoFit/>
          </a:bodyPr>
          <a:lstStyle/>
          <a:p>
            <a:pPr algn="l">
              <a:spcBef>
                <a:spcPts val="0"/>
              </a:spcBef>
              <a:spcAft>
                <a:spcPts val="200"/>
              </a:spcAft>
            </a:pPr>
            <a:r>
              <a:rPr sz="1000" b="1">
                <a:solidFill>
                  <a:srgbClr val="6E6389"/>
                </a:solidFill>
                <a:latin typeface="Courier New"/>
              </a:rPr>
              <a:t>../feat-a  ·  branch feat-a</a:t>
            </a:r>
          </a:p>
        </p:txBody>
      </p:sp>
      <p:sp>
        <p:nvSpPr>
          <p:cNvPr id="12" name="TextBox 11"/>
          <p:cNvSpPr txBox="1"/>
          <p:nvPr/>
        </p:nvSpPr>
        <p:spPr>
          <a:xfrm>
            <a:off x="6217920" y="1719072"/>
            <a:ext cx="365760" cy="457200"/>
          </a:xfrm>
          <a:prstGeom prst="rect">
            <a:avLst/>
          </a:prstGeom>
          <a:noFill/>
        </p:spPr>
        <p:txBody>
          <a:bodyPr wrap="square" lIns="0" tIns="0" rIns="0" bIns="0" anchor="t">
            <a:spAutoFit/>
          </a:bodyPr>
          <a:lstStyle/>
          <a:p>
            <a:pPr algn="ctr">
              <a:spcBef>
                <a:spcPts val="0"/>
              </a:spcBef>
              <a:spcAft>
                <a:spcPts val="200"/>
              </a:spcAft>
            </a:pPr>
            <a:r>
              <a:rPr sz="2000" b="1">
                <a:solidFill>
                  <a:srgbClr val="7C3AED"/>
                </a:solidFill>
                <a:latin typeface="Calibri"/>
              </a:rPr>
              <a:t>›</a:t>
            </a:r>
          </a:p>
        </p:txBody>
      </p:sp>
      <p:sp>
        <p:nvSpPr>
          <p:cNvPr id="13" name="Rounded Rectangle 12"/>
          <p:cNvSpPr/>
          <p:nvPr/>
        </p:nvSpPr>
        <p:spPr>
          <a:xfrm>
            <a:off x="2743200" y="2514600"/>
            <a:ext cx="3383280" cy="914400"/>
          </a:xfrm>
          <a:prstGeom prst="roundRect">
            <a:avLst>
              <a:gd name="adj" fmla="val 8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0" y="2624328"/>
            <a:ext cx="3108960" cy="320040"/>
          </a:xfrm>
          <a:prstGeom prst="rect">
            <a:avLst/>
          </a:prstGeom>
          <a:noFill/>
        </p:spPr>
        <p:txBody>
          <a:bodyPr wrap="square" lIns="0" tIns="0" rIns="0" bIns="0" anchor="t">
            <a:spAutoFit/>
          </a:bodyPr>
          <a:lstStyle/>
          <a:p>
            <a:pPr algn="l">
              <a:spcBef>
                <a:spcPts val="0"/>
              </a:spcBef>
              <a:spcAft>
                <a:spcPts val="200"/>
              </a:spcAft>
            </a:pPr>
            <a:r>
              <a:rPr sz="1250" b="1">
                <a:solidFill>
                  <a:srgbClr val="2D1155"/>
                </a:solidFill>
                <a:latin typeface="Arial Black"/>
              </a:rPr>
              <a:t>Agent B</a:t>
            </a:r>
          </a:p>
        </p:txBody>
      </p:sp>
      <p:sp>
        <p:nvSpPr>
          <p:cNvPr id="15" name="TextBox 14"/>
          <p:cNvSpPr txBox="1"/>
          <p:nvPr/>
        </p:nvSpPr>
        <p:spPr>
          <a:xfrm>
            <a:off x="2926080" y="2971800"/>
            <a:ext cx="3108960" cy="365760"/>
          </a:xfrm>
          <a:prstGeom prst="rect">
            <a:avLst/>
          </a:prstGeom>
          <a:noFill/>
        </p:spPr>
        <p:txBody>
          <a:bodyPr wrap="square" lIns="0" tIns="0" rIns="0" bIns="0" anchor="t">
            <a:spAutoFit/>
          </a:bodyPr>
          <a:lstStyle/>
          <a:p>
            <a:pPr algn="l">
              <a:spcBef>
                <a:spcPts val="0"/>
              </a:spcBef>
              <a:spcAft>
                <a:spcPts val="200"/>
              </a:spcAft>
            </a:pPr>
            <a:r>
              <a:rPr sz="1000" b="1">
                <a:solidFill>
                  <a:srgbClr val="6E6389"/>
                </a:solidFill>
                <a:latin typeface="Courier New"/>
              </a:rPr>
              <a:t>../feat-b  ·  branch feat-b</a:t>
            </a:r>
          </a:p>
        </p:txBody>
      </p:sp>
      <p:sp>
        <p:nvSpPr>
          <p:cNvPr id="16" name="TextBox 15"/>
          <p:cNvSpPr txBox="1"/>
          <p:nvPr/>
        </p:nvSpPr>
        <p:spPr>
          <a:xfrm>
            <a:off x="6217920" y="2770632"/>
            <a:ext cx="365760" cy="457200"/>
          </a:xfrm>
          <a:prstGeom prst="rect">
            <a:avLst/>
          </a:prstGeom>
          <a:noFill/>
        </p:spPr>
        <p:txBody>
          <a:bodyPr wrap="square" lIns="0" tIns="0" rIns="0" bIns="0" anchor="t">
            <a:spAutoFit/>
          </a:bodyPr>
          <a:lstStyle/>
          <a:p>
            <a:pPr algn="ctr">
              <a:spcBef>
                <a:spcPts val="0"/>
              </a:spcBef>
              <a:spcAft>
                <a:spcPts val="200"/>
              </a:spcAft>
            </a:pPr>
            <a:r>
              <a:rPr sz="2000" b="1">
                <a:solidFill>
                  <a:srgbClr val="7C3AED"/>
                </a:solidFill>
                <a:latin typeface="Calibri"/>
              </a:rPr>
              <a:t>›</a:t>
            </a:r>
          </a:p>
        </p:txBody>
      </p:sp>
      <p:sp>
        <p:nvSpPr>
          <p:cNvPr id="17" name="Rounded Rectangle 16"/>
          <p:cNvSpPr/>
          <p:nvPr/>
        </p:nvSpPr>
        <p:spPr>
          <a:xfrm>
            <a:off x="6629400" y="1600200"/>
            <a:ext cx="2057400" cy="1783080"/>
          </a:xfrm>
          <a:prstGeom prst="roundRect">
            <a:avLst>
              <a:gd name="adj" fmla="val 6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0" y="1783080"/>
            <a:ext cx="1783080" cy="365760"/>
          </a:xfrm>
          <a:prstGeom prst="rect">
            <a:avLst/>
          </a:prstGeom>
          <a:noFill/>
        </p:spPr>
        <p:txBody>
          <a:bodyPr wrap="square" lIns="0" tIns="0" rIns="0" bIns="0" anchor="t">
            <a:spAutoFit/>
          </a:bodyPr>
          <a:lstStyle/>
          <a:p>
            <a:pPr algn="ctr">
              <a:spcBef>
                <a:spcPts val="0"/>
              </a:spcBef>
              <a:spcAft>
                <a:spcPts val="200"/>
              </a:spcAft>
            </a:pPr>
            <a:r>
              <a:rPr sz="1100" b="1">
                <a:solidFill>
                  <a:srgbClr val="F59E0B"/>
                </a:solidFill>
                <a:latin typeface="Calibri"/>
              </a:rPr>
              <a:t>COMPARE</a:t>
            </a:r>
          </a:p>
        </p:txBody>
      </p:sp>
      <p:sp>
        <p:nvSpPr>
          <p:cNvPr id="19" name="TextBox 18"/>
          <p:cNvSpPr txBox="1"/>
          <p:nvPr/>
        </p:nvSpPr>
        <p:spPr>
          <a:xfrm>
            <a:off x="6766560" y="2148840"/>
            <a:ext cx="1783080" cy="1143000"/>
          </a:xfrm>
          <a:prstGeom prst="rect">
            <a:avLst/>
          </a:prstGeom>
          <a:noFill/>
        </p:spPr>
        <p:txBody>
          <a:bodyPr wrap="square" lIns="0" tIns="0" rIns="0" bIns="0" anchor="t">
            <a:spAutoFit/>
          </a:bodyPr>
          <a:lstStyle/>
          <a:p>
            <a:pPr algn="ctr">
              <a:spcBef>
                <a:spcPts val="0"/>
              </a:spcBef>
              <a:spcAft>
                <a:spcPts val="200"/>
              </a:spcAft>
            </a:pPr>
            <a:r>
              <a:rPr sz="1150" b="0">
                <a:solidFill>
                  <a:srgbClr val="FFFFFF"/>
                </a:solidFill>
                <a:latin typeface="Calibri"/>
              </a:rPr>
              <a:t>Two takes on the</a:t>
            </a:r>
          </a:p>
          <a:p>
            <a:pPr algn="ctr">
              <a:spcBef>
                <a:spcPts val="0"/>
              </a:spcBef>
              <a:spcAft>
                <a:spcPts val="200"/>
              </a:spcAft>
            </a:pPr>
            <a:r>
              <a:rPr sz="1150" b="0">
                <a:solidFill>
                  <a:srgbClr val="FFFFFF"/>
                </a:solidFill>
                <a:latin typeface="Calibri"/>
              </a:rPr>
              <a:t>same task.</a:t>
            </a:r>
          </a:p>
          <a:p>
            <a:pPr algn="ctr">
              <a:spcBef>
                <a:spcPts val="0"/>
              </a:spcBef>
              <a:spcAft>
                <a:spcPts val="200"/>
              </a:spcAft>
            </a:pPr>
            <a:r>
              <a:rPr sz="1150" b="0">
                <a:solidFill>
                  <a:srgbClr val="DDD6FE"/>
                </a:solidFill>
                <a:latin typeface="Calibri"/>
              </a:rPr>
              <a:t>Which would you</a:t>
            </a:r>
          </a:p>
          <a:p>
            <a:pPr algn="ctr">
              <a:spcBef>
                <a:spcPts val="0"/>
              </a:spcBef>
              <a:spcAft>
                <a:spcPts val="200"/>
              </a:spcAft>
            </a:pPr>
            <a:r>
              <a:rPr sz="1150" b="0">
                <a:solidFill>
                  <a:srgbClr val="DDD6FE"/>
                </a:solidFill>
                <a:latin typeface="Calibri"/>
              </a:rPr>
              <a:t>merge, and why?</a:t>
            </a:r>
          </a:p>
        </p:txBody>
      </p:sp>
      <p:sp>
        <p:nvSpPr>
          <p:cNvPr id="20" name="Rounded Rectangle 19"/>
          <p:cNvSpPr/>
          <p:nvPr/>
        </p:nvSpPr>
        <p:spPr>
          <a:xfrm>
            <a:off x="457200" y="3611880"/>
            <a:ext cx="8229600" cy="457200"/>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3611880"/>
            <a:ext cx="8229600" cy="457200"/>
          </a:xfrm>
          <a:prstGeom prst="rect">
            <a:avLst/>
          </a:prstGeom>
          <a:noFill/>
        </p:spPr>
        <p:txBody>
          <a:bodyPr wrap="square" lIns="0" tIns="0" rIns="0" bIns="0" anchor="ctr">
            <a:spAutoFit/>
          </a:bodyPr>
          <a:lstStyle/>
          <a:p>
            <a:pPr algn="l">
              <a:spcBef>
                <a:spcPts val="0"/>
              </a:spcBef>
              <a:spcAft>
                <a:spcPts val="200"/>
              </a:spcAft>
            </a:pPr>
            <a:r>
              <a:rPr sz="1200" b="1">
                <a:solidFill>
                  <a:srgbClr val="5B21B6"/>
                </a:solidFill>
                <a:latin typeface="Courier New"/>
              </a:rPr>
              <a:t>git worktree add ../feat-a -b feat-a   — a new branch in its own folder, its own agent.</a:t>
            </a:r>
          </a:p>
        </p:txBody>
      </p:sp>
      <p:sp>
        <p:nvSpPr>
          <p:cNvPr id="22" name="TextBox 21"/>
          <p:cNvSpPr txBox="1"/>
          <p:nvPr/>
        </p:nvSpPr>
        <p:spPr>
          <a:xfrm>
            <a:off x="457200" y="4224528"/>
            <a:ext cx="8229600" cy="365760"/>
          </a:xfrm>
          <a:prstGeom prst="rect">
            <a:avLst/>
          </a:prstGeom>
          <a:noFill/>
        </p:spPr>
        <p:txBody>
          <a:bodyPr wrap="square" lIns="0" tIns="0" rIns="0" bIns="0" anchor="t">
            <a:spAutoFit/>
          </a:bodyPr>
          <a:lstStyle/>
          <a:p>
            <a:pPr algn="l">
              <a:spcBef>
                <a:spcPts val="0"/>
              </a:spcBef>
              <a:spcAft>
                <a:spcPts val="200"/>
              </a:spcAft>
            </a:pPr>
            <a:r>
              <a:rPr sz="1250" b="1">
                <a:solidFill>
                  <a:srgbClr val="2D1155"/>
                </a:solidFill>
                <a:latin typeface="Calibri"/>
              </a:rPr>
              <a:t>Name = branch = folder. </a:t>
            </a:r>
            <a:r>
              <a:rPr sz="1250" b="0">
                <a:solidFill>
                  <a:srgbClr val="6E6389"/>
                </a:solidFill>
                <a:latin typeface="Calibri"/>
              </a:rPr>
              <a:t>Small, labelled commits in each keep the parallel work mergeable.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MOVE 5 · REACH REAL DATA WITH MCP</a:t>
            </a:r>
          </a:p>
        </p:txBody>
      </p:sp>
      <p:sp>
        <p:nvSpPr>
          <p:cNvPr id="3" name="TextBox 2"/>
          <p:cNvSpPr txBox="1"/>
          <p:nvPr/>
        </p:nvSpPr>
        <p:spPr>
          <a:xfrm>
            <a:off x="475488" y="896112"/>
            <a:ext cx="8229600" cy="200055"/>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Connect the agent to a real tool</a:t>
            </a:r>
            <a:r>
              <a:rPr lang="en-AU" sz="1300" b="0" dirty="0">
                <a:solidFill>
                  <a:srgbClr val="6E6389"/>
                </a:solidFill>
                <a:latin typeface="Calibri"/>
              </a:rPr>
              <a:t>,</a:t>
            </a:r>
            <a:r>
              <a:rPr sz="1300" b="0" dirty="0">
                <a:solidFill>
                  <a:srgbClr val="6E6389"/>
                </a:solidFill>
                <a:latin typeface="Calibri"/>
              </a:rPr>
              <a:t> not just the files in your repo.</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457200" y="1463040"/>
            <a:ext cx="8229600" cy="822960"/>
          </a:xfrm>
          <a:prstGeom prst="rect">
            <a:avLst/>
          </a:prstGeom>
          <a:noFill/>
        </p:spPr>
        <p:txBody>
          <a:bodyPr wrap="square" lIns="0" tIns="0" rIns="0" bIns="0" anchor="t">
            <a:spAutoFit/>
          </a:bodyPr>
          <a:lstStyle/>
          <a:p>
            <a:pPr algn="l">
              <a:lnSpc>
                <a:spcPct val="105000"/>
              </a:lnSpc>
              <a:spcBef>
                <a:spcPts val="0"/>
              </a:spcBef>
              <a:spcAft>
                <a:spcPts val="200"/>
              </a:spcAft>
            </a:pPr>
            <a:r>
              <a:rPr sz="1450" b="1" dirty="0">
                <a:solidFill>
                  <a:srgbClr val="2D1155"/>
                </a:solidFill>
                <a:latin typeface="Calibri"/>
              </a:rPr>
              <a:t>MCP (Model Context Protocol)</a:t>
            </a:r>
            <a:r>
              <a:rPr sz="1450" b="0" dirty="0">
                <a:solidFill>
                  <a:srgbClr val="6E6389"/>
                </a:solidFill>
                <a:latin typeface="Calibri"/>
              </a:rPr>
              <a:t> is a standard connector that lets the agent talk to external systems — your calendar, a database, an API — through one common interface.</a:t>
            </a:r>
          </a:p>
        </p:txBody>
      </p:sp>
      <p:sp>
        <p:nvSpPr>
          <p:cNvPr id="6" name="Rounded Rectangle 5"/>
          <p:cNvSpPr/>
          <p:nvPr/>
        </p:nvSpPr>
        <p:spPr>
          <a:xfrm>
            <a:off x="457200" y="2514600"/>
            <a:ext cx="5074920" cy="1737360"/>
          </a:xfrm>
          <a:prstGeom prst="roundRect">
            <a:avLst>
              <a:gd name="adj" fmla="val 5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2697480"/>
            <a:ext cx="4572000" cy="320040"/>
          </a:xfrm>
          <a:prstGeom prst="rect">
            <a:avLst/>
          </a:prstGeom>
          <a:noFill/>
        </p:spPr>
        <p:txBody>
          <a:bodyPr wrap="square" lIns="0" tIns="0" rIns="0" bIns="0" anchor="t">
            <a:spAutoFit/>
          </a:bodyPr>
          <a:lstStyle/>
          <a:p>
            <a:pPr algn="l">
              <a:spcBef>
                <a:spcPts val="0"/>
              </a:spcBef>
              <a:spcAft>
                <a:spcPts val="200"/>
              </a:spcAft>
            </a:pPr>
            <a:r>
              <a:rPr sz="1100" b="1">
                <a:solidFill>
                  <a:srgbClr val="F59E0B"/>
                </a:solidFill>
                <a:latin typeface="Calibri"/>
              </a:rPr>
              <a:t>AN EXAMPLE FOR TODAY</a:t>
            </a:r>
          </a:p>
        </p:txBody>
      </p:sp>
      <p:sp>
        <p:nvSpPr>
          <p:cNvPr id="8" name="TextBox 7"/>
          <p:cNvSpPr txBox="1"/>
          <p:nvPr/>
        </p:nvSpPr>
        <p:spPr>
          <a:xfrm>
            <a:off x="713232" y="3063240"/>
            <a:ext cx="4572000" cy="696922"/>
          </a:xfrm>
          <a:prstGeom prst="rect">
            <a:avLst/>
          </a:prstGeom>
          <a:noFill/>
        </p:spPr>
        <p:txBody>
          <a:bodyPr wrap="square" lIns="0" tIns="0" rIns="0" bIns="0" anchor="t">
            <a:spAutoFit/>
          </a:bodyPr>
          <a:lstStyle/>
          <a:p>
            <a:pPr algn="l">
              <a:lnSpc>
                <a:spcPct val="105000"/>
              </a:lnSpc>
              <a:spcBef>
                <a:spcPts val="0"/>
              </a:spcBef>
              <a:spcAft>
                <a:spcPts val="200"/>
              </a:spcAft>
            </a:pPr>
            <a:r>
              <a:rPr sz="1350" b="0" dirty="0">
                <a:solidFill>
                  <a:srgbClr val="FFFFFF"/>
                </a:solidFill>
                <a:latin typeface="Calibri"/>
              </a:rPr>
              <a:t>Connect your calendar and have the agent</a:t>
            </a:r>
          </a:p>
          <a:p>
            <a:pPr algn="l">
              <a:lnSpc>
                <a:spcPct val="105000"/>
              </a:lnSpc>
              <a:spcBef>
                <a:spcPts val="0"/>
              </a:spcBef>
              <a:spcAft>
                <a:spcPts val="200"/>
              </a:spcAft>
            </a:pPr>
            <a:r>
              <a:rPr sz="1350" b="0" dirty="0">
                <a:solidFill>
                  <a:srgbClr val="FFFFFF"/>
                </a:solidFill>
                <a:latin typeface="Calibri"/>
              </a:rPr>
              <a:t>suggest habit times around your actual</a:t>
            </a:r>
          </a:p>
          <a:p>
            <a:pPr algn="l">
              <a:lnSpc>
                <a:spcPct val="105000"/>
              </a:lnSpc>
              <a:spcBef>
                <a:spcPts val="0"/>
              </a:spcBef>
              <a:spcAft>
                <a:spcPts val="200"/>
              </a:spcAft>
            </a:pPr>
            <a:r>
              <a:rPr lang="en-AU" sz="1350" b="0" dirty="0">
                <a:solidFill>
                  <a:srgbClr val="DDD6FE"/>
                </a:solidFill>
                <a:latin typeface="Calibri"/>
              </a:rPr>
              <a:t>s</a:t>
            </a:r>
            <a:r>
              <a:rPr sz="1350" b="0" dirty="0" err="1">
                <a:solidFill>
                  <a:srgbClr val="DDD6FE"/>
                </a:solidFill>
                <a:latin typeface="Calibri"/>
              </a:rPr>
              <a:t>chedule</a:t>
            </a:r>
            <a:r>
              <a:rPr lang="en-AU" sz="1350" b="0" dirty="0">
                <a:solidFill>
                  <a:srgbClr val="DDD6FE"/>
                </a:solidFill>
                <a:latin typeface="Calibri"/>
              </a:rPr>
              <a:t>,</a:t>
            </a:r>
            <a:r>
              <a:rPr sz="1350" b="0" dirty="0">
                <a:solidFill>
                  <a:srgbClr val="DDD6FE"/>
                </a:solidFill>
                <a:latin typeface="Calibri"/>
              </a:rPr>
              <a:t> real data, not a guess.</a:t>
            </a:r>
          </a:p>
        </p:txBody>
      </p:sp>
      <p:sp>
        <p:nvSpPr>
          <p:cNvPr id="9" name="Rounded Rectangle 8"/>
          <p:cNvSpPr/>
          <p:nvPr/>
        </p:nvSpPr>
        <p:spPr>
          <a:xfrm>
            <a:off x="5715000" y="2514600"/>
            <a:ext cx="2971800" cy="1737360"/>
          </a:xfrm>
          <a:prstGeom prst="roundRect">
            <a:avLst>
              <a:gd name="adj" fmla="val 6000"/>
            </a:avLst>
          </a:prstGeom>
          <a:solidFill>
            <a:srgbClr val="F5F3FF"/>
          </a:solidFill>
          <a:ln w="1587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0" y="2697480"/>
            <a:ext cx="2560320" cy="320040"/>
          </a:xfrm>
          <a:prstGeom prst="rect">
            <a:avLst/>
          </a:prstGeom>
          <a:noFill/>
        </p:spPr>
        <p:txBody>
          <a:bodyPr wrap="square" lIns="0" tIns="0" rIns="0" bIns="0" anchor="t">
            <a:spAutoFit/>
          </a:bodyPr>
          <a:lstStyle/>
          <a:p>
            <a:pPr algn="l">
              <a:spcBef>
                <a:spcPts val="0"/>
              </a:spcBef>
              <a:spcAft>
                <a:spcPts val="200"/>
              </a:spcAft>
            </a:pPr>
            <a:r>
              <a:rPr sz="1100" b="1">
                <a:solidFill>
                  <a:srgbClr val="5B21B6"/>
                </a:solidFill>
                <a:latin typeface="Calibri"/>
              </a:rPr>
              <a:t>BOTH TOOLS</a:t>
            </a:r>
          </a:p>
        </p:txBody>
      </p:sp>
      <p:sp>
        <p:nvSpPr>
          <p:cNvPr id="11" name="TextBox 10"/>
          <p:cNvSpPr txBox="1"/>
          <p:nvPr/>
        </p:nvSpPr>
        <p:spPr>
          <a:xfrm>
            <a:off x="5943600" y="3063240"/>
            <a:ext cx="2560320" cy="1097280"/>
          </a:xfrm>
          <a:prstGeom prst="rect">
            <a:avLst/>
          </a:prstGeom>
          <a:noFill/>
        </p:spPr>
        <p:txBody>
          <a:bodyPr wrap="square" lIns="0" tIns="0" rIns="0" bIns="0" anchor="t">
            <a:spAutoFit/>
          </a:bodyPr>
          <a:lstStyle/>
          <a:p>
            <a:pPr algn="l">
              <a:lnSpc>
                <a:spcPct val="105000"/>
              </a:lnSpc>
              <a:spcBef>
                <a:spcPts val="0"/>
              </a:spcBef>
              <a:spcAft>
                <a:spcPts val="200"/>
              </a:spcAft>
            </a:pPr>
            <a:r>
              <a:rPr sz="1150" b="0">
                <a:solidFill>
                  <a:srgbClr val="2D1155"/>
                </a:solidFill>
                <a:latin typeface="Calibri"/>
              </a:rPr>
              <a:t>Claude Code &amp; Codex both</a:t>
            </a:r>
          </a:p>
          <a:p>
            <a:pPr algn="l">
              <a:lnSpc>
                <a:spcPct val="105000"/>
              </a:lnSpc>
              <a:spcBef>
                <a:spcPts val="0"/>
              </a:spcBef>
              <a:spcAft>
                <a:spcPts val="200"/>
              </a:spcAft>
            </a:pPr>
            <a:r>
              <a:rPr sz="1150" b="0">
                <a:solidFill>
                  <a:srgbClr val="2D1155"/>
                </a:solidFill>
                <a:latin typeface="Calibri"/>
              </a:rPr>
              <a:t>read MCP servers.</a:t>
            </a:r>
          </a:p>
          <a:p>
            <a:pPr algn="l">
              <a:lnSpc>
                <a:spcPct val="105000"/>
              </a:lnSpc>
              <a:spcBef>
                <a:spcPts val="0"/>
              </a:spcBef>
              <a:spcAft>
                <a:spcPts val="200"/>
              </a:spcAft>
            </a:pPr>
            <a:r>
              <a:rPr sz="1100" b="0">
                <a:solidFill>
                  <a:srgbClr val="6E6389"/>
                </a:solidFill>
                <a:latin typeface="Calibri"/>
              </a:rPr>
              <a:t>Codex: </a:t>
            </a:r>
            <a:r>
              <a:rPr sz="1050" b="1">
                <a:solidFill>
                  <a:srgbClr val="7C3AED"/>
                </a:solidFill>
                <a:latin typeface="Courier New"/>
              </a:rPr>
              <a:t>[mcp_servers]</a:t>
            </a:r>
          </a:p>
          <a:p>
            <a:pPr algn="l">
              <a:lnSpc>
                <a:spcPct val="105000"/>
              </a:lnSpc>
              <a:spcBef>
                <a:spcPts val="0"/>
              </a:spcBef>
              <a:spcAft>
                <a:spcPts val="200"/>
              </a:spcAft>
            </a:pPr>
            <a:r>
              <a:rPr sz="1100" b="0">
                <a:solidFill>
                  <a:srgbClr val="6E6389"/>
                </a:solidFill>
                <a:latin typeface="Calibri"/>
              </a:rPr>
              <a:t>You choose what it reaches.</a:t>
            </a:r>
          </a:p>
        </p:txBody>
      </p:sp>
      <p:sp>
        <p:nvSpPr>
          <p:cNvPr id="12" name="TextBox 11"/>
          <p:cNvSpPr txBox="1"/>
          <p:nvPr/>
        </p:nvSpPr>
        <p:spPr>
          <a:xfrm>
            <a:off x="457200" y="4389120"/>
            <a:ext cx="8229600" cy="176972"/>
          </a:xfrm>
          <a:prstGeom prst="rect">
            <a:avLst/>
          </a:prstGeom>
          <a:noFill/>
        </p:spPr>
        <p:txBody>
          <a:bodyPr wrap="square" lIns="0" tIns="0" rIns="0" bIns="0" anchor="t">
            <a:spAutoFit/>
          </a:bodyPr>
          <a:lstStyle/>
          <a:p>
            <a:pPr algn="l">
              <a:spcBef>
                <a:spcPts val="0"/>
              </a:spcBef>
              <a:spcAft>
                <a:spcPts val="200"/>
              </a:spcAft>
            </a:pPr>
            <a:r>
              <a:rPr sz="1150" b="0" dirty="0">
                <a:solidFill>
                  <a:srgbClr val="6E6389"/>
                </a:solidFill>
                <a:latin typeface="Calibri"/>
              </a:rPr>
              <a:t>Permissions still apply</a:t>
            </a:r>
            <a:r>
              <a:rPr lang="en-AU" sz="1150" b="0" dirty="0">
                <a:solidFill>
                  <a:srgbClr val="6E6389"/>
                </a:solidFill>
                <a:latin typeface="Calibri"/>
              </a:rPr>
              <a:t>,</a:t>
            </a:r>
            <a:r>
              <a:rPr sz="1150" b="0" dirty="0">
                <a:solidFill>
                  <a:srgbClr val="6E6389"/>
                </a:solidFill>
                <a:latin typeface="Calibri"/>
              </a:rPr>
              <a:t> connecting a tool is a decision you make, not a door you leave open.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THE FEATURE THAT NEEDS JUDGEMENT</a:t>
            </a:r>
          </a:p>
        </p:txBody>
      </p:sp>
      <p:sp>
        <p:nvSpPr>
          <p:cNvPr id="3" name="TextBox 2"/>
          <p:cNvSpPr txBox="1"/>
          <p:nvPr/>
        </p:nvSpPr>
        <p:spPr>
          <a:xfrm>
            <a:off x="475488" y="896112"/>
            <a:ext cx="8229600" cy="200055"/>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This is where engineering starts</a:t>
            </a:r>
            <a:r>
              <a:rPr lang="en-AU" sz="1300" b="0" dirty="0">
                <a:solidFill>
                  <a:srgbClr val="6E6389"/>
                </a:solidFill>
                <a:latin typeface="Calibri"/>
              </a:rPr>
              <a:t>,</a:t>
            </a:r>
            <a:r>
              <a:rPr sz="1300" b="0" dirty="0">
                <a:solidFill>
                  <a:srgbClr val="6E6389"/>
                </a:solidFill>
                <a:latin typeface="Calibri"/>
              </a:rPr>
              <a:t> the agent surfaces a decision; you make it.</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457200" y="1417320"/>
            <a:ext cx="8229600" cy="200055"/>
          </a:xfrm>
          <a:prstGeom prst="rect">
            <a:avLst/>
          </a:prstGeom>
          <a:noFill/>
        </p:spPr>
        <p:txBody>
          <a:bodyPr wrap="square" lIns="0" tIns="0" rIns="0" bIns="0" anchor="t">
            <a:spAutoFit/>
          </a:bodyPr>
          <a:lstStyle/>
          <a:p>
            <a:pPr algn="l">
              <a:spcBef>
                <a:spcPts val="0"/>
              </a:spcBef>
              <a:spcAft>
                <a:spcPts val="200"/>
              </a:spcAft>
            </a:pPr>
            <a:r>
              <a:rPr sz="1300" b="1" dirty="0">
                <a:solidFill>
                  <a:srgbClr val="2D1155"/>
                </a:solidFill>
                <a:latin typeface="Calibri"/>
              </a:rPr>
              <a:t>Add a weekly summary</a:t>
            </a:r>
            <a:r>
              <a:rPr lang="en-AU" sz="1300" b="1" dirty="0">
                <a:solidFill>
                  <a:srgbClr val="2D1155"/>
                </a:solidFill>
                <a:latin typeface="Calibri"/>
              </a:rPr>
              <a:t>:</a:t>
            </a:r>
            <a:r>
              <a:rPr sz="1300" b="1" dirty="0">
                <a:solidFill>
                  <a:srgbClr val="2D1155"/>
                </a:solidFill>
                <a:latin typeface="Calibri"/>
              </a:rPr>
              <a:t> a short, human paragraph about your week. Where does the text come from?</a:t>
            </a:r>
          </a:p>
        </p:txBody>
      </p:sp>
      <p:sp>
        <p:nvSpPr>
          <p:cNvPr id="6" name="Rounded Rectangle 5"/>
          <p:cNvSpPr/>
          <p:nvPr/>
        </p:nvSpPr>
        <p:spPr>
          <a:xfrm>
            <a:off x="457200" y="1874519"/>
            <a:ext cx="4023360" cy="2148840"/>
          </a:xfrm>
          <a:prstGeom prst="roundRect">
            <a:avLst>
              <a:gd name="adj" fmla="val 5000"/>
            </a:avLst>
          </a:prstGeom>
          <a:solidFill>
            <a:srgbClr val="FFFFFF"/>
          </a:solidFill>
          <a:ln w="1587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2029968"/>
            <a:ext cx="3566160" cy="320040"/>
          </a:xfrm>
          <a:prstGeom prst="rect">
            <a:avLst/>
          </a:prstGeom>
          <a:noFill/>
        </p:spPr>
        <p:txBody>
          <a:bodyPr wrap="square" lIns="0" tIns="0" rIns="0" bIns="0" anchor="t">
            <a:spAutoFit/>
          </a:bodyPr>
          <a:lstStyle/>
          <a:p>
            <a:pPr algn="l">
              <a:spcBef>
                <a:spcPts val="0"/>
              </a:spcBef>
              <a:spcAft>
                <a:spcPts val="200"/>
              </a:spcAft>
            </a:pPr>
            <a:r>
              <a:rPr sz="1350" b="1">
                <a:solidFill>
                  <a:srgbClr val="2D1155"/>
                </a:solidFill>
                <a:latin typeface="Arial Black"/>
              </a:rPr>
              <a:t>Static template</a:t>
            </a:r>
          </a:p>
        </p:txBody>
      </p:sp>
      <p:sp>
        <p:nvSpPr>
          <p:cNvPr id="8" name="TextBox 7"/>
          <p:cNvSpPr txBox="1"/>
          <p:nvPr/>
        </p:nvSpPr>
        <p:spPr>
          <a:xfrm>
            <a:off x="713232" y="2432304"/>
            <a:ext cx="3611880" cy="640080"/>
          </a:xfrm>
          <a:prstGeom prst="rect">
            <a:avLst/>
          </a:prstGeom>
          <a:noFill/>
        </p:spPr>
        <p:txBody>
          <a:bodyPr wrap="square" lIns="0" tIns="0" rIns="0" bIns="0" anchor="t">
            <a:spAutoFit/>
          </a:bodyPr>
          <a:lstStyle/>
          <a:p>
            <a:pPr algn="l">
              <a:spcBef>
                <a:spcPts val="0"/>
              </a:spcBef>
              <a:spcAft>
                <a:spcPts val="200"/>
              </a:spcAft>
            </a:pPr>
            <a:r>
              <a:rPr sz="1250" b="1">
                <a:solidFill>
                  <a:srgbClr val="7C3AED"/>
                </a:solidFill>
                <a:latin typeface="Calibri"/>
              </a:rPr>
              <a:t>+  </a:t>
            </a:r>
            <a:r>
              <a:rPr sz="1250" b="0">
                <a:solidFill>
                  <a:srgbClr val="6E6389"/>
                </a:solidFill>
                <a:latin typeface="Calibri"/>
              </a:rPr>
              <a:t>Instant, offline, free, predictable.</a:t>
            </a:r>
          </a:p>
        </p:txBody>
      </p:sp>
      <p:sp>
        <p:nvSpPr>
          <p:cNvPr id="9" name="TextBox 8"/>
          <p:cNvSpPr txBox="1"/>
          <p:nvPr/>
        </p:nvSpPr>
        <p:spPr>
          <a:xfrm>
            <a:off x="713232" y="3072384"/>
            <a:ext cx="3611880" cy="640080"/>
          </a:xfrm>
          <a:prstGeom prst="rect">
            <a:avLst/>
          </a:prstGeom>
          <a:noFill/>
        </p:spPr>
        <p:txBody>
          <a:bodyPr wrap="square" lIns="0" tIns="0" rIns="0" bIns="0" anchor="t">
            <a:spAutoFit/>
          </a:bodyPr>
          <a:lstStyle/>
          <a:p>
            <a:pPr algn="l">
              <a:spcBef>
                <a:spcPts val="0"/>
              </a:spcBef>
              <a:spcAft>
                <a:spcPts val="200"/>
              </a:spcAft>
            </a:pPr>
            <a:r>
              <a:rPr sz="1250" b="1" dirty="0">
                <a:solidFill>
                  <a:srgbClr val="6E6389"/>
                </a:solidFill>
                <a:latin typeface="Calibri"/>
              </a:rPr>
              <a:t>–  </a:t>
            </a:r>
            <a:r>
              <a:rPr sz="1250" b="0" dirty="0">
                <a:solidFill>
                  <a:srgbClr val="6E6389"/>
                </a:solidFill>
                <a:latin typeface="Calibri"/>
              </a:rPr>
              <a:t>Same phrasing every single week.</a:t>
            </a:r>
          </a:p>
        </p:txBody>
      </p:sp>
      <p:sp>
        <p:nvSpPr>
          <p:cNvPr id="10" name="Rounded Rectangle 9"/>
          <p:cNvSpPr/>
          <p:nvPr/>
        </p:nvSpPr>
        <p:spPr>
          <a:xfrm>
            <a:off x="4663440" y="1874519"/>
            <a:ext cx="4023360" cy="2148840"/>
          </a:xfrm>
          <a:prstGeom prst="roundRect">
            <a:avLst>
              <a:gd name="adj" fmla="val 5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19472" y="2029968"/>
            <a:ext cx="3566160" cy="320040"/>
          </a:xfrm>
          <a:prstGeom prst="rect">
            <a:avLst/>
          </a:prstGeom>
          <a:noFill/>
        </p:spPr>
        <p:txBody>
          <a:bodyPr wrap="square" lIns="0" tIns="0" rIns="0" bIns="0" anchor="t">
            <a:spAutoFit/>
          </a:bodyPr>
          <a:lstStyle/>
          <a:p>
            <a:pPr algn="l">
              <a:spcBef>
                <a:spcPts val="0"/>
              </a:spcBef>
              <a:spcAft>
                <a:spcPts val="200"/>
              </a:spcAft>
            </a:pPr>
            <a:r>
              <a:rPr sz="1350" b="1">
                <a:solidFill>
                  <a:srgbClr val="2D1155"/>
                </a:solidFill>
                <a:latin typeface="Arial Black"/>
              </a:rPr>
              <a:t>Model call</a:t>
            </a:r>
          </a:p>
        </p:txBody>
      </p:sp>
      <p:sp>
        <p:nvSpPr>
          <p:cNvPr id="12" name="TextBox 11"/>
          <p:cNvSpPr txBox="1"/>
          <p:nvPr/>
        </p:nvSpPr>
        <p:spPr>
          <a:xfrm>
            <a:off x="4919472" y="2432304"/>
            <a:ext cx="3611880" cy="640080"/>
          </a:xfrm>
          <a:prstGeom prst="rect">
            <a:avLst/>
          </a:prstGeom>
          <a:noFill/>
        </p:spPr>
        <p:txBody>
          <a:bodyPr wrap="square" lIns="0" tIns="0" rIns="0" bIns="0" anchor="t">
            <a:spAutoFit/>
          </a:bodyPr>
          <a:lstStyle/>
          <a:p>
            <a:pPr algn="l">
              <a:spcBef>
                <a:spcPts val="0"/>
              </a:spcBef>
              <a:spcAft>
                <a:spcPts val="200"/>
              </a:spcAft>
            </a:pPr>
            <a:r>
              <a:rPr sz="1250" b="1" dirty="0">
                <a:solidFill>
                  <a:srgbClr val="7C3AED"/>
                </a:solidFill>
                <a:latin typeface="Calibri"/>
              </a:rPr>
              <a:t>+  </a:t>
            </a:r>
            <a:r>
              <a:rPr sz="1250" b="0" dirty="0">
                <a:solidFill>
                  <a:srgbClr val="6E6389"/>
                </a:solidFill>
                <a:latin typeface="Calibri"/>
              </a:rPr>
              <a:t>Varied, personal, genuinely warm.</a:t>
            </a:r>
          </a:p>
        </p:txBody>
      </p:sp>
      <p:sp>
        <p:nvSpPr>
          <p:cNvPr id="13" name="TextBox 12"/>
          <p:cNvSpPr txBox="1"/>
          <p:nvPr/>
        </p:nvSpPr>
        <p:spPr>
          <a:xfrm>
            <a:off x="4919472" y="3072384"/>
            <a:ext cx="3611880" cy="822960"/>
          </a:xfrm>
          <a:prstGeom prst="rect">
            <a:avLst/>
          </a:prstGeom>
          <a:noFill/>
        </p:spPr>
        <p:txBody>
          <a:bodyPr wrap="square" lIns="0" tIns="0" rIns="0" bIns="0" anchor="t">
            <a:spAutoFit/>
          </a:bodyPr>
          <a:lstStyle/>
          <a:p>
            <a:pPr algn="l">
              <a:spcBef>
                <a:spcPts val="0"/>
              </a:spcBef>
              <a:spcAft>
                <a:spcPts val="200"/>
              </a:spcAft>
            </a:pPr>
            <a:r>
              <a:rPr sz="1250" b="1">
                <a:solidFill>
                  <a:srgbClr val="6E6389"/>
                </a:solidFill>
                <a:latin typeface="Calibri"/>
              </a:rPr>
              <a:t>–  </a:t>
            </a:r>
            <a:r>
              <a:rPr sz="1250" b="0">
                <a:solidFill>
                  <a:srgbClr val="6E6389"/>
                </a:solidFill>
                <a:latin typeface="Calibri"/>
              </a:rPr>
              <a:t>A dependency, a key, latency, cost.</a:t>
            </a:r>
          </a:p>
        </p:txBody>
      </p:sp>
      <p:sp>
        <p:nvSpPr>
          <p:cNvPr id="14" name="Rounded Rectangle 13"/>
          <p:cNvSpPr/>
          <p:nvPr/>
        </p:nvSpPr>
        <p:spPr>
          <a:xfrm>
            <a:off x="457200" y="4114800"/>
            <a:ext cx="8229600" cy="566928"/>
          </a:xfrm>
          <a:prstGeom prst="roundRect">
            <a:avLst>
              <a:gd name="adj" fmla="val 14000"/>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4114800"/>
            <a:ext cx="8229600" cy="566928"/>
          </a:xfrm>
          <a:prstGeom prst="rect">
            <a:avLst/>
          </a:prstGeom>
          <a:noFill/>
        </p:spPr>
        <p:txBody>
          <a:bodyPr wrap="square" lIns="0" tIns="0" rIns="0" bIns="0" anchor="ctr">
            <a:spAutoFit/>
          </a:bodyPr>
          <a:lstStyle/>
          <a:p>
            <a:pPr algn="l">
              <a:spcBef>
                <a:spcPts val="0"/>
              </a:spcBef>
              <a:spcAft>
                <a:spcPts val="200"/>
              </a:spcAft>
            </a:pPr>
            <a:r>
              <a:rPr sz="1250" b="1">
                <a:solidFill>
                  <a:srgbClr val="F59E0B"/>
                </a:solidFill>
                <a:latin typeface="Calibri"/>
              </a:rPr>
              <a:t>Plan Mode</a:t>
            </a:r>
            <a:r>
              <a:rPr sz="1250" b="0">
                <a:solidFill>
                  <a:srgbClr val="FFFFFF"/>
                </a:solidFill>
                <a:latin typeface="Calibri"/>
              </a:rPr>
              <a:t> (Claude: Shift+Tab · Codex: /plan) forces the agent to surface this choice — not decide it silently. </a:t>
            </a:r>
            <a:r>
              <a:rPr sz="1250" b="1">
                <a:solidFill>
                  <a:srgbClr val="F59E0B"/>
                </a:solidFill>
                <a:latin typeface="Calibri"/>
              </a:rPr>
              <a:t>You arbitrate.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WHERE YOU'LL BE BY LUNCH</a:t>
            </a:r>
          </a:p>
        </p:txBody>
      </p:sp>
      <p:sp>
        <p:nvSpPr>
          <p:cNvPr id="3" name="TextBox 2"/>
          <p:cNvSpPr txBox="1"/>
          <p:nvPr/>
        </p:nvSpPr>
        <p:spPr>
          <a:xfrm>
            <a:off x="475488" y="896112"/>
            <a:ext cx="8229600" cy="200055"/>
          </a:xfrm>
          <a:prstGeom prst="rect">
            <a:avLst/>
          </a:prstGeom>
          <a:noFill/>
        </p:spPr>
        <p:txBody>
          <a:bodyPr wrap="square" lIns="0" tIns="0" rIns="0" bIns="0" anchor="t">
            <a:spAutoFit/>
          </a:bodyPr>
          <a:lstStyle/>
          <a:p>
            <a:pPr algn="l">
              <a:spcBef>
                <a:spcPts val="0"/>
              </a:spcBef>
              <a:spcAft>
                <a:spcPts val="200"/>
              </a:spcAft>
            </a:pPr>
            <a:r>
              <a:rPr sz="1300" b="0" dirty="0">
                <a:solidFill>
                  <a:srgbClr val="6E6389"/>
                </a:solidFill>
                <a:latin typeface="Calibri"/>
              </a:rPr>
              <a:t>Same app, five moves later. Yours, not ours.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Oval 4"/>
          <p:cNvSpPr/>
          <p:nvPr/>
        </p:nvSpPr>
        <p:spPr>
          <a:xfrm>
            <a:off x="502920" y="1527048"/>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527048"/>
            <a:ext cx="310896" cy="310896"/>
          </a:xfrm>
          <a:prstGeom prst="rect">
            <a:avLst/>
          </a:prstGeom>
          <a:noFill/>
        </p:spPr>
        <p:txBody>
          <a:bodyPr wrap="square" lIns="0" tIns="0" rIns="0" bIns="0" anchor="ctr">
            <a:spAutoFit/>
          </a:bodyPr>
          <a:lstStyle/>
          <a:p>
            <a:pPr algn="ctr">
              <a:spcBef>
                <a:spcPts val="0"/>
              </a:spcBef>
              <a:spcAft>
                <a:spcPts val="200"/>
              </a:spcAft>
            </a:pPr>
            <a:r>
              <a:rPr sz="1100" b="1">
                <a:solidFill>
                  <a:srgbClr val="2D1155"/>
                </a:solidFill>
                <a:latin typeface="Arial Black"/>
              </a:rPr>
              <a:t>✓</a:t>
            </a:r>
          </a:p>
        </p:txBody>
      </p:sp>
      <p:sp>
        <p:nvSpPr>
          <p:cNvPr id="7" name="TextBox 6"/>
          <p:cNvSpPr txBox="1"/>
          <p:nvPr/>
        </p:nvSpPr>
        <p:spPr>
          <a:xfrm>
            <a:off x="1051560" y="1621219"/>
            <a:ext cx="7589520" cy="223138"/>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A project contract</a:t>
            </a:r>
            <a:r>
              <a:rPr lang="en-AU" sz="1450" b="1" dirty="0">
                <a:solidFill>
                  <a:srgbClr val="2D1155"/>
                </a:solidFill>
                <a:latin typeface="Calibri"/>
              </a:rPr>
              <a:t>:</a:t>
            </a:r>
            <a:r>
              <a:rPr sz="1450" b="1" dirty="0">
                <a:solidFill>
                  <a:srgbClr val="2D1155"/>
                </a:solidFill>
                <a:latin typeface="Calibri"/>
              </a:rPr>
              <a:t>   </a:t>
            </a:r>
            <a:r>
              <a:rPr sz="1450" b="0" dirty="0">
                <a:solidFill>
                  <a:srgbClr val="6E6389"/>
                </a:solidFill>
                <a:latin typeface="Calibri"/>
              </a:rPr>
              <a:t>AGENTS.md / CLAUDE.md the agent reads every session</a:t>
            </a:r>
          </a:p>
        </p:txBody>
      </p:sp>
      <p:sp>
        <p:nvSpPr>
          <p:cNvPr id="8" name="Oval 7"/>
          <p:cNvSpPr/>
          <p:nvPr/>
        </p:nvSpPr>
        <p:spPr>
          <a:xfrm>
            <a:off x="502920" y="2075688"/>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075688"/>
            <a:ext cx="310896" cy="310896"/>
          </a:xfrm>
          <a:prstGeom prst="rect">
            <a:avLst/>
          </a:prstGeom>
          <a:noFill/>
        </p:spPr>
        <p:txBody>
          <a:bodyPr wrap="square" lIns="0" tIns="0" rIns="0" bIns="0" anchor="ctr">
            <a:spAutoFit/>
          </a:bodyPr>
          <a:lstStyle/>
          <a:p>
            <a:pPr algn="ctr">
              <a:spcBef>
                <a:spcPts val="0"/>
              </a:spcBef>
              <a:spcAft>
                <a:spcPts val="200"/>
              </a:spcAft>
            </a:pPr>
            <a:r>
              <a:rPr sz="1100" b="1">
                <a:solidFill>
                  <a:srgbClr val="2D1155"/>
                </a:solidFill>
                <a:latin typeface="Arial Black"/>
              </a:rPr>
              <a:t>✓</a:t>
            </a:r>
          </a:p>
        </p:txBody>
      </p:sp>
      <p:sp>
        <p:nvSpPr>
          <p:cNvPr id="10" name="TextBox 9"/>
          <p:cNvSpPr txBox="1"/>
          <p:nvPr/>
        </p:nvSpPr>
        <p:spPr>
          <a:xfrm>
            <a:off x="1051560" y="2169859"/>
            <a:ext cx="7589520" cy="223138"/>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A reusable workflow</a:t>
            </a:r>
            <a:r>
              <a:rPr lang="en-AU" sz="1450" b="1" dirty="0">
                <a:solidFill>
                  <a:srgbClr val="2D1155"/>
                </a:solidFill>
                <a:latin typeface="Calibri"/>
              </a:rPr>
              <a:t>:</a:t>
            </a:r>
            <a:r>
              <a:rPr sz="1450" b="1" dirty="0">
                <a:solidFill>
                  <a:srgbClr val="2D1155"/>
                </a:solidFill>
                <a:latin typeface="Calibri"/>
              </a:rPr>
              <a:t>   </a:t>
            </a:r>
            <a:r>
              <a:rPr sz="1450" b="0" dirty="0">
                <a:solidFill>
                  <a:srgbClr val="6E6389"/>
                </a:solidFill>
                <a:latin typeface="Calibri"/>
              </a:rPr>
              <a:t>your /add-feature command, checked into the repo</a:t>
            </a:r>
          </a:p>
        </p:txBody>
      </p:sp>
      <p:sp>
        <p:nvSpPr>
          <p:cNvPr id="11" name="Oval 10"/>
          <p:cNvSpPr/>
          <p:nvPr/>
        </p:nvSpPr>
        <p:spPr>
          <a:xfrm>
            <a:off x="502920" y="2624328"/>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624328"/>
            <a:ext cx="310896" cy="310896"/>
          </a:xfrm>
          <a:prstGeom prst="rect">
            <a:avLst/>
          </a:prstGeom>
          <a:noFill/>
        </p:spPr>
        <p:txBody>
          <a:bodyPr wrap="square" lIns="0" tIns="0" rIns="0" bIns="0" anchor="ctr">
            <a:spAutoFit/>
          </a:bodyPr>
          <a:lstStyle/>
          <a:p>
            <a:pPr algn="ctr">
              <a:spcBef>
                <a:spcPts val="0"/>
              </a:spcBef>
              <a:spcAft>
                <a:spcPts val="200"/>
              </a:spcAft>
            </a:pPr>
            <a:r>
              <a:rPr sz="1100" b="1">
                <a:solidFill>
                  <a:srgbClr val="2D1155"/>
                </a:solidFill>
                <a:latin typeface="Arial Black"/>
              </a:rPr>
              <a:t>✓</a:t>
            </a:r>
          </a:p>
        </p:txBody>
      </p:sp>
      <p:sp>
        <p:nvSpPr>
          <p:cNvPr id="13" name="TextBox 12"/>
          <p:cNvSpPr txBox="1"/>
          <p:nvPr/>
        </p:nvSpPr>
        <p:spPr>
          <a:xfrm>
            <a:off x="1051560" y="2718499"/>
            <a:ext cx="7589520" cy="223138"/>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Scheduled days and colour tiles:   each habit due only when you choose, as a grid</a:t>
            </a:r>
          </a:p>
        </p:txBody>
      </p:sp>
      <p:sp>
        <p:nvSpPr>
          <p:cNvPr id="14" name="Oval 13"/>
          <p:cNvSpPr/>
          <p:nvPr/>
        </p:nvSpPr>
        <p:spPr>
          <a:xfrm>
            <a:off x="502920" y="3172968"/>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172968"/>
            <a:ext cx="310896" cy="310896"/>
          </a:xfrm>
          <a:prstGeom prst="rect">
            <a:avLst/>
          </a:prstGeom>
          <a:noFill/>
        </p:spPr>
        <p:txBody>
          <a:bodyPr wrap="square" lIns="0" tIns="0" rIns="0" bIns="0" anchor="ctr">
            <a:spAutoFit/>
          </a:bodyPr>
          <a:lstStyle/>
          <a:p>
            <a:pPr algn="ctr">
              <a:spcBef>
                <a:spcPts val="0"/>
              </a:spcBef>
              <a:spcAft>
                <a:spcPts val="200"/>
              </a:spcAft>
            </a:pPr>
            <a:r>
              <a:rPr sz="1100" b="1">
                <a:solidFill>
                  <a:srgbClr val="2D1155"/>
                </a:solidFill>
                <a:latin typeface="Arial Black"/>
              </a:rPr>
              <a:t>✓</a:t>
            </a:r>
          </a:p>
        </p:txBody>
      </p:sp>
      <p:sp>
        <p:nvSpPr>
          <p:cNvPr id="16" name="TextBox 15"/>
          <p:cNvSpPr txBox="1"/>
          <p:nvPr/>
        </p:nvSpPr>
        <p:spPr>
          <a:xfrm>
            <a:off x="1051560" y="3267139"/>
            <a:ext cx="7589520" cy="223138"/>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A weekly summary</a:t>
            </a:r>
            <a:r>
              <a:rPr lang="en-AU" sz="1450" b="1" dirty="0">
                <a:solidFill>
                  <a:srgbClr val="2D1155"/>
                </a:solidFill>
                <a:latin typeface="Calibri"/>
              </a:rPr>
              <a:t>:</a:t>
            </a:r>
            <a:r>
              <a:rPr sz="1450" b="1" dirty="0">
                <a:solidFill>
                  <a:srgbClr val="2D1155"/>
                </a:solidFill>
                <a:latin typeface="Calibri"/>
              </a:rPr>
              <a:t>   </a:t>
            </a:r>
            <a:r>
              <a:rPr sz="1450" b="0" dirty="0">
                <a:solidFill>
                  <a:srgbClr val="6E6389"/>
                </a:solidFill>
                <a:latin typeface="Calibri"/>
              </a:rPr>
              <a:t>the human paragraph — a decision made on purpose</a:t>
            </a:r>
          </a:p>
        </p:txBody>
      </p:sp>
      <p:sp>
        <p:nvSpPr>
          <p:cNvPr id="17" name="Oval 16"/>
          <p:cNvSpPr/>
          <p:nvPr/>
        </p:nvSpPr>
        <p:spPr>
          <a:xfrm>
            <a:off x="502920" y="3721608"/>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3721608"/>
            <a:ext cx="310896" cy="310896"/>
          </a:xfrm>
          <a:prstGeom prst="rect">
            <a:avLst/>
          </a:prstGeom>
          <a:noFill/>
        </p:spPr>
        <p:txBody>
          <a:bodyPr wrap="square" lIns="0" tIns="0" rIns="0" bIns="0" anchor="ctr">
            <a:spAutoFit/>
          </a:bodyPr>
          <a:lstStyle/>
          <a:p>
            <a:pPr algn="ctr">
              <a:spcBef>
                <a:spcPts val="0"/>
              </a:spcBef>
              <a:spcAft>
                <a:spcPts val="200"/>
              </a:spcAft>
            </a:pPr>
            <a:r>
              <a:rPr sz="1100" b="1">
                <a:solidFill>
                  <a:srgbClr val="2D1155"/>
                </a:solidFill>
                <a:latin typeface="Arial Black"/>
              </a:rPr>
              <a:t>✓</a:t>
            </a:r>
          </a:p>
        </p:txBody>
      </p:sp>
      <p:sp>
        <p:nvSpPr>
          <p:cNvPr id="19" name="TextBox 18"/>
          <p:cNvSpPr txBox="1"/>
          <p:nvPr/>
        </p:nvSpPr>
        <p:spPr>
          <a:xfrm>
            <a:off x="1051560" y="3815779"/>
            <a:ext cx="7589520" cy="223138"/>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AI encouragement</a:t>
            </a:r>
            <a:r>
              <a:rPr lang="en-AU" sz="1450" b="1" dirty="0">
                <a:solidFill>
                  <a:srgbClr val="2D1155"/>
                </a:solidFill>
                <a:latin typeface="Calibri"/>
              </a:rPr>
              <a:t>:</a:t>
            </a:r>
            <a:r>
              <a:rPr sz="1450" b="1" dirty="0">
                <a:solidFill>
                  <a:srgbClr val="2D1155"/>
                </a:solidFill>
                <a:latin typeface="Calibri"/>
              </a:rPr>
              <a:t>   </a:t>
            </a:r>
            <a:r>
              <a:rPr sz="1450" b="0" dirty="0">
                <a:solidFill>
                  <a:srgbClr val="6E6389"/>
                </a:solidFill>
                <a:latin typeface="Calibri"/>
              </a:rPr>
              <a:t>a supportive nudge when a streak is at risk</a:t>
            </a:r>
          </a:p>
        </p:txBody>
      </p:sp>
      <p:sp>
        <p:nvSpPr>
          <p:cNvPr id="20" name="Rounded Rectangle 19"/>
          <p:cNvSpPr/>
          <p:nvPr/>
        </p:nvSpPr>
        <p:spPr>
          <a:xfrm>
            <a:off x="457200" y="4315968"/>
            <a:ext cx="8229600" cy="457200"/>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4315968"/>
            <a:ext cx="8229600" cy="457200"/>
          </a:xfrm>
          <a:prstGeom prst="rect">
            <a:avLst/>
          </a:prstGeom>
          <a:noFill/>
        </p:spPr>
        <p:txBody>
          <a:bodyPr wrap="square" lIns="0" tIns="0" rIns="0" bIns="0" anchor="ctr">
            <a:spAutoFit/>
          </a:bodyPr>
          <a:lstStyle/>
          <a:p>
            <a:pPr algn="l">
              <a:spcBef>
                <a:spcPts val="0"/>
              </a:spcBef>
              <a:spcAft>
                <a:spcPts val="200"/>
              </a:spcAft>
            </a:pPr>
            <a:r>
              <a:rPr sz="1200" b="1">
                <a:solidFill>
                  <a:srgbClr val="2D1155"/>
                </a:solidFill>
                <a:latin typeface="Calibri"/>
              </a:rPr>
              <a:t>Fall behind? Drop into the reference repo at checkpoint-2-features and keep going. Using the net is expected, not failure.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spcBef>
                <a:spcPts val="0"/>
              </a:spcBef>
              <a:spcAft>
                <a:spcPts val="200"/>
              </a:spcAft>
            </a:pPr>
            <a:r>
              <a:rPr sz="2200" b="1">
                <a:solidFill>
                  <a:srgbClr val="2D1155"/>
                </a:solidFill>
                <a:latin typeface="Arial Black"/>
              </a:rPr>
              <a:t>FIVE RULES FOR THIS SESSION</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spcBef>
                <a:spcPts val="0"/>
              </a:spcBef>
              <a:spcAft>
                <a:spcPts val="200"/>
              </a:spcAft>
            </a:pPr>
            <a:r>
              <a:rPr sz="1300" b="0">
                <a:solidFill>
                  <a:srgbClr val="6E6389"/>
                </a:solidFill>
                <a:latin typeface="Calibri"/>
              </a:rPr>
              <a:t>Carry these into the lab.</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502920" y="1463040"/>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463040"/>
            <a:ext cx="457200" cy="457200"/>
          </a:xfrm>
          <a:prstGeom prst="rect">
            <a:avLst/>
          </a:prstGeom>
          <a:noFill/>
        </p:spPr>
        <p:txBody>
          <a:bodyPr wrap="square" lIns="0" tIns="0" rIns="0" bIns="0" anchor="ctr">
            <a:spAutoFit/>
          </a:bodyPr>
          <a:lstStyle>
            <a:defPPr>
              <a:defRPr lang="en-US"/>
            </a:defPPr>
            <a:lvl1pPr algn="ctr">
              <a:spcBef>
                <a:spcPts val="0"/>
              </a:spcBef>
              <a:spcAft>
                <a:spcPts val="200"/>
              </a:spcAft>
              <a:defRPr sz="1200" b="1">
                <a:solidFill>
                  <a:srgbClr val="FFFFFF"/>
                </a:solidFill>
                <a:latin typeface="Arial Black"/>
              </a:defRPr>
            </a:lvl1pPr>
          </a:lstStyle>
          <a:p>
            <a:r>
              <a:t>1</a:t>
            </a:r>
          </a:p>
        </p:txBody>
      </p:sp>
      <p:sp>
        <p:nvSpPr>
          <p:cNvPr id="7" name="TextBox 6"/>
          <p:cNvSpPr txBox="1"/>
          <p:nvPr/>
        </p:nvSpPr>
        <p:spPr>
          <a:xfrm>
            <a:off x="1143000" y="1426464"/>
            <a:ext cx="7498079" cy="45720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Write it down once.   </a:t>
            </a:r>
            <a:r>
              <a:rPr sz="1450" b="0">
                <a:solidFill>
                  <a:srgbClr val="6E6389"/>
                </a:solidFill>
                <a:latin typeface="Calibri"/>
              </a:rPr>
              <a:t>The contract stops you repeating yourself.</a:t>
            </a:r>
          </a:p>
        </p:txBody>
      </p:sp>
      <p:sp>
        <p:nvSpPr>
          <p:cNvPr id="8" name="Rectangle 7"/>
          <p:cNvSpPr/>
          <p:nvPr/>
        </p:nvSpPr>
        <p:spPr>
          <a:xfrm>
            <a:off x="502920" y="2084832"/>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084832"/>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2</a:t>
            </a:r>
          </a:p>
        </p:txBody>
      </p:sp>
      <p:sp>
        <p:nvSpPr>
          <p:cNvPr id="10" name="TextBox 9"/>
          <p:cNvSpPr txBox="1"/>
          <p:nvPr/>
        </p:nvSpPr>
        <p:spPr>
          <a:xfrm>
            <a:off x="1143000" y="2048256"/>
            <a:ext cx="7498079" cy="45720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Save your best prompts.   </a:t>
            </a:r>
            <a:r>
              <a:rPr sz="1450" b="0">
                <a:solidFill>
                  <a:srgbClr val="6E6389"/>
                </a:solidFill>
                <a:latin typeface="Calibri"/>
              </a:rPr>
              <a:t>A good prompt becomes a command, not a memory.</a:t>
            </a:r>
          </a:p>
        </p:txBody>
      </p:sp>
      <p:sp>
        <p:nvSpPr>
          <p:cNvPr id="11" name="Rectangle 10"/>
          <p:cNvSpPr/>
          <p:nvPr/>
        </p:nvSpPr>
        <p:spPr>
          <a:xfrm>
            <a:off x="502920" y="2706624"/>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706624"/>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3</a:t>
            </a:r>
          </a:p>
        </p:txBody>
      </p:sp>
      <p:sp>
        <p:nvSpPr>
          <p:cNvPr id="13" name="TextBox 12"/>
          <p:cNvSpPr txBox="1"/>
          <p:nvPr/>
        </p:nvSpPr>
        <p:spPr>
          <a:xfrm>
            <a:off x="1143000" y="2670048"/>
            <a:ext cx="7498079" cy="45720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Keep a clean desk.   </a:t>
            </a:r>
            <a:r>
              <a:rPr sz="1450" b="0">
                <a:solidFill>
                  <a:srgbClr val="6E6389"/>
                </a:solidFill>
                <a:latin typeface="Calibri"/>
              </a:rPr>
              <a:t>Manage context on purpose, every task.</a:t>
            </a:r>
          </a:p>
        </p:txBody>
      </p:sp>
      <p:sp>
        <p:nvSpPr>
          <p:cNvPr id="14" name="Rectangle 13"/>
          <p:cNvSpPr/>
          <p:nvPr/>
        </p:nvSpPr>
        <p:spPr>
          <a:xfrm>
            <a:off x="502920" y="3328416"/>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328416"/>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4</a:t>
            </a:r>
          </a:p>
        </p:txBody>
      </p:sp>
      <p:sp>
        <p:nvSpPr>
          <p:cNvPr id="16" name="TextBox 15"/>
          <p:cNvSpPr txBox="1"/>
          <p:nvPr/>
        </p:nvSpPr>
        <p:spPr>
          <a:xfrm>
            <a:off x="1143000" y="3408871"/>
            <a:ext cx="7498079" cy="223138"/>
          </a:xfrm>
          <a:prstGeom prst="rect">
            <a:avLst/>
          </a:prstGeom>
          <a:noFill/>
        </p:spPr>
        <p:txBody>
          <a:bodyPr wrap="square" lIns="0" tIns="0" rIns="0" bIns="0" anchor="ctr">
            <a:spAutoFit/>
          </a:bodyPr>
          <a:lstStyle/>
          <a:p>
            <a:pPr algn="l">
              <a:spcBef>
                <a:spcPts val="0"/>
              </a:spcBef>
              <a:spcAft>
                <a:spcPts val="200"/>
              </a:spcAft>
            </a:pPr>
            <a:r>
              <a:rPr sz="1450" b="1" dirty="0">
                <a:solidFill>
                  <a:srgbClr val="2D1155"/>
                </a:solidFill>
                <a:latin typeface="Calibri"/>
              </a:rPr>
              <a:t>Get a second opinion.   </a:t>
            </a:r>
            <a:r>
              <a:rPr sz="1450" b="0" dirty="0">
                <a:solidFill>
                  <a:srgbClr val="6E6389"/>
                </a:solidFill>
                <a:latin typeface="Calibri"/>
              </a:rPr>
              <a:t>Two agents beat one</a:t>
            </a:r>
            <a:r>
              <a:rPr lang="en-AU" sz="1450" b="0" dirty="0">
                <a:solidFill>
                  <a:srgbClr val="6E6389"/>
                </a:solidFill>
                <a:latin typeface="Calibri"/>
              </a:rPr>
              <a:t>,</a:t>
            </a:r>
            <a:r>
              <a:rPr sz="1450" b="0" dirty="0">
                <a:solidFill>
                  <a:srgbClr val="6E6389"/>
                </a:solidFill>
                <a:latin typeface="Calibri"/>
              </a:rPr>
              <a:t> compare before you merge.</a:t>
            </a:r>
          </a:p>
        </p:txBody>
      </p:sp>
      <p:sp>
        <p:nvSpPr>
          <p:cNvPr id="17" name="Rectangle 16"/>
          <p:cNvSpPr/>
          <p:nvPr/>
        </p:nvSpPr>
        <p:spPr>
          <a:xfrm>
            <a:off x="502920" y="3950208"/>
            <a:ext cx="457200"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3950208"/>
            <a:ext cx="457200" cy="457200"/>
          </a:xfrm>
          <a:prstGeom prst="rect">
            <a:avLst/>
          </a:prstGeom>
          <a:noFill/>
        </p:spPr>
        <p:txBody>
          <a:bodyPr wrap="square" lIns="0" tIns="0" rIns="0" bIns="0" anchor="ctr">
            <a:spAutoFit/>
          </a:bodyPr>
          <a:lstStyle/>
          <a:p>
            <a:pPr algn="ctr">
              <a:spcBef>
                <a:spcPts val="0"/>
              </a:spcBef>
              <a:spcAft>
                <a:spcPts val="200"/>
              </a:spcAft>
            </a:pPr>
            <a:r>
              <a:rPr sz="1200" b="1">
                <a:solidFill>
                  <a:srgbClr val="FFFFFF"/>
                </a:solidFill>
                <a:latin typeface="Arial Black"/>
              </a:rPr>
              <a:t>5</a:t>
            </a:r>
          </a:p>
        </p:txBody>
      </p:sp>
      <p:sp>
        <p:nvSpPr>
          <p:cNvPr id="19" name="TextBox 18"/>
          <p:cNvSpPr txBox="1"/>
          <p:nvPr/>
        </p:nvSpPr>
        <p:spPr>
          <a:xfrm>
            <a:off x="1143000" y="3913632"/>
            <a:ext cx="7498079" cy="457200"/>
          </a:xfrm>
          <a:prstGeom prst="rect">
            <a:avLst/>
          </a:prstGeom>
          <a:noFill/>
        </p:spPr>
        <p:txBody>
          <a:bodyPr wrap="square" lIns="0" tIns="0" rIns="0" bIns="0" anchor="ctr">
            <a:spAutoFit/>
          </a:bodyPr>
          <a:lstStyle/>
          <a:p>
            <a:pPr algn="l">
              <a:spcBef>
                <a:spcPts val="0"/>
              </a:spcBef>
              <a:spcAft>
                <a:spcPts val="200"/>
              </a:spcAft>
            </a:pPr>
            <a:r>
              <a:rPr sz="1450" b="1">
                <a:solidFill>
                  <a:srgbClr val="2D1155"/>
                </a:solidFill>
                <a:latin typeface="Calibri"/>
              </a:rPr>
              <a:t>Make the agent surface decisions.   </a:t>
            </a:r>
            <a:r>
              <a:rPr sz="1450" b="0">
                <a:solidFill>
                  <a:srgbClr val="6E6389"/>
                </a:solidFill>
                <a:latin typeface="Calibri"/>
              </a:rPr>
              <a:t>Plan first. You arbitrate; it doesn't decide silently.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51435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640080" y="1234440"/>
            <a:ext cx="7772400" cy="365760"/>
          </a:xfrm>
          <a:prstGeom prst="rect">
            <a:avLst/>
          </a:prstGeom>
          <a:noFill/>
        </p:spPr>
        <p:txBody>
          <a:bodyPr wrap="square" lIns="0" tIns="0" rIns="0" bIns="0" anchor="t">
            <a:spAutoFit/>
          </a:bodyPr>
          <a:lstStyle/>
          <a:p>
            <a:pPr algn="l">
              <a:spcBef>
                <a:spcPts val="0"/>
              </a:spcBef>
              <a:spcAft>
                <a:spcPts val="200"/>
              </a:spcAft>
            </a:pPr>
            <a:r>
              <a:rPr sz="1200" b="1">
                <a:solidFill>
                  <a:srgbClr val="F59E0B"/>
                </a:solidFill>
                <a:latin typeface="Calibri"/>
              </a:rPr>
              <a:t>BRIDGE TO SECTION 3 · AFTER LUNCH</a:t>
            </a:r>
          </a:p>
        </p:txBody>
      </p:sp>
      <p:sp>
        <p:nvSpPr>
          <p:cNvPr id="6" name="TextBox 5"/>
          <p:cNvSpPr txBox="1"/>
          <p:nvPr/>
        </p:nvSpPr>
        <p:spPr>
          <a:xfrm>
            <a:off x="621792" y="1600200"/>
            <a:ext cx="7955279" cy="914400"/>
          </a:xfrm>
          <a:prstGeom prst="rect">
            <a:avLst/>
          </a:prstGeom>
          <a:noFill/>
        </p:spPr>
        <p:txBody>
          <a:bodyPr wrap="square" lIns="0" tIns="0" rIns="0" bIns="0" anchor="t">
            <a:spAutoFit/>
          </a:bodyPr>
          <a:lstStyle/>
          <a:p>
            <a:pPr algn="l">
              <a:spcBef>
                <a:spcPts val="0"/>
              </a:spcBef>
              <a:spcAft>
                <a:spcPts val="200"/>
              </a:spcAft>
            </a:pPr>
            <a:r>
              <a:rPr sz="3400" b="1">
                <a:solidFill>
                  <a:srgbClr val="FFFFFF"/>
                </a:solidFill>
                <a:latin typeface="Arial Black"/>
              </a:rPr>
              <a:t>Would you trust it in front of users?</a:t>
            </a:r>
          </a:p>
        </p:txBody>
      </p:sp>
      <p:sp>
        <p:nvSpPr>
          <p:cNvPr id="7" name="TextBox 6"/>
          <p:cNvSpPr txBox="1"/>
          <p:nvPr/>
        </p:nvSpPr>
        <p:spPr>
          <a:xfrm>
            <a:off x="658368" y="2788920"/>
            <a:ext cx="7680960" cy="520784"/>
          </a:xfrm>
          <a:prstGeom prst="rect">
            <a:avLst/>
          </a:prstGeom>
          <a:noFill/>
        </p:spPr>
        <p:txBody>
          <a:bodyPr wrap="square" lIns="0" tIns="0" rIns="0" bIns="0" anchor="t">
            <a:spAutoFit/>
          </a:bodyPr>
          <a:lstStyle/>
          <a:p>
            <a:pPr algn="l">
              <a:lnSpc>
                <a:spcPct val="110000"/>
              </a:lnSpc>
              <a:spcBef>
                <a:spcPts val="0"/>
              </a:spcBef>
              <a:spcAft>
                <a:spcPts val="200"/>
              </a:spcAft>
            </a:pPr>
            <a:r>
              <a:rPr sz="1500" b="0" dirty="0">
                <a:solidFill>
                  <a:srgbClr val="DDD6FE"/>
                </a:solidFill>
                <a:latin typeface="Calibri"/>
              </a:rPr>
              <a:t>The app has features now</a:t>
            </a:r>
            <a:r>
              <a:rPr lang="en-AU" sz="1500" b="0" dirty="0">
                <a:solidFill>
                  <a:srgbClr val="DDD6FE"/>
                </a:solidFill>
                <a:latin typeface="Calibri"/>
              </a:rPr>
              <a:t>,</a:t>
            </a:r>
            <a:r>
              <a:rPr sz="1500" b="0" dirty="0">
                <a:solidFill>
                  <a:srgbClr val="DDD6FE"/>
                </a:solidFill>
                <a:latin typeface="Calibri"/>
              </a:rPr>
              <a:t> but nobody has proven it's right. This afternoon we stop hoping:</a:t>
            </a:r>
          </a:p>
          <a:p>
            <a:pPr algn="l">
              <a:lnSpc>
                <a:spcPct val="110000"/>
              </a:lnSpc>
              <a:spcBef>
                <a:spcPts val="0"/>
              </a:spcBef>
              <a:spcAft>
                <a:spcPts val="200"/>
              </a:spcAft>
            </a:pPr>
            <a:r>
              <a:rPr sz="1500" b="0" dirty="0">
                <a:solidFill>
                  <a:srgbClr val="DDD6FE"/>
                </a:solidFill>
                <a:latin typeface="Calibri"/>
              </a:rPr>
              <a:t>we build the harness, and hand the building to a team of agents.</a:t>
            </a:r>
          </a:p>
        </p:txBody>
      </p:sp>
      <p:sp>
        <p:nvSpPr>
          <p:cNvPr id="8" name="Rounded Rectangle 7"/>
          <p:cNvSpPr/>
          <p:nvPr/>
        </p:nvSpPr>
        <p:spPr>
          <a:xfrm>
            <a:off x="658368" y="3794760"/>
            <a:ext cx="2926080" cy="38404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3794760"/>
            <a:ext cx="2926080" cy="384048"/>
          </a:xfrm>
          <a:prstGeom prst="rect">
            <a:avLst/>
          </a:prstGeom>
          <a:noFill/>
        </p:spPr>
        <p:txBody>
          <a:bodyPr wrap="square" lIns="0" tIns="0" rIns="0" bIns="0" anchor="ctr">
            <a:spAutoFit/>
          </a:bodyPr>
          <a:lstStyle/>
          <a:p>
            <a:pPr algn="ctr">
              <a:spcBef>
                <a:spcPts val="0"/>
              </a:spcBef>
              <a:spcAft>
                <a:spcPts val="200"/>
              </a:spcAft>
            </a:pPr>
            <a:r>
              <a:rPr sz="900" b="1">
                <a:solidFill>
                  <a:srgbClr val="FFFFFF"/>
                </a:solidFill>
                <a:latin typeface="Calibri"/>
              </a:rPr>
              <a:t>NEXT  ·  AGENTIC ENGINEERING</a:t>
            </a:r>
          </a:p>
        </p:txBody>
      </p:sp>
      <p:sp>
        <p:nvSpPr>
          <p:cNvPr id="10" name="TextBox 9"/>
          <p:cNvSpPr txBox="1"/>
          <p:nvPr/>
        </p:nvSpPr>
        <p:spPr>
          <a:xfrm>
            <a:off x="640080" y="4709160"/>
            <a:ext cx="7315200" cy="274320"/>
          </a:xfrm>
          <a:prstGeom prst="rect">
            <a:avLst/>
          </a:prstGeom>
          <a:noFill/>
        </p:spPr>
        <p:txBody>
          <a:bodyPr wrap="square" lIns="0" tIns="0" rIns="0" bIns="0" anchor="t">
            <a:spAutoFit/>
          </a:bodyPr>
          <a:lstStyle/>
          <a:p>
            <a:pPr algn="l">
              <a:spcBef>
                <a:spcPts val="0"/>
              </a:spcBef>
              <a:spcAft>
                <a:spcPts val="200"/>
              </a:spcAft>
            </a:pPr>
            <a:r>
              <a:rPr sz="900" b="0">
                <a:solidFill>
                  <a:srgbClr val="C4B5E8"/>
                </a:solidFill>
                <a:latin typeface="Calibri"/>
              </a:rPr>
              <a:t>Tech Council of Australia  |  techcouncil.com.au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2366</Words>
  <Application>Microsoft Office PowerPoint</Application>
  <PresentationFormat>On-screen Show (16:9)</PresentationFormat>
  <Paragraphs>212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Resonate Legal</cp:lastModifiedBy>
  <cp:revision>1</cp:revision>
  <dcterms:created xsi:type="dcterms:W3CDTF">2013-01-27T09:14:16Z</dcterms:created>
  <dcterms:modified xsi:type="dcterms:W3CDTF">2026-07-26T05:05:47Z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417e19e-4d0d-4a9d-b5f2-88105e5fd7ee_Enabled">
    <vt:lpwstr>true</vt:lpwstr>
  </property>
  <property fmtid="{D5CDD505-2E9C-101B-9397-08002B2CF9AE}" pid="3" name="MSIP_Label_a417e19e-4d0d-4a9d-b5f2-88105e5fd7ee_SetDate">
    <vt:lpwstr>2026-07-26T04:55:36Z</vt:lpwstr>
  </property>
  <property fmtid="{D5CDD505-2E9C-101B-9397-08002B2CF9AE}" pid="4" name="MSIP_Label_a417e19e-4d0d-4a9d-b5f2-88105e5fd7ee_Method">
    <vt:lpwstr>Standard</vt:lpwstr>
  </property>
  <property fmtid="{D5CDD505-2E9C-101B-9397-08002B2CF9AE}" pid="5" name="MSIP_Label_a417e19e-4d0d-4a9d-b5f2-88105e5fd7ee_Name">
    <vt:lpwstr>Protected</vt:lpwstr>
  </property>
  <property fmtid="{D5CDD505-2E9C-101B-9397-08002B2CF9AE}" pid="6" name="MSIP_Label_a417e19e-4d0d-4a9d-b5f2-88105e5fd7ee_SiteId">
    <vt:lpwstr>f83c5a01-407b-45ed-b476-3b539e6db101</vt:lpwstr>
  </property>
  <property fmtid="{D5CDD505-2E9C-101B-9397-08002B2CF9AE}" pid="7" name="MSIP_Label_a417e19e-4d0d-4a9d-b5f2-88105e5fd7ee_ActionId">
    <vt:lpwstr>409080f3-3dda-449b-ad34-810adfd893e6</vt:lpwstr>
  </property>
  <property fmtid="{D5CDD505-2E9C-101B-9397-08002B2CF9AE}" pid="8" name="MSIP_Label_a417e19e-4d0d-4a9d-b5f2-88105e5fd7ee_ContentBits">
    <vt:lpwstr>0</vt:lpwstr>
  </property>
  <property fmtid="{D5CDD505-2E9C-101B-9397-08002B2CF9AE}" pid="9" name="MSIP_Label_a417e19e-4d0d-4a9d-b5f2-88105e5fd7ee_Tag">
    <vt:lpwstr>10, 3, 0, 1</vt:lpwstr>
  </property>
</Properties>
</file>