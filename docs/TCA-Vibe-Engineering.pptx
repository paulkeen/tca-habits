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1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723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is Dries" userId="3a9fb2fe-2381-4be2-9cb8-d23038ce3fa3" providerId="ADAL" clId="{663B3108-CAD0-477A-B706-7E65984F9CCB}"/>
    <pc:docChg chg="undo custSel mod modSld">
      <pc:chgData name="Joris Dries" userId="3a9fb2fe-2381-4be2-9cb8-d23038ce3fa3" providerId="ADAL" clId="{663B3108-CAD0-477A-B706-7E65984F9CCB}" dt="2026-07-26T05:05:43.447" v="72" actId="20577"/>
      <pc:docMkLst>
        <pc:docMk/>
      </pc:docMkLst>
      <pc:sldChg chg="modSp mod">
        <pc:chgData name="Joris Dries" userId="3a9fb2fe-2381-4be2-9cb8-d23038ce3fa3" providerId="ADAL" clId="{663B3108-CAD0-477A-B706-7E65984F9CCB}" dt="2026-07-26T04:55:26.114" v="2" actId="20577"/>
        <pc:sldMkLst>
          <pc:docMk/>
          <pc:sldMk cId="0" sldId="260"/>
        </pc:sldMkLst>
        <pc:spChg chg="mod">
          <ac:chgData name="Joris Dries" userId="3a9fb2fe-2381-4be2-9cb8-d23038ce3fa3" providerId="ADAL" clId="{663B3108-CAD0-477A-B706-7E65984F9CCB}" dt="2026-07-26T04:55:26.114" v="2" actId="20577"/>
          <ac:spMkLst>
            <pc:docMk/>
            <pc:sldMk cId="0" sldId="260"/>
            <ac:spMk id="18" creationId="{00000000-0000-0000-0000-000000000000}"/>
          </ac:spMkLst>
        </pc:spChg>
      </pc:sldChg>
      <pc:sldChg chg="modSp mod">
        <pc:chgData name="Joris Dries" userId="3a9fb2fe-2381-4be2-9cb8-d23038ce3fa3" providerId="ADAL" clId="{663B3108-CAD0-477A-B706-7E65984F9CCB}" dt="2026-07-26T04:55:58.584" v="6" actId="20577"/>
        <pc:sldMkLst>
          <pc:docMk/>
          <pc:sldMk cId="0" sldId="261"/>
        </pc:sldMkLst>
        <pc:spChg chg="mod">
          <ac:chgData name="Joris Dries" userId="3a9fb2fe-2381-4be2-9cb8-d23038ce3fa3" providerId="ADAL" clId="{663B3108-CAD0-477A-B706-7E65984F9CCB}" dt="2026-07-26T04:55:58.584" v="6" actId="20577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Joris Dries" userId="3a9fb2fe-2381-4be2-9cb8-d23038ce3fa3" providerId="ADAL" clId="{663B3108-CAD0-477A-B706-7E65984F9CCB}" dt="2026-07-26T04:56:13.726" v="8" actId="20577"/>
        <pc:sldMkLst>
          <pc:docMk/>
          <pc:sldMk cId="0" sldId="262"/>
        </pc:sldMkLst>
        <pc:spChg chg="mod">
          <ac:chgData name="Joris Dries" userId="3a9fb2fe-2381-4be2-9cb8-d23038ce3fa3" providerId="ADAL" clId="{663B3108-CAD0-477A-B706-7E65984F9CCB}" dt="2026-07-26T04:56:13.726" v="8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Joris Dries" userId="3a9fb2fe-2381-4be2-9cb8-d23038ce3fa3" providerId="ADAL" clId="{663B3108-CAD0-477A-B706-7E65984F9CCB}" dt="2026-07-26T04:56:34.587" v="10" actId="20577"/>
        <pc:sldMkLst>
          <pc:docMk/>
          <pc:sldMk cId="0" sldId="263"/>
        </pc:sldMkLst>
        <pc:spChg chg="mod">
          <ac:chgData name="Joris Dries" userId="3a9fb2fe-2381-4be2-9cb8-d23038ce3fa3" providerId="ADAL" clId="{663B3108-CAD0-477A-B706-7E65984F9CCB}" dt="2026-07-26T04:56:34.587" v="10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Joris Dries" userId="3a9fb2fe-2381-4be2-9cb8-d23038ce3fa3" providerId="ADAL" clId="{663B3108-CAD0-477A-B706-7E65984F9CCB}" dt="2026-07-26T04:57:20.052" v="22" actId="20577"/>
        <pc:sldMkLst>
          <pc:docMk/>
          <pc:sldMk cId="0" sldId="264"/>
        </pc:sldMkLst>
        <pc:spChg chg="mod">
          <ac:chgData name="Joris Dries" userId="3a9fb2fe-2381-4be2-9cb8-d23038ce3fa3" providerId="ADAL" clId="{663B3108-CAD0-477A-B706-7E65984F9CCB}" dt="2026-07-26T04:56:55.630" v="13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Joris Dries" userId="3a9fb2fe-2381-4be2-9cb8-d23038ce3fa3" providerId="ADAL" clId="{663B3108-CAD0-477A-B706-7E65984F9CCB}" dt="2026-07-26T04:57:11.463" v="19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Joris Dries" userId="3a9fb2fe-2381-4be2-9cb8-d23038ce3fa3" providerId="ADAL" clId="{663B3108-CAD0-477A-B706-7E65984F9CCB}" dt="2026-07-26T04:57:20.052" v="22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Joris Dries" userId="3a9fb2fe-2381-4be2-9cb8-d23038ce3fa3" providerId="ADAL" clId="{663B3108-CAD0-477A-B706-7E65984F9CCB}" dt="2026-07-26T04:57:34.173" v="28" actId="20577"/>
        <pc:sldMkLst>
          <pc:docMk/>
          <pc:sldMk cId="0" sldId="265"/>
        </pc:sldMkLst>
        <pc:spChg chg="mod">
          <ac:chgData name="Joris Dries" userId="3a9fb2fe-2381-4be2-9cb8-d23038ce3fa3" providerId="ADAL" clId="{663B3108-CAD0-477A-B706-7E65984F9CCB}" dt="2026-07-26T04:57:28.985" v="25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Joris Dries" userId="3a9fb2fe-2381-4be2-9cb8-d23038ce3fa3" providerId="ADAL" clId="{663B3108-CAD0-477A-B706-7E65984F9CCB}" dt="2026-07-26T04:57:34.173" v="28" actId="20577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Joris Dries" userId="3a9fb2fe-2381-4be2-9cb8-d23038ce3fa3" providerId="ADAL" clId="{663B3108-CAD0-477A-B706-7E65984F9CCB}" dt="2026-07-26T04:59:58.931" v="69" actId="20577"/>
        <pc:sldMkLst>
          <pc:docMk/>
          <pc:sldMk cId="0" sldId="266"/>
        </pc:sldMkLst>
        <pc:spChg chg="mod">
          <ac:chgData name="Joris Dries" userId="3a9fb2fe-2381-4be2-9cb8-d23038ce3fa3" providerId="ADAL" clId="{663B3108-CAD0-477A-B706-7E65984F9CCB}" dt="2026-07-26T04:57:56.033" v="31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Joris Dries" userId="3a9fb2fe-2381-4be2-9cb8-d23038ce3fa3" providerId="ADAL" clId="{663B3108-CAD0-477A-B706-7E65984F9CCB}" dt="2026-07-26T04:59:40.110" v="49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Joris Dries" userId="3a9fb2fe-2381-4be2-9cb8-d23038ce3fa3" providerId="ADAL" clId="{663B3108-CAD0-477A-B706-7E65984F9CCB}" dt="2026-07-26T04:59:45.540" v="54" actId="2057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Joris Dries" userId="3a9fb2fe-2381-4be2-9cb8-d23038ce3fa3" providerId="ADAL" clId="{663B3108-CAD0-477A-B706-7E65984F9CCB}" dt="2026-07-26T04:59:50.150" v="59" actId="2057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Joris Dries" userId="3a9fb2fe-2381-4be2-9cb8-d23038ce3fa3" providerId="ADAL" clId="{663B3108-CAD0-477A-B706-7E65984F9CCB}" dt="2026-07-26T04:59:54.780" v="64" actId="2057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Joris Dries" userId="3a9fb2fe-2381-4be2-9cb8-d23038ce3fa3" providerId="ADAL" clId="{663B3108-CAD0-477A-B706-7E65984F9CCB}" dt="2026-07-26T04:59:58.931" v="69" actId="20577"/>
          <ac:spMkLst>
            <pc:docMk/>
            <pc:sldMk cId="0" sldId="266"/>
            <ac:spMk id="19" creationId="{00000000-0000-0000-0000-000000000000}"/>
          </ac:spMkLst>
        </pc:spChg>
      </pc:sldChg>
      <pc:sldChg chg="modSp mod">
        <pc:chgData name="Joris Dries" userId="3a9fb2fe-2381-4be2-9cb8-d23038ce3fa3" providerId="ADAL" clId="{663B3108-CAD0-477A-B706-7E65984F9CCB}" dt="2026-07-26T04:58:40.237" v="38" actId="20577"/>
        <pc:sldMkLst>
          <pc:docMk/>
          <pc:sldMk cId="0" sldId="267"/>
        </pc:sldMkLst>
        <pc:spChg chg="mod">
          <ac:chgData name="Joris Dries" userId="3a9fb2fe-2381-4be2-9cb8-d23038ce3fa3" providerId="ADAL" clId="{663B3108-CAD0-477A-B706-7E65984F9CCB}" dt="2026-07-26T04:58:33.678" v="35" actId="207"/>
          <ac:spMkLst>
            <pc:docMk/>
            <pc:sldMk cId="0" sldId="267"/>
            <ac:spMk id="5" creationId="{00000000-0000-0000-0000-000000000000}"/>
          </ac:spMkLst>
        </pc:spChg>
        <pc:spChg chg="mod">
          <ac:chgData name="Joris Dries" userId="3a9fb2fe-2381-4be2-9cb8-d23038ce3fa3" providerId="ADAL" clId="{663B3108-CAD0-477A-B706-7E65984F9CCB}" dt="2026-07-26T04:58:17.534" v="32" actId="108"/>
          <ac:spMkLst>
            <pc:docMk/>
            <pc:sldMk cId="0" sldId="267"/>
            <ac:spMk id="6" creationId="{00000000-0000-0000-0000-000000000000}"/>
          </ac:spMkLst>
        </pc:spChg>
        <pc:spChg chg="mod">
          <ac:chgData name="Joris Dries" userId="3a9fb2fe-2381-4be2-9cb8-d23038ce3fa3" providerId="ADAL" clId="{663B3108-CAD0-477A-B706-7E65984F9CCB}" dt="2026-07-26T04:58:40.237" v="38" actId="20577"/>
          <ac:spMkLst>
            <pc:docMk/>
            <pc:sldMk cId="0" sldId="267"/>
            <ac:spMk id="16" creationId="{00000000-0000-0000-0000-000000000000}"/>
          </ac:spMkLst>
        </pc:spChg>
      </pc:sldChg>
      <pc:sldChg chg="modSp mod">
        <pc:chgData name="Joris Dries" userId="3a9fb2fe-2381-4be2-9cb8-d23038ce3fa3" providerId="ADAL" clId="{663B3108-CAD0-477A-B706-7E65984F9CCB}" dt="2026-07-26T05:05:43.447" v="72" actId="20577"/>
        <pc:sldMkLst>
          <pc:docMk/>
          <pc:sldMk cId="0" sldId="268"/>
        </pc:sldMkLst>
        <pc:spChg chg="mod">
          <ac:chgData name="Joris Dries" userId="3a9fb2fe-2381-4be2-9cb8-d23038ce3fa3" providerId="ADAL" clId="{663B3108-CAD0-477A-B706-7E65984F9CCB}" dt="2026-07-26T05:05:43.447" v="72" actId="20577"/>
          <ac:spMkLst>
            <pc:docMk/>
            <pc:sldMk cId="0" sldId="268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260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 (0:30). "This is Vibe Engineering — the second rung. This morning you learned to fly the agent. Now you make it reliable and repeatable."</a:t>
            </a:r>
          </a:p>
          <a:p>
            <a:endParaRPr/>
          </a:p>
          <a:p>
            <a:r>
              <a:t>One line: stop re-explaining yourself. Everything here makes the agent behave the same tomorrow as today, and turns a good prompt into a shared asset.</a:t>
            </a:r>
          </a:p>
          <a:p>
            <a:endParaRPr/>
          </a:p>
          <a:p>
            <a:r>
              <a:t>Two tools throughout — Claude Code and Codex. Same ideas, different keystrokes. Keep it brisk.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LADDER (0:45). Callback to this morning — the marker moved. Rung one DONE: a working tracker. Rung two, now, is about your relationship to the PROCESS, not the app. Rung three, after lunch, is trust.</a:t>
            </a:r>
          </a:p>
          <a:p>
            <a:endParaRPr/>
          </a:p>
          <a:p>
            <a:r>
              <a:t>Each rung removes a crutch. This morning: the keyboard. Now: repetition — you stop re-explaining yourself every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DEFINITION (1:15). Say the one-liner, let it land. NOT a new tool or loop — the same Claude Code / Codex, used with intent.</a:t>
            </a:r>
          </a:p>
          <a:p>
            <a:endParaRPr/>
          </a:p>
          <a:p>
            <a:r>
              <a:t>The pain: this morning every good instruction lived in one chat; new session, forgotten, retyped. Vibe engineering writes it down once. The shift: from re-explaining, to a project that already knows how you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ROADMAP (1:00). The map for the next 15 minutes and the lab. A ladder within the section: contract first (so it remembers), then reusable workflow, context discipline, parallelism, external data. Don't dwell — promise each in turn,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MOVE 1 — CONTRACT (2:30). Highest-leverage move of the section. The contract is the agent's onboarding doc — read at the start of every session, so you stop typing conventions over and over.</a:t>
            </a:r>
          </a:p>
          <a:p>
            <a:endParaRPr/>
          </a:p>
          <a:p>
            <a:r>
              <a:t>What's in the TCA Habits contract: commands, architecture, and the sharp edges — 0=Sun weekday convention, computing streaks fresh, the checklist for adding a field. Exactly what the agent gets wrong unwritten.</a:t>
            </a:r>
          </a:p>
          <a:p>
            <a:endParaRPr/>
          </a:p>
          <a:p>
            <a:r>
              <a:t>Cross-tool: AGENTS.md is the standard both tools read; /init scaffolds it; CLAUDE.md just imports it via @AGENTS.md. Lab proof: ask a question whose answer must come from the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MOVE 2 — WORKFLOW (2:15). This morning your best prompt lived in one chat and died. Now you save it as a custom command.</a:t>
            </a:r>
          </a:p>
          <a:p>
            <a:endParaRPr/>
          </a:p>
          <a:p>
            <a:r>
              <a:t>Five steps: Explore (read before writing), Plan (surface real decisions, don't decide silently), Implement (follow AGENTS.md), Run (prove end to end — if you touched streak logic, a test is mandatory), Summarise (git diff --stat + what you verified).</a:t>
            </a:r>
          </a:p>
          <a:p>
            <a:endParaRPr/>
          </a:p>
          <a:p>
            <a:r>
              <a:t>Lives in .claude/commands/ (Claude) or .codex/prompts/ (Codex) — same body. Invoke: /add-feature "longest streak". Checked into the repo, so the whole cohort runs the same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MOVE 3 — CONTEXT (1:45). The fuel gauge from this morning — now managed on purpose, not reactively.</a:t>
            </a:r>
          </a:p>
          <a:p>
            <a:endParaRPr/>
          </a:p>
          <a:p>
            <a:r>
              <a:t>Three habits: one task per session (fresh, so stale assumptions don't bleed in); compact when it bloats; pin files with @ and glance at /context (/status) before a big task. The point is the discipline, not the commands — repeatability needs a clean, predictable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MOVE 4 — PARALLEL (2:30). A worktree gives a branch its own directory, so two agents work the same repo at once without colliding. This is the mechanism behind the Section 3 agent team — plant it here.</a:t>
            </a:r>
          </a:p>
          <a:p>
            <a:endParaRPr/>
          </a:p>
          <a:p>
            <a:r>
              <a:t>Two uses: same task in two agents, then compare (the second opinion — which would you merge, and why?); or two features in parallel. Discipline: obvious names (feature = branch = folder), small labelled commits, or the merge is a mess. In the lab you build the AI encouragement feature this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MOVE 5 — MCP (1:30). So far everything lived inside the repo. MCP lets the agent reach outside — calendar, database, API — through a standard connector both tools understand.</a:t>
            </a:r>
          </a:p>
          <a:p>
            <a:endParaRPr/>
          </a:p>
          <a:p>
            <a:r>
              <a:t>Concrete lab stretch: connect your calendar, have the agent suggest habit times around your real schedule. The difference between a toy and something that fits your life. Safety: you decide what it can reach; permissions still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JUDGEMENT (2:00 — heart of the section). Here "engineering" earns its name. A weekly summary sounds trivial but hides a real decision: static template or model call?</a:t>
            </a:r>
          </a:p>
          <a:p>
            <a:endParaRPr/>
          </a:p>
          <a:p>
            <a:r>
              <a:t>No universally right answer — depends on cost, offline, warmth, dependencies. The failure mode: the agent picks silently while you look away. Plan Mode (Shift+Tab / /plan) makes it surface the choice so YOU decide. Deciding is the engineering.</a:t>
            </a:r>
          </a:p>
          <a:p>
            <a:endParaRPr/>
          </a:p>
          <a:p>
            <a:r>
              <a:t>Note: TCA Habits ships this with the AI path optional and a template fallback — runs with or without a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STATE (1:00). Show the finish line so the lab has a target. Same tracker, now with a contract, a reusable workflow, a stats view, a weekly summary, an AI encouragement nudge.</a:t>
            </a:r>
          </a:p>
          <a:p>
            <a:endParaRPr/>
          </a:p>
          <a:p>
            <a:r>
              <a:t>Remind them of the net: each section starts from a known-good checkpoint. Fall behind? Reset to checkpoint-2-features and carry on — nobody stranded.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RULES (1:15). Five takeaways, one line each — the section in miniature. If they remember nothing else, these five habits are vibe engineering.</a:t>
            </a:r>
          </a:p>
          <a:p>
            <a:endParaRPr/>
          </a:p>
          <a:p>
            <a:r>
              <a:t>Emphasise the last: making the agent surface decisions (plan first, you arbitrate) is the bridge to this afternoon, where you stop trusting output and start proving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/ BRIDGE (0:45). Land it, then point forward. This morning: fly the loop. This session: make the tool reliable and repeatable. But repeatable isn't trustworthy — you still can't put it in front of users with confidence.</a:t>
            </a:r>
          </a:p>
          <a:p>
            <a:endParaRPr/>
          </a:p>
          <a:p>
            <a:r>
              <a:t>That's Section 3: stop trusting the agent, engineer around it — a test harness, sub-agents that check the work, an agent team that ships a feature under test. "After lunch, we stop hoping." Then break for lunch.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128016" cy="51435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28816" y="822960"/>
            <a:ext cx="2615184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0" b="1">
                <a:solidFill>
                  <a:srgbClr val="6D36C9"/>
                </a:solidFill>
                <a:latin typeface="Arial Blac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8816" y="3611880"/>
            <a:ext cx="2615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DD6FE"/>
                </a:solidFill>
                <a:latin typeface="Calibri"/>
              </a:rPr>
              <a:t>SECTION TWO OF THREE</a:t>
            </a:r>
          </a:p>
        </p:txBody>
      </p:sp>
      <p:pic>
        <p:nvPicPr>
          <p:cNvPr id="6" name="Picture 5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234440"/>
            <a:ext cx="82296" cy="2148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"/>
            <a:ext cx="2148840" cy="4882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132588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SECTION 02  ·  MAKE IT REPEATABLE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56692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2D1155"/>
                </a:solidFill>
                <a:latin typeface="Arial Black"/>
              </a:rPr>
              <a:t>Vibe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724912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E6389"/>
                </a:solidFill>
                <a:latin typeface="Calibri"/>
              </a:rPr>
              <a:t>Stop re-explaining yourself. Make the agent behave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E6389"/>
                </a:solidFill>
                <a:latin typeface="Calibri"/>
              </a:rPr>
              <a:t>same tomorrow as today — and make good prompts reusable.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" y="3703320"/>
            <a:ext cx="45262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3703320"/>
            <a:ext cx="4526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20 MINUTES   ·   ONE CONTRACT   ·   TWO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0916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E6389"/>
                </a:solidFill>
                <a:latin typeface="Calibri"/>
              </a:rPr>
              <a:t>Tech Council of Australia  |  techcouncil.com.au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D1155"/>
                </a:solidFill>
                <a:latin typeface="Arial Black"/>
              </a:rPr>
              <a:t>THE DAY IS A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389"/>
                </a:solidFill>
                <a:latin typeface="Calibri"/>
              </a:rPr>
              <a:t>Rung two. You have a working app — now make building it repeatable.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1481328"/>
            <a:ext cx="8229600" cy="9326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9144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DDD6FE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9344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D1155"/>
                </a:solidFill>
                <a:latin typeface="Arial Black"/>
              </a:rPr>
              <a:t>Vibe 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93392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389"/>
                </a:solidFill>
                <a:latin typeface="Calibri"/>
              </a:rPr>
              <a:t>Use the tool. Make it work, don't care how.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7922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1792224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D1155"/>
                </a:solidFill>
                <a:latin typeface="Calibr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23744"/>
            <a:ext cx="8229600" cy="932688"/>
          </a:xfrm>
          <a:prstGeom prst="roundRect">
            <a:avLst>
              <a:gd name="adj" fmla="val 9000"/>
            </a:avLst>
          </a:prstGeom>
          <a:solidFill>
            <a:srgbClr val="2D1155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523744"/>
            <a:ext cx="9144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59E0B"/>
                </a:solidFill>
                <a:latin typeface="Arial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5176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Arial Black"/>
              </a:rPr>
              <a:t>Vibe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035808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DDD6FE"/>
                </a:solidFill>
                <a:latin typeface="Calibri"/>
              </a:rPr>
              <a:t>Make it repeatable. Stop repeating yourself.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834639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2834639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D1155"/>
                </a:solidFill>
                <a:latin typeface="Calibri"/>
              </a:rPr>
              <a:t>YOU ARE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66160"/>
            <a:ext cx="8229600" cy="9326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566160"/>
            <a:ext cx="9144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DDD6FE"/>
                </a:solidFill>
                <a:latin typeface="Arial Blac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694176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D1155"/>
                </a:solidFill>
                <a:latin typeface="Arial Black"/>
              </a:rPr>
              <a:t>Agentic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78224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389"/>
                </a:solidFill>
                <a:latin typeface="Calibri"/>
              </a:rPr>
              <a:t>Stop trusting the agent. Engineer around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D1155"/>
                </a:solidFill>
                <a:latin typeface="Arial Black"/>
              </a:rPr>
              <a:t>WHAT VIBE ENGINEERING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dirty="0">
                <a:solidFill>
                  <a:srgbClr val="6E6389"/>
                </a:solidFill>
                <a:latin typeface="Calibri"/>
              </a:rPr>
              <a:t>The one-line definition.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8132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D1155"/>
                </a:solidFill>
                <a:latin typeface="Arial Black"/>
              </a:rPr>
              <a:t>Deliberate, repeatable use of the tool — so it's fast and consistent.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dirty="0">
                <a:solidFill>
                  <a:srgbClr val="6E6389"/>
                </a:solidFill>
                <a:latin typeface="Calibri"/>
              </a:rPr>
              <a:t>Same agent, same loop as this morning. What changes is discipline: the project </a:t>
            </a:r>
            <a:r>
              <a:rPr sz="1450" b="1" dirty="0">
                <a:solidFill>
                  <a:srgbClr val="2D1155"/>
                </a:solidFill>
                <a:latin typeface="Calibri"/>
              </a:rPr>
              <a:t>remembers</a:t>
            </a:r>
            <a:r>
              <a:rPr sz="1450" b="0" dirty="0">
                <a:solidFill>
                  <a:srgbClr val="6E6389"/>
                </a:solidFill>
                <a:latin typeface="Calibri"/>
              </a:rPr>
              <a:t> your conventions, and your best prompts become </a:t>
            </a:r>
            <a:r>
              <a:rPr sz="1450" b="1" dirty="0">
                <a:solidFill>
                  <a:srgbClr val="2D1155"/>
                </a:solidFill>
                <a:latin typeface="Calibri"/>
              </a:rPr>
              <a:t>shared assets</a:t>
            </a:r>
            <a:r>
              <a:rPr sz="1450" b="0" dirty="0">
                <a:solidFill>
                  <a:srgbClr val="6E6389"/>
                </a:solidFill>
                <a:latin typeface="Calibri"/>
              </a:rPr>
              <a:t> instead of vanishing into one 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6000"/>
            </a:avLst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34670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B21B6"/>
                </a:solidFill>
                <a:latin typeface="Calibri"/>
              </a:rPr>
              <a:t>THE MINDSET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75887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D1155"/>
                </a:solidFill>
                <a:latin typeface="Calibri"/>
              </a:rPr>
              <a:t>FROM   </a:t>
            </a:r>
            <a:r>
              <a:rPr sz="1500" b="0">
                <a:solidFill>
                  <a:srgbClr val="6E6389"/>
                </a:solidFill>
                <a:latin typeface="Calibri"/>
              </a:rPr>
              <a:t>“Let me re-explain how we do things here… again.”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D1155"/>
                </a:solidFill>
                <a:latin typeface="Calibri"/>
              </a:rPr>
              <a:t>TO   </a:t>
            </a:r>
            <a:r>
              <a:rPr sz="1500" b="0">
                <a:solidFill>
                  <a:srgbClr val="2D1155"/>
                </a:solidFill>
                <a:latin typeface="Calibri"/>
              </a:rPr>
              <a:t>“The contract already tells you how we do things here.”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D1155"/>
                </a:solidFill>
                <a:latin typeface="Arial Black"/>
              </a:rPr>
              <a:t>FIVE MOVES THIS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389"/>
                </a:solidFill>
                <a:latin typeface="Calibri"/>
              </a:rPr>
              <a:t>Each one stops you repeating yourself.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481328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1155"/>
                </a:solidFill>
                <a:latin typeface="Arial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44752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D1155"/>
                </a:solidFill>
                <a:latin typeface="Calibri"/>
              </a:rPr>
              <a:t>A project contract.   </a:t>
            </a:r>
            <a:r>
              <a:rPr sz="1450" b="0">
                <a:solidFill>
                  <a:srgbClr val="6E6389"/>
                </a:solidFill>
                <a:latin typeface="Calibri"/>
              </a:rPr>
              <a:t>The agent remembers your conventions — written once, read every session.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457200" cy="457200"/>
          </a:xfrm>
          <a:prstGeom prst="rect">
            <a:avLst/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66544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D1155"/>
                </a:solidFill>
                <a:latin typeface="Calibri"/>
              </a:rPr>
              <a:t>A reusable workflow.   </a:t>
            </a:r>
            <a:r>
              <a:rPr sz="1450" b="0">
                <a:solidFill>
                  <a:srgbClr val="6E6389"/>
                </a:solidFill>
                <a:latin typeface="Calibri"/>
              </a:rPr>
              <a:t>Your best “add a feature” prompt becomes a command you invoke by name.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24912"/>
            <a:ext cx="457200" cy="457200"/>
          </a:xfrm>
          <a:prstGeom prst="rect">
            <a:avLst/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7249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88336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D1155"/>
                </a:solidFill>
                <a:latin typeface="Calibri"/>
              </a:rPr>
              <a:t>Context on purpose.   </a:t>
            </a:r>
            <a:r>
              <a:rPr sz="1450" b="0">
                <a:solidFill>
                  <a:srgbClr val="6E6389"/>
                </a:solidFill>
                <a:latin typeface="Calibri"/>
              </a:rPr>
              <a:t>/compact, /clear, fresh sessions — keep the agent's desk clean.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46704"/>
            <a:ext cx="457200" cy="457200"/>
          </a:xfrm>
          <a:prstGeom prst="rect">
            <a:avLst/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34670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10128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dirty="0">
                <a:solidFill>
                  <a:srgbClr val="2D1155"/>
                </a:solidFill>
                <a:latin typeface="Calibri"/>
              </a:rPr>
              <a:t>Two agents in parallel.   </a:t>
            </a:r>
            <a:r>
              <a:rPr sz="1450" b="0" dirty="0">
                <a:solidFill>
                  <a:srgbClr val="6E6389"/>
                </a:solidFill>
                <a:latin typeface="Calibri"/>
              </a:rPr>
              <a:t>git </a:t>
            </a:r>
            <a:r>
              <a:rPr sz="1450" b="0" dirty="0" err="1">
                <a:solidFill>
                  <a:srgbClr val="6E6389"/>
                </a:solidFill>
                <a:latin typeface="Calibri"/>
              </a:rPr>
              <a:t>worktrees</a:t>
            </a:r>
            <a:r>
              <a:rPr sz="1450" b="0" dirty="0">
                <a:solidFill>
                  <a:srgbClr val="6E6389"/>
                </a:solidFill>
                <a:latin typeface="Calibri"/>
              </a:rPr>
              <a:t> let two agents work at once; compare and take a second opinion.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68496"/>
            <a:ext cx="457200" cy="457200"/>
          </a:xfrm>
          <a:prstGeom prst="rect">
            <a:avLst/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9684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3192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D1155"/>
                </a:solidFill>
                <a:latin typeface="Calibri"/>
              </a:rPr>
              <a:t>Reach real data.   </a:t>
            </a:r>
            <a:r>
              <a:rPr sz="1450" b="0">
                <a:solidFill>
                  <a:srgbClr val="6E6389"/>
                </a:solidFill>
                <a:latin typeface="Calibri"/>
              </a:rPr>
              <a:t>Connect an external tool over MCP so the agent sees more than your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D1155"/>
                </a:solidFill>
                <a:latin typeface="Arial Black"/>
              </a:rPr>
              <a:t>MOVE 1 · THE PROJECT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dirty="0">
                <a:solidFill>
                  <a:srgbClr val="6E6389"/>
                </a:solidFill>
                <a:latin typeface="Calibri"/>
              </a:rPr>
              <a:t>AGENTS.md / CLAUDE.md — written once, read every session.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1463040"/>
            <a:ext cx="402336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62763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B21B6"/>
                </a:solidFill>
                <a:latin typeface="Calibri"/>
              </a:rPr>
              <a:t>WHAT GOES IN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dirty="0">
                <a:solidFill>
                  <a:srgbClr val="2D1155"/>
                </a:solidFill>
                <a:latin typeface="Calibri"/>
              </a:rPr>
              <a:t>•  Commands: make dev / test /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14016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dirty="0">
                <a:solidFill>
                  <a:srgbClr val="2D1155"/>
                </a:solidFill>
                <a:latin typeface="Calibri"/>
              </a:rPr>
              <a:t>•  Architecture: where things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16352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dirty="0">
                <a:solidFill>
                  <a:srgbClr val="2D1155"/>
                </a:solidFill>
                <a:latin typeface="Calibri"/>
              </a:rPr>
              <a:t>•  Key patterns: weekday encoding,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18688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dirty="0">
                <a:solidFill>
                  <a:srgbClr val="6E6389"/>
                </a:solidFill>
                <a:latin typeface="Calibri"/>
              </a:rPr>
              <a:t>     the fresh-streak rule, idempotency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621024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dirty="0">
                <a:solidFill>
                  <a:srgbClr val="2D1155"/>
                </a:solidFill>
                <a:latin typeface="Calibri"/>
              </a:rPr>
              <a:t>•  The “adding a new field” checklist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463040"/>
            <a:ext cx="4023360" cy="2788920"/>
          </a:xfrm>
          <a:prstGeom prst="roundRect">
            <a:avLst>
              <a:gd name="adj" fmla="val 5000"/>
            </a:avLst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19472" y="162763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WHY IT PAYS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20116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It follows your conventions without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2414016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DDD6FE"/>
                </a:solidFill>
                <a:latin typeface="Calibri"/>
              </a:rPr>
              <a:t>     being told, every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816352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New chats start smart, not blank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218688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•  One shared asset for the whole cohort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3621024"/>
            <a:ext cx="36118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dirty="0">
                <a:solidFill>
                  <a:srgbClr val="FFFFFF"/>
                </a:solidFill>
                <a:latin typeface="Calibri"/>
              </a:rPr>
              <a:t>•  Codex reads it too</a:t>
            </a:r>
            <a:r>
              <a:rPr lang="en-AU" sz="1250" b="0" dirty="0">
                <a:solidFill>
                  <a:srgbClr val="FFFFFF"/>
                </a:solidFill>
                <a:latin typeface="Calibri"/>
              </a:rPr>
              <a:t>,</a:t>
            </a:r>
            <a:r>
              <a:rPr sz="1250" b="0" dirty="0">
                <a:solidFill>
                  <a:srgbClr val="FFFFFF"/>
                </a:solidFill>
                <a:latin typeface="Calibri"/>
              </a:rPr>
              <a:t> same 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70832"/>
            <a:ext cx="8229600" cy="45720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37083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B21B6"/>
                </a:solidFill>
                <a:latin typeface="Courier New"/>
              </a:rPr>
              <a:t>/init</a:t>
            </a:r>
            <a:r>
              <a:rPr sz="1200" b="0">
                <a:solidFill>
                  <a:srgbClr val="6E6389"/>
                </a:solidFill>
                <a:latin typeface="Calibri"/>
              </a:rPr>
              <a:t> scaffolds it in both tools. Keep </a:t>
            </a:r>
            <a:r>
              <a:rPr sz="1200" b="1">
                <a:solidFill>
                  <a:srgbClr val="2D1155"/>
                </a:solidFill>
                <a:latin typeface="Courier New"/>
              </a:rPr>
              <a:t>AGENTS.md</a:t>
            </a:r>
            <a:r>
              <a:rPr sz="1200" b="0">
                <a:solidFill>
                  <a:srgbClr val="6E6389"/>
                </a:solidFill>
                <a:latin typeface="Calibri"/>
              </a:rPr>
              <a:t> the source of truth; Claude reads it via </a:t>
            </a:r>
            <a:r>
              <a:rPr sz="1200" b="1">
                <a:solidFill>
                  <a:srgbClr val="2D1155"/>
                </a:solidFill>
                <a:latin typeface="Courier New"/>
              </a:rPr>
              <a:t>@AGENTS.md</a:t>
            </a:r>
            <a:r>
              <a:rPr sz="1200" b="0">
                <a:solidFill>
                  <a:srgbClr val="6E638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D1155"/>
                </a:solidFill>
                <a:latin typeface="Arial Black"/>
              </a:rPr>
              <a:t>MOVE 2 · CODIFY A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389"/>
                </a:solidFill>
                <a:latin typeface="Calibri"/>
              </a:rPr>
              <a:t>A good prompt, saved once, reused forever.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dirty="0">
                <a:solidFill>
                  <a:srgbClr val="6E6389"/>
                </a:solidFill>
                <a:latin typeface="Calibri"/>
              </a:rPr>
              <a:t>Capture your “add a feature” recipe as a command</a:t>
            </a:r>
            <a:r>
              <a:rPr lang="en-AU" sz="1300" b="0" dirty="0">
                <a:solidFill>
                  <a:srgbClr val="6E6389"/>
                </a:solidFill>
                <a:latin typeface="Calibri"/>
              </a:rPr>
              <a:t>,</a:t>
            </a:r>
            <a:r>
              <a:rPr sz="1300" b="0" dirty="0">
                <a:solidFill>
                  <a:srgbClr val="6E6389"/>
                </a:solidFill>
                <a:latin typeface="Calibri"/>
              </a:rPr>
              <a:t> the same five steps every time: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517904" cy="1051560"/>
          </a:xfrm>
          <a:prstGeom prst="roundRect">
            <a:avLst>
              <a:gd name="adj" fmla="val 9000"/>
            </a:avLst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3852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59E0B"/>
                </a:solidFill>
                <a:latin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 Black"/>
              </a:rPr>
              <a:t>EXPLORE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78608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DDD6FE"/>
                </a:solidFill>
                <a:latin typeface="Calibri"/>
              </a:rPr>
              <a:t>read what it touches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084831"/>
            <a:ext cx="1645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9696" y="1828800"/>
            <a:ext cx="1517904" cy="1051560"/>
          </a:xfrm>
          <a:prstGeom prst="roundRect">
            <a:avLst>
              <a:gd name="adj" fmla="val 9000"/>
            </a:avLst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9696" y="193852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7C3AED"/>
                </a:solidFill>
                <a:latin typeface="Arial Blac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286000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 Black"/>
              </a:rPr>
              <a:t>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578608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DDD6FE"/>
                </a:solidFill>
                <a:latin typeface="Calibri"/>
              </a:rPr>
              <a:t>surface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84831"/>
            <a:ext cx="1645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22191" y="1828800"/>
            <a:ext cx="1517904" cy="1051560"/>
          </a:xfrm>
          <a:prstGeom prst="roundRect">
            <a:avLst>
              <a:gd name="adj" fmla="val 9000"/>
            </a:avLst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22191" y="193852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7C3AED"/>
                </a:solidFill>
                <a:latin typeface="Arial Black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2286000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 Black"/>
              </a:rPr>
              <a:t>IMPLEMENT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1" y="2578608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DDD6FE"/>
                </a:solidFill>
                <a:latin typeface="Calibri"/>
              </a:rPr>
              <a:t>follow the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084831"/>
            <a:ext cx="1645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04688" y="1828800"/>
            <a:ext cx="1517904" cy="1051560"/>
          </a:xfrm>
          <a:prstGeom prst="roundRect">
            <a:avLst>
              <a:gd name="adj" fmla="val 9000"/>
            </a:avLst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04688" y="193852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7C3AED"/>
                </a:solidFill>
                <a:latin typeface="Arial Black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4688" y="2286000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 Black"/>
              </a:rPr>
              <a:t>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2578608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DDD6FE"/>
                </a:solidFill>
                <a:latin typeface="Calibri"/>
              </a:rPr>
              <a:t>prove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2084831"/>
            <a:ext cx="1645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Calibr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87183" y="1828800"/>
            <a:ext cx="1517904" cy="1051560"/>
          </a:xfrm>
          <a:prstGeom prst="roundRect">
            <a:avLst>
              <a:gd name="adj" fmla="val 9000"/>
            </a:avLst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87183" y="1938528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59E0B"/>
                </a:solidFill>
                <a:latin typeface="Arial Black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7183" y="2286000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 Black"/>
              </a:rPr>
              <a:t>SUMMARISE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7183" y="2578608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DDD6FE"/>
                </a:solidFill>
                <a:latin typeface="Calibri"/>
              </a:rPr>
              <a:t>diff at a glance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32004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D1155"/>
                </a:solidFill>
                <a:latin typeface="Calibri"/>
              </a:rPr>
              <a:t>Where the command lives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32004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B21B6"/>
                </a:solidFill>
                <a:latin typeface="Courier New"/>
              </a:rPr>
              <a:t>.claude/commands/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2004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7C3AED"/>
                </a:solidFill>
                <a:latin typeface="Courier New"/>
              </a:rPr>
              <a:t>.codex/prompts/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36576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D1155"/>
                </a:solidFill>
                <a:latin typeface="Calibri"/>
              </a:rPr>
              <a:t>Invoke it by 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36576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dirty="0">
                <a:solidFill>
                  <a:srgbClr val="2D1155"/>
                </a:solidFill>
                <a:latin typeface="Courier New"/>
              </a:rPr>
              <a:t>/add-feature “longest streak”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6E6389"/>
                </a:solidFill>
                <a:latin typeface="Calibri"/>
              </a:rPr>
              <a:t>Same body in both tools. The prompt stops being something you retype — it's a shared, versioned asset.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D1155"/>
                </a:solidFill>
                <a:latin typeface="Arial Black"/>
              </a:rPr>
              <a:t>MOVE 3 · MANAGE CONTEXT ON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dirty="0">
                <a:solidFill>
                  <a:srgbClr val="6E6389"/>
                </a:solidFill>
                <a:latin typeface="Calibri"/>
              </a:rPr>
              <a:t>Context is the fuel</a:t>
            </a:r>
            <a:r>
              <a:rPr lang="en-AU" sz="1300" b="0" dirty="0">
                <a:solidFill>
                  <a:srgbClr val="6E6389"/>
                </a:solidFill>
                <a:latin typeface="Calibri"/>
              </a:rPr>
              <a:t>, </a:t>
            </a:r>
            <a:r>
              <a:rPr sz="1300" b="0" dirty="0">
                <a:solidFill>
                  <a:srgbClr val="6E6389"/>
                </a:solidFill>
                <a:latin typeface="Calibri"/>
              </a:rPr>
              <a:t>spend it deliberately.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1554480"/>
            <a:ext cx="268833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8833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1155"/>
                </a:solidFill>
                <a:latin typeface="Arial Black"/>
              </a:rPr>
              <a:t>One task, one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774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389"/>
                </a:solidFill>
                <a:latin typeface="Calibri"/>
              </a:rPr>
              <a:t>Start fresh for a new job so an old thread's assumptions don't leak 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01568"/>
            <a:ext cx="2286000" cy="384048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3401568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Courier New"/>
              </a:rPr>
              <a:t>/clear  ·  new session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7832" y="1554480"/>
            <a:ext cx="268833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27832" y="1554480"/>
            <a:ext cx="268833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828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1155"/>
                </a:solidFill>
                <a:latin typeface="Arial Black"/>
              </a:rPr>
              <a:t>Trim when it bloats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3774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389"/>
                </a:solidFill>
                <a:latin typeface="Calibri"/>
              </a:rPr>
              <a:t>When answers drift or the gauge fills, compact before you continue.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401568"/>
            <a:ext cx="2286000" cy="384048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3401568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Courier New"/>
              </a:rPr>
              <a:t>/compact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8464" y="1554480"/>
            <a:ext cx="268833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98464" y="1554480"/>
            <a:ext cx="268833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1" y="1828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1155"/>
                </a:solidFill>
                <a:latin typeface="Arial Black"/>
              </a:rPr>
              <a:t>Pin what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1" y="23774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389"/>
                </a:solidFill>
                <a:latin typeface="Calibri"/>
              </a:rPr>
              <a:t>Point the agent at the exact files; check what it's carrying first.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1" y="3401568"/>
            <a:ext cx="2286000" cy="384048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99631" y="3401568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B21B6"/>
                </a:solidFill>
                <a:latin typeface="Courier New"/>
              </a:rPr>
              <a:t>@path  ·  /context (/status)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1155"/>
                </a:solidFill>
                <a:latin typeface="Calibri"/>
              </a:rPr>
              <a:t>A repeatable agent needs a clean desk. </a:t>
            </a:r>
            <a:r>
              <a:rPr sz="1300" b="0">
                <a:solidFill>
                  <a:srgbClr val="6E6389"/>
                </a:solidFill>
                <a:latin typeface="Calibri"/>
              </a:rPr>
              <a:t>Same discipline every task — not a scramble when answers go vague.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D1155"/>
                </a:solidFill>
                <a:latin typeface="Arial Black"/>
              </a:rPr>
              <a:t>MOVE 4 · TWO AGENTS, IN PARALLEL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dirty="0">
                <a:solidFill>
                  <a:srgbClr val="6E6389"/>
                </a:solidFill>
                <a:latin typeface="Calibri"/>
              </a:rPr>
              <a:t>git </a:t>
            </a:r>
            <a:r>
              <a:rPr sz="1300" b="0" dirty="0" err="1">
                <a:solidFill>
                  <a:srgbClr val="6E6389"/>
                </a:solidFill>
                <a:latin typeface="Calibri"/>
              </a:rPr>
              <a:t>worktrees</a:t>
            </a:r>
            <a:r>
              <a:rPr lang="en-AU" sz="1300" b="0" dirty="0">
                <a:solidFill>
                  <a:srgbClr val="6E6389"/>
                </a:solidFill>
                <a:latin typeface="Calibri"/>
              </a:rPr>
              <a:t>, </a:t>
            </a:r>
            <a:r>
              <a:rPr sz="1300" b="0" dirty="0">
                <a:solidFill>
                  <a:srgbClr val="6E6389"/>
                </a:solidFill>
                <a:latin typeface="Calibri"/>
              </a:rPr>
              <a:t>two agents work the same repo without stepping on each other.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1600200"/>
            <a:ext cx="1737360" cy="868680"/>
          </a:xfrm>
          <a:prstGeom prst="roundRect">
            <a:avLst>
              <a:gd name="adj" fmla="val 9000"/>
            </a:avLst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main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DDD6FE"/>
                </a:solidFill>
                <a:latin typeface="Calibri"/>
              </a:rPr>
              <a:t>your source of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7C3AED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15727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D1155"/>
                </a:solidFill>
                <a:latin typeface="Arial Black"/>
              </a:rPr>
              <a:t>Agent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202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E6389"/>
                </a:solidFill>
                <a:latin typeface="Courier New"/>
              </a:rPr>
              <a:t>../feat-a  ·  branch feat-a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19072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5146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0" y="26243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D1155"/>
                </a:solidFill>
                <a:latin typeface="Arial Black"/>
              </a:rPr>
              <a:t>Agent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71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E6389"/>
                </a:solidFill>
                <a:latin typeface="Courier New"/>
              </a:rPr>
              <a:t>../feat-b  ·  branch feat-b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70632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1600200"/>
            <a:ext cx="2057400" cy="1783080"/>
          </a:xfrm>
          <a:prstGeom prst="roundRect">
            <a:avLst>
              <a:gd name="adj" fmla="val 6000"/>
            </a:avLst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178308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148840"/>
            <a:ext cx="17830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Two takes on the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same task.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DD6FE"/>
                </a:solidFill>
                <a:latin typeface="Calibri"/>
              </a:rPr>
              <a:t>Which would you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DDD6FE"/>
                </a:solidFill>
                <a:latin typeface="Calibri"/>
              </a:rPr>
              <a:t>merge, and why?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80"/>
            <a:ext cx="8229600" cy="45720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11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B21B6"/>
                </a:solidFill>
                <a:latin typeface="Courier New"/>
              </a:rPr>
              <a:t>git worktree add ../feat-a feat-a</a:t>
            </a:r>
            <a:r>
              <a:rPr sz="1200" b="0">
                <a:solidFill>
                  <a:srgbClr val="6E6389"/>
                </a:solidFill>
                <a:latin typeface="Calibri"/>
              </a:rPr>
              <a:t>   — a branch in its own folder, its own agent.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D1155"/>
                </a:solidFill>
                <a:latin typeface="Calibri"/>
              </a:rPr>
              <a:t>Name = branch = folder. </a:t>
            </a:r>
            <a:r>
              <a:rPr sz="1250" b="0">
                <a:solidFill>
                  <a:srgbClr val="6E6389"/>
                </a:solidFill>
                <a:latin typeface="Calibri"/>
              </a:rPr>
              <a:t>Small, labelled commits in each keep the parallel work mergeable.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D1155"/>
                </a:solidFill>
                <a:latin typeface="Arial Black"/>
              </a:rPr>
              <a:t>MOVE 5 · REACH REAL DATA WITH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dirty="0">
                <a:solidFill>
                  <a:srgbClr val="6E6389"/>
                </a:solidFill>
                <a:latin typeface="Calibri"/>
              </a:rPr>
              <a:t>Connect the agent to a real tool</a:t>
            </a:r>
            <a:r>
              <a:rPr lang="en-AU" sz="1300" b="0" dirty="0">
                <a:solidFill>
                  <a:srgbClr val="6E6389"/>
                </a:solidFill>
                <a:latin typeface="Calibri"/>
              </a:rPr>
              <a:t>,</a:t>
            </a:r>
            <a:r>
              <a:rPr sz="1300" b="0" dirty="0">
                <a:solidFill>
                  <a:srgbClr val="6E6389"/>
                </a:solidFill>
                <a:latin typeface="Calibri"/>
              </a:rPr>
              <a:t> not just the files in your repo.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dirty="0">
                <a:solidFill>
                  <a:srgbClr val="2D1155"/>
                </a:solidFill>
                <a:latin typeface="Calibri"/>
              </a:rPr>
              <a:t>MCP (Model Context Protocol)</a:t>
            </a:r>
            <a:r>
              <a:rPr sz="1450" b="0" dirty="0">
                <a:solidFill>
                  <a:srgbClr val="6E6389"/>
                </a:solidFill>
                <a:latin typeface="Calibri"/>
              </a:rPr>
              <a:t> is a standard connector that lets the agent talk to external systems — your calendar, a database, an API — through one common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5074920" cy="1737360"/>
          </a:xfrm>
          <a:prstGeom prst="roundRect">
            <a:avLst>
              <a:gd name="adj" fmla="val 5000"/>
            </a:avLst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697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AN EXAMPLE FOR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063240"/>
            <a:ext cx="4572000" cy="696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dirty="0">
                <a:solidFill>
                  <a:srgbClr val="FFFFFF"/>
                </a:solidFill>
                <a:latin typeface="Calibri"/>
              </a:rPr>
              <a:t>Connect your calendar and have the agent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dirty="0">
                <a:solidFill>
                  <a:srgbClr val="FFFFFF"/>
                </a:solidFill>
                <a:latin typeface="Calibri"/>
              </a:rPr>
              <a:t>suggest habit times around your actual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en-AU" sz="1350" b="0" dirty="0">
                <a:solidFill>
                  <a:srgbClr val="DDD6FE"/>
                </a:solidFill>
                <a:latin typeface="Calibri"/>
              </a:rPr>
              <a:t>s</a:t>
            </a:r>
            <a:r>
              <a:rPr sz="1350" b="0" dirty="0" err="1">
                <a:solidFill>
                  <a:srgbClr val="DDD6FE"/>
                </a:solidFill>
                <a:latin typeface="Calibri"/>
              </a:rPr>
              <a:t>chedule</a:t>
            </a:r>
            <a:r>
              <a:rPr lang="en-AU" sz="1350" b="0" dirty="0">
                <a:solidFill>
                  <a:srgbClr val="DDD6FE"/>
                </a:solidFill>
                <a:latin typeface="Calibri"/>
              </a:rPr>
              <a:t>,</a:t>
            </a:r>
            <a:r>
              <a:rPr sz="1350" b="0" dirty="0">
                <a:solidFill>
                  <a:srgbClr val="DDD6FE"/>
                </a:solidFill>
                <a:latin typeface="Calibri"/>
              </a:rPr>
              <a:t> real data, not a guess.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2514600"/>
            <a:ext cx="2971800" cy="17373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587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269748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B21B6"/>
                </a:solidFill>
                <a:latin typeface="Calibri"/>
              </a:rPr>
              <a:t>BOTH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06324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D1155"/>
                </a:solidFill>
                <a:latin typeface="Calibri"/>
              </a:rPr>
              <a:t>Claude Code &amp; Codex both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D1155"/>
                </a:solidFill>
                <a:latin typeface="Calibri"/>
              </a:rPr>
              <a:t>read MCP servers.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E6389"/>
                </a:solidFill>
                <a:latin typeface="Calibri"/>
              </a:rPr>
              <a:t>Codex: </a:t>
            </a:r>
            <a:r>
              <a:rPr sz="1050" b="1">
                <a:solidFill>
                  <a:srgbClr val="7C3AED"/>
                </a:solidFill>
                <a:latin typeface="Courier New"/>
              </a:rPr>
              <a:t>[mcp_servers]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E6389"/>
                </a:solidFill>
                <a:latin typeface="Calibri"/>
              </a:rPr>
              <a:t>You choose what it reaches.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8229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dirty="0">
                <a:solidFill>
                  <a:srgbClr val="6E6389"/>
                </a:solidFill>
                <a:latin typeface="Calibri"/>
              </a:rPr>
              <a:t>Permissions still apply</a:t>
            </a:r>
            <a:r>
              <a:rPr lang="en-AU" sz="1150" b="0" dirty="0">
                <a:solidFill>
                  <a:srgbClr val="6E6389"/>
                </a:solidFill>
                <a:latin typeface="Calibri"/>
              </a:rPr>
              <a:t>,</a:t>
            </a:r>
            <a:r>
              <a:rPr sz="1150" b="0" dirty="0">
                <a:solidFill>
                  <a:srgbClr val="6E6389"/>
                </a:solidFill>
                <a:latin typeface="Calibri"/>
              </a:rPr>
              <a:t> connecting a tool is a decision you make, not a door you leave open.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D1155"/>
                </a:solidFill>
                <a:latin typeface="Arial Black"/>
              </a:rPr>
              <a:t>THE FEATURE THAT NEEDS JUDGEMENT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dirty="0">
                <a:solidFill>
                  <a:srgbClr val="6E6389"/>
                </a:solidFill>
                <a:latin typeface="Calibri"/>
              </a:rPr>
              <a:t>This is where engineering starts</a:t>
            </a:r>
            <a:r>
              <a:rPr lang="en-AU" sz="1300" b="0" dirty="0">
                <a:solidFill>
                  <a:srgbClr val="6E6389"/>
                </a:solidFill>
                <a:latin typeface="Calibri"/>
              </a:rPr>
              <a:t>,</a:t>
            </a:r>
            <a:r>
              <a:rPr sz="1300" b="0" dirty="0">
                <a:solidFill>
                  <a:srgbClr val="6E6389"/>
                </a:solidFill>
                <a:latin typeface="Calibri"/>
              </a:rPr>
              <a:t> the agent surfaces a decision; you make it.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17320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2D1155"/>
                </a:solidFill>
                <a:latin typeface="Calibri"/>
              </a:rPr>
              <a:t>Add a weekly summary</a:t>
            </a:r>
            <a:r>
              <a:rPr lang="en-AU" sz="1300" b="1" dirty="0">
                <a:solidFill>
                  <a:srgbClr val="2D1155"/>
                </a:solidFill>
                <a:latin typeface="Calibri"/>
              </a:rPr>
              <a:t>:</a:t>
            </a:r>
            <a:r>
              <a:rPr sz="1300" b="1" dirty="0">
                <a:solidFill>
                  <a:srgbClr val="2D1155"/>
                </a:solidFill>
                <a:latin typeface="Calibri"/>
              </a:rPr>
              <a:t> a short, human paragraph about your week. Where does the text come from?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40233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02996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D1155"/>
                </a:solidFill>
                <a:latin typeface="Arial Black"/>
              </a:rPr>
              <a:t>Static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32304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Calibri"/>
              </a:rPr>
              <a:t>+  </a:t>
            </a:r>
            <a:r>
              <a:rPr sz="1250" b="0">
                <a:solidFill>
                  <a:srgbClr val="6E6389"/>
                </a:solidFill>
                <a:latin typeface="Calibri"/>
              </a:rPr>
              <a:t>Instant, offline, free, predictable.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72384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dirty="0">
                <a:solidFill>
                  <a:srgbClr val="6E6389"/>
                </a:solidFill>
                <a:latin typeface="Calibri"/>
              </a:rPr>
              <a:t>–  </a:t>
            </a:r>
            <a:r>
              <a:rPr sz="1250" b="0" dirty="0">
                <a:solidFill>
                  <a:srgbClr val="6E6389"/>
                </a:solidFill>
                <a:latin typeface="Calibri"/>
              </a:rPr>
              <a:t>Same phrasing every single week.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74519"/>
            <a:ext cx="40233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9472" y="2029968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D1155"/>
                </a:solidFill>
                <a:latin typeface="Arial Black"/>
              </a:rPr>
              <a:t>Model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2432304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dirty="0">
                <a:solidFill>
                  <a:srgbClr val="7C3AED"/>
                </a:solidFill>
                <a:latin typeface="Calibri"/>
              </a:rPr>
              <a:t>+  </a:t>
            </a:r>
            <a:r>
              <a:rPr sz="1250" b="0" dirty="0">
                <a:solidFill>
                  <a:srgbClr val="6E6389"/>
                </a:solidFill>
                <a:latin typeface="Calibri"/>
              </a:rPr>
              <a:t>Varied, personal, genuinely warm.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3072384"/>
            <a:ext cx="3611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6E6389"/>
                </a:solidFill>
                <a:latin typeface="Calibri"/>
              </a:rPr>
              <a:t>–  </a:t>
            </a:r>
            <a:r>
              <a:rPr sz="1250" b="0">
                <a:solidFill>
                  <a:srgbClr val="6E6389"/>
                </a:solidFill>
                <a:latin typeface="Calibri"/>
              </a:rPr>
              <a:t>A dependency, a key, latency,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4000"/>
            </a:avLst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Plan Mode</a:t>
            </a:r>
            <a:r>
              <a:rPr sz="1250" b="0">
                <a:solidFill>
                  <a:srgbClr val="FFFFFF"/>
                </a:solidFill>
                <a:latin typeface="Calibri"/>
              </a:rPr>
              <a:t> (Claude: Shift+Tab · Codex: /plan) forces the agent to surface this choice — not decide it silently. </a:t>
            </a:r>
            <a:r>
              <a:rPr sz="1250" b="1">
                <a:solidFill>
                  <a:srgbClr val="F59E0B"/>
                </a:solidFill>
                <a:latin typeface="Calibri"/>
              </a:rPr>
              <a:t>You arbitrate.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D1155"/>
                </a:solidFill>
                <a:latin typeface="Arial Black"/>
              </a:rPr>
              <a:t>WHERE YOU'LL BE BY LUNCH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dirty="0">
                <a:solidFill>
                  <a:srgbClr val="6E6389"/>
                </a:solidFill>
                <a:latin typeface="Calibri"/>
              </a:rPr>
              <a:t>Same app</a:t>
            </a:r>
            <a:r>
              <a:rPr lang="en-AU" sz="1300" b="0" dirty="0">
                <a:solidFill>
                  <a:srgbClr val="6E6389"/>
                </a:solidFill>
                <a:latin typeface="Calibri"/>
              </a:rPr>
              <a:t>:</a:t>
            </a:r>
            <a:r>
              <a:rPr sz="1300" b="0" dirty="0">
                <a:solidFill>
                  <a:srgbClr val="6E6389"/>
                </a:solidFill>
                <a:latin typeface="Calibri"/>
              </a:rPr>
              <a:t> checkpoint-1 → checkpoint-2.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02920" y="152704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1155"/>
                </a:solidFill>
                <a:latin typeface="Arial Black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21219"/>
            <a:ext cx="758952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dirty="0">
                <a:solidFill>
                  <a:srgbClr val="2D1155"/>
                </a:solidFill>
                <a:latin typeface="Calibri"/>
              </a:rPr>
              <a:t>A project contract</a:t>
            </a:r>
            <a:r>
              <a:rPr lang="en-AU" sz="1450" b="1" dirty="0">
                <a:solidFill>
                  <a:srgbClr val="2D1155"/>
                </a:solidFill>
                <a:latin typeface="Calibri"/>
              </a:rPr>
              <a:t>:</a:t>
            </a:r>
            <a:r>
              <a:rPr sz="1450" b="1" dirty="0">
                <a:solidFill>
                  <a:srgbClr val="2D1155"/>
                </a:solidFill>
                <a:latin typeface="Calibri"/>
              </a:rPr>
              <a:t>   </a:t>
            </a:r>
            <a:r>
              <a:rPr sz="1450" b="0" dirty="0">
                <a:solidFill>
                  <a:srgbClr val="6E6389"/>
                </a:solidFill>
                <a:latin typeface="Calibri"/>
              </a:rPr>
              <a:t>AGENTS.md / CLAUDE.md the agent reads every session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07568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756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1155"/>
                </a:solidFill>
                <a:latin typeface="Arial Black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169859"/>
            <a:ext cx="758952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dirty="0">
                <a:solidFill>
                  <a:srgbClr val="2D1155"/>
                </a:solidFill>
                <a:latin typeface="Calibri"/>
              </a:rPr>
              <a:t>A reusable workflow</a:t>
            </a:r>
            <a:r>
              <a:rPr lang="en-AU" sz="1450" b="1" dirty="0">
                <a:solidFill>
                  <a:srgbClr val="2D1155"/>
                </a:solidFill>
                <a:latin typeface="Calibri"/>
              </a:rPr>
              <a:t>:</a:t>
            </a:r>
            <a:r>
              <a:rPr sz="1450" b="1" dirty="0">
                <a:solidFill>
                  <a:srgbClr val="2D1155"/>
                </a:solidFill>
                <a:latin typeface="Calibri"/>
              </a:rPr>
              <a:t>   </a:t>
            </a:r>
            <a:r>
              <a:rPr sz="1450" b="0" dirty="0">
                <a:solidFill>
                  <a:srgbClr val="6E6389"/>
                </a:solidFill>
                <a:latin typeface="Calibri"/>
              </a:rPr>
              <a:t>your /add-feature command, checked into the repo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62432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6243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1155"/>
                </a:solidFill>
                <a:latin typeface="Arial Black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18499"/>
            <a:ext cx="758952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dirty="0">
                <a:solidFill>
                  <a:srgbClr val="2D1155"/>
                </a:solidFill>
                <a:latin typeface="Calibri"/>
              </a:rPr>
              <a:t>A stats view</a:t>
            </a:r>
            <a:r>
              <a:rPr lang="en-AU" sz="1450" b="1" dirty="0">
                <a:solidFill>
                  <a:srgbClr val="2D1155"/>
                </a:solidFill>
                <a:latin typeface="Calibri"/>
              </a:rPr>
              <a:t>:</a:t>
            </a:r>
            <a:r>
              <a:rPr sz="1450" b="1" dirty="0">
                <a:solidFill>
                  <a:srgbClr val="2D1155"/>
                </a:solidFill>
                <a:latin typeface="Calibri"/>
              </a:rPr>
              <a:t>   </a:t>
            </a:r>
            <a:r>
              <a:rPr sz="1450" b="0" dirty="0">
                <a:solidFill>
                  <a:srgbClr val="6E6389"/>
                </a:solidFill>
                <a:latin typeface="Calibri"/>
              </a:rPr>
              <a:t>streaks and progress, at a glance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17296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1729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1155"/>
                </a:solidFill>
                <a:latin typeface="Arial Black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67139"/>
            <a:ext cx="758952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dirty="0">
                <a:solidFill>
                  <a:srgbClr val="2D1155"/>
                </a:solidFill>
                <a:latin typeface="Calibri"/>
              </a:rPr>
              <a:t>A weekly summary</a:t>
            </a:r>
            <a:r>
              <a:rPr lang="en-AU" sz="1450" b="1" dirty="0">
                <a:solidFill>
                  <a:srgbClr val="2D1155"/>
                </a:solidFill>
                <a:latin typeface="Calibri"/>
              </a:rPr>
              <a:t>:</a:t>
            </a:r>
            <a:r>
              <a:rPr sz="1450" b="1" dirty="0">
                <a:solidFill>
                  <a:srgbClr val="2D1155"/>
                </a:solidFill>
                <a:latin typeface="Calibri"/>
              </a:rPr>
              <a:t>   </a:t>
            </a:r>
            <a:r>
              <a:rPr sz="1450" b="0" dirty="0">
                <a:solidFill>
                  <a:srgbClr val="6E6389"/>
                </a:solidFill>
                <a:latin typeface="Calibri"/>
              </a:rPr>
              <a:t>the human paragraph — a decision made on purpose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72160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7216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1155"/>
                </a:solidFill>
                <a:latin typeface="Arial Black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815779"/>
            <a:ext cx="758952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dirty="0">
                <a:solidFill>
                  <a:srgbClr val="2D1155"/>
                </a:solidFill>
                <a:latin typeface="Calibri"/>
              </a:rPr>
              <a:t>AI encouragement</a:t>
            </a:r>
            <a:r>
              <a:rPr lang="en-AU" sz="1450" b="1" dirty="0">
                <a:solidFill>
                  <a:srgbClr val="2D1155"/>
                </a:solidFill>
                <a:latin typeface="Calibri"/>
              </a:rPr>
              <a:t>:</a:t>
            </a:r>
            <a:r>
              <a:rPr sz="1450" b="1" dirty="0">
                <a:solidFill>
                  <a:srgbClr val="2D1155"/>
                </a:solidFill>
                <a:latin typeface="Calibri"/>
              </a:rPr>
              <a:t>   </a:t>
            </a:r>
            <a:r>
              <a:rPr sz="1450" b="0" dirty="0">
                <a:solidFill>
                  <a:srgbClr val="6E6389"/>
                </a:solidFill>
                <a:latin typeface="Calibri"/>
              </a:rPr>
              <a:t>a supportive nudge when a streak is at 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15968"/>
            <a:ext cx="8229600" cy="457200"/>
          </a:xfrm>
          <a:prstGeom prst="roundRect">
            <a:avLst>
              <a:gd name="adj" fmla="val 3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31596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D1155"/>
                </a:solidFill>
                <a:latin typeface="Calibri"/>
              </a:rPr>
              <a:t>Fall behind? </a:t>
            </a:r>
            <a:r>
              <a:rPr sz="1200" b="0">
                <a:solidFill>
                  <a:srgbClr val="6E6389"/>
                </a:solidFill>
                <a:latin typeface="Calibri"/>
              </a:rPr>
              <a:t>Reset to </a:t>
            </a:r>
            <a:r>
              <a:rPr sz="1150" b="1">
                <a:solidFill>
                  <a:srgbClr val="5B21B6"/>
                </a:solidFill>
                <a:latin typeface="Courier New"/>
              </a:rPr>
              <a:t>checkpoint-2-features</a:t>
            </a:r>
            <a:r>
              <a:rPr sz="1200" b="0">
                <a:solidFill>
                  <a:srgbClr val="6E6389"/>
                </a:solidFill>
                <a:latin typeface="Calibri"/>
              </a:rPr>
              <a:t> and keep going. Using the net is expected, not failure.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D1155"/>
                </a:solidFill>
                <a:latin typeface="Arial Black"/>
              </a:rPr>
              <a:t>FIVE RULES FOR THIS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96112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E6389"/>
                </a:solidFill>
                <a:latin typeface="Calibri"/>
              </a:rPr>
              <a:t>Carry these into the lab.</a:t>
            </a:r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Arial Black"/>
              </a:defRPr>
            </a:lvl1pPr>
          </a:lstStyle>
          <a:p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2646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D1155"/>
                </a:solidFill>
                <a:latin typeface="Calibri"/>
              </a:rPr>
              <a:t>Write it down once.   </a:t>
            </a:r>
            <a:r>
              <a:rPr sz="1450" b="0">
                <a:solidFill>
                  <a:srgbClr val="6E6389"/>
                </a:solidFill>
                <a:latin typeface="Calibri"/>
              </a:rPr>
              <a:t>The contract stops you repeating yourself.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84832"/>
            <a:ext cx="457200" cy="457200"/>
          </a:xfrm>
          <a:prstGeom prst="rect">
            <a:avLst/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848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48256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D1155"/>
                </a:solidFill>
                <a:latin typeface="Calibri"/>
              </a:rPr>
              <a:t>Save your best prompts.   </a:t>
            </a:r>
            <a:r>
              <a:rPr sz="1450" b="0">
                <a:solidFill>
                  <a:srgbClr val="6E6389"/>
                </a:solidFill>
                <a:latin typeface="Calibri"/>
              </a:rPr>
              <a:t>A good prompt becomes a command, not a memory.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06624"/>
            <a:ext cx="457200" cy="457200"/>
          </a:xfrm>
          <a:prstGeom prst="rect">
            <a:avLst/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7066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70048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D1155"/>
                </a:solidFill>
                <a:latin typeface="Calibri"/>
              </a:rPr>
              <a:t>Keep a clean desk.   </a:t>
            </a:r>
            <a:r>
              <a:rPr sz="1450" b="0">
                <a:solidFill>
                  <a:srgbClr val="6E6389"/>
                </a:solidFill>
                <a:latin typeface="Calibri"/>
              </a:rPr>
              <a:t>Manage context on purpose, every task.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457200" cy="457200"/>
          </a:xfrm>
          <a:prstGeom prst="rect">
            <a:avLst/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3284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08871"/>
            <a:ext cx="7498079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dirty="0">
                <a:solidFill>
                  <a:srgbClr val="2D1155"/>
                </a:solidFill>
                <a:latin typeface="Calibri"/>
              </a:rPr>
              <a:t>Get a second opinion.   </a:t>
            </a:r>
            <a:r>
              <a:rPr sz="1450" b="0" dirty="0">
                <a:solidFill>
                  <a:srgbClr val="6E6389"/>
                </a:solidFill>
                <a:latin typeface="Calibri"/>
              </a:rPr>
              <a:t>Two agents beat one</a:t>
            </a:r>
            <a:r>
              <a:rPr lang="en-AU" sz="1450" b="0" dirty="0">
                <a:solidFill>
                  <a:srgbClr val="6E6389"/>
                </a:solidFill>
                <a:latin typeface="Calibri"/>
              </a:rPr>
              <a:t>,</a:t>
            </a:r>
            <a:r>
              <a:rPr sz="1450" b="0" dirty="0">
                <a:solidFill>
                  <a:srgbClr val="6E6389"/>
                </a:solidFill>
                <a:latin typeface="Calibri"/>
              </a:rPr>
              <a:t> compare before you merge.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50208"/>
            <a:ext cx="457200" cy="457200"/>
          </a:xfrm>
          <a:prstGeom prst="rect">
            <a:avLst/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9502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13632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D1155"/>
                </a:solidFill>
                <a:latin typeface="Calibri"/>
              </a:rPr>
              <a:t>Make the agent surface decisions.   </a:t>
            </a:r>
            <a:r>
              <a:rPr sz="1450" b="0">
                <a:solidFill>
                  <a:srgbClr val="6E6389"/>
                </a:solidFill>
                <a:latin typeface="Calibri"/>
              </a:rPr>
              <a:t>Plan first. You arbitrate; it doesn't decide silently.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526280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2344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BRIDGE TO SECTION 3 · AFTER LUNCH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79552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Arial Black"/>
              </a:rPr>
              <a:t>Would you trust it in front of users?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88920"/>
            <a:ext cx="7680960" cy="52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DDD6FE"/>
                </a:solidFill>
                <a:latin typeface="Calibri"/>
              </a:rPr>
              <a:t>The app has features now</a:t>
            </a:r>
            <a:r>
              <a:rPr lang="en-AU" sz="1500" b="0" dirty="0">
                <a:solidFill>
                  <a:srgbClr val="DDD6FE"/>
                </a:solidFill>
                <a:latin typeface="Calibri"/>
              </a:rPr>
              <a:t>,</a:t>
            </a:r>
            <a:r>
              <a:rPr sz="1500" b="0" dirty="0">
                <a:solidFill>
                  <a:srgbClr val="DDD6FE"/>
                </a:solidFill>
                <a:latin typeface="Calibri"/>
              </a:rPr>
              <a:t> but nobody has proven it's right. This afternoon we stop hoping: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dirty="0">
                <a:solidFill>
                  <a:srgbClr val="DDD6FE"/>
                </a:solidFill>
                <a:latin typeface="Calibri"/>
              </a:rPr>
              <a:t>we build the harness, and hand the building to a team of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9476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379476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NEXT  ·  AGENTIC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C4B5E8"/>
                </a:solidFill>
                <a:latin typeface="Calibri"/>
              </a:rPr>
              <a:t>Tech Council of Australia  |  techcouncil.com.au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2366</Words>
  <Application>Microsoft Office PowerPoint</Application>
  <PresentationFormat>On-screen Show (16:9)</PresentationFormat>
  <Paragraphs>212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Resonate Legal</cp:lastModifiedBy>
  <cp:revision>1</cp:revision>
  <dcterms:created xsi:type="dcterms:W3CDTF">2013-01-27T09:14:16Z</dcterms:created>
  <dcterms:modified xsi:type="dcterms:W3CDTF">2026-07-26T05:05:47Z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17e19e-4d0d-4a9d-b5f2-88105e5fd7ee_Enabled">
    <vt:lpwstr>true</vt:lpwstr>
  </property>
  <property fmtid="{D5CDD505-2E9C-101B-9397-08002B2CF9AE}" pid="3" name="MSIP_Label_a417e19e-4d0d-4a9d-b5f2-88105e5fd7ee_SetDate">
    <vt:lpwstr>2026-07-26T04:55:36Z</vt:lpwstr>
  </property>
  <property fmtid="{D5CDD505-2E9C-101B-9397-08002B2CF9AE}" pid="4" name="MSIP_Label_a417e19e-4d0d-4a9d-b5f2-88105e5fd7ee_Method">
    <vt:lpwstr>Standard</vt:lpwstr>
  </property>
  <property fmtid="{D5CDD505-2E9C-101B-9397-08002B2CF9AE}" pid="5" name="MSIP_Label_a417e19e-4d0d-4a9d-b5f2-88105e5fd7ee_Name">
    <vt:lpwstr>Protected</vt:lpwstr>
  </property>
  <property fmtid="{D5CDD505-2E9C-101B-9397-08002B2CF9AE}" pid="6" name="MSIP_Label_a417e19e-4d0d-4a9d-b5f2-88105e5fd7ee_SiteId">
    <vt:lpwstr>f83c5a01-407b-45ed-b476-3b539e6db101</vt:lpwstr>
  </property>
  <property fmtid="{D5CDD505-2E9C-101B-9397-08002B2CF9AE}" pid="7" name="MSIP_Label_a417e19e-4d0d-4a9d-b5f2-88105e5fd7ee_ActionId">
    <vt:lpwstr>409080f3-3dda-449b-ad34-810adfd893e6</vt:lpwstr>
  </property>
  <property fmtid="{D5CDD505-2E9C-101B-9397-08002B2CF9AE}" pid="8" name="MSIP_Label_a417e19e-4d0d-4a9d-b5f2-88105e5fd7ee_ContentBits">
    <vt:lpwstr>0</vt:lpwstr>
  </property>
  <property fmtid="{D5CDD505-2E9C-101B-9397-08002B2CF9AE}" pid="9" name="MSIP_Label_a417e19e-4d0d-4a9d-b5f2-88105e5fd7ee_Tag">
    <vt:lpwstr>10, 3, 0, 1</vt:lpwstr>
  </property>
</Properties>
</file>