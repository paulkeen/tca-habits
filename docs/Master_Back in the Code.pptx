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328" r:id="rId26"/>
    <p:sldId id="281" r:id="rId27"/>
    <p:sldId id="282" r:id="rId28"/>
    <p:sldId id="283" r:id="rId29"/>
    <p:sldId id="330" r:id="rId30"/>
    <p:sldId id="329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331" r:id="rId41"/>
    <p:sldId id="332" r:id="rId42"/>
    <p:sldId id="293" r:id="rId43"/>
    <p:sldId id="294" r:id="rId44"/>
    <p:sldId id="295" r:id="rId45"/>
    <p:sldId id="327" r:id="rId46"/>
    <p:sldId id="339" r:id="rId47"/>
    <p:sldId id="334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35" r:id="rId66"/>
    <p:sldId id="336" r:id="rId67"/>
    <p:sldId id="340" r:id="rId68"/>
    <p:sldId id="313" r:id="rId69"/>
    <p:sldId id="341" r:id="rId70"/>
    <p:sldId id="316" r:id="rId71"/>
    <p:sldId id="317" r:id="rId72"/>
    <p:sldId id="337" r:id="rId73"/>
    <p:sldId id="319" r:id="rId74"/>
    <p:sldId id="320" r:id="rId75"/>
    <p:sldId id="338" r:id="rId76"/>
    <p:sldId id="333" r:id="rId77"/>
    <p:sldId id="321" r:id="rId78"/>
    <p:sldId id="322" r:id="rId79"/>
    <p:sldId id="323" r:id="rId80"/>
    <p:sldId id="324" r:id="rId81"/>
    <p:sldId id="325" r:id="rId82"/>
    <p:sldId id="326" r:id="rId83"/>
  </p:sldIdLst>
  <p:sldSz cx="18288000" cy="10287000"/>
  <p:notesSz cx="6858000" cy="9144000"/>
  <p:embeddedFontLst>
    <p:embeddedFont>
      <p:font typeface="Arial Bold" panose="020B0704020202020204" pitchFamily="34" charset="0"/>
      <p:regular r:id="rId85"/>
      <p:bold r:id="rId86"/>
    </p:embeddedFont>
    <p:embeddedFont>
      <p:font typeface="Calibri (MS)" panose="020F0502020204030204" pitchFamily="34" charset="0"/>
      <p:regular r:id="rId87"/>
    </p:embeddedFont>
    <p:embeddedFont>
      <p:font typeface="Calibri (MS) Bold" panose="020F0702030404030204" pitchFamily="34" charset="0"/>
      <p:regular r:id="rId88"/>
      <p:bold r:id="rId89"/>
    </p:embeddedFont>
    <p:embeddedFont>
      <p:font typeface="Calibri (MS) Bold Italics" panose="020F07020304040A0204" pitchFamily="34" charset="0"/>
      <p:regular r:id="rId90"/>
      <p:bold r:id="rId91"/>
      <p:italic r:id="rId92"/>
      <p:boldItalic r:id="rId93"/>
    </p:embeddedFont>
    <p:embeddedFont>
      <p:font typeface="Calibri (MS) Italics" panose="020F05020202040A0204" pitchFamily="34" charset="0"/>
      <p:regular r:id="rId94"/>
      <p:italic r:id="rId95"/>
    </p:embeddedFont>
    <p:embeddedFont>
      <p:font typeface="Courier New Bold" panose="02070309020205020404" pitchFamily="49" charset="0"/>
      <p:bold r:id="rId96"/>
      <p:italic r:id="rId97"/>
      <p:boldItalic r:id="rId98"/>
    </p:embeddedFont>
    <p:embeddedFont>
      <p:font typeface="Glacial Indifference Bold" pitchFamily="2" charset="0"/>
      <p:regular r:id="rId99"/>
      <p:bold r:id="rId10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 autoAdjust="0"/>
    <p:restoredTop sz="83884" autoAdjust="0"/>
  </p:normalViewPr>
  <p:slideViewPr>
    <p:cSldViewPr>
      <p:cViewPr varScale="1">
        <p:scale>
          <a:sx n="110" d="100"/>
          <a:sy n="110" d="100"/>
        </p:scale>
        <p:origin x="88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openxmlformats.org/officeDocument/2006/relationships/font" Target="fonts/font5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font" Target="fonts/font6.fntdata"/><Relationship Id="rId95" Type="http://schemas.openxmlformats.org/officeDocument/2006/relationships/font" Target="fonts/font11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font" Target="fonts/font1.fntdata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font" Target="fonts/font4.fntdata"/><Relationship Id="rId91" Type="http://schemas.openxmlformats.org/officeDocument/2006/relationships/font" Target="fonts/font7.fntdata"/><Relationship Id="rId96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2.fntdata"/><Relationship Id="rId94" Type="http://schemas.openxmlformats.org/officeDocument/2006/relationships/font" Target="fonts/font10.fntdata"/><Relationship Id="rId99" Type="http://schemas.openxmlformats.org/officeDocument/2006/relationships/font" Target="fonts/font15.fntdata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13.fntdata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8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9.fntdata"/><Relationship Id="rId98" Type="http://schemas.openxmlformats.org/officeDocument/2006/relationships/font" Target="fonts/font14.fntdata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9264F-4DF6-2E40-B9FF-FB19C3894662}" type="datetimeFigureOut">
              <a:rPr lang="en-AU" smtClean="0"/>
              <a:t>17/10/2026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86565-23E4-7A40-B92C-B76925F2B22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1928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Welcome. Today we build one app three times over, with agents doing the typing and you in charge.</a:t>
            </a:r>
          </a:p>
          <a:p>
            <a:r>
              <a:t>• Nobody needs to be an AI expert to get value from today. Curiosity is plenty.</a:t>
            </a:r>
          </a:p>
          <a:p>
            <a:r>
              <a:t>• Housekeeping first: wifi, facilities, and the cohort WhatsApp on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“I would like to acknowledge the Gadigal of the Eora Nation, the Traditional Custodians of this land, and pay my respects to Elders past and present.”</a:t>
            </a:r>
          </a:p>
          <a:p>
            <a:r>
              <a:t>• Adjust for the venue's Traditional Custodians.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day is built for people coming back from carers', parental or long service leave.</a:t>
            </a:r>
          </a:p>
          <a:p>
            <a:r>
              <a:t>• The tools moved a long way while you were away. That's why we're here, not a judgement on anyone.</a:t>
            </a:r>
          </a:p>
          <a:p>
            <a:r>
              <a:t>• Join the cohort WhatsApp now: setup help, links and lab answers live there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Quick round: your name, what you're coming back to, and the one habit you'd love to stick to.</a:t>
            </a:r>
          </a:p>
          <a:p>
            <a:r>
              <a:t>• Hang onto that habit. You'll seed the app with it in Section 1.</a:t>
            </a:r>
          </a:p>
          <a:p>
            <a:r>
              <a:t>• Joris takes Section 2, I take Section 3. Grab any of us for help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Treat the times as a guide. Lab time matters more than the clock.</a:t>
            </a:r>
          </a:p>
          <a:p>
            <a:r>
              <a:t>• First job at 09:30: everyone runs claude, logs in, and picks a model with /model.</a:t>
            </a:r>
          </a:p>
          <a:p>
            <a:r>
              <a:t>• Lunch after Section 1, a short break after Section 2.</a:t>
            </a:r>
          </a:p>
          <a:p>
            <a:r>
              <a:t>• Showcase at 15:45: be ready to show one thing your agents built, and how you know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app, three passes. Each pass takes away a different crutch.</a:t>
            </a:r>
          </a:p>
          <a:p>
            <a:r>
              <a:t>• Rusty? You'll leave comfortable with the tools. Confident? You'll leave building the harness instead of typing.</a:t>
            </a:r>
          </a:p>
          <a:p>
            <a:r>
              <a:t>• Ask the room: who has used Claude Code or Codex in the last month? Calibrates the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Three rungs, not three separate workshops. Each one stands on the last.</a:t>
            </a:r>
          </a:p>
          <a:p>
            <a:r>
              <a:t>• Make it work, then make it repeatable, then make it trustworthy.</a:t>
            </a:r>
          </a:p>
          <a:p>
            <a:r>
              <a:t>• Transition: here's the app we climb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TCA Habits: a habit tracker with a real FastAPI backend and a React frontend.</a:t>
            </a:r>
          </a:p>
          <a:p>
            <a:r>
              <a:t>• Small enough to finish in a day, with real edge cases: streak maths, weekdays, time zones.</a:t>
            </a:r>
          </a:p>
          <a:p>
            <a:r>
              <a:t>• Those edge cases are deliberate. This afternoon's tests need something genuine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Two safety nets: small commits are yours, checkpoints are the room's.</a:t>
            </a:r>
          </a:p>
          <a:p>
            <a:r>
              <a:t>• Behind at the end of a section? Switch to the checkpoint and keep going. That's the design.</a:t>
            </a:r>
          </a:p>
          <a:p>
            <a:r>
              <a:t>• Demo: git tag in the reference repo lists the checkpoints.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Everyone starts on a different rung. Core path for all, stretch goals if you're flying.</a:t>
            </a:r>
          </a:p>
          <a:p>
            <a:r>
              <a:t>• Fair warning: the most experienced people often find today hardest. More habits to unlearn.</a:t>
            </a:r>
          </a:p>
          <a:p>
            <a:r>
              <a:t>• If you finish a block early, every block has stretch goals in the handbook.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Earlier career: the loop and a working mental model.</a:t>
            </a:r>
          </a:p>
          <a:p>
            <a:r>
              <a:t>• Mid-level: the discipline that makes it reliable.</a:t>
            </a:r>
          </a:p>
          <a:p>
            <a:r>
              <a:t>• Senior: how your team should work with agents.</a:t>
            </a:r>
          </a:p>
          <a:p>
            <a:r>
              <a:t>• Pick the column that's you. That's your target for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1: fly the agent instead of typing the code.</a:t>
            </a:r>
          </a:p>
          <a:p>
            <a:r>
              <a:t>• Everything works in Claude Code or Codex. Use whichever you set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What you type is a small part of what the model reads.</a:t>
            </a:r>
          </a:p>
          <a:p>
            <a:r>
              <a:t>• The tool adds a system prompt you never see: its rules, its tools, its instructions.</a:t>
            </a:r>
          </a:p>
          <a:p>
            <a:r>
              <a:t>• The model reads it all as one stream, top to bottom. So be clear, and keep the stream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context window is a stack, rebuilt on every call: rules, memory files, documents, tool results, history, your prompt.</a:t>
            </a:r>
          </a:p>
          <a:p>
            <a:r>
              <a:t>• Every layer costs space. Fill the window and quality drops.</a:t>
            </a:r>
          </a:p>
          <a:p>
            <a:r>
              <a:t>• The real job is choosing what goes in, in what order, and what stays out.</a:t>
            </a:r>
          </a:p>
          <a:p>
            <a:r>
              <a:t>• Demo: /context in Claude Code shows the stack and how full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Rung one. By lunch you'll have a working app you didn't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You describe the outcome. The agent writes, runs and fixes. You watch and steer.</a:t>
            </a:r>
          </a:p>
          <a:p>
            <a:r>
              <a:t>• The shift: from “how do I write this?” to “what should be true when it's done?”</a:t>
            </a:r>
          </a:p>
          <a:p>
            <a:r>
              <a:t>• Ask the room: what should be true about a habit tracker after an hour?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Prompt, generate, run, observe, react. Then round again.</a:t>
            </a:r>
          </a:p>
          <a:p>
            <a:r>
              <a:t>• Your jobs are 1, 4 and 5: say what you want, look at reality, steer.</a:t>
            </a:r>
          </a:p>
          <a:p>
            <a:r>
              <a:t>• Small turns spin faster, and fast loops beat clever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Four parts: a context window, tools, a loop, and permissions.</a:t>
            </a:r>
          </a:p>
          <a:p>
            <a:r>
              <a:t>• It isn't autocomplete. It acts, reads the result, and corrects itself.</a:t>
            </a:r>
          </a:p>
          <a:p>
            <a:r>
              <a:t>• Permissions are yours to set. More on that in a few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Resist the keyboard. The urge to just fix it yourself is the habit we're retraining.</a:t>
            </a:r>
          </a:p>
          <a:p>
            <a:r>
              <a:t>• When your hands drift toward the code, type a better prompt instead.</a:t>
            </a:r>
          </a:p>
          <a:p>
            <a:r>
              <a:t>• Rusty folk have the advantage here. Confident folk, this one's aimed at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Left: a step list is typing code slowly, and you still have to be right.</a:t>
            </a:r>
          </a:p>
          <a:p>
            <a:r>
              <a:t>• Right: the outcome plus the rules. The agent picks how.</a:t>
            </a:r>
          </a:p>
          <a:p>
            <a:r>
              <a:t>• Ask the room: which rule does the right-hand prompt state that the left one never does?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Plans used to be the weak spot. Now they're tidy and confident.</a:t>
            </a:r>
          </a:p>
          <a:p>
            <a:r>
              <a:t>• The risk moved: a lovely plan for slightly the wrong problem.</a:t>
            </a:r>
          </a:p>
          <a:p>
            <a:r>
              <a:t>• Read for intent and scope. Right goal? Right size? What did it assume that you never said?</a:t>
            </a:r>
          </a:p>
          <a:p>
            <a:r>
              <a:t>• Shift+Tab in Claude Code, /plan in Codex, to make it plan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“Yes to all” is fine right up until one command runs in a repo that matters.</a:t>
            </a:r>
          </a:p>
          <a:p>
            <a:r>
              <a:t>• Ask every time while the task is new. Auto-accept only somewhere you could afford to lose.</a:t>
            </a:r>
          </a:p>
          <a:p>
            <a:r>
              <a:t>• Shift+Tab cycles the mode in Claude Code. /permissions in Codex.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Five moves cover every context problem you'll hit today: see, load, trim, reset, choose.</a:t>
            </a:r>
          </a:p>
          <a:p>
            <a:r>
              <a:t>• The commands differ a little between tools. The ideas don't.</a:t>
            </a:r>
          </a:p>
          <a:p>
            <a:r>
              <a:t>• Demo: /context, then /model, so everyone has seen both before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Too little and it guesses. Too much and it forgets, and old threads leak into new answers.</a:t>
            </a:r>
          </a:p>
          <a:p>
            <a:r>
              <a:t>• Just right: one task, and only the files that task touches.</a:t>
            </a:r>
          </a:p>
          <a:p>
            <a:r>
              <a:t>• Answers going vague is your signal to trim or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default is now the top model, even on Pro. Great for hard problems, pricey for routine work.</a:t>
            </a:r>
          </a:p>
          <a:p>
            <a:r>
              <a:t>• Start on sonnet with medium effort. Claude Code remembers the choice.</a:t>
            </a:r>
          </a:p>
          <a:p>
            <a:r>
              <a:t>• opusplan gives you the big model for planning and sonnet for the building.</a:t>
            </a:r>
          </a:p>
          <a:p>
            <a:r>
              <a:t>• /clear saves money as well as quality: the whole context is resent every turn.</a:t>
            </a:r>
          </a:p>
          <a:p>
            <a:r>
              <a:t>• Check /usage at each break so nobody runs dry mid-afternoon.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It will break. That's normal, not failure.</a:t>
            </a:r>
          </a:p>
          <a:p>
            <a:r>
              <a:t>• Don't open the file. Paste the exact error and describe what's on screen.</a:t>
            </a:r>
          </a:p>
          <a:p>
            <a:r>
              <a:t>• Say what you saw, not what to change. The agent already has the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After each working step, ask the agent to commit with a sensible message.</a:t>
            </a:r>
          </a:p>
          <a:p>
            <a:r>
              <a:t>• Small commits are your undo. Checkpoints are the room's.</a:t>
            </a:r>
          </a:p>
          <a:p>
            <a:r>
              <a:t>• Demo: “Commit this with a sensible message.” Show the commit it 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Planning, context and agents all moved a long way, possibly while you were on leave.</a:t>
            </a:r>
          </a:p>
          <a:p>
            <a:r>
              <a:t>• The models got better at mechanics. The human skill moved up: intent, context, verification.</a:t>
            </a:r>
          </a:p>
          <a:p>
            <a:r>
              <a:t>• You're not behind. The typing got automated; the judgement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Use the agent to catch yourself up, not only the code.</a:t>
            </a:r>
          </a:p>
          <a:p>
            <a:r>
              <a:t>• Three habits: explain the diff, catch me up on what changed, quiz me.</a:t>
            </a:r>
          </a:p>
          <a:p>
            <a:r>
              <a:t>• If you can't explain the code, you can't judge the next diff. That's the real reason to do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Nobody comes back to an empty folder. This is a first-morning routine for the real job.</a:t>
            </a:r>
          </a:p>
          <a:p>
            <a:r>
              <a:t>• Map, decisions, recent history, the contract, what worries it. Five prompts, ten minutes.</a:t>
            </a:r>
          </a:p>
          <a:p>
            <a:r>
              <a:t>• Stretch in the lab: run all five against the reference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Five rules for the lab. They're in the handbook too.</a:t>
            </a:r>
          </a:p>
          <a:p>
            <a:r>
              <a:t>• If you only keep one this morning: resist the keyboard.</a:t>
            </a:r>
          </a:p>
          <a:p>
            <a:r>
              <a:t>• Ask the room: which of these will be hardest for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Lab time: handbook Section 1, Blocks A to D.</a:t>
            </a:r>
          </a:p>
          <a:p>
            <a:r>
              <a:t>• Plan first, read the plan like a junior's design doc, then approve.</a:t>
            </a:r>
          </a:p>
          <a:p>
            <a:r>
              <a:t>• Shout early if setup bites. Helpers are walking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Commit before you go.</a:t>
            </a:r>
          </a:p>
          <a:p>
            <a:r>
              <a:t>• Behind? After lunch, switch to checkpoint-1-working and start Section 2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2: make it repeatable. Same agent, more discipline.</a:t>
            </a:r>
          </a:p>
          <a:p>
            <a:r>
              <a:t>• Presenter: Joris Dries, CTO at Resonate 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Rung two. We have a working app. Now we make building it repeatable.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Deliberate, repeatable use of the tool, so it's fast and consistent.</a:t>
            </a:r>
          </a:p>
          <a:p>
            <a:r>
              <a:t>• The project remembers our conventions, and good prompts become shared assets.</a:t>
            </a:r>
          </a:p>
          <a:p>
            <a:r>
              <a:t>• The shift: stop re-explaining. Let the contract do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Contract, skills, context, a second opinion, MCP.</a:t>
            </a:r>
          </a:p>
          <a:p>
            <a:r>
              <a:t>• Each one removes something we'd otherwise repeat every session.</a:t>
            </a:r>
          </a:p>
          <a:p>
            <a:r>
              <a:t>• Most of these are a lab block, so we practise them, not just hear about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AGENTS.md is read at the start of every session, by both tools.</a:t>
            </a:r>
          </a:p>
          <a:p>
            <a:r>
              <a:t>• Commands, architecture, key patterns, and the one rule you must never break.</a:t>
            </a:r>
          </a:p>
          <a:p>
            <a:r>
              <a:t>• /init writes a first draft. Keep it short: a contract nobody reads is decoration.</a:t>
            </a:r>
          </a:p>
          <a:p>
            <a:r>
              <a:t>• Demo: fresh session, ask “what's the rule about the streak?” without explaining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skill is a folder with a SKILL.md: a name, a description, then the steps.</a:t>
            </a:r>
          </a:p>
          <a:p>
            <a:r>
              <a:t>• Same file format in Claude Code and Codex. Call it with /add-feature or $add-feature.</a:t>
            </a:r>
          </a:p>
          <a:p>
            <a:r>
              <a:t>• Old commands still work, but skills are the recommended home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Only the name and description sit in context all the time.</a:t>
            </a:r>
          </a:p>
          <a:p>
            <a:r>
              <a:t>• The body loads when it's used. Extra files load only if the body points at them.</a:t>
            </a:r>
          </a:p>
          <a:p>
            <a:r>
              <a:t>• So the description is the trigger: say when it should fire, and when it shouldn't.</a:t>
            </a:r>
          </a:p>
          <a:p>
            <a:r>
              <a:t>• Lab check: ask for a feature without naming the skill, and see whether it picks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Five ways to hand the agent something, sorted by when they load.</a:t>
            </a:r>
          </a:p>
          <a:p>
            <a:r>
              <a:t>• Always true: the contract. Sometimes: a skill. Every time, no exceptions: a hook.</a:t>
            </a:r>
          </a:p>
          <a:p>
            <a:r>
              <a:t>• Sub-agents and hooks arrive this afternoon. This table comes back as a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task, one session. Compact when it bloats. Point it at the exact files.</a:t>
            </a:r>
          </a:p>
          <a:p>
            <a:r>
              <a:t>• Same discipline every task, not a scramble once the answers go vague.</a:t>
            </a:r>
          </a:p>
          <a:p>
            <a:r>
              <a:t>• Demo: /context before and after /compact, so the room sees the window shrink.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reviewer that didn't write the code sees what the author can't.</a:t>
            </a:r>
          </a:p>
          <a:p>
            <a:r>
              <a:t>• Give both reviewers the same brief: numbered list, file:line, severity.</a:t>
            </a:r>
          </a:p>
          <a:p>
            <a:r>
              <a:t>• Where they disagree is the interesting part. We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MCP connects the agent to things outside the repo: docs, databases, calendars, APIs.</a:t>
            </a:r>
          </a:p>
          <a:p>
            <a:r>
              <a:t>• Lab: Context7, a docs server that needs no login.</a:t>
            </a:r>
          </a:p>
          <a:p>
            <a:r>
              <a:t>• Calendar is a stretch goal. It has to be connected at claude.ai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agent is the client. Each server advertises its tools; the agent calls them like its own.</a:t>
            </a:r>
          </a:p>
          <a:p>
            <a:r>
              <a:t>• Local servers are programs it starts. Remote ones are URLs, often with an OAuth login.</a:t>
            </a:r>
          </a:p>
          <a:p>
            <a:r>
              <a:t>• Whatever a tool returns lands in context, so it costs space like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Five commands cover nearly everything, in either tool.</a:t>
            </a:r>
          </a:p>
          <a:p>
            <a:r>
              <a:t>• Mind the --. Everything after it belongs to the server, passed through untouched.</a:t>
            </a:r>
          </a:p>
          <a:p>
            <a:r>
              <a:t>• Demo: claude mcp add context7, then /mcp to show it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 MCP server is code, or a service, acting on our behalf.</a:t>
            </a:r>
          </a:p>
          <a:p>
            <a:r>
              <a:t>• Anything that fetches web pages or tickets can carry instructions in: that's prompt injection.</a:t>
            </a:r>
          </a:p>
          <a:p>
            <a:r>
              <a:t>• Approvals stay on. Install a server as carefully as you'd add a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Weekly summary: template or model call? Both are reasonable answers.</a:t>
            </a:r>
          </a:p>
          <a:p>
            <a:r>
              <a:t>• The point isn't the answer. It's that the agent surfaces the choice and a person makes it.</a:t>
            </a:r>
          </a:p>
          <a:p>
            <a:r>
              <a:t>• Plan mode forces that conversation to happen.</a:t>
            </a:r>
          </a:p>
          <a:p>
            <a:r>
              <a:t>• Ask the room: which would you ship,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Contract, skill, scheduled days and colour tiles, weekly summary, nudge.</a:t>
            </a:r>
          </a:p>
          <a:p>
            <a:r>
              <a:t>• Scheduled days matter most: this afternoon's progress ring is built on them.</a:t>
            </a:r>
          </a:p>
          <a:p>
            <a:r>
              <a:t>• Behind? checkpoint-2-features is the start line for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Write it down once, package it as a skill, keep a clean desk, get a second opinion, surface decisions.</a:t>
            </a:r>
          </a:p>
          <a:p>
            <a:r>
              <a:t>• Transition: lab time, handbook Section 2, then the break.</a:t>
            </a:r>
          </a:p>
          <a:p>
            <a:r>
              <a:t>• Finish early? Colour tiles, the theme toggle, or the MCP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app has features now. Nobody has proven it's right.</a:t>
            </a:r>
          </a:p>
          <a:p>
            <a:r>
              <a:t>• Ask the room: would you put it in front of real users on Monday?</a:t>
            </a:r>
          </a:p>
          <a:p>
            <a:r>
              <a:t>• After the break we stop hoping and build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Commit before the break.</a:t>
            </a:r>
          </a:p>
          <a:p>
            <a:r>
              <a:t>• Behind? checkpoint-2-features is your start line for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3: how to trust work you can't read line by line.</a:t>
            </a:r>
          </a:p>
          <a:p>
            <a:r>
              <a:t>• Four moves, one team of agents, and you as the tech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Two crutches gone. The last one: trusting output by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1 made us fast. Section 2 made us consistent.</a:t>
            </a:r>
          </a:p>
          <a:p>
            <a:r>
              <a:t>• Neither made it trustworthy. That's this afternoon.</a:t>
            </a:r>
          </a:p>
          <a:p>
            <a:r>
              <a:t>• Ask the room: what would make you sure enough to ship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 do the work. The engineering goes into making that work trustworthy.</a:t>
            </a:r>
          </a:p>
          <a:p>
            <a:r>
              <a:t>• The question changes: what would prove this is right, without me reading it?</a:t>
            </a:r>
          </a:p>
          <a:p>
            <a:r>
              <a:t>• Rusty or confident, this flips the job the same way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agent out-types you, and attention fades by the third diff.</a:t>
            </a:r>
          </a:p>
          <a:p>
            <a:r>
              <a:t>• A plausible bug reads as correct. Eyes aren't the right tool at this speed.</a:t>
            </a:r>
          </a:p>
          <a:p>
            <a:r>
              <a:t>• Your new job: design how correctness gets 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Harness, sub-agents, the team, then hooks and CI.</a:t>
            </a:r>
          </a:p>
          <a:p>
            <a:r>
              <a:t>• Everything this afternoon is one of these four.</a:t>
            </a:r>
          </a:p>
          <a:p>
            <a:r>
              <a:t>• Transition: move 1, the harness. Everything else stands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command that says yes or no: lint, types, tests.</a:t>
            </a:r>
          </a:p>
          <a:p>
            <a:r>
              <a:t>• The agent runs it, reads the failure, and fixes itself without asking you.</a:t>
            </a:r>
          </a:p>
          <a:p>
            <a:r>
              <a:t>• Demo: make check in the reference repo, break something on purpose, run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Tests first, and watch one fail. A test that never failed proves nothing.</a:t>
            </a:r>
          </a:p>
          <a:p>
            <a:r>
              <a:t>• Three edge cases: the missed day, the double tick, midnight.</a:t>
            </a:r>
          </a:p>
          <a:p>
            <a:r>
              <a:t>• Midnight is the honest one: nothing in this app knows your time zone. Record the gap, don't hide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Three narrow jobs: test-writer, reviewer, verifier.</a:t>
            </a:r>
          </a:p>
          <a:p>
            <a:r>
              <a:t>• Each gets a fresh context and only the tools it needs. The reviewer can't edit at all.</a:t>
            </a:r>
          </a:p>
          <a:p>
            <a:r>
              <a:t>• The verifier runs on haiku. Narrow jobs can be cheap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 agent reviewing its own work is kind to it: the same blind spot, twice.</a:t>
            </a:r>
          </a:p>
          <a:p>
            <a:r>
              <a:t>• A read-only reviewer can only report problems. It can't quietly fix them out of sight.</a:t>
            </a:r>
          </a:p>
          <a:p>
            <a:r>
              <a:t>• Same reason code review works between people: fresh eyes, no sunk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sub-agent sees only the brief you give it, not your conversation.</a:t>
            </a:r>
          </a:p>
          <a:p>
            <a:r>
              <a:t>• It hands back one summary, not its reasoning or the forty files it read.</a:t>
            </a:r>
          </a:p>
          <a:p>
            <a:r>
              <a:t>• Good brief: here's the diff, return numbered bugs with file:line. Bad brief: “thoughts?”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Test-writer, implementer, reviewer, verifier. You sit above all four.</a:t>
            </a:r>
          </a:p>
          <a:p>
            <a:r>
              <a:t>• You pick the feature, settle disputes, and decide when it's done.</a:t>
            </a:r>
          </a:p>
          <a:p>
            <a:r>
              <a:t>• When it stalls, the fix is usually a clearer definition of done, not a better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 editing at the same time need separate copies of the repo. That's a git worktree.</a:t>
            </a:r>
          </a:p>
          <a:p>
            <a:r>
              <a:t>• Claude Code: claude -w ring-a. Sub-agents: isolation: worktree. Codex: plain git, or the newer --worktree.</a:t>
            </a:r>
          </a:p>
          <a:p>
            <a:r>
              <a:t>• Two takes on the same task, then the real question: which would you merge,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Commit first, set up each one, run one app at a time, ignore the folder.</a:t>
            </a:r>
          </a:p>
          <a:p>
            <a:r>
              <a:t>• Number two costs real lab minutes: every worktree needs its own install.</a:t>
            </a:r>
          </a:p>
          <a:p>
            <a:r>
              <a:t>• Number four takes ten seconds and saves a confusing git status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Every worktree session ends the same way: merge the winner, then clean up everything else.</a:t>
            </a:r>
          </a:p>
          <a:p>
            <a:r>
              <a:t>• Remove both folders, delete both branches, prune. git worktree list showing only main means done.</a:t>
            </a:r>
          </a:p>
          <a:p>
            <a:r>
              <a:t>• When git refuses, that's the safety net. It won't bin uncommitted or unmerged work without --force or -D.</a:t>
            </a:r>
          </a:p>
          <a:p>
            <a:r>
              <a:t>• Prefer a review first? Push the branch and open a PR instead of merging locally.</a:t>
            </a:r>
          </a:p>
          <a:p>
            <a:r>
              <a:t>• Demo: run the sequence once on the projector so the room has seen it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AGENTS.md is a promise. The agent keeps it when it's paying attention.</a:t>
            </a:r>
          </a:p>
          <a:p>
            <a:r>
              <a:t>• A hook is a script the tool runs every single time. It doesn't forget, and it can block.</a:t>
            </a:r>
          </a:p>
          <a:p>
            <a:r>
              <a:t>• A contract is a promise. A hook is a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idea to hold: a hook runs just before, or just after, the agent does something.</a:t>
            </a:r>
          </a:p>
          <a:p>
            <a:r>
              <a:t>• Before can stop it: block an edit, check a prompt.</a:t>
            </a:r>
          </a:p>
          <a:p>
            <a:r>
              <a:t>• After can tidy or check: format the file, run make check when it says it's done.</a:t>
            </a:r>
          </a:p>
          <a:p>
            <a:r>
              <a:t>• There are 30+ events. You need these two sides. The rest is reference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guardrail, before: no edit to the streak logic unless a test changes too.</a:t>
            </a:r>
          </a:p>
          <a:p>
            <a:r>
              <a:t>• The verifier, after: make check at Stop. Red means not done.</a:t>
            </a:r>
          </a:p>
          <a:p>
            <a:r>
              <a:t>• Demo: open .claude/settings.json in the reference repo. Both hooks fit on one screen.</a:t>
            </a:r>
          </a:p>
          <a:p>
            <a:r>
              <a:t>• Stuck in a red loop? Esc, then fix the definition of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Exit 0 carries on. Exit 2 blocks, and stderr goes back to the agent as the reason.</a:t>
            </a:r>
          </a:p>
          <a:p>
            <a:r>
              <a:t>• Exit 1 does nothing. Unix habit says it means failure; here it enforces nothing.</a:t>
            </a:r>
          </a:p>
          <a:p>
            <a:r>
              <a:t>• If your guardrail never seems to block, check the exit code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Hooks run wherever the agent currently is, and agents cd into folders constantly.</a:t>
            </a:r>
          </a:p>
          <a:p>
            <a:r>
              <a:t>• Our own Stop hook broke the first time the agent ran cd backend. Genuinely, in this repo.</a:t>
            </a:r>
          </a:p>
          <a:p>
            <a:r>
              <a:t>• The fix: find the root with git rev-parse --show-toplevel. It works inside worktrees too.</a:t>
            </a:r>
          </a:p>
          <a:p>
            <a:r>
              <a:t>• Second trap: inside a worktree, $CLAUDE_PROJECT_DIR still points at the main checkout. Don't anchor on it.</a:t>
            </a:r>
          </a:p>
          <a:p>
            <a:r>
              <a:t>• Lesson: test the harness as well as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test asks “is it correct?”. An eval asks “is it good enough?” and answers with a number.</a:t>
            </a:r>
          </a:p>
          <a:p>
            <a:r>
              <a:t>• Write a rubric, let a model grade, gate on the score dropping.</a:t>
            </a:r>
          </a:p>
          <a:p>
            <a:r>
              <a:t>• Stretch in the lab: a five-case eval for the weekly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CI, so a teammate who wasn't in this room still can't break it.</a:t>
            </a:r>
          </a:p>
          <a:p>
            <a:r>
              <a:t>• Headless runs for the routine work; a security pass before merge.</a:t>
            </a:r>
          </a:p>
          <a:p>
            <a:r>
              <a:t>• Automate the generation and the checking. Keep the sign-off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Check your company's policy before pasting code or customer data into anything.</a:t>
            </a:r>
          </a:p>
          <a:p>
            <a:r>
              <a:t>• Prompt injection is real: anything the agent reads can carry instructions.</a:t>
            </a:r>
          </a:p>
          <a:p>
            <a:r>
              <a:t>• Logins in ~/.claude and ~/.codex are credentials. Downloaded skills and servers are code you're trusting.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Now we have all five: contract, skill, sub-agent, hook, MCP.</a:t>
            </a:r>
          </a:p>
          <a:p>
            <a:r>
              <a:t>• Ask the room: where should “never commit straight to main” live? (A hook: it must happen every time.)</a:t>
            </a:r>
          </a:p>
          <a:p>
            <a:r>
              <a:t>• Transition: one rule to carry into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Don't read harder. Build the proof.</a:t>
            </a:r>
          </a:p>
          <a:p>
            <a:r>
              <a:t>• Whenever you want to scroll the diff hunting for the bug, ask what test, agent or gate would have caught it.</a:t>
            </a:r>
          </a:p>
          <a:p>
            <a:r>
              <a:t>• Rusty: you never trusted it by eye anyway. Confident: your reading is good, just not fast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Four blocks, sixty minutes. You orchestrate; you don't type the implementation.</a:t>
            </a:r>
          </a:p>
          <a:p>
            <a:r>
              <a:t>• Block A is the foundation. Don't skip it to get to the fun part.</a:t>
            </a:r>
          </a:p>
          <a:p>
            <a:r>
              <a:t>• Behind? Reset to checkpoint-2-features and start the block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Harness first, fail it once, narrow agents, orchestrate, enforce it in the tool.</a:t>
            </a:r>
          </a:p>
          <a:p>
            <a:r>
              <a:t>• These are the five worth taking back to work.</a:t>
            </a:r>
          </a:p>
          <a:p>
            <a:r>
              <a:t>• Transition: lab time. Afterwards, how to take this back to your own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Tomorrow: one command that says yes or no. Watch it fail once.</a:t>
            </a:r>
          </a:p>
          <a:p>
            <a:r>
              <a:t>• This week: a read-only reviewer, and one hook for your team's favourite mistake.</a:t>
            </a:r>
          </a:p>
          <a:p>
            <a:r>
              <a:t>• This month: CI, an eval, and walk one teammate through it.</a:t>
            </a:r>
          </a:p>
          <a:p>
            <a:r>
              <a:t>• Pick the repo where the diffs already make you nervous.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Showcase: one thing your agents built, and how you know it works.</a:t>
            </a:r>
          </a:p>
          <a:p>
            <a:r>
              <a:t>• The same skills scale from this toy to production. Only the harness gets bigger.</a:t>
            </a:r>
          </a:p>
          <a:p>
            <a:r>
              <a:t>• Keep it short: show it working, then say what proves it's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Two minutes on the feedback form, please. It shapes the next cohort.</a:t>
            </a:r>
          </a:p>
          <a:p>
            <a:r>
              <a:t>• Thank you for today. Stay in the WhatsApp group; we'll keep sharing what we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5861" y="3282431"/>
            <a:ext cx="16696277" cy="2695491"/>
            <a:chOff x="0" y="0"/>
            <a:chExt cx="22261703" cy="3593989"/>
          </a:xfrm>
        </p:grpSpPr>
        <p:sp>
          <p:nvSpPr>
            <p:cNvPr id="3" name="TextBox 3"/>
            <p:cNvSpPr txBox="1"/>
            <p:nvPr/>
          </p:nvSpPr>
          <p:spPr>
            <a:xfrm>
              <a:off x="0" y="-209550"/>
              <a:ext cx="22261703" cy="23072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18"/>
                </a:lnSpc>
              </a:pPr>
              <a:r>
                <a:rPr lang="en-US" sz="10370" b="1" spc="829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AGENTIC ENGINEERING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454200" y="2298466"/>
              <a:ext cx="15353303" cy="1295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66"/>
                </a:lnSpc>
              </a:pPr>
              <a:r>
                <a:rPr lang="en-US" sz="5833" b="1" spc="1522">
                  <a:solidFill>
                    <a:srgbClr val="C6F92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BACK IN THE CODE</a:t>
              </a:r>
            </a:p>
          </p:txBody>
        </p:sp>
        <p:sp>
          <p:nvSpPr>
            <p:cNvPr id="5" name="AutoShape 5"/>
            <p:cNvSpPr/>
            <p:nvPr/>
          </p:nvSpPr>
          <p:spPr>
            <a:xfrm flipV="1">
              <a:off x="2810457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" name="AutoShape 6"/>
            <p:cNvSpPr/>
            <p:nvPr/>
          </p:nvSpPr>
          <p:spPr>
            <a:xfrm flipV="1">
              <a:off x="18204918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07214" y="2138240"/>
            <a:ext cx="11073571" cy="683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  <a:spcBef>
                <a:spcPct val="0"/>
              </a:spcBef>
            </a:pPr>
            <a:r>
              <a:rPr lang="en-US" sz="4050" b="1" spc="324">
                <a:solidFill>
                  <a:srgbClr val="9E7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 COUNCIL OF AUSTRALIA PRESENTS</a:t>
            </a:r>
          </a:p>
        </p:txBody>
      </p:sp>
      <p:sp>
        <p:nvSpPr>
          <p:cNvPr id="8" name="Freeform 8"/>
          <p:cNvSpPr/>
          <p:nvPr/>
        </p:nvSpPr>
        <p:spPr>
          <a:xfrm>
            <a:off x="7277176" y="6805349"/>
            <a:ext cx="3212328" cy="729608"/>
          </a:xfrm>
          <a:custGeom>
            <a:avLst/>
            <a:gdLst/>
            <a:ahLst/>
            <a:cxnLst/>
            <a:rect l="l" t="t" r="r" b="b"/>
            <a:pathLst>
              <a:path w="3212328" h="729608">
                <a:moveTo>
                  <a:pt x="0" y="0"/>
                </a:moveTo>
                <a:lnTo>
                  <a:pt x="3212329" y="0"/>
                </a:lnTo>
                <a:lnTo>
                  <a:pt x="3212329" y="729608"/>
                </a:lnTo>
                <a:lnTo>
                  <a:pt x="0" y="729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10" name="TextBox 10"/>
          <p:cNvSpPr txBox="1"/>
          <p:nvPr/>
        </p:nvSpPr>
        <p:spPr>
          <a:xfrm>
            <a:off x="7625889" y="9091993"/>
            <a:ext cx="251490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Hosted by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F3B5E8-8661-010A-72FD-C4E3F9B0A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3741" y="9434893"/>
            <a:ext cx="37592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42678"/>
            <a:ext cx="18288000" cy="9221362"/>
            <a:chOff x="0" y="0"/>
            <a:chExt cx="24384000" cy="122951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2295124"/>
            </a:xfrm>
            <a:custGeom>
              <a:avLst/>
              <a:gdLst/>
              <a:ahLst/>
              <a:cxnLst/>
              <a:rect l="l" t="t" r="r" b="b"/>
              <a:pathLst>
                <a:path w="24384000" h="12295124">
                  <a:moveTo>
                    <a:pt x="0" y="0"/>
                  </a:moveTo>
                  <a:lnTo>
                    <a:pt x="24384000" y="0"/>
                  </a:lnTo>
                  <a:lnTo>
                    <a:pt x="24384000" y="12295124"/>
                  </a:lnTo>
                  <a:lnTo>
                    <a:pt x="0" y="12295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6128" b="-16128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8230" y="4694341"/>
            <a:ext cx="16263163" cy="4265503"/>
            <a:chOff x="0" y="0"/>
            <a:chExt cx="21996400" cy="576921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5769229"/>
            </a:xfrm>
            <a:custGeom>
              <a:avLst/>
              <a:gdLst/>
              <a:ahLst/>
              <a:cxnLst/>
              <a:rect l="l" t="t" r="r" b="b"/>
              <a:pathLst>
                <a:path w="21996400" h="5769229">
                  <a:moveTo>
                    <a:pt x="0" y="0"/>
                  </a:moveTo>
                  <a:lnTo>
                    <a:pt x="21996400" y="0"/>
                  </a:lnTo>
                  <a:lnTo>
                    <a:pt x="21996400" y="5769229"/>
                  </a:lnTo>
                  <a:lnTo>
                    <a:pt x="0" y="5769229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EEE9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70663" y="5469788"/>
            <a:ext cx="14996160" cy="3582772"/>
            <a:chOff x="0" y="0"/>
            <a:chExt cx="19994880" cy="477702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4777035"/>
            </a:xfrm>
            <a:custGeom>
              <a:avLst/>
              <a:gdLst/>
              <a:ahLst/>
              <a:cxnLst/>
              <a:rect l="l" t="t" r="r" b="b"/>
              <a:pathLst>
                <a:path w="19994877" h="4777035">
                  <a:moveTo>
                    <a:pt x="0" y="0"/>
                  </a:moveTo>
                  <a:lnTo>
                    <a:pt x="19994877" y="0"/>
                  </a:lnTo>
                  <a:lnTo>
                    <a:pt x="19994877" y="4777035"/>
                  </a:lnTo>
                  <a:lnTo>
                    <a:pt x="0" y="477703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1557" b="-3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33350"/>
              <a:ext cx="19994880" cy="49103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74"/>
                </a:lnSpc>
              </a:pPr>
              <a:r>
                <a:rPr lang="en-US" sz="49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 would like to acknowledge the Gadigal of the Eora Nation, the traditional custodians of this land and pay my respects to the Elders both past and present.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51714" y="5012863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9E7FFF"/>
                </a:solidFill>
                <a:latin typeface="Arial Bold"/>
                <a:ea typeface="Arial Bold"/>
                <a:cs typeface="Arial Bold"/>
                <a:sym typeface="Arial Bold"/>
              </a:rPr>
              <a:t>ACKNOWLEDGEMENT OF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3312" y="3861883"/>
            <a:ext cx="11155680" cy="1415767"/>
            <a:chOff x="0" y="0"/>
            <a:chExt cx="14874240" cy="18876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874239" cy="1887696"/>
            </a:xfrm>
            <a:custGeom>
              <a:avLst/>
              <a:gdLst/>
              <a:ahLst/>
              <a:cxnLst/>
              <a:rect l="l" t="t" r="r" b="b"/>
              <a:pathLst>
                <a:path w="14874239" h="1887696">
                  <a:moveTo>
                    <a:pt x="0" y="0"/>
                  </a:moveTo>
                  <a:lnTo>
                    <a:pt x="14874239" y="0"/>
                  </a:lnTo>
                  <a:lnTo>
                    <a:pt x="14874239" y="1887696"/>
                  </a:lnTo>
                  <a:lnTo>
                    <a:pt x="0" y="18876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3533" b="-10353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4874240" cy="19257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Welcome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53312" y="5895651"/>
            <a:ext cx="10972800" cy="461667"/>
            <a:chOff x="0" y="0"/>
            <a:chExt cx="14630400" cy="615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615552"/>
            </a:xfrm>
            <a:custGeom>
              <a:avLst/>
              <a:gdLst/>
              <a:ahLst/>
              <a:cxnLst/>
              <a:rect l="l" t="t" r="r" b="b"/>
              <a:pathLst>
                <a:path w="14630400" h="615552">
                  <a:moveTo>
                    <a:pt x="0" y="0"/>
                  </a:moveTo>
                  <a:lnTo>
                    <a:pt x="14630400" y="0"/>
                  </a:lnTo>
                  <a:lnTo>
                    <a:pt x="14630400" y="615552"/>
                  </a:lnTo>
                  <a:lnTo>
                    <a:pt x="0" y="61555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13118" b="-4131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4630400" cy="6822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 engineers back from carers’, parental or long service leave</a:t>
              </a:r>
            </a:p>
          </p:txBody>
        </p:sp>
      </p:grp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14140" y="3646990"/>
            <a:ext cx="3261319" cy="3261319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AGENTIC ENGINEERING  ·  A ONE-DAY PROGRAM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10708" y="6825861"/>
            <a:ext cx="246818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Join the Cohort Whatsapp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INTRODUCTIONS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40731" y="2228326"/>
            <a:ext cx="3200400" cy="3200400"/>
            <a:chOff x="0" y="0"/>
            <a:chExt cx="4811662" cy="481166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311547" y="5611606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Adair Robins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11547" y="6242542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Australia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497242" y="2286000"/>
            <a:ext cx="3200400" cy="3200400"/>
            <a:chOff x="0" y="0"/>
            <a:chExt cx="4811662" cy="48116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168058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Keen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68058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66750" y="7805699"/>
            <a:ext cx="16497300" cy="1134199"/>
            <a:chOff x="0" y="0"/>
            <a:chExt cx="21996400" cy="15122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996400" cy="1512316"/>
            </a:xfrm>
            <a:custGeom>
              <a:avLst/>
              <a:gdLst/>
              <a:ahLst/>
              <a:cxnLst/>
              <a:rect l="l" t="t" r="r" b="b"/>
              <a:pathLst>
                <a:path w="21996400" h="1512316">
                  <a:moveTo>
                    <a:pt x="0" y="0"/>
                  </a:moveTo>
                  <a:lnTo>
                    <a:pt x="21996400" y="0"/>
                  </a:lnTo>
                  <a:lnTo>
                    <a:pt x="21996400" y="1512316"/>
                  </a:lnTo>
                  <a:lnTo>
                    <a:pt x="0" y="151231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13"/>
          <p:cNvGrpSpPr/>
          <p:nvPr/>
        </p:nvGrpSpPr>
        <p:grpSpPr>
          <a:xfrm>
            <a:off x="12684194" y="2266316"/>
            <a:ext cx="3200400" cy="3200400"/>
            <a:chOff x="0" y="0"/>
            <a:chExt cx="4811662" cy="4811662"/>
          </a:xfrm>
        </p:grpSpPr>
        <p:sp>
          <p:nvSpPr>
            <p:cNvPr id="27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15"/>
          <p:cNvSpPr txBox="1"/>
          <p:nvPr/>
        </p:nvSpPr>
        <p:spPr>
          <a:xfrm>
            <a:off x="12355010" y="5704584"/>
            <a:ext cx="3860016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Hughes</a:t>
            </a:r>
          </a:p>
        </p:txBody>
      </p:sp>
      <p:sp>
        <p:nvSpPr>
          <p:cNvPr id="29" name="TextBox 16"/>
          <p:cNvSpPr txBox="1"/>
          <p:nvPr/>
        </p:nvSpPr>
        <p:spPr>
          <a:xfrm>
            <a:off x="12355010" y="6280532"/>
            <a:ext cx="3860016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645920" y="8056455"/>
            <a:ext cx="14996160" cy="804892"/>
            <a:chOff x="0" y="0"/>
            <a:chExt cx="19994880" cy="107319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77" cy="1073185"/>
            </a:xfrm>
            <a:custGeom>
              <a:avLst/>
              <a:gdLst/>
              <a:ahLst/>
              <a:cxnLst/>
              <a:rect l="l" t="t" r="r" b="b"/>
              <a:pathLst>
                <a:path w="19994877" h="1073185">
                  <a:moveTo>
                    <a:pt x="0" y="0"/>
                  </a:moveTo>
                  <a:lnTo>
                    <a:pt x="19994877" y="0"/>
                  </a:lnTo>
                  <a:lnTo>
                    <a:pt x="19994877" y="1073185"/>
                  </a:lnTo>
                  <a:lnTo>
                    <a:pt x="0" y="107318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24507" b="-30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14300"/>
              <a:ext cx="19994880" cy="11874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is the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habit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you would love to stick to?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OF 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guide, not a timetable. Times assume a 09:30 start.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2705100"/>
            <a:ext cx="1828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74720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SEGMENT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3856" y="3364992"/>
            <a:ext cx="2011680" cy="676656"/>
            <a:chOff x="0" y="0"/>
            <a:chExt cx="2682240" cy="9022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09:30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74720" y="3364992"/>
            <a:ext cx="10972800" cy="676656"/>
            <a:chOff x="0" y="0"/>
            <a:chExt cx="14630400" cy="902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Welcome, setup check, pick your model (/model)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01703" y="4051811"/>
            <a:ext cx="15387323" cy="702059"/>
            <a:chOff x="0" y="0"/>
            <a:chExt cx="20516431" cy="93607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3856" y="4064508"/>
            <a:ext cx="2011680" cy="676656"/>
            <a:chOff x="0" y="0"/>
            <a:chExt cx="2682240" cy="90220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10:00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474720" y="4064508"/>
            <a:ext cx="10972800" cy="676656"/>
            <a:chOff x="0" y="0"/>
            <a:chExt cx="14630400" cy="90220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1 · Vibe Coding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33856" y="4741164"/>
            <a:ext cx="2011680" cy="676656"/>
            <a:chOff x="0" y="0"/>
            <a:chExt cx="2682240" cy="9022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11:30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474720" y="4741164"/>
            <a:ext cx="10972800" cy="676656"/>
            <a:chOff x="0" y="0"/>
            <a:chExt cx="14630400" cy="90220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Lunch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01703" y="5405123"/>
            <a:ext cx="15387323" cy="702059"/>
            <a:chOff x="0" y="0"/>
            <a:chExt cx="20516431" cy="93607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33856" y="5417820"/>
            <a:ext cx="2011680" cy="676656"/>
            <a:chOff x="0" y="0"/>
            <a:chExt cx="2682240" cy="90220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12:15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474720" y="5417820"/>
            <a:ext cx="10972800" cy="676656"/>
            <a:chOff x="0" y="0"/>
            <a:chExt cx="14630400" cy="90220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2 · Vibe Engineering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33856" y="6094476"/>
            <a:ext cx="2011680" cy="676656"/>
            <a:chOff x="0" y="0"/>
            <a:chExt cx="2682240" cy="90220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13:30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474720" y="6094476"/>
            <a:ext cx="10972800" cy="676656"/>
            <a:chOff x="0" y="0"/>
            <a:chExt cx="14630400" cy="902208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Break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01703" y="6758435"/>
            <a:ext cx="15387323" cy="702059"/>
            <a:chOff x="0" y="0"/>
            <a:chExt cx="20516431" cy="93607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33856" y="6771132"/>
            <a:ext cx="2011680" cy="676656"/>
            <a:chOff x="0" y="0"/>
            <a:chExt cx="2682240" cy="9022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13:45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74720" y="6771132"/>
            <a:ext cx="10972800" cy="676656"/>
            <a:chOff x="0" y="0"/>
            <a:chExt cx="14630400" cy="9022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3 · Agentic Engineering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133856" y="7447788"/>
            <a:ext cx="2011680" cy="676656"/>
            <a:chOff x="0" y="0"/>
            <a:chExt cx="2682240" cy="90220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15:45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474720" y="7447788"/>
            <a:ext cx="10972800" cy="676656"/>
            <a:chOff x="0" y="0"/>
            <a:chExt cx="14630400" cy="902208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Showcase and close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133856" y="8124444"/>
            <a:ext cx="2011680" cy="676656"/>
            <a:chOff x="0" y="0"/>
            <a:chExt cx="2682240" cy="902208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16:00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3474720" y="8124444"/>
            <a:ext cx="10972800" cy="676656"/>
            <a:chOff x="0" y="0"/>
            <a:chExt cx="14630400" cy="902208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End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PROMISE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What today is really about.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5350" y="2907030"/>
            <a:ext cx="16497300" cy="2378964"/>
            <a:chOff x="0" y="0"/>
            <a:chExt cx="21996400" cy="31719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3171952"/>
            </a:xfrm>
            <a:custGeom>
              <a:avLst/>
              <a:gdLst/>
              <a:ahLst/>
              <a:cxnLst/>
              <a:rect l="l" t="t" r="r" b="b"/>
              <a:pathLst>
                <a:path w="21996400" h="3171952">
                  <a:moveTo>
                    <a:pt x="0" y="0"/>
                  </a:moveTo>
                  <a:lnTo>
                    <a:pt x="21996400" y="0"/>
                  </a:lnTo>
                  <a:lnTo>
                    <a:pt x="21996400" y="3171952"/>
                  </a:lnTo>
                  <a:lnTo>
                    <a:pt x="0" y="31719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" y="3463261"/>
            <a:ext cx="14996160" cy="1443067"/>
            <a:chOff x="0" y="0"/>
            <a:chExt cx="19994880" cy="19240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1924088"/>
            </a:xfrm>
            <a:custGeom>
              <a:avLst/>
              <a:gdLst/>
              <a:ahLst/>
              <a:cxnLst/>
              <a:rect l="l" t="t" r="r" b="b"/>
              <a:pathLst>
                <a:path w="19994877" h="1924088">
                  <a:moveTo>
                    <a:pt x="0" y="0"/>
                  </a:moveTo>
                  <a:lnTo>
                    <a:pt x="19994877" y="0"/>
                  </a:lnTo>
                  <a:lnTo>
                    <a:pt x="19994877" y="1924088"/>
                  </a:lnTo>
                  <a:lnTo>
                    <a:pt x="0" y="19240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8603" b="-1463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19994880" cy="20383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build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app, three times over,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each time giving up a different crutch.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14400" y="5984160"/>
            <a:ext cx="16459200" cy="410369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dirty="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builds either way, and you learn something new no matter what level you walk in at.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01703" y="7028183"/>
            <a:ext cx="8072123" cy="2494283"/>
            <a:chOff x="0" y="0"/>
            <a:chExt cx="10762831" cy="332571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RUSTY ENGINEER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the loop and the tools — and stops fearing them.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7028183"/>
            <a:ext cx="8072123" cy="2494283"/>
            <a:chOff x="0" y="0"/>
            <a:chExt cx="10762831" cy="33257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78408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CONFIDENT ONE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8408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to give up the keyboard and build the harness instead.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 three workshops. Each rung removes a different crutch.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1FF7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don’t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3280" y="5321046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83280" y="6070092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1703" y="7119614"/>
            <a:ext cx="16484603" cy="1890779"/>
            <a:chOff x="0" y="0"/>
            <a:chExt cx="21979471" cy="252103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3383280" y="7405878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83280" y="8154924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PROJECT, ALL DAY: TCA HABITS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habit tracker you build, then make repeatable, then harden.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working tracker. Add a habit, tick it, watch a streak grow. Ugly is fine.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108192" y="3145536"/>
            <a:ext cx="457200" cy="4297680"/>
            <a:chOff x="0" y="0"/>
            <a:chExt cx="609600" cy="57302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16119" y="3132839"/>
            <a:ext cx="5255771" cy="4323083"/>
            <a:chOff x="0" y="0"/>
            <a:chExt cx="7007695" cy="57641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6931152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project contract, an add-feature skill, scheduled days, colour tiles, a weekly summary and an AI nudge.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722608" y="3145536"/>
            <a:ext cx="457200" cy="4297680"/>
            <a:chOff x="0" y="0"/>
            <a:chExt cx="609600" cy="573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30535" y="3132839"/>
            <a:ext cx="5255771" cy="4323083"/>
            <a:chOff x="0" y="0"/>
            <a:chExt cx="7007695" cy="576411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2545568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Hardened. A test harness, sub-agents, an agent team that ships a feature under test, and CI.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4400" y="7888605"/>
            <a:ext cx="1645920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Real backend, real frontend, real edge cases: streak maths, time zones, idempotency. The afternoon's harness has something genuine to bite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NO ONE GETS STRANDED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section starts where the last one finished. If yours doesn't, the reference repo's does.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87703"/>
            <a:ext cx="8072123" cy="3500123"/>
            <a:chOff x="0" y="0"/>
            <a:chExt cx="10762831" cy="46668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SMALL COMMITS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Your undo.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bad turn is one revert away, no drama. git is your safety net inside a section.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187703"/>
            <a:ext cx="8072123" cy="3500123"/>
            <a:chOff x="0" y="0"/>
            <a:chExt cx="10762831" cy="46668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room’s net.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Fall behind? The reference repo holds a working app at the end of every section. Drop into it and keep going.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7204710"/>
            <a:ext cx="16497300" cy="1775460"/>
            <a:chOff x="0" y="0"/>
            <a:chExt cx="21996400" cy="23672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367280"/>
            </a:xfrm>
            <a:custGeom>
              <a:avLst/>
              <a:gdLst/>
              <a:ahLst/>
              <a:cxnLst/>
              <a:rect l="l" t="t" r="r" b="b"/>
              <a:pathLst>
                <a:path w="21996400" h="2367280">
                  <a:moveTo>
                    <a:pt x="0" y="0"/>
                  </a:moveTo>
                  <a:lnTo>
                    <a:pt x="21996400" y="0"/>
                  </a:lnTo>
                  <a:lnTo>
                    <a:pt x="21996400" y="2367280"/>
                  </a:lnTo>
                  <a:lnTo>
                    <a:pt x="0" y="2367280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45920" y="7223760"/>
            <a:ext cx="14996160" cy="1737360"/>
            <a:chOff x="0" y="0"/>
            <a:chExt cx="19994880" cy="23164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94877" cy="2316480"/>
            </a:xfrm>
            <a:custGeom>
              <a:avLst/>
              <a:gdLst/>
              <a:ahLst/>
              <a:cxnLst/>
              <a:rect l="l" t="t" r="r" b="b"/>
              <a:pathLst>
                <a:path w="19994877" h="2316480">
                  <a:moveTo>
                    <a:pt x="0" y="0"/>
                  </a:moveTo>
                  <a:lnTo>
                    <a:pt x="19994877" y="0"/>
                  </a:lnTo>
                  <a:lnTo>
                    <a:pt x="19994877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8186" b="-1181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9994880" cy="2335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Reaching for the checkpoint is the design, not a failure.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577840"/>
            <a:chOff x="0" y="0"/>
            <a:chExt cx="219456" cy="7437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437120"/>
            </a:xfrm>
            <a:custGeom>
              <a:avLst/>
              <a:gdLst/>
              <a:ahLst/>
              <a:cxnLst/>
              <a:rect l="l" t="t" r="r" b="b"/>
              <a:pathLst>
                <a:path w="219456" h="7437120">
                  <a:moveTo>
                    <a:pt x="0" y="0"/>
                  </a:moveTo>
                  <a:lnTo>
                    <a:pt x="219456" y="0"/>
                  </a:lnTo>
                  <a:lnTo>
                    <a:pt x="219456" y="7437120"/>
                  </a:lnTo>
                  <a:lnTo>
                    <a:pt x="0" y="743712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NO ONE LEFT BEHIND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311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Everyone starts on a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different rung.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C1FF72"/>
                </a:solidFill>
                <a:latin typeface="Arial Bold"/>
                <a:ea typeface="Arial Bold"/>
                <a:cs typeface="Arial Bold"/>
                <a:sym typeface="Arial Bold"/>
              </a:rPr>
              <a:t>Everyone leaves higher.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7320915"/>
            <a:ext cx="10972800" cy="2280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For some, this morning is revision; for everyone, it’s a rung up. A core path for all of us, stretch goals for anyone flying. The agentic shift is hardest for the confident ones — they have the most habits to unlearn.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YOU’LL WALK AWAY WITH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Wherever you start, you leave able to do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871723"/>
            <a:chOff x="0" y="0"/>
            <a:chExt cx="7007695" cy="64956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RUSTY / EARLIER-CAREER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loop, the core tools, and a working mental model.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516119" y="3132839"/>
            <a:ext cx="5255771" cy="4871723"/>
            <a:chOff x="0" y="0"/>
            <a:chExt cx="7007695" cy="64956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931152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MID-LEVEL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931152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discipline: context, reusable workflows, small commits, correctness made mechanical.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31152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 reliably.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130535" y="3132839"/>
            <a:ext cx="5255771" cy="4871723"/>
            <a:chOff x="0" y="0"/>
            <a:chExt cx="7007695" cy="64956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545568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SENIOR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545568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architecture of agentic systems: harnesses, sub-agent teams, where human judgement sits.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45568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design how your team works with agents.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1016" y="2651760"/>
            <a:ext cx="11338560" cy="548640"/>
            <a:chOff x="0" y="0"/>
            <a:chExt cx="1511808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spc="600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SECTION 01  ·  THE COCKPIT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200400"/>
            <a:ext cx="11155680" cy="2103120"/>
            <a:chOff x="0" y="0"/>
            <a:chExt cx="14874240" cy="28041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804160"/>
            </a:xfrm>
            <a:custGeom>
              <a:avLst/>
              <a:gdLst/>
              <a:ahLst/>
              <a:cxnLst/>
              <a:rect l="l" t="t" r="r" b="b"/>
              <a:pathLst>
                <a:path w="14874239" h="2804160">
                  <a:moveTo>
                    <a:pt x="0" y="0"/>
                  </a:moveTo>
                  <a:lnTo>
                    <a:pt x="14874239" y="0"/>
                  </a:lnTo>
                  <a:lnTo>
                    <a:pt x="14874239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3355" b="-5335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842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394960"/>
            <a:ext cx="10972800" cy="1005840"/>
            <a:chOff x="0" y="0"/>
            <a:chExt cx="14630400" cy="13411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1341120"/>
            </a:xfrm>
            <a:custGeom>
              <a:avLst/>
              <a:gdLst/>
              <a:ahLst/>
              <a:cxnLst/>
              <a:rect l="l" t="t" r="r" b="b"/>
              <a:pathLst>
                <a:path w="14630400" h="1341120">
                  <a:moveTo>
                    <a:pt x="0" y="0"/>
                  </a:moveTo>
                  <a:lnTo>
                    <a:pt x="14630400" y="0"/>
                  </a:lnTo>
                  <a:lnTo>
                    <a:pt x="146304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62564" b="-1625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14077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to fly the agent instead of typing the code.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948416" y="0"/>
                  </a:lnTo>
                  <a:cubicBezTo>
                    <a:pt x="11029188" y="0"/>
                    <a:pt x="11094720" y="65532"/>
                    <a:pt x="11094720" y="146304"/>
                  </a:cubicBezTo>
                  <a:lnTo>
                    <a:pt x="11094720" y="877824"/>
                  </a:lnTo>
                  <a:cubicBezTo>
                    <a:pt x="11094720" y="958596"/>
                    <a:pt x="11029188" y="1024128"/>
                    <a:pt x="10948416" y="1024128"/>
                  </a:cubicBezTo>
                  <a:lnTo>
                    <a:pt x="146304" y="1024128"/>
                  </a:lnTo>
                  <a:cubicBezTo>
                    <a:pt x="65532" y="1024128"/>
                    <a:pt x="0" y="958596"/>
                    <a:pt x="0" y="87782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0"/>
                  </a:moveTo>
                  <a:lnTo>
                    <a:pt x="11094720" y="0"/>
                  </a:lnTo>
                  <a:lnTo>
                    <a:pt x="110947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10947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25 MINUTES   ·   ONE LOOP   ·   TWO TOOLS</a:t>
              </a:r>
            </a:p>
          </p:txBody>
        </p:sp>
      </p:grpSp>
      <p:grpSp>
        <p:nvGrpSpPr>
          <p:cNvPr id="29" name="Group 21">
            <a:extLst>
              <a:ext uri="{FF2B5EF4-FFF2-40B4-BE49-F238E27FC236}">
                <a16:creationId xmlns:a16="http://schemas.microsoft.com/office/drawing/2014/main" id="{957EF5CF-476D-E904-2325-37DDFC6E8AB1}"/>
              </a:ext>
            </a:extLst>
          </p:cNvPr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42C351A1-1ADC-75A3-DA8A-47B5E8C39D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1" name="TextBox 23">
            <a:extLst>
              <a:ext uri="{FF2B5EF4-FFF2-40B4-BE49-F238E27FC236}">
                <a16:creationId xmlns:a16="http://schemas.microsoft.com/office/drawing/2014/main" id="{9D374769-4EA6-1959-38A4-1E228838AD04}"/>
              </a:ext>
            </a:extLst>
          </p:cNvPr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ONE BOX, TWO VOICES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ChatGPT’s real invention wasn’t a smarter model. It was splitting the prompt in two.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79776"/>
            <a:ext cx="6400800" cy="438912"/>
            <a:chOff x="0" y="0"/>
            <a:chExt cx="8534400" cy="5852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534400" cy="585216"/>
            </a:xfrm>
            <a:custGeom>
              <a:avLst/>
              <a:gdLst/>
              <a:ahLst/>
              <a:cxnLst/>
              <a:rect l="l" t="t" r="r" b="b"/>
              <a:pathLst>
                <a:path w="8534400" h="585216">
                  <a:moveTo>
                    <a:pt x="0" y="0"/>
                  </a:moveTo>
                  <a:lnTo>
                    <a:pt x="8534400" y="0"/>
                  </a:lnTo>
                  <a:lnTo>
                    <a:pt x="8534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4156" b="-23415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53440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YOU TYPE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1703" y="3388871"/>
            <a:ext cx="6426203" cy="1945643"/>
            <a:chOff x="0" y="0"/>
            <a:chExt cx="8568271" cy="259419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568310" cy="2594229"/>
            </a:xfrm>
            <a:custGeom>
              <a:avLst/>
              <a:gdLst/>
              <a:ahLst/>
              <a:cxnLst/>
              <a:rect l="l" t="t" r="r" b="b"/>
              <a:pathLst>
                <a:path w="8568310" h="2594229">
                  <a:moveTo>
                    <a:pt x="0" y="207518"/>
                  </a:moveTo>
                  <a:cubicBezTo>
                    <a:pt x="0" y="92964"/>
                    <a:pt x="92964" y="0"/>
                    <a:pt x="207518" y="0"/>
                  </a:cubicBezTo>
                  <a:lnTo>
                    <a:pt x="8360791" y="0"/>
                  </a:lnTo>
                  <a:cubicBezTo>
                    <a:pt x="8475473" y="0"/>
                    <a:pt x="8568310" y="92964"/>
                    <a:pt x="8568310" y="207518"/>
                  </a:cubicBezTo>
                  <a:lnTo>
                    <a:pt x="8568310" y="2386711"/>
                  </a:lnTo>
                  <a:cubicBezTo>
                    <a:pt x="8568310" y="2501392"/>
                    <a:pt x="8475345" y="2594229"/>
                    <a:pt x="8360791" y="2594229"/>
                  </a:cubicBezTo>
                  <a:lnTo>
                    <a:pt x="207518" y="2594229"/>
                  </a:lnTo>
                  <a:cubicBezTo>
                    <a:pt x="92964" y="2594229"/>
                    <a:pt x="0" y="2501265"/>
                    <a:pt x="0" y="238671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3401568"/>
            <a:ext cx="4754880" cy="1920240"/>
            <a:chOff x="0" y="0"/>
            <a:chExt cx="6339840" cy="25603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39840" cy="2560320"/>
            </a:xfrm>
            <a:custGeom>
              <a:avLst/>
              <a:gdLst/>
              <a:ahLst/>
              <a:cxnLst/>
              <a:rect l="l" t="t" r="r" b="b"/>
              <a:pathLst>
                <a:path w="6339840" h="2560320">
                  <a:moveTo>
                    <a:pt x="0" y="0"/>
                  </a:moveTo>
                  <a:lnTo>
                    <a:pt x="6339840" y="0"/>
                  </a:lnTo>
                  <a:lnTo>
                    <a:pt x="63398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14" r="-18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6339840" cy="25698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24128" cy="10812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↑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14400" y="5630799"/>
            <a:ext cx="6400800" cy="178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Four words. One box.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the only part of the prompt you ever see.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534656" y="3401568"/>
            <a:ext cx="1005840" cy="1920240"/>
            <a:chOff x="0" y="0"/>
            <a:chExt cx="1341120" cy="25603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41120" cy="2560320"/>
            </a:xfrm>
            <a:custGeom>
              <a:avLst/>
              <a:gdLst/>
              <a:ahLst/>
              <a:cxnLst/>
              <a:rect l="l" t="t" r="r" b="b"/>
              <a:pathLst>
                <a:path w="1341120" h="2560320">
                  <a:moveTo>
                    <a:pt x="0" y="0"/>
                  </a:moveTo>
                  <a:lnTo>
                    <a:pt x="1341120" y="0"/>
                  </a:lnTo>
                  <a:lnTo>
                    <a:pt x="13411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43" r="-1949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14300"/>
              <a:ext cx="1341120" cy="2674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20"/>
                </a:lnSpc>
              </a:pPr>
              <a:r>
                <a:rPr lang="en-US" sz="56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260336" y="5402580"/>
            <a:ext cx="1554480" cy="140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the app</a:t>
            </a:r>
          </a:p>
          <a:p>
            <a:pPr algn="ctr">
              <a:lnSpc>
                <a:spcPts val="2040"/>
              </a:lnSpc>
            </a:pPr>
            <a:r>
              <a:rPr lang="en-US" sz="1700" b="1" i="1">
                <a:solidFill>
                  <a:srgbClr val="7C3AED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prepends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869680" y="2779776"/>
            <a:ext cx="8321040" cy="438912"/>
            <a:chOff x="0" y="0"/>
            <a:chExt cx="11094720" cy="5852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094720" cy="585216"/>
            </a:xfrm>
            <a:custGeom>
              <a:avLst/>
              <a:gdLst/>
              <a:ahLst/>
              <a:cxnLst/>
              <a:rect l="l" t="t" r="r" b="b"/>
              <a:pathLst>
                <a:path w="11094720" h="585216">
                  <a:moveTo>
                    <a:pt x="0" y="0"/>
                  </a:moveTo>
                  <a:lnTo>
                    <a:pt x="11094720" y="0"/>
                  </a:lnTo>
                  <a:lnTo>
                    <a:pt x="1109472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9403" b="-3194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09472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THE MODEL ACTUALLY READS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869680" y="3401568"/>
            <a:ext cx="8321040" cy="4297680"/>
            <a:chOff x="0" y="0"/>
            <a:chExt cx="11094720" cy="57302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094720" cy="5730240"/>
            </a:xfrm>
            <a:custGeom>
              <a:avLst/>
              <a:gdLst/>
              <a:ahLst/>
              <a:cxnLst/>
              <a:rect l="l" t="t" r="r" b="b"/>
              <a:pathLst>
                <a:path w="11094720" h="5730240">
                  <a:moveTo>
                    <a:pt x="0" y="343789"/>
                  </a:moveTo>
                  <a:cubicBezTo>
                    <a:pt x="0" y="153924"/>
                    <a:pt x="153924" y="0"/>
                    <a:pt x="343789" y="0"/>
                  </a:cubicBezTo>
                  <a:lnTo>
                    <a:pt x="10750931" y="0"/>
                  </a:lnTo>
                  <a:cubicBezTo>
                    <a:pt x="10940797" y="0"/>
                    <a:pt x="11094720" y="153924"/>
                    <a:pt x="11094720" y="343789"/>
                  </a:cubicBezTo>
                  <a:lnTo>
                    <a:pt x="11094720" y="5386451"/>
                  </a:lnTo>
                  <a:cubicBezTo>
                    <a:pt x="11094720" y="5576316"/>
                    <a:pt x="10940797" y="5730240"/>
                    <a:pt x="10750931" y="5730240"/>
                  </a:cubicBezTo>
                  <a:lnTo>
                    <a:pt x="343789" y="5730240"/>
                  </a:lnTo>
                  <a:cubicBezTo>
                    <a:pt x="153924" y="5730240"/>
                    <a:pt x="0" y="5576316"/>
                    <a:pt x="0" y="538645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235440" y="3730752"/>
            <a:ext cx="7589520" cy="1828800"/>
            <a:chOff x="0" y="0"/>
            <a:chExt cx="10119360" cy="2438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19360" cy="2438400"/>
            </a:xfrm>
            <a:custGeom>
              <a:avLst/>
              <a:gdLst/>
              <a:ahLst/>
              <a:cxnLst/>
              <a:rect l="l" t="t" r="r" b="b"/>
              <a:pathLst>
                <a:path w="10119360" h="2438400">
                  <a:moveTo>
                    <a:pt x="0" y="170688"/>
                  </a:moveTo>
                  <a:cubicBezTo>
                    <a:pt x="0" y="76454"/>
                    <a:pt x="76454" y="0"/>
                    <a:pt x="170688" y="0"/>
                  </a:cubicBezTo>
                  <a:lnTo>
                    <a:pt x="9948672" y="0"/>
                  </a:lnTo>
                  <a:cubicBezTo>
                    <a:pt x="10042906" y="0"/>
                    <a:pt x="10119360" y="76454"/>
                    <a:pt x="10119360" y="170688"/>
                  </a:cubicBezTo>
                  <a:lnTo>
                    <a:pt x="10119360" y="2267712"/>
                  </a:lnTo>
                  <a:cubicBezTo>
                    <a:pt x="10119360" y="2361946"/>
                    <a:pt x="10042906" y="2438400"/>
                    <a:pt x="9948672" y="2438400"/>
                  </a:cubicBezTo>
                  <a:lnTo>
                    <a:pt x="170688" y="2438400"/>
                  </a:lnTo>
                  <a:cubicBezTo>
                    <a:pt x="76454" y="2438400"/>
                    <a:pt x="0" y="2361946"/>
                    <a:pt x="0" y="2267712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91472" y="3840480"/>
            <a:ext cx="7077456" cy="438912"/>
            <a:chOff x="0" y="0"/>
            <a:chExt cx="9436608" cy="5852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PROMPT  ·  you never see this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491472" y="4388739"/>
            <a:ext cx="7077456" cy="1051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are a helpful coding assistant.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have these tools: read, write, bash…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235440" y="5779008"/>
            <a:ext cx="7589520" cy="1554480"/>
            <a:chOff x="0" y="0"/>
            <a:chExt cx="10119360" cy="20726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119360" cy="2072640"/>
            </a:xfrm>
            <a:custGeom>
              <a:avLst/>
              <a:gdLst/>
              <a:ahLst/>
              <a:cxnLst/>
              <a:rect l="l" t="t" r="r" b="b"/>
              <a:pathLst>
                <a:path w="10119360" h="207264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9953498" y="0"/>
                  </a:lnTo>
                  <a:cubicBezTo>
                    <a:pt x="10045065" y="0"/>
                    <a:pt x="10119360" y="74295"/>
                    <a:pt x="10119360" y="165862"/>
                  </a:cubicBezTo>
                  <a:lnTo>
                    <a:pt x="10119360" y="1906778"/>
                  </a:lnTo>
                  <a:cubicBezTo>
                    <a:pt x="10119360" y="1998345"/>
                    <a:pt x="10045065" y="2072640"/>
                    <a:pt x="9953498" y="2072640"/>
                  </a:cubicBezTo>
                  <a:lnTo>
                    <a:pt x="165862" y="2072640"/>
                  </a:lnTo>
                  <a:cubicBezTo>
                    <a:pt x="74295" y="2072640"/>
                    <a:pt x="0" y="1998345"/>
                    <a:pt x="0" y="190677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91472" y="5888736"/>
            <a:ext cx="7077456" cy="438912"/>
            <a:chOff x="0" y="0"/>
            <a:chExt cx="9436608" cy="58521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PROMPT  ·  the bit you typed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91472" y="6400800"/>
            <a:ext cx="7077456" cy="731520"/>
            <a:chOff x="0" y="0"/>
            <a:chExt cx="9436608" cy="9753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436608" cy="975360"/>
            </a:xfrm>
            <a:custGeom>
              <a:avLst/>
              <a:gdLst/>
              <a:ahLst/>
              <a:cxnLst/>
              <a:rect l="l" t="t" r="r" b="b"/>
              <a:pathLst>
                <a:path w="9436608" h="975360">
                  <a:moveTo>
                    <a:pt x="0" y="0"/>
                  </a:moveTo>
                  <a:lnTo>
                    <a:pt x="9436608" y="0"/>
                  </a:lnTo>
                  <a:lnTo>
                    <a:pt x="9436608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8517" b="-13851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9436608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stream of text. The model cannot tell your words from the builder’s —</a:t>
              </a:r>
              <a:r>
                <a:rPr lang="en-US" sz="2300">
                  <a:solidFill>
                    <a:srgbClr val="C1FF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300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just reads the box, top to bottom.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ENGINEERING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system prompt isn’t one thing. It’s a stack, reassembled on every single call.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724150"/>
            <a:ext cx="10553700" cy="5158740"/>
            <a:chOff x="0" y="0"/>
            <a:chExt cx="14071600" cy="6878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071600" cy="6878320"/>
            </a:xfrm>
            <a:custGeom>
              <a:avLst/>
              <a:gdLst/>
              <a:ahLst/>
              <a:cxnLst/>
              <a:rect l="l" t="t" r="r" b="b"/>
              <a:pathLst>
                <a:path w="14071600" h="6878320">
                  <a:moveTo>
                    <a:pt x="0" y="220091"/>
                  </a:moveTo>
                  <a:cubicBezTo>
                    <a:pt x="0" y="98552"/>
                    <a:pt x="98552" y="0"/>
                    <a:pt x="220091" y="0"/>
                  </a:cubicBezTo>
                  <a:lnTo>
                    <a:pt x="13851510" y="0"/>
                  </a:lnTo>
                  <a:cubicBezTo>
                    <a:pt x="13973048" y="0"/>
                    <a:pt x="14071600" y="98552"/>
                    <a:pt x="14071600" y="220091"/>
                  </a:cubicBezTo>
                  <a:lnTo>
                    <a:pt x="14071600" y="6658229"/>
                  </a:lnTo>
                  <a:cubicBezTo>
                    <a:pt x="14071600" y="6779768"/>
                    <a:pt x="13973048" y="6878320"/>
                    <a:pt x="13851510" y="6878320"/>
                  </a:cubicBezTo>
                  <a:lnTo>
                    <a:pt x="220091" y="6878320"/>
                  </a:lnTo>
                  <a:cubicBezTo>
                    <a:pt x="98552" y="6878320"/>
                    <a:pt x="0" y="6779768"/>
                    <a:pt x="0" y="665822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2926080"/>
            <a:ext cx="9710928" cy="512064"/>
            <a:chOff x="0" y="0"/>
            <a:chExt cx="12947904" cy="6827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947904" cy="682752"/>
            </a:xfrm>
            <a:custGeom>
              <a:avLst/>
              <a:gdLst/>
              <a:ahLst/>
              <a:cxnLst/>
              <a:rect l="l" t="t" r="r" b="b"/>
              <a:pathLst>
                <a:path w="12947904" h="682752">
                  <a:moveTo>
                    <a:pt x="0" y="0"/>
                  </a:moveTo>
                  <a:lnTo>
                    <a:pt x="12947904" y="0"/>
                  </a:lnTo>
                  <a:lnTo>
                    <a:pt x="12947904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9519" b="-3195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947904" cy="6922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 b="1" spc="199">
                  <a:solidFill>
                    <a:srgbClr val="6403D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CONTEXT WINDOW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45526" y="2926080"/>
            <a:ext cx="6082138" cy="512064"/>
            <a:chOff x="0" y="0"/>
            <a:chExt cx="8109517" cy="68275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09517" cy="682752"/>
            </a:xfrm>
            <a:custGeom>
              <a:avLst/>
              <a:gdLst/>
              <a:ahLst/>
              <a:cxnLst/>
              <a:rect l="l" t="t" r="r" b="b"/>
              <a:pathLst>
                <a:path w="8109517" h="682752">
                  <a:moveTo>
                    <a:pt x="0" y="0"/>
                  </a:moveTo>
                  <a:lnTo>
                    <a:pt x="8109517" y="0"/>
                  </a:lnTo>
                  <a:lnTo>
                    <a:pt x="8109517" y="682752"/>
                  </a:lnTo>
                  <a:lnTo>
                    <a:pt x="0" y="682752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8109517" cy="7208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finite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547872"/>
            <a:ext cx="9710928" cy="603504"/>
            <a:chOff x="0" y="0"/>
            <a:chExt cx="12947904" cy="8046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Persona, rules, guardrails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set once by the builder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16736" y="4242816"/>
            <a:ext cx="9710928" cy="603504"/>
            <a:chOff x="0" y="0"/>
            <a:chExt cx="12947904" cy="8046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Memory files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CLAUDE.md / AGENTS.md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16736" y="4937760"/>
            <a:ext cx="9710928" cy="603504"/>
            <a:chOff x="0" y="0"/>
            <a:chExt cx="12947904" cy="80467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Retrieved documents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RAG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16736" y="5632704"/>
            <a:ext cx="9710928" cy="603504"/>
            <a:chOff x="0" y="0"/>
            <a:chExt cx="12947904" cy="80467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tool + server results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MCP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16736" y="6327648"/>
            <a:ext cx="9710928" cy="603504"/>
            <a:chOff x="0" y="0"/>
            <a:chExt cx="12947904" cy="80467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Everything said so far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conversation history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16736" y="7022592"/>
            <a:ext cx="9710928" cy="603504"/>
            <a:chOff x="0" y="0"/>
            <a:chExt cx="12947904" cy="80467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PROMPT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2D1155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only bit you type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1887200" y="2743200"/>
            <a:ext cx="5303520" cy="5120640"/>
            <a:chOff x="0" y="0"/>
            <a:chExt cx="7071360" cy="6827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7071360" cy="6827520"/>
            </a:xfrm>
            <a:custGeom>
              <a:avLst/>
              <a:gdLst/>
              <a:ahLst/>
              <a:cxnLst/>
              <a:rect l="l" t="t" r="r" b="b"/>
              <a:pathLst>
                <a:path w="7071360" h="6827520">
                  <a:moveTo>
                    <a:pt x="0" y="409702"/>
                  </a:moveTo>
                  <a:cubicBezTo>
                    <a:pt x="0" y="183388"/>
                    <a:pt x="183388" y="0"/>
                    <a:pt x="409702" y="0"/>
                  </a:cubicBezTo>
                  <a:lnTo>
                    <a:pt x="6661658" y="0"/>
                  </a:lnTo>
                  <a:cubicBezTo>
                    <a:pt x="6887845" y="0"/>
                    <a:pt x="7071360" y="183388"/>
                    <a:pt x="7071360" y="409702"/>
                  </a:cubicBezTo>
                  <a:lnTo>
                    <a:pt x="7071360" y="6417818"/>
                  </a:lnTo>
                  <a:cubicBezTo>
                    <a:pt x="7071360" y="6644005"/>
                    <a:pt x="6887972" y="6827520"/>
                    <a:pt x="6661658" y="6827520"/>
                  </a:cubicBezTo>
                  <a:lnTo>
                    <a:pt x="409702" y="6827520"/>
                  </a:lnTo>
                  <a:cubicBezTo>
                    <a:pt x="183388" y="6827520"/>
                    <a:pt x="0" y="6644132"/>
                    <a:pt x="0" y="641781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2326112" y="3035808"/>
            <a:ext cx="4425696" cy="1097280"/>
            <a:chOff x="0" y="0"/>
            <a:chExt cx="5900928" cy="146304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5900928" cy="1463040"/>
            </a:xfrm>
            <a:custGeom>
              <a:avLst/>
              <a:gdLst/>
              <a:ahLst/>
              <a:cxnLst/>
              <a:rect l="l" t="t" r="r" b="b"/>
              <a:pathLst>
                <a:path w="5900928" h="1463040">
                  <a:moveTo>
                    <a:pt x="0" y="0"/>
                  </a:moveTo>
                  <a:lnTo>
                    <a:pt x="5900928" y="0"/>
                  </a:lnTo>
                  <a:lnTo>
                    <a:pt x="5900928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589" b="-2858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5900928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whole job: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2326112" y="4240911"/>
            <a:ext cx="4425696" cy="2699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each layer.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what order.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And what stays out.</a:t>
            </a:r>
          </a:p>
        </p:txBody>
      </p:sp>
      <p:grpSp>
        <p:nvGrpSpPr>
          <p:cNvPr id="72" name="Group 72"/>
          <p:cNvGrpSpPr/>
          <p:nvPr/>
        </p:nvGrpSpPr>
        <p:grpSpPr>
          <a:xfrm>
            <a:off x="12326112" y="5705856"/>
            <a:ext cx="4425696" cy="731520"/>
            <a:chOff x="0" y="0"/>
            <a:chExt cx="5900928" cy="975360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5900928" cy="975360"/>
            </a:xfrm>
            <a:custGeom>
              <a:avLst/>
              <a:gdLst/>
              <a:ahLst/>
              <a:cxnLst/>
              <a:rect l="l" t="t" r="r" b="b"/>
              <a:pathLst>
                <a:path w="5900928" h="975360">
                  <a:moveTo>
                    <a:pt x="0" y="136525"/>
                  </a:moveTo>
                  <a:cubicBezTo>
                    <a:pt x="0" y="61087"/>
                    <a:pt x="61087" y="0"/>
                    <a:pt x="136525" y="0"/>
                  </a:cubicBezTo>
                  <a:lnTo>
                    <a:pt x="5764403" y="0"/>
                  </a:lnTo>
                  <a:cubicBezTo>
                    <a:pt x="5839841" y="0"/>
                    <a:pt x="5900928" y="61087"/>
                    <a:pt x="5900928" y="136525"/>
                  </a:cubicBezTo>
                  <a:lnTo>
                    <a:pt x="5900928" y="838835"/>
                  </a:lnTo>
                  <a:cubicBezTo>
                    <a:pt x="5900928" y="914273"/>
                    <a:pt x="5839841" y="975360"/>
                    <a:pt x="5764403" y="975360"/>
                  </a:cubicBezTo>
                  <a:lnTo>
                    <a:pt x="136525" y="975360"/>
                  </a:lnTo>
                  <a:cubicBezTo>
                    <a:pt x="61087" y="975360"/>
                    <a:pt x="0" y="914273"/>
                    <a:pt x="0" y="838835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618720" y="5705856"/>
            <a:ext cx="3840480" cy="731520"/>
            <a:chOff x="0" y="0"/>
            <a:chExt cx="5120640" cy="97536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120640" cy="975360"/>
            </a:xfrm>
            <a:custGeom>
              <a:avLst/>
              <a:gdLst/>
              <a:ahLst/>
              <a:cxnLst/>
              <a:rect l="l" t="t" r="r" b="b"/>
              <a:pathLst>
                <a:path w="5120640" h="975360">
                  <a:moveTo>
                    <a:pt x="0" y="0"/>
                  </a:moveTo>
                  <a:lnTo>
                    <a:pt x="5120640" y="0"/>
                  </a:lnTo>
                  <a:lnTo>
                    <a:pt x="5120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296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9525"/>
              <a:ext cx="5120640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4078954" y="5705856"/>
            <a:ext cx="2380246" cy="731520"/>
            <a:chOff x="0" y="0"/>
            <a:chExt cx="3173661" cy="97536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173662" cy="975360"/>
            </a:xfrm>
            <a:custGeom>
              <a:avLst/>
              <a:gdLst/>
              <a:ahLst/>
              <a:cxnLst/>
              <a:rect l="l" t="t" r="r" b="b"/>
              <a:pathLst>
                <a:path w="3173662" h="975360">
                  <a:moveTo>
                    <a:pt x="0" y="0"/>
                  </a:moveTo>
                  <a:lnTo>
                    <a:pt x="3173662" y="0"/>
                  </a:lnTo>
                  <a:lnTo>
                    <a:pt x="3173662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296" r="-61348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3173661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see the stack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2326112" y="6664452"/>
            <a:ext cx="4425696" cy="1043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i="1">
                <a:solidFill>
                  <a:srgbClr val="C4B5E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Every layer costs space. Fill the window and the model starts guessing.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RAG, MCP, memory, tools — none of them talk to the model. </a:t>
              </a:r>
              <a:r>
                <a:rPr lang="en-US" sz="23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They just write a better system prompt.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DAY IS A LADDER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 three workshops. Each rung removes a different crutch.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943606"/>
            <a:ext cx="16497300" cy="1903476"/>
            <a:chOff x="0" y="0"/>
            <a:chExt cx="21996400" cy="253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199009"/>
                  </a:moveTo>
                  <a:cubicBezTo>
                    <a:pt x="0" y="89154"/>
                    <a:pt x="89154" y="0"/>
                    <a:pt x="199009" y="0"/>
                  </a:cubicBezTo>
                  <a:lnTo>
                    <a:pt x="21797390" y="0"/>
                  </a:lnTo>
                  <a:cubicBezTo>
                    <a:pt x="21907373" y="0"/>
                    <a:pt x="21996400" y="89154"/>
                    <a:pt x="21996400" y="199009"/>
                  </a:cubicBezTo>
                  <a:lnTo>
                    <a:pt x="21996400" y="2338959"/>
                  </a:lnTo>
                  <a:cubicBezTo>
                    <a:pt x="21996400" y="2448941"/>
                    <a:pt x="21907246" y="2537968"/>
                    <a:pt x="21797390" y="2537968"/>
                  </a:cubicBezTo>
                  <a:lnTo>
                    <a:pt x="199009" y="2537968"/>
                  </a:lnTo>
                  <a:cubicBezTo>
                    <a:pt x="89154" y="2537968"/>
                    <a:pt x="0" y="2448814"/>
                    <a:pt x="0" y="233895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83280" y="3218688"/>
            <a:ext cx="9509760" cy="768096"/>
            <a:chOff x="0" y="0"/>
            <a:chExt cx="126796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383280" y="3986784"/>
            <a:ext cx="12070080" cy="694944"/>
            <a:chOff x="0" y="0"/>
            <a:chExt cx="16093440" cy="9265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 the tool. Make it work, don't care how.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3633216" y="0"/>
                  </a:lnTo>
                  <a:cubicBezTo>
                    <a:pt x="3713988" y="0"/>
                    <a:pt x="3779520" y="65532"/>
                    <a:pt x="3779520" y="146304"/>
                  </a:cubicBezTo>
                  <a:lnTo>
                    <a:pt x="3779520" y="682752"/>
                  </a:lnTo>
                  <a:cubicBezTo>
                    <a:pt x="3779520" y="763524"/>
                    <a:pt x="3713988" y="829056"/>
                    <a:pt x="3633216" y="829056"/>
                  </a:cubicBezTo>
                  <a:lnTo>
                    <a:pt x="146304" y="829056"/>
                  </a:lnTo>
                  <a:cubicBezTo>
                    <a:pt x="65532" y="829056"/>
                    <a:pt x="0" y="763524"/>
                    <a:pt x="0" y="682752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83280" y="5303520"/>
            <a:ext cx="9509760" cy="768096"/>
            <a:chOff x="0" y="0"/>
            <a:chExt cx="126796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Engineering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383280" y="6071616"/>
            <a:ext cx="12070080" cy="694944"/>
            <a:chOff x="0" y="0"/>
            <a:chExt cx="16093440" cy="92659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Make it repeatable. Stop repeating yourself.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01703" y="7119623"/>
            <a:ext cx="16484603" cy="1890779"/>
            <a:chOff x="0" y="0"/>
            <a:chExt cx="21979471" cy="25210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383280" y="7388352"/>
            <a:ext cx="9509760" cy="768096"/>
            <a:chOff x="0" y="0"/>
            <a:chExt cx="12679680" cy="102412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Agentic Engineering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3280" y="8156448"/>
            <a:ext cx="12070080" cy="694944"/>
            <a:chOff x="0" y="0"/>
            <a:chExt cx="16093440" cy="9265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Stop trusting the agent. Engineer around it.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VIBE CODING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6" name="Freeform 6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14400" y="2634892"/>
            <a:ext cx="16459200" cy="1280160"/>
            <a:chOff x="0" y="0"/>
            <a:chExt cx="21945600" cy="17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0521" b="-20052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1945600" cy="17259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39"/>
                </a:lnSpc>
              </a:pPr>
              <a:r>
                <a:rPr lang="en-US" sz="51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 is </a:t>
              </a: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using the tool.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0976" y="3915052"/>
            <a:ext cx="16093440" cy="914400"/>
            <a:chOff x="0" y="0"/>
            <a:chExt cx="2145792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457920" cy="1219200"/>
            </a:xfrm>
            <a:custGeom>
              <a:avLst/>
              <a:gdLst/>
              <a:ahLst/>
              <a:cxnLst/>
              <a:rect l="l" t="t" r="r" b="b"/>
              <a:pathLst>
                <a:path w="21457920" h="1219200">
                  <a:moveTo>
                    <a:pt x="0" y="0"/>
                  </a:moveTo>
                  <a:lnTo>
                    <a:pt x="21457920" y="0"/>
                  </a:lnTo>
                  <a:lnTo>
                    <a:pt x="214579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936" b="-29293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66675"/>
              <a:ext cx="2145792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describe the outcome. The agent writes, runs, and fixes the code. You watch, react, and steer.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14400" y="5195212"/>
            <a:ext cx="16459200" cy="3566160"/>
            <a:chOff x="0" y="0"/>
            <a:chExt cx="21945600" cy="47548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45600" cy="4754880"/>
            </a:xfrm>
            <a:custGeom>
              <a:avLst/>
              <a:gdLst/>
              <a:ahLst/>
              <a:cxnLst/>
              <a:rect l="l" t="t" r="r" b="b"/>
              <a:pathLst>
                <a:path w="21945600" h="475488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726144" y="0"/>
                  </a:lnTo>
                  <a:cubicBezTo>
                    <a:pt x="21847302" y="0"/>
                    <a:pt x="21945600" y="98298"/>
                    <a:pt x="21945600" y="219456"/>
                  </a:cubicBezTo>
                  <a:lnTo>
                    <a:pt x="21945600" y="4535424"/>
                  </a:lnTo>
                  <a:cubicBezTo>
                    <a:pt x="21945600" y="4656582"/>
                    <a:pt x="21847302" y="4754880"/>
                    <a:pt x="21726144" y="4754880"/>
                  </a:cubicBezTo>
                  <a:lnTo>
                    <a:pt x="219456" y="4754880"/>
                  </a:lnTo>
                  <a:cubicBezTo>
                    <a:pt x="98298" y="4754880"/>
                    <a:pt x="0" y="4656582"/>
                    <a:pt x="0" y="453542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5560972"/>
            <a:ext cx="14630400" cy="585216"/>
            <a:chOff x="0" y="0"/>
            <a:chExt cx="19507200" cy="78028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950720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3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MINDSET SHIFT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3040" y="6292492"/>
            <a:ext cx="15361920" cy="914400"/>
            <a:chOff x="0" y="0"/>
            <a:chExt cx="2048256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4B5E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“How do I write this function?”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63040" y="7481212"/>
            <a:ext cx="15361920" cy="914400"/>
            <a:chOff x="0" y="0"/>
            <a:chExt cx="204825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</a:t>
              </a:r>
              <a:r>
                <a:rPr lang="en-US" sz="3600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“What do I want to be true when this is done?”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AGENTIC LOOP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mental model that matters most.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200400"/>
            <a:ext cx="3035808" cy="2834640"/>
            <a:chOff x="0" y="0"/>
            <a:chExt cx="4047744" cy="3779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3401568"/>
            <a:ext cx="3035808" cy="768096"/>
            <a:chOff x="0" y="0"/>
            <a:chExt cx="4047744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" y="4242816"/>
            <a:ext cx="3035808" cy="621792"/>
            <a:chOff x="0" y="0"/>
            <a:chExt cx="4047744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901184"/>
            <a:ext cx="3035808" cy="914400"/>
            <a:chOff x="0" y="0"/>
            <a:chExt cx="4047744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 the outcome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913632" y="3749040"/>
            <a:ext cx="329184" cy="1828800"/>
            <a:chOff x="0" y="0"/>
            <a:chExt cx="438912" cy="2438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279392" y="3200400"/>
            <a:ext cx="3035808" cy="2834640"/>
            <a:chOff x="0" y="0"/>
            <a:chExt cx="4047744" cy="37795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79392" y="3401568"/>
            <a:ext cx="3035808" cy="768096"/>
            <a:chOff x="0" y="0"/>
            <a:chExt cx="4047744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279392" y="4242816"/>
            <a:ext cx="3035808" cy="621792"/>
            <a:chOff x="0" y="0"/>
            <a:chExt cx="4047744" cy="82905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GENERATE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279392" y="4901184"/>
            <a:ext cx="3035808" cy="914400"/>
            <a:chOff x="0" y="0"/>
            <a:chExt cx="404774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writes code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278624" y="3749040"/>
            <a:ext cx="329184" cy="1828800"/>
            <a:chOff x="0" y="0"/>
            <a:chExt cx="438912" cy="2438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44384" y="3200400"/>
            <a:ext cx="3035808" cy="2834640"/>
            <a:chOff x="0" y="0"/>
            <a:chExt cx="4047744" cy="3779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44384" y="3401568"/>
            <a:ext cx="3035808" cy="768096"/>
            <a:chOff x="0" y="0"/>
            <a:chExt cx="4047744" cy="102412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44384" y="4242816"/>
            <a:ext cx="3035808" cy="621792"/>
            <a:chOff x="0" y="0"/>
            <a:chExt cx="4047744" cy="82905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RUN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44384" y="4901184"/>
            <a:ext cx="3035808" cy="914400"/>
            <a:chOff x="0" y="0"/>
            <a:chExt cx="4047744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executes it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643616" y="3749040"/>
            <a:ext cx="329184" cy="1828800"/>
            <a:chOff x="0" y="0"/>
            <a:chExt cx="438912" cy="2438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009376" y="3200400"/>
            <a:ext cx="3035808" cy="2834640"/>
            <a:chOff x="0" y="0"/>
            <a:chExt cx="4047744" cy="37795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009376" y="3401568"/>
            <a:ext cx="3035808" cy="768096"/>
            <a:chOff x="0" y="0"/>
            <a:chExt cx="4047744" cy="102412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009376" y="4242816"/>
            <a:ext cx="3035808" cy="621792"/>
            <a:chOff x="0" y="0"/>
            <a:chExt cx="4047744" cy="829056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OBSERVE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009376" y="4901184"/>
            <a:ext cx="3035808" cy="914400"/>
            <a:chOff x="0" y="0"/>
            <a:chExt cx="4047744" cy="12192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look at reality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08608" y="3749040"/>
            <a:ext cx="329184" cy="1828800"/>
            <a:chOff x="0" y="0"/>
            <a:chExt cx="438912" cy="2438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4374368" y="3200400"/>
            <a:ext cx="3035808" cy="2834640"/>
            <a:chOff x="0" y="0"/>
            <a:chExt cx="4047744" cy="3779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4374368" y="3401568"/>
            <a:ext cx="3035808" cy="768096"/>
            <a:chOff x="0" y="0"/>
            <a:chExt cx="4047744" cy="102412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374368" y="4242816"/>
            <a:ext cx="3035808" cy="621792"/>
            <a:chOff x="0" y="0"/>
            <a:chExt cx="4047744" cy="82905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REACT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4374368" y="4901184"/>
            <a:ext cx="3035808" cy="914400"/>
            <a:chOff x="0" y="0"/>
            <a:chExt cx="4047744" cy="12192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steer, repeat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914400" y="6492240"/>
            <a:ext cx="16459200" cy="2468880"/>
            <a:chOff x="0" y="0"/>
            <a:chExt cx="21945600" cy="329184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1945600" cy="3291840"/>
            </a:xfrm>
            <a:custGeom>
              <a:avLst/>
              <a:gdLst/>
              <a:ahLst/>
              <a:cxnLst/>
              <a:rect l="l" t="t" r="r" b="b"/>
              <a:pathLst>
                <a:path w="21945600" h="329184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096768"/>
                  </a:lnTo>
                  <a:cubicBezTo>
                    <a:pt x="21945600" y="3204464"/>
                    <a:pt x="21858224" y="3291840"/>
                    <a:pt x="21750528" y="3291840"/>
                  </a:cubicBezTo>
                  <a:lnTo>
                    <a:pt x="195072" y="3291840"/>
                  </a:lnTo>
                  <a:cubicBezTo>
                    <a:pt x="87376" y="3291840"/>
                    <a:pt x="0" y="3204464"/>
                    <a:pt x="0" y="309676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1463040" y="6766560"/>
            <a:ext cx="15361920" cy="1828800"/>
            <a:chOff x="0" y="0"/>
            <a:chExt cx="20482560" cy="24384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482561" cy="2438400"/>
            </a:xfrm>
            <a:custGeom>
              <a:avLst/>
              <a:gdLst/>
              <a:ahLst/>
              <a:cxnLst/>
              <a:rect l="l" t="t" r="r" b="b"/>
              <a:pathLst>
                <a:path w="20482561" h="2438400">
                  <a:moveTo>
                    <a:pt x="0" y="0"/>
                  </a:moveTo>
                  <a:lnTo>
                    <a:pt x="20482561" y="0"/>
                  </a:lnTo>
                  <a:lnTo>
                    <a:pt x="20482561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674" b="-11367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66675"/>
              <a:ext cx="20482560" cy="2505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job lives in steps 1, 4 and 5.  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owns 2 and 3. The faster you spin this loop, the more you ship — so keep each turn small.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THE AGENT ACTUALLY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Under the hood.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7863840" cy="2889504"/>
            <a:chOff x="0" y="0"/>
            <a:chExt cx="10485120" cy="3852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96896" y="3364992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window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1790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it can see now: your prompt, files, past turns, tool output. Finite — and it fills up.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509760" y="2926080"/>
            <a:ext cx="7863840" cy="2889504"/>
            <a:chOff x="0" y="0"/>
            <a:chExt cx="10485120" cy="3852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92256" y="3364992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Tools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1326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it acts: read/write files, run the shell, run tests, git, search, MCP servers.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" y="6071616"/>
            <a:ext cx="7863840" cy="2889504"/>
            <a:chOff x="0" y="0"/>
            <a:chExt cx="10485120" cy="385267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596896" y="6510528"/>
            <a:ext cx="5852160" cy="914400"/>
            <a:chOff x="0" y="0"/>
            <a:chExt cx="7802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loop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51790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Call a tool, read the result, decide the next move, repeat — until the goal is met.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9760" y="6071616"/>
            <a:ext cx="7863840" cy="2889504"/>
            <a:chOff x="0" y="0"/>
            <a:chExt cx="10485120" cy="385267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192256" y="6510528"/>
            <a:ext cx="5852160" cy="914400"/>
            <a:chOff x="0" y="0"/>
            <a:chExt cx="7802880" cy="12192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011326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What it may do without asking. You set the guardrails; it works inside them.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14400" y="9180576"/>
            <a:ext cx="15544800" cy="731520"/>
            <a:chOff x="0" y="0"/>
            <a:chExt cx="20726400" cy="97536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0726400" cy="975360"/>
            </a:xfrm>
            <a:custGeom>
              <a:avLst/>
              <a:gdLst/>
              <a:ahLst/>
              <a:cxnLst/>
              <a:rect l="l" t="t" r="r" b="b"/>
              <a:pathLst>
                <a:path w="20726400" h="975360">
                  <a:moveTo>
                    <a:pt x="0" y="0"/>
                  </a:moveTo>
                  <a:lnTo>
                    <a:pt x="20726400" y="0"/>
                  </a:lnTo>
                  <a:lnTo>
                    <a:pt x="207264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4057" b="-3640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20726400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Not autocomplete.  </a:t>
              </a:r>
              <a:r>
                <a:rPr lang="en-US" sz="24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program that reasons, acts through tools, and checks its own results in a loop.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53312" y="2377440"/>
            <a:ext cx="10972800" cy="548640"/>
            <a:chOff x="0" y="0"/>
            <a:chExt cx="146304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5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ONE RULE FOR THIS MORNING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6736" y="3383280"/>
            <a:ext cx="11338560" cy="1645920"/>
            <a:chOff x="0" y="0"/>
            <a:chExt cx="15118080" cy="21945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118080" cy="2194560"/>
            </a:xfrm>
            <a:custGeom>
              <a:avLst/>
              <a:gdLst/>
              <a:ahLst/>
              <a:cxnLst/>
              <a:rect l="l" t="t" r="r" b="b"/>
              <a:pathLst>
                <a:path w="15118080" h="2194560">
                  <a:moveTo>
                    <a:pt x="0" y="0"/>
                  </a:moveTo>
                  <a:lnTo>
                    <a:pt x="15118080" y="0"/>
                  </a:lnTo>
                  <a:lnTo>
                    <a:pt x="15118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230" b="-842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118080" cy="22326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600"/>
                </a:lnSpc>
              </a:pPr>
              <a:r>
                <a:rPr lang="en-US" sz="8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Resist the keyboard.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53312" y="5394960"/>
            <a:ext cx="10972800" cy="2011680"/>
            <a:chOff x="0" y="0"/>
            <a:chExt cx="14630400" cy="26822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30400" cy="2682240"/>
            </a:xfrm>
            <a:custGeom>
              <a:avLst/>
              <a:gdLst/>
              <a:ahLst/>
              <a:cxnLst/>
              <a:rect l="l" t="t" r="r" b="b"/>
              <a:pathLst>
                <a:path w="14630400" h="2682240">
                  <a:moveTo>
                    <a:pt x="0" y="0"/>
                  </a:moveTo>
                  <a:lnTo>
                    <a:pt x="14630400" y="0"/>
                  </a:lnTo>
                  <a:lnTo>
                    <a:pt x="146304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6282" b="-562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14630400" cy="27489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instinct to “just fix it myself” is exactly what we're retraining. When your hands twitch toward the code, that's the moment to type a better prompt instead.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53312" y="7589520"/>
            <a:ext cx="10972800" cy="548640"/>
            <a:chOff x="0" y="0"/>
            <a:chExt cx="146304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Rusty: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easier — you don't recall the syntax anyway.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353312" y="8138160"/>
            <a:ext cx="10972800" cy="548640"/>
            <a:chOff x="0" y="0"/>
            <a:chExt cx="14630400" cy="7315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Confident: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one's for you.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 BY OUTCOME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#1 — not by step-by-step instructions.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Micromanaging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“Open streak.js, add a variable count, loop the dates array, increment it if...”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You're typing code with extra steps. And you have to be right.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Outcome + constraint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“Ticking a habit grows its streak. Missing a day resets it to zero. Show me a plan first.”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say WHAT and the rules. The agent picks HOW. No filename, no how.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 REVIEW, NOT PLAN WRITING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#2 — what changed this year.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821943"/>
            <a:ext cx="7889243" cy="2219963"/>
            <a:chOff x="0" y="0"/>
            <a:chExt cx="10518991" cy="295995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2959989"/>
            </a:xfrm>
            <a:custGeom>
              <a:avLst/>
              <a:gdLst/>
              <a:ahLst/>
              <a:cxnLst/>
              <a:rect l="l" t="t" r="r" b="b"/>
              <a:pathLst>
                <a:path w="10519028" h="2959989">
                  <a:moveTo>
                    <a:pt x="0" y="197358"/>
                  </a:moveTo>
                  <a:cubicBezTo>
                    <a:pt x="0" y="88392"/>
                    <a:pt x="88392" y="0"/>
                    <a:pt x="197358" y="0"/>
                  </a:cubicBezTo>
                  <a:lnTo>
                    <a:pt x="10321671" y="0"/>
                  </a:lnTo>
                  <a:cubicBezTo>
                    <a:pt x="10430637" y="0"/>
                    <a:pt x="10519028" y="88392"/>
                    <a:pt x="10519028" y="197358"/>
                  </a:cubicBezTo>
                  <a:lnTo>
                    <a:pt x="10519028" y="2762631"/>
                  </a:lnTo>
                  <a:cubicBezTo>
                    <a:pt x="10519028" y="2871597"/>
                    <a:pt x="10430637" y="2959989"/>
                    <a:pt x="10321671" y="2959989"/>
                  </a:cubicBezTo>
                  <a:lnTo>
                    <a:pt x="197358" y="2959989"/>
                  </a:lnTo>
                  <a:cubicBezTo>
                    <a:pt x="88392" y="2959989"/>
                    <a:pt x="0" y="2871597"/>
                    <a:pt x="0" y="276263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072384"/>
            <a:ext cx="7132320" cy="548640"/>
            <a:chOff x="0" y="0"/>
            <a:chExt cx="950976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2025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Force a plan. Check the steps — right file, sane order. It often planned clumsily.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490710" y="2815590"/>
            <a:ext cx="7901940" cy="2232660"/>
            <a:chOff x="0" y="0"/>
            <a:chExt cx="10535920" cy="29768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535920" cy="2976880"/>
            </a:xfrm>
            <a:custGeom>
              <a:avLst/>
              <a:gdLst/>
              <a:ahLst/>
              <a:cxnLst/>
              <a:rect l="l" t="t" r="r" b="b"/>
              <a:pathLst>
                <a:path w="10535920" h="2976880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337419" y="0"/>
                  </a:lnTo>
                  <a:cubicBezTo>
                    <a:pt x="10447020" y="0"/>
                    <a:pt x="10535920" y="88900"/>
                    <a:pt x="10535920" y="198501"/>
                  </a:cubicBezTo>
                  <a:lnTo>
                    <a:pt x="10535920" y="2778379"/>
                  </a:lnTo>
                  <a:cubicBezTo>
                    <a:pt x="10535920" y="2887980"/>
                    <a:pt x="10447020" y="2976880"/>
                    <a:pt x="10337419" y="2976880"/>
                  </a:cubicBezTo>
                  <a:lnTo>
                    <a:pt x="198501" y="2976880"/>
                  </a:lnTo>
                  <a:cubicBezTo>
                    <a:pt x="88900" y="2976880"/>
                    <a:pt x="0" y="2887980"/>
                    <a:pt x="0" y="277837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12096" y="3072384"/>
            <a:ext cx="7132320" cy="548640"/>
            <a:chOff x="0" y="0"/>
            <a:chExt cx="9509760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00353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Decomposition is solid. The risk flips: a clean, confident plan for slightly the wrong problem.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5394960"/>
            <a:ext cx="16459200" cy="2743200"/>
            <a:chOff x="0" y="0"/>
            <a:chExt cx="21945600" cy="3657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3657600"/>
            </a:xfrm>
            <a:custGeom>
              <a:avLst/>
              <a:gdLst/>
              <a:ahLst/>
              <a:cxnLst/>
              <a:rect l="l" t="t" r="r" b="b"/>
              <a:pathLst>
                <a:path w="21945600" h="36576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462528"/>
                  </a:lnTo>
                  <a:cubicBezTo>
                    <a:pt x="21945600" y="3570224"/>
                    <a:pt x="21858224" y="3657600"/>
                    <a:pt x="21750528" y="3657600"/>
                  </a:cubicBezTo>
                  <a:lnTo>
                    <a:pt x="195072" y="3657600"/>
                  </a:lnTo>
                  <a:cubicBezTo>
                    <a:pt x="87376" y="3657600"/>
                    <a:pt x="0" y="3570224"/>
                    <a:pt x="0" y="3462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63040" y="5632704"/>
            <a:ext cx="15361920" cy="585216"/>
            <a:chOff x="0" y="0"/>
            <a:chExt cx="20482560" cy="7802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 read for intent and scope, not mechanics: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63040" y="6254496"/>
            <a:ext cx="15361920" cy="1792224"/>
            <a:chOff x="0" y="0"/>
            <a:chExt cx="20482560" cy="238963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482561" cy="2389632"/>
            </a:xfrm>
            <a:custGeom>
              <a:avLst/>
              <a:gdLst/>
              <a:ahLst/>
              <a:cxnLst/>
              <a:rect l="l" t="t" r="r" b="b"/>
              <a:pathLst>
                <a:path w="20482561" h="2389632">
                  <a:moveTo>
                    <a:pt x="0" y="0"/>
                  </a:moveTo>
                  <a:lnTo>
                    <a:pt x="20482561" y="0"/>
                  </a:lnTo>
                  <a:lnTo>
                    <a:pt x="20482561" y="2389632"/>
                  </a:lnTo>
                  <a:lnTo>
                    <a:pt x="0" y="23896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7014" b="-1170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0482560" cy="2427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Did it understand the real goal, or a plausible lookalike?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 it about to touch more than it should?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did it assume that you never said?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8412480"/>
            <a:ext cx="16459200" cy="640080"/>
            <a:chOff x="0" y="0"/>
            <a:chExt cx="21945600" cy="8534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1945600" cy="8915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Turn it on —  Claude Code: Shift+Tab cycles to plan, or /plan     ·     Codex: /plan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 ARE A DIAL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setting nobody touches. Touch 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Auto-accept everything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“Yes to all, it's faster.”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Then one shell command, in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repo that matters.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approved that in advance, and you weren't watching when it ran.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Match the dial to the blast radius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Ask-every-time while the task is new.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Auto-accept only in a sandbox, or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repo you could afford to delete.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Claude Code: Shift+Tab cycles the mode.   Codex: /permissions.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COCKPIT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#3: five moves on the context window. That is the entire cockpit.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585216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MOVE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98080" y="2962656"/>
            <a:ext cx="493776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710160" y="2962656"/>
            <a:ext cx="457200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60350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it is holding right now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98080" y="3584448"/>
            <a:ext cx="512064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710160" y="3584448"/>
            <a:ext cx="457200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/status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60350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exact files the task touches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498080" y="4590288"/>
            <a:ext cx="512064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710160" y="4590288"/>
            <a:ext cx="457200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60350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TRIM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summarise away what is stale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498080" y="5596128"/>
            <a:ext cx="512064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710160" y="5596128"/>
            <a:ext cx="457200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60350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RESET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task, clean window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7498080" y="6601968"/>
            <a:ext cx="512064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710160" y="6601968"/>
            <a:ext cx="457200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/new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60350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model, and how hard it thinks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7498080" y="7607808"/>
            <a:ext cx="512064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  /effort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710160" y="7607808"/>
            <a:ext cx="457200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See, load, trim, reset, choose.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Check what you've spent with /usage (Codex: /status).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 THE FUEL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gauge tells you which of the five moves to reach for.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3004823"/>
            <a:ext cx="5383787" cy="5786123"/>
            <a:chOff x="0" y="0"/>
            <a:chExt cx="7178383" cy="77148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383280"/>
            <a:ext cx="4572000" cy="731520"/>
            <a:chOff x="0" y="0"/>
            <a:chExt cx="6096000" cy="9753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little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was never told enough. So it guesses — wrong file, invented convention, confident nonsense.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436614" y="2998470"/>
            <a:ext cx="5396484" cy="5798820"/>
            <a:chOff x="0" y="0"/>
            <a:chExt cx="7195312" cy="77317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195312" cy="7731761"/>
            </a:xfrm>
            <a:custGeom>
              <a:avLst/>
              <a:gdLst/>
              <a:ahLst/>
              <a:cxnLst/>
              <a:rect l="l" t="t" r="r" b="b"/>
              <a:pathLst>
                <a:path w="7195312" h="7731761">
                  <a:moveTo>
                    <a:pt x="0" y="220980"/>
                  </a:moveTo>
                  <a:cubicBezTo>
                    <a:pt x="0" y="98933"/>
                    <a:pt x="98933" y="0"/>
                    <a:pt x="220980" y="0"/>
                  </a:cubicBezTo>
                  <a:lnTo>
                    <a:pt x="6974332" y="0"/>
                  </a:lnTo>
                  <a:cubicBezTo>
                    <a:pt x="7096378" y="0"/>
                    <a:pt x="7195312" y="98933"/>
                    <a:pt x="7195312" y="220980"/>
                  </a:cubicBezTo>
                  <a:lnTo>
                    <a:pt x="7195312" y="7510780"/>
                  </a:lnTo>
                  <a:cubicBezTo>
                    <a:pt x="7195312" y="7632827"/>
                    <a:pt x="7096378" y="7731761"/>
                    <a:pt x="6974332" y="7731761"/>
                  </a:cubicBezTo>
                  <a:lnTo>
                    <a:pt x="220980" y="7731761"/>
                  </a:lnTo>
                  <a:cubicBezTo>
                    <a:pt x="98933" y="7731760"/>
                    <a:pt x="0" y="7632827"/>
                    <a:pt x="0" y="7510780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58000" y="3383280"/>
            <a:ext cx="4572000" cy="731520"/>
            <a:chOff x="0" y="0"/>
            <a:chExt cx="6096000" cy="975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Just right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949440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One task. Only what that task touches. Nothing left over from an hour ago.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02519" y="3004823"/>
            <a:ext cx="5383787" cy="5786123"/>
            <a:chOff x="0" y="0"/>
            <a:chExt cx="7178383" cy="771483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417552" y="3383280"/>
            <a:ext cx="4572000" cy="731520"/>
            <a:chOff x="0" y="0"/>
            <a:chExt cx="6096000" cy="975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much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508992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Slow, and old threads leak into new answers. The window is full, so it starts forgetting.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316736" y="7607808"/>
            <a:ext cx="4480560" cy="768096"/>
            <a:chOff x="0" y="0"/>
            <a:chExt cx="5974080" cy="10241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LOAD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more of the right thing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58000" y="7607808"/>
            <a:ext cx="4480560" cy="768096"/>
            <a:chOff x="0" y="0"/>
            <a:chExt cx="59740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HOLD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live here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417552" y="7607808"/>
            <a:ext cx="4480560" cy="768096"/>
            <a:chOff x="0" y="0"/>
            <a:chExt cx="597408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TRIM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then RESET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SPEND TOKENS ON PURPOSE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default is now the top model on every plan, including Pro. Choose on purpose.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Start on a mid-tier model.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sonnet, /effort medium. Claude Code remembers.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Spend on planning, not typing.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opusplan: Opus to plan, Sonnet to build.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/clear saves money too.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whole context is sent again on every turn.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agents can be cheap agents.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afternoon the verifier runs on haiku.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/usage at every break.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Codex: /status. Name aliases, never version numbers.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WHEN IT BREAKS — IT WILL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#4 — report symptoms, don't reach for the file.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Hand-debugging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54480" y="4671060"/>
            <a:ext cx="6766560" cy="4335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Open the file, read the trace, start editing...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You've grabbed the keyboard again.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has no idea what you just changed.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Report symptoms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53650" y="4667250"/>
            <a:ext cx="6772275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Paste the exact error text.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Describe the screen: "streak shows 3, I ticked it, still 3."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Say what you saw, never what to change.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COMMIT SMALL, SHIP OFTEN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#5 — git is your undo.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6459200" cy="1920240"/>
            <a:chOff x="0" y="0"/>
            <a:chExt cx="21945600" cy="2560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45600" cy="2560320"/>
            </a:xfrm>
            <a:custGeom>
              <a:avLst/>
              <a:gdLst/>
              <a:ahLst/>
              <a:cxnLst/>
              <a:rect l="l" t="t" r="r" b="b"/>
              <a:pathLst>
                <a:path w="21945600" h="25603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2365248"/>
                  </a:lnTo>
                  <a:cubicBezTo>
                    <a:pt x="21945600" y="2472944"/>
                    <a:pt x="21858224" y="2560320"/>
                    <a:pt x="21750528" y="2560320"/>
                  </a:cubicBezTo>
                  <a:lnTo>
                    <a:pt x="195072" y="2560320"/>
                  </a:lnTo>
                  <a:cubicBezTo>
                    <a:pt x="87376" y="2560320"/>
                    <a:pt x="0" y="2472944"/>
                    <a:pt x="0" y="23652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63040" y="3145536"/>
            <a:ext cx="14630400" cy="585216"/>
            <a:chOff x="0" y="0"/>
            <a:chExt cx="19507200" cy="7802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507200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Let the agent run git for you: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3749040"/>
            <a:ext cx="15361920" cy="914400"/>
            <a:chOff x="0" y="0"/>
            <a:chExt cx="2048256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0482560" cy="1219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C6F92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“Commit this with a sensible message.”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5212080"/>
            <a:ext cx="16459200" cy="3749040"/>
            <a:chOff x="0" y="0"/>
            <a:chExt cx="21945600" cy="49987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945600" cy="4998720"/>
            </a:xfrm>
            <a:custGeom>
              <a:avLst/>
              <a:gdLst/>
              <a:ahLst/>
              <a:cxnLst/>
              <a:rect l="l" t="t" r="r" b="b"/>
              <a:pathLst>
                <a:path w="21945600" h="4998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4803648"/>
                  </a:lnTo>
                  <a:cubicBezTo>
                    <a:pt x="21945600" y="4911344"/>
                    <a:pt x="21858224" y="4998720"/>
                    <a:pt x="21750528" y="4998720"/>
                  </a:cubicBezTo>
                  <a:lnTo>
                    <a:pt x="195072" y="4998720"/>
                  </a:lnTo>
                  <a:cubicBezTo>
                    <a:pt x="87376" y="4998720"/>
                    <a:pt x="0" y="4911344"/>
                    <a:pt x="0" y="480364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63040" y="5486400"/>
            <a:ext cx="15361920" cy="585216"/>
            <a:chOff x="0" y="0"/>
            <a:chExt cx="20482560" cy="7802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199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NETS — YOU'LL USE BOTH TODAY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63040" y="6254496"/>
            <a:ext cx="15361920" cy="914400"/>
            <a:chOff x="0" y="0"/>
            <a:chExt cx="2048256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Small commits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= your undo. A bad turn is one revert away, no drama.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54480" y="7330821"/>
            <a:ext cx="1517904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 = the room's safety net. Fall behind? Drop into the reference repo, which holds a working app at the end of every section. Using it is expected, not failure.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CHANGED IN A YEAR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ground is moving.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663440" y="2834640"/>
            <a:ext cx="6583680" cy="548640"/>
            <a:chOff x="0" y="0"/>
            <a:chExt cx="877824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78240" cy="731520"/>
            </a:xfrm>
            <a:custGeom>
              <a:avLst/>
              <a:gdLst/>
              <a:ahLst/>
              <a:cxnLst/>
              <a:rect l="l" t="t" r="r" b="b"/>
              <a:pathLst>
                <a:path w="8778240" h="73152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77824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A YEAR AGO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887200" y="2834640"/>
            <a:ext cx="5486400" cy="548640"/>
            <a:chOff x="0" y="0"/>
            <a:chExt cx="73152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3462023"/>
            <a:ext cx="16484603" cy="1707899"/>
            <a:chOff x="0" y="0"/>
            <a:chExt cx="21979471" cy="227719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3474720"/>
            <a:ext cx="3108960" cy="1682496"/>
            <a:chOff x="0" y="0"/>
            <a:chExt cx="4145280" cy="22433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PLANNING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63440" y="3474720"/>
            <a:ext cx="6858000" cy="1682496"/>
            <a:chOff x="0" y="0"/>
            <a:chExt cx="9144000" cy="22433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Coax a plan; check its mechanics.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484864" y="3474720"/>
            <a:ext cx="548640" cy="1682496"/>
            <a:chOff x="0" y="0"/>
            <a:chExt cx="731520" cy="22433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887200" y="3474720"/>
            <a:ext cx="5212080" cy="1682496"/>
            <a:chOff x="0" y="0"/>
            <a:chExt cx="6949440" cy="22433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 plan well. You check intent &amp; scope.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1703" y="5363975"/>
            <a:ext cx="16484603" cy="1707899"/>
            <a:chOff x="0" y="0"/>
            <a:chExt cx="21979471" cy="227719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5376672"/>
            <a:ext cx="3108960" cy="1682496"/>
            <a:chOff x="0" y="0"/>
            <a:chExt cx="4145280" cy="224332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663440" y="5376672"/>
            <a:ext cx="6858000" cy="1682496"/>
            <a:chOff x="0" y="0"/>
            <a:chExt cx="9144000" cy="224332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Tiny windows; constant manual pruning.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484864" y="5376672"/>
            <a:ext cx="548640" cy="1682496"/>
            <a:chOff x="0" y="0"/>
            <a:chExt cx="731520" cy="224332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887200" y="5376672"/>
            <a:ext cx="5212080" cy="1682496"/>
            <a:chOff x="0" y="0"/>
            <a:chExt cx="6949440" cy="224332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Repo-scale memory — but context engineering is now the skill.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01703" y="7265927"/>
            <a:ext cx="16484603" cy="1707899"/>
            <a:chOff x="0" y="0"/>
            <a:chExt cx="21979471" cy="227719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80160" y="7278624"/>
            <a:ext cx="3108960" cy="1682496"/>
            <a:chOff x="0" y="0"/>
            <a:chExt cx="4145280" cy="224332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663440" y="7278624"/>
            <a:ext cx="6858000" cy="1682496"/>
            <a:chOff x="0" y="0"/>
            <a:chExt cx="9144000" cy="224332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agent, one chat.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484864" y="7278624"/>
            <a:ext cx="548640" cy="1682496"/>
            <a:chOff x="0" y="0"/>
            <a:chExt cx="731520" cy="224332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887200" y="7278624"/>
            <a:ext cx="5212080" cy="1682496"/>
            <a:chOff x="0" y="0"/>
            <a:chExt cx="6949440" cy="2243328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Parallel subagents &amp; agent teams. (That's this afternoon.)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14400" y="9180576"/>
            <a:ext cx="16459200" cy="731520"/>
            <a:chOff x="0" y="0"/>
            <a:chExt cx="21945600" cy="97536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945600" cy="975360"/>
            </a:xfrm>
            <a:custGeom>
              <a:avLst/>
              <a:gdLst/>
              <a:ahLst/>
              <a:cxnLst/>
              <a:rect l="l" t="t" r="r" b="b"/>
              <a:pathLst>
                <a:path w="21945600" h="97536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413" b="-3884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models got better at the mechanics.  </a:t>
              </a:r>
              <a:r>
                <a:rPr lang="en-US" sz="2499" b="1" i="1">
                  <a:solidFill>
                    <a:srgbClr val="5B21B6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The human skill moved up the stack — intent, context, verification.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USE IT AS A TUTOR, NOT JUST A TYPIST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Been away a while? Have the agent close the gap in what you know, not only in the code.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Explain the diff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“Explain this diff as if I'd been away from React for a year.”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every change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Catch me up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“What has changed in FastAPI and Pydantic since 2024 that this code relies on?”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before you build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Quiz me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“Quiz me on how the streak calculation works. Don't show me the code.”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it ships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Resist the keyboard, not the understanding.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you can't explain it, you can't judge the next diff.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DAY ONE BACK: A CODEBASE YOU DIDN'T WRITE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Nobody returns to an empty folder. Before you touch anything: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the map.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“Give me a ten-line architecture overview.”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Find the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“Where is today's date decided?”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Catch up on history.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changed in the last ten commits, and why?”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the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 /init and compare it with the real AGENTS.md.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Ask what worries it.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in this code would you be nervous to change?”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FIVE GOLDEN RULES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Carry these into the lab.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Resist the keyboard.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 the loop; don't type the code.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Prompt by outcome.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Say what and the constraints, not how.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 review, not writing.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Read for intent and scope, not mechanics.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Recover by reporting symptoms.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Paste the error, describe the screen.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Commit small; use checkpoints.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 is your undo. The net is expected.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2743200"/>
            <a:ext cx="10972800" cy="548640"/>
            <a:chOff x="0" y="0"/>
            <a:chExt cx="1463040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6304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BY 4PM YOU'LL HARDEN THIS WITH A TEAM OF AGENTS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383280"/>
            <a:ext cx="11155680" cy="1828800"/>
            <a:chOff x="0" y="0"/>
            <a:chExt cx="14874240" cy="2438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438400"/>
            </a:xfrm>
            <a:custGeom>
              <a:avLst/>
              <a:gdLst/>
              <a:ahLst/>
              <a:cxnLst/>
              <a:rect l="l" t="t" r="r" b="b"/>
              <a:pathLst>
                <a:path w="14874239" h="2438400">
                  <a:moveTo>
                    <a:pt x="0" y="0"/>
                  </a:moveTo>
                  <a:lnTo>
                    <a:pt x="14874239" y="0"/>
                  </a:lnTo>
                  <a:lnTo>
                    <a:pt x="14874239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68858" b="-6885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476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Let's build.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760720"/>
            <a:ext cx="10972800" cy="1645920"/>
            <a:chOff x="0" y="0"/>
            <a:chExt cx="14630400" cy="21945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2194560"/>
            </a:xfrm>
            <a:custGeom>
              <a:avLst/>
              <a:gdLst/>
              <a:ahLst/>
              <a:cxnLst/>
              <a:rect l="l" t="t" r="r" b="b"/>
              <a:pathLst>
                <a:path w="14630400" h="2194560">
                  <a:moveTo>
                    <a:pt x="0" y="0"/>
                  </a:moveTo>
                  <a:lnTo>
                    <a:pt x="14630400" y="0"/>
                  </a:lnTo>
                  <a:lnTo>
                    <a:pt x="146304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9900" b="-799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22612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This morning you learn to fly the loop. You're not behind — the typing got automated; the judgement didn't.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LUNCH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76579"/>
            <a:chOff x="0" y="0"/>
            <a:chExt cx="5730240" cy="1302106"/>
          </a:xfrm>
        </p:grpSpPr>
        <p:sp>
          <p:nvSpPr>
            <p:cNvPr id="11" name="Freeform 11" descr="image2.png"/>
            <p:cNvSpPr/>
            <p:nvPr/>
          </p:nvSpPr>
          <p:spPr>
            <a:xfrm>
              <a:off x="0" y="0"/>
              <a:ext cx="5730240" cy="1302131"/>
            </a:xfrm>
            <a:custGeom>
              <a:avLst/>
              <a:gdLst/>
              <a:ahLst/>
              <a:cxnLst/>
              <a:rect l="l" t="t" r="r" b="b"/>
              <a:pathLst>
                <a:path w="5730240" h="1302131">
                  <a:moveTo>
                    <a:pt x="0" y="0"/>
                  </a:moveTo>
                  <a:lnTo>
                    <a:pt x="5730240" y="0"/>
                  </a:lnTo>
                  <a:lnTo>
                    <a:pt x="5730240" y="1302131"/>
                  </a:lnTo>
                  <a:lnTo>
                    <a:pt x="0" y="1302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r="-23" b="1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26136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b="1" u="none" strike="noStrike">
                <a:solidFill>
                  <a:srgbClr val="6C02D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02  ·  MAKE IT REPEATABLE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0160" y="3107436"/>
            <a:ext cx="11338560" cy="214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40"/>
              </a:lnSpc>
            </a:pPr>
            <a:r>
              <a:rPr lang="en-US" sz="9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5383149"/>
            <a:ext cx="10972800" cy="1712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re-explaining yourself. Make the agent behave the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tomorrow as today — and make good prompts reusable.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11558016" y="0"/>
                  </a:lnTo>
                  <a:cubicBezTo>
                    <a:pt x="11840845" y="0"/>
                    <a:pt x="12070080" y="229235"/>
                    <a:pt x="12070080" y="512064"/>
                  </a:cubicBezTo>
                  <a:cubicBezTo>
                    <a:pt x="12070080" y="794893"/>
                    <a:pt x="11840845" y="1024128"/>
                    <a:pt x="115580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0"/>
                  </a:moveTo>
                  <a:lnTo>
                    <a:pt x="12070080" y="0"/>
                  </a:lnTo>
                  <a:lnTo>
                    <a:pt x="12070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79645" b="-17964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20700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 MINUTES   ·   ONE CONTRACT   ·   TWO TOOLS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24" name="Group 21">
            <a:extLst>
              <a:ext uri="{FF2B5EF4-FFF2-40B4-BE49-F238E27FC236}">
                <a16:creationId xmlns:a16="http://schemas.microsoft.com/office/drawing/2014/main" id="{77F34E84-EFA5-8C07-4401-3E901D4119AC}"/>
              </a:ext>
            </a:extLst>
          </p:cNvPr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5" name="Freeform 22">
              <a:extLst>
                <a:ext uri="{FF2B5EF4-FFF2-40B4-BE49-F238E27FC236}">
                  <a16:creationId xmlns:a16="http://schemas.microsoft.com/office/drawing/2014/main" id="{2EB0CB38-7C48-09FB-8DB6-175E1C6E6A3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6" name="TextBox 23">
            <a:extLst>
              <a:ext uri="{FF2B5EF4-FFF2-40B4-BE49-F238E27FC236}">
                <a16:creationId xmlns:a16="http://schemas.microsoft.com/office/drawing/2014/main" id="{B4B66193-6A78-CC17-D948-494B2AD53FC8}"/>
              </a:ext>
            </a:extLst>
          </p:cNvPr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Rung two. You have a working app — now make building it repeatable.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2962656"/>
            <a:ext cx="16459200" cy="1865376"/>
            <a:chOff x="0" y="0"/>
            <a:chExt cx="21945600" cy="2487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199638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48684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don't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8997" y="5022085"/>
            <a:ext cx="16509997" cy="1916173"/>
            <a:chOff x="0" y="0"/>
            <a:chExt cx="22013329" cy="255489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13418" cy="2554986"/>
            </a:xfrm>
            <a:custGeom>
              <a:avLst/>
              <a:gdLst/>
              <a:ahLst/>
              <a:cxnLst/>
              <a:rect l="l" t="t" r="r" b="b"/>
              <a:pathLst>
                <a:path w="22013418" h="2554986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21783421" y="0"/>
                  </a:lnTo>
                  <a:cubicBezTo>
                    <a:pt x="21910421" y="0"/>
                    <a:pt x="22013418" y="102997"/>
                    <a:pt x="22013418" y="229997"/>
                  </a:cubicBezTo>
                  <a:lnTo>
                    <a:pt x="22013418" y="2324989"/>
                  </a:lnTo>
                  <a:cubicBezTo>
                    <a:pt x="22013418" y="2451989"/>
                    <a:pt x="21910421" y="2554986"/>
                    <a:pt x="21783421" y="2554986"/>
                  </a:cubicBezTo>
                  <a:lnTo>
                    <a:pt x="229997" y="2554986"/>
                  </a:lnTo>
                  <a:cubicBezTo>
                    <a:pt x="102997" y="2554986"/>
                    <a:pt x="0" y="2451989"/>
                    <a:pt x="0" y="2324989"/>
                  </a:cubicBezTo>
                  <a:close/>
                </a:path>
              </a:pathLst>
            </a:custGeom>
            <a:solidFill>
              <a:srgbClr val="2D1155"/>
            </a:solidFill>
            <a:ln w="508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383280" y="5284470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383280" y="6033516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7132320"/>
            <a:ext cx="16459200" cy="1865376"/>
            <a:chOff x="0" y="0"/>
            <a:chExt cx="21945600" cy="248716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3383280" y="7369302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383280" y="8118348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VIBE ENGINEERING 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one-line definition.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943606"/>
            <a:ext cx="16459200" cy="111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Deliberate, repeatable use of the tool — so it's fast and consistent.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4221480"/>
            <a:ext cx="16459200" cy="181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agent, same loop as this morning. What changes is discipline: the project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remembers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your conventions, and your best prompts become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 assets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instead of vanishing into one chat.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14400" y="6400800"/>
            <a:ext cx="16459200" cy="2560320"/>
            <a:chOff x="0" y="0"/>
            <a:chExt cx="21945600" cy="3413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3413760"/>
            </a:xfrm>
            <a:custGeom>
              <a:avLst/>
              <a:gdLst/>
              <a:ahLst/>
              <a:cxnLst/>
              <a:rect l="l" t="t" r="r" b="b"/>
              <a:pathLst>
                <a:path w="21945600" h="3413760">
                  <a:moveTo>
                    <a:pt x="0" y="204851"/>
                  </a:moveTo>
                  <a:cubicBezTo>
                    <a:pt x="0" y="91694"/>
                    <a:pt x="91694" y="0"/>
                    <a:pt x="204851" y="0"/>
                  </a:cubicBezTo>
                  <a:lnTo>
                    <a:pt x="21740749" y="0"/>
                  </a:lnTo>
                  <a:cubicBezTo>
                    <a:pt x="21853906" y="0"/>
                    <a:pt x="21945600" y="91694"/>
                    <a:pt x="21945600" y="204851"/>
                  </a:cubicBezTo>
                  <a:lnTo>
                    <a:pt x="21945600" y="3208909"/>
                  </a:lnTo>
                  <a:cubicBezTo>
                    <a:pt x="21945600" y="3322066"/>
                    <a:pt x="21853906" y="3413760"/>
                    <a:pt x="21740749" y="3413760"/>
                  </a:cubicBezTo>
                  <a:lnTo>
                    <a:pt x="204851" y="3413760"/>
                  </a:lnTo>
                  <a:cubicBezTo>
                    <a:pt x="91694" y="3413760"/>
                    <a:pt x="0" y="3322066"/>
                    <a:pt x="0" y="3208909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63040" y="6645783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63040" y="7285101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“Let me re-explain how we do things here… again.”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040" y="8071485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   </a:t>
            </a:r>
            <a:r>
              <a:rPr lang="en-US" sz="30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“The contract already tells you how we do things here.”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MOVES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one stops you repeating yourself.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89504"/>
            <a:ext cx="14996160" cy="1097280"/>
            <a:chOff x="0" y="0"/>
            <a:chExt cx="19994880" cy="14630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conventions, written once, read every session.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133088"/>
            <a:ext cx="14996160" cy="1097280"/>
            <a:chOff x="0" y="0"/>
            <a:chExt cx="19994880" cy="14630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Skills.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best “add a feature” prompt, called by name or picked up when it fits.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76672"/>
            <a:ext cx="14996160" cy="1097280"/>
            <a:chOff x="0" y="0"/>
            <a:chExt cx="19994880" cy="146304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 on purpose.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/compact, /clear, fresh sessions. Keep the agent's desk clean.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620256"/>
            <a:ext cx="14996160" cy="1097280"/>
            <a:chOff x="0" y="0"/>
            <a:chExt cx="19994880" cy="14630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tools or two sessions review the same diff. Then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63840"/>
            <a:ext cx="14996160" cy="1097280"/>
            <a:chOff x="0" y="0"/>
            <a:chExt cx="19994880" cy="146304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 real data.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Connect a tool over MCP so the agent sees more than your files.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PROJECT CONTRACT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AGENTS.md / CLAUDE.md — written once, read every session.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2910202"/>
            <a:ext cx="8078467" cy="5609587"/>
            <a:chOff x="0" y="0"/>
            <a:chExt cx="10771289" cy="74794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71378" cy="7479538"/>
            </a:xfrm>
            <a:custGeom>
              <a:avLst/>
              <a:gdLst/>
              <a:ahLst/>
              <a:cxnLst/>
              <a:rect l="l" t="t" r="r" b="b"/>
              <a:pathLst>
                <a:path w="10771378" h="7479538">
                  <a:moveTo>
                    <a:pt x="0" y="374015"/>
                  </a:moveTo>
                  <a:cubicBezTo>
                    <a:pt x="0" y="167386"/>
                    <a:pt x="167386" y="0"/>
                    <a:pt x="374015" y="0"/>
                  </a:cubicBezTo>
                  <a:lnTo>
                    <a:pt x="10397363" y="0"/>
                  </a:lnTo>
                  <a:cubicBezTo>
                    <a:pt x="10603865" y="0"/>
                    <a:pt x="10771378" y="167386"/>
                    <a:pt x="10771378" y="374015"/>
                  </a:cubicBezTo>
                  <a:lnTo>
                    <a:pt x="10771378" y="7105523"/>
                  </a:lnTo>
                  <a:cubicBezTo>
                    <a:pt x="10771378" y="7312025"/>
                    <a:pt x="10603992" y="7479538"/>
                    <a:pt x="10397363" y="7479538"/>
                  </a:cubicBezTo>
                  <a:lnTo>
                    <a:pt x="374015" y="7479538"/>
                  </a:lnTo>
                  <a:cubicBezTo>
                    <a:pt x="167386" y="7479411"/>
                    <a:pt x="0" y="7312025"/>
                    <a:pt x="0" y="7105523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0763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IT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Commands: make dev / test / check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Architecture: where things live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Key patterns: weekday encoding,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46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    the fresh-streak rule, idempotency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26464" y="7194423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The “adding a new field” checklist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26880" y="2926080"/>
            <a:ext cx="8046720" cy="5577840"/>
            <a:chOff x="0" y="0"/>
            <a:chExt cx="10728960" cy="74371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28961" cy="7437120"/>
            </a:xfrm>
            <a:custGeom>
              <a:avLst/>
              <a:gdLst/>
              <a:ahLst/>
              <a:cxnLst/>
              <a:rect l="l" t="t" r="r" b="b"/>
              <a:pathLst>
                <a:path w="10728961" h="7437120">
                  <a:moveTo>
                    <a:pt x="0" y="371856"/>
                  </a:moveTo>
                  <a:cubicBezTo>
                    <a:pt x="0" y="166497"/>
                    <a:pt x="166497" y="0"/>
                    <a:pt x="371856" y="0"/>
                  </a:cubicBezTo>
                  <a:lnTo>
                    <a:pt x="10357104" y="0"/>
                  </a:lnTo>
                  <a:cubicBezTo>
                    <a:pt x="10562463" y="0"/>
                    <a:pt x="10728961" y="166497"/>
                    <a:pt x="10728961" y="371856"/>
                  </a:cubicBezTo>
                  <a:lnTo>
                    <a:pt x="10728961" y="7065264"/>
                  </a:lnTo>
                  <a:cubicBezTo>
                    <a:pt x="10728961" y="7270623"/>
                    <a:pt x="10562463" y="7437120"/>
                    <a:pt x="10357104" y="7437120"/>
                  </a:cubicBezTo>
                  <a:lnTo>
                    <a:pt x="371856" y="7437120"/>
                  </a:lnTo>
                  <a:cubicBezTo>
                    <a:pt x="166497" y="7437120"/>
                    <a:pt x="0" y="7270623"/>
                    <a:pt x="0" y="706526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838944" y="3207639"/>
            <a:ext cx="713232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IT PAYS OFF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3894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It follows your conventions without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3894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     being told, every session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3894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New chats start smart, not blank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3894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One shared asset for the whole cohort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38944" y="7194423"/>
            <a:ext cx="7223760" cy="43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Codex reads it too, same file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8741664"/>
            <a:ext cx="16459200" cy="914400"/>
            <a:chOff x="0" y="0"/>
            <a:chExt cx="219456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1600" y="8741664"/>
            <a:ext cx="16459200" cy="914400"/>
            <a:chOff x="0" y="0"/>
            <a:chExt cx="219456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/init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scaffolds it in both tools. Keep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the source of truth; Claude reads it via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@AGENTS.md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SKILLS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good prompt, packaged once. Called by name, or picked up when it fits.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68605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Package your “add a feature” recipe as a skill, the same five steps every time: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3657600"/>
            <a:ext cx="3035808" cy="2103120"/>
            <a:chOff x="0" y="0"/>
            <a:chExt cx="4047744" cy="2804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14400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EXPLORE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read what it touches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50208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279392" y="3657600"/>
            <a:ext cx="3035808" cy="2103120"/>
            <a:chOff x="0" y="0"/>
            <a:chExt cx="4047744" cy="2804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279392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9392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PLAN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279392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surface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15200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644384" y="3657600"/>
            <a:ext cx="3035808" cy="2103120"/>
            <a:chOff x="0" y="0"/>
            <a:chExt cx="4047744" cy="28041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644384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44384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IMPLEMENT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44384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follow the contract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0192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009376" y="3657600"/>
            <a:ext cx="3035808" cy="2103120"/>
            <a:chOff x="0" y="0"/>
            <a:chExt cx="4047744" cy="280416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009376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009376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RUN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09376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prove it works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045184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4374368" y="3657600"/>
            <a:ext cx="3035808" cy="2103120"/>
            <a:chOff x="0" y="0"/>
            <a:chExt cx="4047744" cy="2804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4374368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374368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SUMMARISE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374368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diff at a glance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" y="6400800"/>
            <a:ext cx="16459200" cy="914400"/>
            <a:chOff x="0" y="0"/>
            <a:chExt cx="219456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80160" y="6400800"/>
            <a:ext cx="5852160" cy="914400"/>
            <a:chOff x="0" y="0"/>
            <a:chExt cx="780288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Where the skill lives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498080" y="6400800"/>
            <a:ext cx="5120640" cy="914400"/>
            <a:chOff x="0" y="0"/>
            <a:chExt cx="6827520" cy="1219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827520" cy="1219200"/>
            </a:xfrm>
            <a:custGeom>
              <a:avLst/>
              <a:gdLst/>
              <a:ahLst/>
              <a:cxnLst/>
              <a:rect l="l" t="t" r="r" b="b"/>
              <a:pathLst>
                <a:path w="6827520" h="1219200">
                  <a:moveTo>
                    <a:pt x="0" y="0"/>
                  </a:moveTo>
                  <a:lnTo>
                    <a:pt x="6827520" y="0"/>
                  </a:lnTo>
                  <a:lnTo>
                    <a:pt x="6827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9116" b="-5911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6827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.claude/skills/add-feature/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710160" y="6400800"/>
            <a:ext cx="4572000" cy="914400"/>
            <a:chOff x="0" y="0"/>
            <a:chExt cx="60960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096000" cy="1219200"/>
            </a:xfrm>
            <a:custGeom>
              <a:avLst/>
              <a:gdLst/>
              <a:ahLst/>
              <a:cxnLst/>
              <a:rect l="l" t="t" r="r" b="b"/>
              <a:pathLst>
                <a:path w="6096000" h="1219200">
                  <a:moveTo>
                    <a:pt x="0" y="0"/>
                  </a:moveTo>
                  <a:lnTo>
                    <a:pt x="6096000" y="0"/>
                  </a:lnTo>
                  <a:lnTo>
                    <a:pt x="60960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60960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.agents/skills/add-feature/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7315200"/>
            <a:ext cx="16459200" cy="914400"/>
            <a:chOff x="0" y="0"/>
            <a:chExt cx="219456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80160" y="7315200"/>
            <a:ext cx="5852160" cy="914400"/>
            <a:chOff x="0" y="0"/>
            <a:chExt cx="7802880" cy="12192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Call it by name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498080" y="7315200"/>
            <a:ext cx="9692640" cy="914400"/>
            <a:chOff x="0" y="0"/>
            <a:chExt cx="12923520" cy="1219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520" cy="1219200"/>
            </a:xfrm>
            <a:custGeom>
              <a:avLst/>
              <a:gdLst/>
              <a:ahLst/>
              <a:cxnLst/>
              <a:rect l="l" t="t" r="r" b="b"/>
              <a:pathLst>
                <a:path w="12923520" h="1219200">
                  <a:moveTo>
                    <a:pt x="0" y="0"/>
                  </a:moveTo>
                  <a:lnTo>
                    <a:pt x="12923520" y="0"/>
                  </a:lnTo>
                  <a:lnTo>
                    <a:pt x="12923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6541" b="-15654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12923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/add-feature  ·  Codex: $add-feature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914400" y="8584311"/>
            <a:ext cx="1645920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SKILL.md format in both tools: a name, a description, then the steps. Old commands still work.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A SKILL LOADS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Only the description costs you context until the skill is used.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ALWAYS IN CONTEXT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name and the one-line description. That's how the agent knows the skill exists.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every session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WHEN IT'S USED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SKILL.md body: your five steps. It stays in the conversation from then 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use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ONLY IF NEEDED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Files the body points to: a long checklist, reference docs, scripts it runs.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demand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description is the trigger. Say when it should fire, and when it shouldn't: “add or change a feature, not questions or reviews”.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long checklist costs almost nothing until it's needed.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Five ways to hand the agent something. Pick by when it needs to load.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MANAGE CONTEXT ON PURPOSE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Context is the fuel, spend it deliberately.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task, one session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Start fresh for a new job so an old thread's assumptions don't leak in.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  ·  new session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Trim when it bloats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answers drift or the gauge fills, compact before you continue.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Pin what matters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Point the agent at the exact files; check what it's carrying first.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  ·  /context (/status)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repeatable agent needs a clean desk.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discipline every task — not a scramble when answers go vague.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A SECOND OPINION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Reviewers who didn't write the code catch what its author can't.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your diff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one change, committed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Claude Code  ·  /code-review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B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 ·  /review, or a fresh session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RECONCILE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agree?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differ?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decide.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“Review this diff. Numbered list, file:line, severity.”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Same brief to both.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Same brief, same format.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Then the disagreements are the interesting part.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5 · REACH REAL DATA WITH MCP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Connect the agent to a real tool, not just the files in your repo.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849880"/>
            <a:ext cx="164592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MCP (Model Context Protocol)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is a standard connector that lets the agent talk to external systems, such as docs, a database, your calendar or an API, through one common interface.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5029200"/>
            <a:ext cx="10149840" cy="3474720"/>
            <a:chOff x="0" y="0"/>
            <a:chExt cx="13533120" cy="46329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533120" cy="4632960"/>
            </a:xfrm>
            <a:custGeom>
              <a:avLst/>
              <a:gdLst/>
              <a:ahLst/>
              <a:cxnLst/>
              <a:rect l="l" t="t" r="r" b="b"/>
              <a:pathLst>
                <a:path w="13533120" h="463296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13301472" y="0"/>
                  </a:lnTo>
                  <a:cubicBezTo>
                    <a:pt x="13429360" y="0"/>
                    <a:pt x="13533120" y="103759"/>
                    <a:pt x="13533120" y="231648"/>
                  </a:cubicBezTo>
                  <a:lnTo>
                    <a:pt x="13533120" y="4401312"/>
                  </a:lnTo>
                  <a:cubicBezTo>
                    <a:pt x="13533120" y="4529201"/>
                    <a:pt x="13429360" y="4632960"/>
                    <a:pt x="13301472" y="4632960"/>
                  </a:cubicBezTo>
                  <a:lnTo>
                    <a:pt x="231648" y="4632960"/>
                  </a:lnTo>
                  <a:cubicBezTo>
                    <a:pt x="103759" y="4632960"/>
                    <a:pt x="0" y="4529201"/>
                    <a:pt x="0" y="4401312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5347335"/>
            <a:ext cx="9144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TRY IT TODAY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6050280"/>
            <a:ext cx="9144000" cy="1470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Add the Context7 docs server (no login), then ask: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“Check the current FastAPI docs. Does our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startup code use a deprecated pattern?”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14122" y="5013322"/>
            <a:ext cx="5975347" cy="3506467"/>
            <a:chOff x="0" y="0"/>
            <a:chExt cx="7967129" cy="467528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67218" cy="4675378"/>
            </a:xfrm>
            <a:custGeom>
              <a:avLst/>
              <a:gdLst/>
              <a:ahLst/>
              <a:cxnLst/>
              <a:rect l="l" t="t" r="r" b="b"/>
              <a:pathLst>
                <a:path w="7967218" h="4675378">
                  <a:moveTo>
                    <a:pt x="0" y="280543"/>
                  </a:moveTo>
                  <a:cubicBezTo>
                    <a:pt x="0" y="125603"/>
                    <a:pt x="125603" y="0"/>
                    <a:pt x="280543" y="0"/>
                  </a:cubicBezTo>
                  <a:lnTo>
                    <a:pt x="7686675" y="0"/>
                  </a:lnTo>
                  <a:cubicBezTo>
                    <a:pt x="7841615" y="0"/>
                    <a:pt x="7967218" y="125603"/>
                    <a:pt x="7967218" y="280543"/>
                  </a:cubicBezTo>
                  <a:lnTo>
                    <a:pt x="7967218" y="4394835"/>
                  </a:lnTo>
                  <a:cubicBezTo>
                    <a:pt x="7967218" y="4549775"/>
                    <a:pt x="7841615" y="4675378"/>
                    <a:pt x="7686675" y="4675378"/>
                  </a:cubicBezTo>
                  <a:lnTo>
                    <a:pt x="280543" y="4675378"/>
                  </a:lnTo>
                  <a:cubicBezTo>
                    <a:pt x="125603" y="4675251"/>
                    <a:pt x="0" y="4549648"/>
                    <a:pt x="0" y="4394835"/>
                  </a:cubicBezTo>
                  <a:close/>
                </a:path>
              </a:pathLst>
            </a:custGeom>
            <a:solidFill>
              <a:srgbClr val="F5F3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887200" y="5347335"/>
            <a:ext cx="512064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COMMAND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887200" y="6069330"/>
            <a:ext cx="5120640" cy="225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mcp add context7 \</a:t>
            </a:r>
          </a:p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  -- npx -y @upstash/context7-mcp</a:t>
            </a:r>
          </a:p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Codex: </a:t>
            </a:r>
            <a:r>
              <a:rPr lang="en-US" sz="2100" b="1">
                <a:solidFill>
                  <a:srgbClr val="7C3AE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mcp add …</a:t>
            </a:r>
          </a:p>
          <a:p>
            <a:pPr algn="l">
              <a:lnSpc>
                <a:spcPts val="2771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Stretch: your calendar, via claude.ai.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8730615"/>
            <a:ext cx="16459200" cy="401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Permissions still apply. Connecting a tool is a decision you make, not a door you leave open.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MCP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is the client. Each server says what tools it has; the agent calls them.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the agent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Code or Codex, the MCP client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Local server (stdio)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program it starts: npx …, uvx …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Remote server (HTTP)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URL, often with an OAuth login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Each has a name,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 description 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inputs. Results land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 your context.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startup: “what tools do you have?”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Then it calls them like its own Read or Bash.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Permissions still apply.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tool call goes through the same approval dial as a shell command.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CONNECTING 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Five commands cover nearly everything. Same idea in both tools.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411480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JOB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77840" y="2962656"/>
            <a:ext cx="658368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344400" y="2962656"/>
            <a:ext cx="493776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42062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remote server (HTTP)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577840" y="3584448"/>
            <a:ext cx="667512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--transport http &lt;name&gt; &lt;url&gt;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344400" y="3584448"/>
            <a:ext cx="493776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--url &lt;url&gt;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42062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local server (stdio)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577840" y="4590288"/>
            <a:ext cx="667512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&lt;name&gt; -- npx -y &lt;pkg&gt;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344400" y="4590288"/>
            <a:ext cx="493776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 npx -y &lt;pkg&gt;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42062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SHARE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it with the repo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577840" y="5596128"/>
            <a:ext cx="667512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--scope project  (.mcp.json)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344400" y="5596128"/>
            <a:ext cx="493776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.codex/config.toml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42062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LOG IN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it uses OAuth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77840" y="6601968"/>
            <a:ext cx="667512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/mcp, then Authenticate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344400" y="6601968"/>
            <a:ext cx="493776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login &lt;name&gt;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42062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what's connected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5577840" y="7607808"/>
            <a:ext cx="667512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  ·  claude mcp list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344400" y="7607808"/>
            <a:ext cx="493776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Mind the --.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Everything after it is the server's own command, passed through untouched.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 ARE TRUSTING IT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An MCP server is code, or a remote service, that the agent acts through.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WHAT CAN GO WRONG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server that fetches web pages or tickets can carry instructions in with the data. That's prompt injection, and the agent can't always tell the difference.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WHAT PROTECTS YOU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Approvals stay on. Claude Code asks before it uses a repo's .mcp.json servers, and a cloned repo can't pre-approve its own.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Install a server as carefully as you'd add a dependency.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FEATURE THAT NEEDS JUDGEMENT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where engineering starts, the agent surfaces a decision; you make it.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77749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 a weekly summary: a short, human paragraph about your week. Where does the text come from?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98522" y="3733162"/>
            <a:ext cx="8078467" cy="4329427"/>
            <a:chOff x="0" y="0"/>
            <a:chExt cx="10771289" cy="577256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71377" cy="5772658"/>
            </a:xfrm>
            <a:custGeom>
              <a:avLst/>
              <a:gdLst/>
              <a:ahLst/>
              <a:cxnLst/>
              <a:rect l="l" t="t" r="r" b="b"/>
              <a:pathLst>
                <a:path w="10771377" h="5772658">
                  <a:moveTo>
                    <a:pt x="0" y="288671"/>
                  </a:moveTo>
                  <a:cubicBezTo>
                    <a:pt x="0" y="129286"/>
                    <a:pt x="129286" y="0"/>
                    <a:pt x="288671" y="0"/>
                  </a:cubicBezTo>
                  <a:lnTo>
                    <a:pt x="10482707" y="0"/>
                  </a:lnTo>
                  <a:cubicBezTo>
                    <a:pt x="10642092" y="0"/>
                    <a:pt x="10771377" y="129286"/>
                    <a:pt x="10771377" y="288671"/>
                  </a:cubicBezTo>
                  <a:lnTo>
                    <a:pt x="10771377" y="5483987"/>
                  </a:lnTo>
                  <a:cubicBezTo>
                    <a:pt x="10771377" y="5643372"/>
                    <a:pt x="10642092" y="5772658"/>
                    <a:pt x="10482707" y="5772658"/>
                  </a:cubicBezTo>
                  <a:lnTo>
                    <a:pt x="288671" y="5772658"/>
                  </a:lnTo>
                  <a:cubicBezTo>
                    <a:pt x="129286" y="5772531"/>
                    <a:pt x="0" y="5643372"/>
                    <a:pt x="0" y="548398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Static template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Instant, offline, free, predictable.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609714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phrasing every single week.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07830" y="3729990"/>
            <a:ext cx="8084820" cy="4335780"/>
            <a:chOff x="0" y="0"/>
            <a:chExt cx="10779760" cy="57810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79760" cy="5781040"/>
            </a:xfrm>
            <a:custGeom>
              <a:avLst/>
              <a:gdLst/>
              <a:ahLst/>
              <a:cxnLst/>
              <a:rect l="l" t="t" r="r" b="b"/>
              <a:pathLst>
                <a:path w="10779760" h="578104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10490708" y="0"/>
                  </a:lnTo>
                  <a:cubicBezTo>
                    <a:pt x="10650347" y="0"/>
                    <a:pt x="10779760" y="129413"/>
                    <a:pt x="10779760" y="289052"/>
                  </a:cubicBezTo>
                  <a:lnTo>
                    <a:pt x="10779760" y="5491988"/>
                  </a:lnTo>
                  <a:cubicBezTo>
                    <a:pt x="10779760" y="5651627"/>
                    <a:pt x="10650347" y="5781040"/>
                    <a:pt x="10490708" y="5781040"/>
                  </a:cubicBezTo>
                  <a:lnTo>
                    <a:pt x="289052" y="5781040"/>
                  </a:lnTo>
                  <a:cubicBezTo>
                    <a:pt x="129413" y="5781040"/>
                    <a:pt x="0" y="5651627"/>
                    <a:pt x="0" y="5491988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83894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Model call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3894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Varied, personal, genuinely warm.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38944" y="6097143"/>
            <a:ext cx="7223760" cy="1693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dependency, a key, latency, cost.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" y="8229600"/>
            <a:ext cx="16459200" cy="1133856"/>
            <a:chOff x="0" y="0"/>
            <a:chExt cx="21945600" cy="151180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45600" cy="1511935"/>
            </a:xfrm>
            <a:custGeom>
              <a:avLst/>
              <a:gdLst/>
              <a:ahLst/>
              <a:cxnLst/>
              <a:rect l="l" t="t" r="r" b="b"/>
              <a:pathLst>
                <a:path w="21945600" h="1511935">
                  <a:moveTo>
                    <a:pt x="0" y="211709"/>
                  </a:moveTo>
                  <a:cubicBezTo>
                    <a:pt x="0" y="94742"/>
                    <a:pt x="94742" y="0"/>
                    <a:pt x="211709" y="0"/>
                  </a:cubicBezTo>
                  <a:lnTo>
                    <a:pt x="21733890" y="0"/>
                  </a:lnTo>
                  <a:cubicBezTo>
                    <a:pt x="21850730" y="0"/>
                    <a:pt x="21945600" y="94742"/>
                    <a:pt x="21945600" y="211709"/>
                  </a:cubicBezTo>
                  <a:lnTo>
                    <a:pt x="21945600" y="1300226"/>
                  </a:lnTo>
                  <a:cubicBezTo>
                    <a:pt x="21945600" y="1417066"/>
                    <a:pt x="21850857" y="1511935"/>
                    <a:pt x="21733890" y="1511935"/>
                  </a:cubicBezTo>
                  <a:lnTo>
                    <a:pt x="211709" y="1511935"/>
                  </a:lnTo>
                  <a:cubicBezTo>
                    <a:pt x="94742" y="1511808"/>
                    <a:pt x="0" y="1417066"/>
                    <a:pt x="0" y="1300099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71600" y="8229600"/>
            <a:ext cx="16459200" cy="1133856"/>
            <a:chOff x="0" y="0"/>
            <a:chExt cx="21945600" cy="15118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219456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</a:t>
              </a:r>
              <a:r>
                <a:rPr lang="en-US" sz="24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</a:t>
              </a:r>
              <a:r>
                <a:rPr lang="en-US" sz="24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(Claude: Shift+Tab · Codex: /plan) forces the agent to surface this choice — not decide it silently.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arbitrate.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YOU'LL BE BY THE BREAK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app: checkpoint-1 → checkpoint-2.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3054096"/>
            <a:ext cx="621792" cy="621792"/>
            <a:chOff x="0" y="0"/>
            <a:chExt cx="829056" cy="8290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3066917"/>
            <a:ext cx="621792" cy="621792"/>
            <a:chOff x="0" y="0"/>
            <a:chExt cx="829056" cy="8290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03120" y="3242434"/>
            <a:ext cx="15179040" cy="446275"/>
            <a:chOff x="0" y="0"/>
            <a:chExt cx="20238720" cy="5950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AGENTS.md / CLAUDE.md the agent reads every session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51376"/>
            <a:ext cx="621792" cy="621792"/>
            <a:chOff x="0" y="0"/>
            <a:chExt cx="829056" cy="8290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4197"/>
            <a:ext cx="621792" cy="621792"/>
            <a:chOff x="0" y="0"/>
            <a:chExt cx="829056" cy="82905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103120" y="4339714"/>
            <a:ext cx="15179040" cy="446275"/>
            <a:chOff x="0" y="0"/>
            <a:chExt cx="20238720" cy="5950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add-feature skill: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checked into the repo, the same file in both tools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248656"/>
            <a:ext cx="621792" cy="621792"/>
            <a:chOff x="0" y="0"/>
            <a:chExt cx="829056" cy="8290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271764"/>
            <a:ext cx="621792" cy="621792"/>
            <a:chOff x="0" y="0"/>
            <a:chExt cx="829056" cy="82905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103120" y="5436994"/>
            <a:ext cx="15179040" cy="446275"/>
            <a:chOff x="0" y="0"/>
            <a:chExt cx="20238720" cy="59503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Scheduled days and colour tiles: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habit due only when you choose, as a grid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345936"/>
            <a:ext cx="621792" cy="621792"/>
            <a:chOff x="0" y="0"/>
            <a:chExt cx="829056" cy="82905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388856"/>
            <a:ext cx="621792" cy="621792"/>
            <a:chOff x="0" y="0"/>
            <a:chExt cx="829056" cy="82905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103120" y="6534274"/>
            <a:ext cx="15179040" cy="446275"/>
            <a:chOff x="0" y="0"/>
            <a:chExt cx="2023872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weekly summary: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human paragraph, a decision made on purpose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443216"/>
            <a:ext cx="621792" cy="621792"/>
            <a:chOff x="0" y="0"/>
            <a:chExt cx="829056" cy="82905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458323"/>
            <a:ext cx="621792" cy="621792"/>
            <a:chOff x="0" y="0"/>
            <a:chExt cx="829056" cy="82905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103120" y="7631554"/>
            <a:ext cx="15179040" cy="446275"/>
            <a:chOff x="0" y="0"/>
            <a:chExt cx="20238720" cy="59503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 encouragement: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supportive nudge when a streak is at risk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14400" y="8631936"/>
            <a:ext cx="16459200" cy="914400"/>
            <a:chOff x="0" y="0"/>
            <a:chExt cx="21945600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371600" y="8631936"/>
            <a:ext cx="16459200" cy="914400"/>
            <a:chOff x="0" y="0"/>
            <a:chExt cx="21945600" cy="12192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Fall behind?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Reset to </a:t>
              </a: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checkpoint-2-features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and keep going. Using the net is expected, not failure.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RULES FOR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Write it down once.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contract stops you repeating yourself.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Package it as a skill.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good prompt becomes a skill, not a memory.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Keep a clean desk.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context on purpose, every task.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817738"/>
            <a:ext cx="14996160" cy="446275"/>
            <a:chOff x="0" y="0"/>
            <a:chExt cx="1999488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595035"/>
            </a:xfrm>
            <a:custGeom>
              <a:avLst/>
              <a:gdLst/>
              <a:ahLst/>
              <a:cxnLst/>
              <a:rect l="l" t="t" r="r" b="b"/>
              <a:pathLst>
                <a:path w="19994877" h="595035">
                  <a:moveTo>
                    <a:pt x="0" y="0"/>
                  </a:moveTo>
                  <a:lnTo>
                    <a:pt x="19994877" y="0"/>
                  </a:lnTo>
                  <a:lnTo>
                    <a:pt x="19994877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04753" b="-6047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agents beat one, compare before you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Make the agent surface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 first. You arbitrate; it doesn't decide silently.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292608" cy="10287000"/>
            <a:chOff x="0" y="0"/>
            <a:chExt cx="390144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90144" cy="13716000"/>
            </a:xfrm>
            <a:custGeom>
              <a:avLst/>
              <a:gdLst/>
              <a:ahLst/>
              <a:cxnLst/>
              <a:rect l="l" t="t" r="r" b="b"/>
              <a:pathLst>
                <a:path w="390144" h="13716000">
                  <a:moveTo>
                    <a:pt x="0" y="0"/>
                  </a:moveTo>
                  <a:lnTo>
                    <a:pt x="390144" y="0"/>
                  </a:lnTo>
                  <a:lnTo>
                    <a:pt x="39014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80160" y="2430780"/>
            <a:ext cx="155448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BRIDGE TO SECTION 3 · AFTER THE BREAK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3584" y="3171825"/>
            <a:ext cx="159105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Would you trust it in front of users?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482590"/>
            <a:ext cx="15361920" cy="113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The app has features now, but nobody has proven it's right. This afternoon we stop hoping:</a:t>
            </a:r>
          </a:p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we build the harness, and hand the building to a team of agents.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7290816" y="0"/>
                  </a:lnTo>
                  <a:cubicBezTo>
                    <a:pt x="7573645" y="0"/>
                    <a:pt x="7802880" y="229235"/>
                    <a:pt x="7802880" y="512064"/>
                  </a:cubicBezTo>
                  <a:cubicBezTo>
                    <a:pt x="7802880" y="794893"/>
                    <a:pt x="7573645" y="1024128"/>
                    <a:pt x="72908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0"/>
                  </a:moveTo>
                  <a:lnTo>
                    <a:pt x="7802880" y="0"/>
                  </a:lnTo>
                  <a:lnTo>
                    <a:pt x="78028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457" b="-984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8028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  ·  AGENTIC ENGINEERING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80160" y="9380220"/>
            <a:ext cx="146304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BREAK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03  · 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64230"/>
            <a:ext cx="11521440" cy="1664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0"/>
              </a:lnSpc>
            </a:pPr>
            <a:r>
              <a:rPr lang="en-US" sz="6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328285"/>
            <a:ext cx="10972800" cy="152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to trust the work when you can’t read every line.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95882" b="-1958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29235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30 MINUTES   ·   FOUR MOVES   ·   ONE TEAM OF AGENTS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TOP OF THE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crutches gone. This is the last one: trusting output by eye.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writing code by hand.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383280" y="5321046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83280" y="6070092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repeating yourself.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95350" y="7113270"/>
            <a:ext cx="16497300" cy="1903476"/>
            <a:chOff x="0" y="0"/>
            <a:chExt cx="21996400" cy="253796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0"/>
                  </a:moveTo>
                  <a:lnTo>
                    <a:pt x="21996400" y="0"/>
                  </a:lnTo>
                  <a:lnTo>
                    <a:pt x="21996400" y="2537968"/>
                  </a:lnTo>
                  <a:lnTo>
                    <a:pt x="0" y="253796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F59E0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3383280" y="7405878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83280" y="8154924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trusting output by eye.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WE GOT TO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things are fixed. One is still wide open.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96263"/>
            <a:ext cx="8072123" cy="3170939"/>
            <a:chOff x="0" y="0"/>
            <a:chExt cx="1076283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1 GAVE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Fast.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writes, runs and fixes. You direct the loop.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096263"/>
            <a:ext cx="8072123" cy="3170939"/>
            <a:chOff x="0" y="0"/>
            <a:chExt cx="10762831" cy="42279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2 GAVE YOU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Consistent.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contract, skills, deliberate context.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6710934"/>
            <a:ext cx="16497300" cy="2086356"/>
            <a:chOff x="0" y="0"/>
            <a:chExt cx="21996400" cy="27818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781808"/>
            </a:xfrm>
            <a:custGeom>
              <a:avLst/>
              <a:gdLst/>
              <a:ahLst/>
              <a:cxnLst/>
              <a:rect l="l" t="t" r="r" b="b"/>
              <a:pathLst>
                <a:path w="21996400" h="2781808">
                  <a:moveTo>
                    <a:pt x="0" y="0"/>
                  </a:moveTo>
                  <a:lnTo>
                    <a:pt x="21996400" y="0"/>
                  </a:lnTo>
                  <a:lnTo>
                    <a:pt x="21996400" y="2781808"/>
                  </a:lnTo>
                  <a:lnTo>
                    <a:pt x="0" y="278180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45920" y="7040118"/>
            <a:ext cx="1499616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Neither made it </a:t>
            </a:r>
            <a:r>
              <a:rPr lang="en-US" sz="3399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trustworthy.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45920" y="7806690"/>
            <a:ext cx="14996160" cy="78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Would you put this in front of real users on Monday?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AGENTIC ENGINEERING 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14395" y="2150869"/>
            <a:ext cx="16459200" cy="1870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Building systems where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agents do the work</a:t>
            </a: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, and the engineering goes into making that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trustworthy.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698" y="4594098"/>
            <a:ext cx="16484603" cy="3408683"/>
            <a:chOff x="0" y="0"/>
            <a:chExt cx="21979471" cy="4544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4544949"/>
            </a:xfrm>
            <a:custGeom>
              <a:avLst/>
              <a:gdLst/>
              <a:ahLst/>
              <a:cxnLst/>
              <a:rect l="l" t="t" r="r" b="b"/>
              <a:pathLst>
                <a:path w="21979510" h="4544949">
                  <a:moveTo>
                    <a:pt x="0" y="0"/>
                  </a:moveTo>
                  <a:lnTo>
                    <a:pt x="21979510" y="0"/>
                  </a:lnTo>
                  <a:lnTo>
                    <a:pt x="21979510" y="4544949"/>
                  </a:lnTo>
                  <a:lnTo>
                    <a:pt x="0" y="4544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63035" y="4979794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63035" y="5765416"/>
            <a:ext cx="15361920" cy="88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“Did the agent write good code?”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3035" y="6752968"/>
            <a:ext cx="1536192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</a:t>
            </a:r>
            <a:r>
              <a:rPr lang="en-US" sz="30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30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“What would prove this code is right — without me reading it?”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READING HARDER DOESN’T SCALE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At agentic speed, line-by-line review is the bottleneck — and it still misses things.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597403"/>
            <a:chOff x="0" y="0"/>
            <a:chExt cx="10762831" cy="61298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READ EVERY LINE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out-types you 50 to 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646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Attention fades; you skim by the third diff.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46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confident, plausible bug reads as correct.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3132839"/>
            <a:ext cx="8072123" cy="4597403"/>
            <a:chOff x="0" y="0"/>
            <a:chExt cx="10762831" cy="612987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ENGINEER THE PROOF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83894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Tests the agent must pass every turn.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3894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Sub-agents whose only job is to check.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94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Gates that block a change that fails.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8090535"/>
            <a:ext cx="1645920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being the line reviewer and become the person who designs how correctness gets proved.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FOUR MOVES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in this section is one of these. Nothing else.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that proves the code still works: lint, types, tests.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Split the jobs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Narrow sub-agents: one writes tests, one reviews, one verifies.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the team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They work in parallel while you orchestrate and arbitrate.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non-optional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and CI, so the discipline survives a bad day.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HARNESS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the agent runs against itself, every single turn.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9809483" cy="3170939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96590"/>
            <a:ext cx="8979408" cy="2582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$ make check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ruff .            # lint  — style and dead code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mypy backend/     # types — wrong shapes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pytest tests -q   # tests — wrong behaviour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142983" y="2949959"/>
            <a:ext cx="6243323" cy="3170939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612880" y="3317367"/>
            <a:ext cx="53035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ONE COMMAND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12880" y="3956685"/>
            <a:ext cx="530352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can run it, read the failure, and fix itself — without asking you.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33412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harness is just a single command that says yes or no. If it passes, the agent has proof. If it fails, it has a specific error to work from.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cheapest reliability win there is: the agent self-verifies at the end of every turn.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TESTS ARE THE SPEC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 them before the implementation — and make them fail first.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6484603" cy="2768603"/>
            <a:chOff x="0" y="0"/>
            <a:chExt cx="21979471" cy="36914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3691509"/>
            </a:xfrm>
            <a:custGeom>
              <a:avLst/>
              <a:gdLst/>
              <a:ahLst/>
              <a:cxnLst/>
              <a:rect l="l" t="t" r="r" b="b"/>
              <a:pathLst>
                <a:path w="21979510" h="3691509">
                  <a:moveTo>
                    <a:pt x="0" y="0"/>
                  </a:moveTo>
                  <a:lnTo>
                    <a:pt x="21979510" y="0"/>
                  </a:lnTo>
                  <a:lnTo>
                    <a:pt x="21979510" y="3691509"/>
                  </a:lnTo>
                  <a:lnTo>
                    <a:pt x="0" y="36915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90316"/>
            <a:ext cx="1554480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PROMPT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837432"/>
            <a:ext cx="155448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“Write a pytest suite for the streak logic, covering the edge cases we skipped: a missed day resets the streak; completing twice in one day is idempotent; the timezone boundary is handled. Run them, show me one failing, then make it pass.”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5985767"/>
            <a:ext cx="5255771" cy="2366267"/>
            <a:chOff x="0" y="0"/>
            <a:chExt cx="7007695" cy="31550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MISSED DAY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Streak resets to zero — the rule the whole app rests 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16119" y="5985767"/>
            <a:ext cx="5255771" cy="2366267"/>
            <a:chOff x="0" y="0"/>
            <a:chExt cx="7007695" cy="31550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931152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DOUBLE-TICK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31152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Two taps in one day is still one completion. (Idempotent.)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130535" y="5985767"/>
            <a:ext cx="5255771" cy="2366267"/>
            <a:chOff x="0" y="0"/>
            <a:chExt cx="7007695" cy="315502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545568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MIDNIGHT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45568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Whose “today”? Timezones are where streaks quietly lie.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400" y="8593836"/>
            <a:ext cx="1645920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Seeing it fail first is the proof the test is real. A test that never failed proves nothing.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SUB-AGENTS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Three narrow jobs, each with its own fresh context and minimal tools.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TEST-WRITER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 from the requirement. Never implements.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 + write tests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949959"/>
            <a:ext cx="5255771" cy="4323083"/>
            <a:chOff x="0" y="0"/>
            <a:chExt cx="7007695" cy="576411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REVIEWER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Reads the diff, reports bugs as a numbered list with file:line.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6391275"/>
            <a:ext cx="448056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read-only, no edits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949959"/>
            <a:ext cx="5255771" cy="4323083"/>
            <a:chOff x="0" y="0"/>
            <a:chExt cx="7007695" cy="576411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VERIFIER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 and the app. Confirms green, or says why not.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shell · haiku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7485374"/>
            <a:ext cx="15570203" cy="1671323"/>
            <a:chOff x="0" y="0"/>
            <a:chExt cx="20760271" cy="222843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228469"/>
            </a:xfrm>
            <a:custGeom>
              <a:avLst/>
              <a:gdLst/>
              <a:ahLst/>
              <a:cxnLst/>
              <a:rect l="l" t="t" r="r" b="b"/>
              <a:pathLst>
                <a:path w="20760310" h="2228469">
                  <a:moveTo>
                    <a:pt x="0" y="0"/>
                  </a:moveTo>
                  <a:lnTo>
                    <a:pt x="20760310" y="0"/>
                  </a:lnTo>
                  <a:lnTo>
                    <a:pt x="20760310" y="2228469"/>
                  </a:lnTo>
                  <a:lnTo>
                    <a:pt x="0" y="2228469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316736" y="7741539"/>
            <a:ext cx="14740128" cy="1073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.claude/agents/reviewer.md     # markdown + frontmatter, /agents</a:t>
            </a:r>
          </a:p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.codex/agents/reviewer.toml   # sandbox_mode = "read-only"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WHY NARROW BEATS CAPABLE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counter-intuitive bit — give each agent less, not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ONE AGENT, ALL THE JOBS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wrote the code, so it reviews its own work kindly. Its context is full of the reasons it thought the code was fine — the same blind spot, twice.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SEPARATE, NARROW AGENTS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reviewer that never saw the reasoning arrives fresh. And one with no write access can only report problems — it can’t quietly “fix” them into hiding.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reviewer with no write access gives more honest reviews.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THE HANDOFF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doesn't share your conversation. It gets a brief, and hands back a verdict.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BRIEF IT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Only what you write in the prompt crosses over. It can't see the conversation that led here.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CROSSES: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 prompt only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WORKS ALONE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own context window, its own tool permissions. It fills up, then it's gone.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ITS OWN: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context + tools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HANDS BACK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One summary comes back to your session. Not its reasoning, not the forty files it read.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RETURNS: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one summary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handoff needs a defined input and output. “Here is the diff, return numbered bugs with file:line and severity” works. “Reviewer, thoughts?” returns mush.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isn't shared. It's passed, and only what you pass exists.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THE AGENT TEAM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centrepiece. Four roles in sequence, you at the top.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3683003" cy="2128523"/>
            <a:chOff x="0" y="0"/>
            <a:chExt cx="4910671" cy="28380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7280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TEST-WRITER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7280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572000" y="3145536"/>
            <a:ext cx="603504" cy="2103120"/>
            <a:chOff x="0" y="0"/>
            <a:chExt cx="804672" cy="28041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162807" y="3132839"/>
            <a:ext cx="3683003" cy="2128523"/>
            <a:chOff x="0" y="0"/>
            <a:chExt cx="4910671" cy="283803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358384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IMPLEMENTER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8384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codes until green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833104" y="3145536"/>
            <a:ext cx="603504" cy="2103120"/>
            <a:chOff x="0" y="0"/>
            <a:chExt cx="804672" cy="28041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423911" y="3132839"/>
            <a:ext cx="3683003" cy="2128523"/>
            <a:chOff x="0" y="0"/>
            <a:chExt cx="4910671" cy="28380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619488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619488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critiques the diff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094208" y="3145536"/>
            <a:ext cx="603504" cy="2103120"/>
            <a:chOff x="0" y="0"/>
            <a:chExt cx="804672" cy="2804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685015" y="3132839"/>
            <a:ext cx="3683003" cy="2128523"/>
            <a:chOff x="0" y="0"/>
            <a:chExt cx="4910671" cy="283803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3880592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VERIFIER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80592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95350" y="5558790"/>
            <a:ext cx="16497300" cy="1354836"/>
            <a:chOff x="0" y="0"/>
            <a:chExt cx="21996400" cy="18064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" y="5577840"/>
            <a:ext cx="14996160" cy="1316736"/>
            <a:chOff x="0" y="0"/>
            <a:chExt cx="19994880" cy="175564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9994880" cy="176517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 orchestrate and arbitrate. You do not type the implementation.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715708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 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are the tech lead, not the developer. You pick the feature, settle disagreements between agents, and decide when it’s done.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4400" y="8410956"/>
            <a:ext cx="164592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it stalls, the fix is almost never a better prompt — it’s a clearer definition of done.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PARALLEL AGENTS, SEPARATE CHECKOUTS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several agents edit at once, give each its own copy of the repo: a git worktree.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CLAUDE CODE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new folder on its own branch. Removed for you on exit if clean; it asks if not.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sessions never edit the same files.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-w ring-a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SUB-AGENTS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Put isolation: worktree in the frontmatter and that agent always gets its own checkout.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team can build in parallel.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isolation: worktree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CODEX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Newer CLIs have an experimental --worktree. The Codex app has them built in.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plain git works in both tools.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git worktree add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Compare: git diff worktree-ring-a worktree-ring-b --stat. Which would you merge, and why?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WORKTREE GOTCHAS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things that catch people the first time.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Commit first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worktree starts from a commit. Uncommitted work stays behind.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Set up each one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fresh checkout: node_modules and .venv aren't copied. Run make setup.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app at a time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make dev runs fight over ports 8000 and 5173. Let one verify with make check.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Ignore the folder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Add .claude/worktrees/ to .gitignore, or it shows up as untracked files.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CLOSING IT OFF: MERGE, THEN CLEAN 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Pick the winner, merge it, then leave nothing behind.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5256" y="2606040"/>
            <a:ext cx="10972800" cy="4160520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88720" y="2743200"/>
            <a:ext cx="10515600" cy="393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# 1 · keep the winner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switch main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diff main worktree-ring-a --stat   # last look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merge worktree-ring-a              # or cherry-pick one commit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make check                             # still green on main?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# 2 · leave nothing behind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.claude/worktrees/ring-a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--force .claude/worktrees/ring-b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worktree-ring-a          # merged: -d is safe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worktree-ring-b          # never merged: -D bins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prune                     # forget hand-deleted folders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list                      # only main left? done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2161520" y="2606040"/>
            <a:ext cx="5230368" cy="4160520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527280" y="278892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WHEN GIT SAYS NO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527280" y="3291840"/>
            <a:ext cx="4572000" cy="160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Uncommitted work? It won't remove the folder. Unmerged branch? It won't -d it. That's the safety net.</a:t>
            </a:r>
          </a:p>
        </p:txBody>
      </p:sp>
      <p:sp>
        <p:nvSpPr>
          <p:cNvPr id="19" name="TextBox 12"/>
          <p:cNvSpPr txBox="1"/>
          <p:nvPr/>
        </p:nvSpPr>
        <p:spPr>
          <a:xfrm>
            <a:off x="12527280" y="489204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100" b="1">
                <a:solidFill>
                  <a:srgbClr val="2D1155"/>
                </a:solidFill>
                <a:latin typeface="Calibri (MS) Bold"/>
                <a:ea typeface="Calibri (MS)"/>
                <a:cs typeface="Calibri (MS)"/>
                <a:sym typeface="Calibri (MS)"/>
              </a:rPr>
              <a:t>SHORTCUTS</a:t>
            </a:r>
          </a:p>
        </p:txBody>
      </p:sp>
      <p:sp>
        <p:nvSpPr>
          <p:cNvPr id="20" name="TextBox 12"/>
          <p:cNvSpPr txBox="1"/>
          <p:nvPr/>
        </p:nvSpPr>
        <p:spPr>
          <a:xfrm>
            <a:off x="12527280" y="5394960"/>
            <a:ext cx="4572000" cy="132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Exiting claude -w offers to clean up for you. Made it with git worktree add? Same commands, your paths.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85800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0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0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Done means git worktree list shows only main, and git branch shows no leftovers.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Prefer a review first? git push -u origin worktree-ring-a, then gh pr create --fill.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MAKE IT NON-OPTIONAL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is a script the tool runs automatically at a defined moment. Not a reminder. Enforcement.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CONTRACT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AGENTS.md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 at the start of a session.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Followed if the agent is paying attention.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Quietly forgotten as context fills.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HOOK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.claude/settings.json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every single time the event fires.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exit code decides what happens next.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block the action outright.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contract is a promise. A hook is a fact.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BEFORE OR AFTER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runs by itself, just before the agent does something or just after.</a:t>
            </a:r>
          </a:p>
        </p:txBody>
      </p:sp>
      <p:sp>
        <p:nvSpPr>
          <p:cNvPr id="33" name="TextBox 3"/>
          <p:cNvSpPr txBox="1"/>
          <p:nvPr/>
        </p:nvSpPr>
        <p:spPr>
          <a:xfrm>
            <a:off x="914400" y="8915400"/>
            <a:ext cx="150876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1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Full list: code.claude.com/docs/en/hooks  ·  developers.openai.com/codex/hooks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BEFORE THE AGENT ACTS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PreToolUse · UserPromptSubmit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stop it, before any damage.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Block an edit or a command.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 a prompt before the model sees it.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AFTER THE AGENT ACTS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PostToolUse · Stop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Tidy up: format the file it just wrote.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Check: when it says done, run make check.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Red? The Stop hook sends it back to work.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That's the whole idea. 30+ moments to hook into; you need these two sides.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WE WIRE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before, one after. Both are in this afternoon's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2677163"/>
            <a:chOff x="0" y="0"/>
            <a:chExt cx="10762831" cy="356955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GUARDRAIL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PreToolUse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Before: block an edit to the streak logic unless a test changes too.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14183" y="3004823"/>
            <a:ext cx="8072123" cy="2677163"/>
            <a:chOff x="0" y="0"/>
            <a:chExt cx="10762831" cy="35695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78408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VERIFIER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Stop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8408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After: run make check when the agent says it's done. Red means not done.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4400" y="6126480"/>
            <a:ext cx="164592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Next ones to try: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tidier (format each file just written) and the briefer (echo the branch and failing tests at session start).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722376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Stuck in a red Stop loop? Press Esc and fix the definition of done.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THINGS THAT WILL CATCH YOU · 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signals its decision through the exit code. The numbers are not what you'd guess.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59687"/>
            <a:ext cx="15570203" cy="1122683"/>
            <a:chOff x="0" y="0"/>
            <a:chExt cx="207602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383280" y="3072384"/>
            <a:ext cx="3840480" cy="1097280"/>
            <a:chOff x="0" y="0"/>
            <a:chExt cx="5120640" cy="14630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>
                  <a:solidFill>
                    <a:srgbClr val="6E6389"/>
                  </a:solidFill>
                  <a:latin typeface="Arial"/>
                  <a:ea typeface="Arial"/>
                  <a:cs typeface="Arial"/>
                  <a:sym typeface="Arial"/>
                </a:rPr>
                <a:t>Fine, carry on.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98080" y="3072384"/>
            <a:ext cx="8595360" cy="1097280"/>
            <a:chOff x="0" y="0"/>
            <a:chExt cx="11460480" cy="14630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Success. Anything on stdout can add context.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01703" y="4303271"/>
            <a:ext cx="15570203" cy="1122683"/>
            <a:chOff x="0" y="0"/>
            <a:chExt cx="20760271" cy="149691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383280" y="4315968"/>
            <a:ext cx="3840480" cy="1097280"/>
            <a:chOff x="0" y="0"/>
            <a:chExt cx="5120640" cy="14630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BLOCK IT.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98080" y="4315968"/>
            <a:ext cx="8595360" cy="1097280"/>
            <a:chOff x="0" y="0"/>
            <a:chExt cx="11460480" cy="14630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stderr is handed back to the agent as the reason.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01703" y="5546855"/>
            <a:ext cx="15570203" cy="1122683"/>
            <a:chOff x="0" y="0"/>
            <a:chExt cx="20760271" cy="149691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1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83280" y="5559552"/>
            <a:ext cx="3840480" cy="1097280"/>
            <a:chOff x="0" y="0"/>
            <a:chExt cx="5120640" cy="14630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9B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Nothing happens.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98080" y="5559552"/>
            <a:ext cx="8595360" cy="1097280"/>
            <a:chOff x="0" y="0"/>
            <a:chExt cx="11460480" cy="14630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non-blocking error. The action proceeds anyway.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914400" y="6838188"/>
            <a:ext cx="1536192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Unix says 1 means failure. A policy hook that exits 1 enforces nothing at all.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01703" y="7668263"/>
            <a:ext cx="15570203" cy="1707899"/>
            <a:chOff x="0" y="0"/>
            <a:chExt cx="20760271" cy="227719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2277237"/>
            </a:xfrm>
            <a:custGeom>
              <a:avLst/>
              <a:gdLst/>
              <a:ahLst/>
              <a:cxnLst/>
              <a:rect l="l" t="t" r="r" b="b"/>
              <a:pathLst>
                <a:path w="20760310" h="2277237">
                  <a:moveTo>
                    <a:pt x="0" y="0"/>
                  </a:moveTo>
                  <a:lnTo>
                    <a:pt x="20760310" y="0"/>
                  </a:lnTo>
                  <a:lnTo>
                    <a:pt x="20760310" y="2277237"/>
                  </a:lnTo>
                  <a:lnTo>
                    <a:pt x="0" y="227723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316736" y="7924419"/>
            <a:ext cx="14740128" cy="110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.claude/settings.json + .claude/hooks/     ·  manage with /hooks</a:t>
            </a:r>
          </a:p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~/.codex/hooks.json or &lt;repo&gt;/.codex/   ·  on by default; repo hooks need trust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THINGS THAT WILL CATCH YOU · 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run in the agent's current directory, not your repo root.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 WROTE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make -s check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Fine until the agent runs cd backend.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Then: No rule to make target 'check'.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$CLAUDE_PROJECT_DIR? Stuck on the main copy.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WORKS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git rev-parse --show-toplevel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Finds the repo root from wherever the agent is.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Works from backend/ and inside a worktree.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Same fix in both tools.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 the harness too. We hit this one ourselves.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EVALS · SCORING WHAT TESTS CAN’T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Back to Move 1. The harness proves correctness, but some output has no correct answer.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584199"/>
            <a:ext cx="16484603" cy="1122683"/>
            <a:chOff x="0" y="0"/>
            <a:chExt cx="219794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1496949"/>
            </a:xfrm>
            <a:custGeom>
              <a:avLst/>
              <a:gdLst/>
              <a:ahLst/>
              <a:cxnLst/>
              <a:rect l="l" t="t" r="r" b="b"/>
              <a:pathLst>
                <a:path w="21979510" h="1496949">
                  <a:moveTo>
                    <a:pt x="0" y="0"/>
                  </a:moveTo>
                  <a:lnTo>
                    <a:pt x="21979510" y="0"/>
                  </a:lnTo>
                  <a:lnTo>
                    <a:pt x="219795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6736" y="2596896"/>
            <a:ext cx="15654528" cy="1097280"/>
            <a:chOff x="0" y="0"/>
            <a:chExt cx="20872704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2704" cy="1463040"/>
            </a:xfrm>
            <a:custGeom>
              <a:avLst/>
              <a:gdLst/>
              <a:ahLst/>
              <a:cxnLst/>
              <a:rect l="l" t="t" r="r" b="b"/>
              <a:pathLst>
                <a:path w="20872704" h="1463040">
                  <a:moveTo>
                    <a:pt x="0" y="0"/>
                  </a:moveTo>
                  <a:lnTo>
                    <a:pt x="20872704" y="0"/>
                  </a:lnTo>
                  <a:lnTo>
                    <a:pt x="20872704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27986" b="-2279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0872704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TEST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asks “is this correct?” and answers pass or fail.        </a:t>
              </a:r>
              <a:r>
                <a:rPr lang="en-US" sz="2400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EVAL</a:t>
              </a:r>
              <a:r>
                <a:rPr lang="en-US" sz="2400">
                  <a:solidFill>
                    <a:srgbClr val="6403D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asks “is this good enough?” and answers with a number.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01703" y="3900935"/>
            <a:ext cx="5255771" cy="3134363"/>
            <a:chOff x="0" y="0"/>
            <a:chExt cx="7007695" cy="417915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Write a rubric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5 cases, each with what a good answer must contain.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516119" y="3900935"/>
            <a:ext cx="5255771" cy="3134363"/>
            <a:chOff x="0" y="0"/>
            <a:chExt cx="7007695" cy="417915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Let a model grade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scores each output against the rubric.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30535" y="3900935"/>
            <a:ext cx="5255771" cy="3134363"/>
            <a:chOff x="0" y="0"/>
            <a:chExt cx="7007695" cy="417915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545568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545568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Gate on the score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45568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CI blocks any change that drops the score.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7102221"/>
            <a:ext cx="16459200" cy="427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PLAIN TERMS</a:t>
            </a: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Gate on the score dropping, not on perfection. Block anything that scores worse than what you already had.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895350" y="7698486"/>
            <a:ext cx="16497300" cy="1281684"/>
            <a:chOff x="0" y="0"/>
            <a:chExt cx="21996400" cy="17089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96400" cy="1708912"/>
            </a:xfrm>
            <a:custGeom>
              <a:avLst/>
              <a:gdLst/>
              <a:ahLst/>
              <a:cxnLst/>
              <a:rect l="l" t="t" r="r" b="b"/>
              <a:pathLst>
                <a:path w="21996400" h="1708912">
                  <a:moveTo>
                    <a:pt x="0" y="0"/>
                  </a:moveTo>
                  <a:lnTo>
                    <a:pt x="21996400" y="0"/>
                  </a:lnTo>
                  <a:lnTo>
                    <a:pt x="21996400" y="1708912"/>
                  </a:lnTo>
                  <a:lnTo>
                    <a:pt x="0" y="170891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45920" y="7717536"/>
            <a:ext cx="14996160" cy="1243584"/>
            <a:chOff x="0" y="0"/>
            <a:chExt cx="19994880" cy="165811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9994877" cy="1658112"/>
            </a:xfrm>
            <a:custGeom>
              <a:avLst/>
              <a:gdLst/>
              <a:ahLst/>
              <a:cxnLst/>
              <a:rect l="l" t="t" r="r" b="b"/>
              <a:pathLst>
                <a:path w="19994877" h="1658112">
                  <a:moveTo>
                    <a:pt x="0" y="0"/>
                  </a:moveTo>
                  <a:lnTo>
                    <a:pt x="19994877" y="0"/>
                  </a:lnTo>
                  <a:lnTo>
                    <a:pt x="19994877" y="1658112"/>
                  </a:lnTo>
                  <a:lnTo>
                    <a:pt x="0" y="16581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4966" b="-18496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9994880" cy="17152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If you can’t test it, score it. If you can’t score it, don’t automate it.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MAKING IT STICK AFTER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so far lives on your laptop. These three make it survive Monday, and survive other people.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GitHub Actions runs the harness and the build on every push and pull request.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teammate who was never in this room still can’t break it.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.github/workflows/ci.yml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HEADLESS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 the agent one-shot from a script, inside a verification loop.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routine work happens without you in a conversation.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-p   /   codex exec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SECURITY PASS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Correctness, secrets and licensing, reviewed over the diff before merge.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nothing ships that you couldn’t explain to someone else.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/security-review   /   /review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 the generation, automate the verification, and keep the sign-off human. Accountability doesn’t delegate.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 MAY PUT INTO AN AGENT AT 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app. Before you do this on work code: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Ask before you paste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Company policy on approved tools, customer data and source code.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Expect prompt injection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repo, issue or web page the agent reads can carry instructions.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Protect the credentials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Logins live in ~/.claude and ~/.codex. Treat them like passwords.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Treat downloads as code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MCP servers and skills from the internet are code you are trusting.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 · RECAP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afternoon added sub-agents and hooks. Now you have all five.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303520"/>
            <a:chOff x="0" y="0"/>
            <a:chExt cx="219456" cy="70713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071360"/>
            </a:xfrm>
            <a:custGeom>
              <a:avLst/>
              <a:gdLst/>
              <a:ahLst/>
              <a:cxnLst/>
              <a:rect l="l" t="t" r="r" b="b"/>
              <a:pathLst>
                <a:path w="219456" h="7071360">
                  <a:moveTo>
                    <a:pt x="0" y="0"/>
                  </a:moveTo>
                  <a:lnTo>
                    <a:pt x="219456" y="0"/>
                  </a:lnTo>
                  <a:lnTo>
                    <a:pt x="219456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ONE RULE FOR THIS AFTERNOON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2219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Don’t read harder.</a:t>
            </a:r>
          </a:p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Build the proof.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5674995"/>
            <a:ext cx="10972800" cy="1731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time you feel the urge to scroll the diff looking for the bug, ask instead: what test, what sub-agent, or what gate would have caught this for me?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3312" y="7724775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Rusty: you never trusted the output by eye anyway — this is your advantage.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8401431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Confident: your reading is good. It still isn’t fast enough. This one’s for you.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 THE LAB · 60 MINUTES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blocks. You orchestrate; you don’t type implementation.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13383"/>
            <a:ext cx="15570203" cy="1378715"/>
            <a:chOff x="0" y="0"/>
            <a:chExt cx="20760271" cy="18382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3108198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646551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Tests for the edge cases we skipped. See one fail, then make it pass.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8880" y="3079623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449575"/>
            <a:ext cx="15570203" cy="1378715"/>
            <a:chOff x="0" y="0"/>
            <a:chExt cx="20760271" cy="18382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644390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sub-agents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5182743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the test-writer, the read-only reviewer, and the verifier (on haiku).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898880" y="4615815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85767"/>
            <a:ext cx="15570203" cy="1378715"/>
            <a:chOff x="0" y="0"/>
            <a:chExt cx="20760271" cy="183828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180582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team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718935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Ship a monthly progress ring under TDD. Stretch: two implementers in worktrees.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898880" y="6152007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20 min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01703" y="7521959"/>
            <a:ext cx="15570203" cy="1378715"/>
            <a:chOff x="0" y="0"/>
            <a:chExt cx="20760271" cy="183828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2468880" y="7716774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Lock it in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468880" y="8255127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Hooks, CI, and a security pass. Commit and tag.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98880" y="7688199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 min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14400" y="9059799"/>
            <a:ext cx="146304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Behind? Reset to checkpoint-2-features and start the block clean.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GOLDEN RULES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876807"/>
            <a:ext cx="15570203" cy="1159259"/>
            <a:chOff x="0" y="0"/>
            <a:chExt cx="20760271" cy="15456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377440" y="2889504"/>
            <a:ext cx="13716000" cy="1133856"/>
            <a:chOff x="0" y="0"/>
            <a:chExt cx="18288000" cy="151180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Harness first.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Write the check before the feature. Green is the definition of done.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4193543"/>
            <a:ext cx="15570203" cy="1159259"/>
            <a:chOff x="0" y="0"/>
            <a:chExt cx="20760271" cy="15456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377440" y="4206240"/>
            <a:ext cx="13716000" cy="1133856"/>
            <a:chOff x="0" y="0"/>
            <a:chExt cx="18288000" cy="151180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Fail it once.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test that has never failed is decoration, not proof.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510270"/>
            <a:ext cx="15570203" cy="1159259"/>
            <a:chOff x="0" y="0"/>
            <a:chExt cx="20760271" cy="15456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377440" y="5522976"/>
            <a:ext cx="13716000" cy="1133856"/>
            <a:chOff x="0" y="0"/>
            <a:chExt cx="18288000" cy="151180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the agents.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job, minimal tools. The reviewer never gets write access.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1703" y="6827006"/>
            <a:ext cx="15570203" cy="1159259"/>
            <a:chOff x="0" y="0"/>
            <a:chExt cx="20760271" cy="15456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377440" y="6839712"/>
            <a:ext cx="13716000" cy="1133856"/>
            <a:chOff x="0" y="0"/>
            <a:chExt cx="18288000" cy="1511808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Orchestrate, don’t type.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the work, arbitrate disputes, decide when it’s finished.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01703" y="8143742"/>
            <a:ext cx="15570203" cy="1159259"/>
            <a:chOff x="0" y="0"/>
            <a:chExt cx="20760271" cy="15456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2377440" y="8156448"/>
            <a:ext cx="13716000" cy="1133856"/>
            <a:chOff x="0" y="0"/>
            <a:chExt cx="18288000" cy="15118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Enforce it in the tool.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Hooks and CI, not good intentions.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WHEN YOU GET BACK TO YOUR OWN REPO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 on a projector. This is the order to do it in on work that matters.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620775"/>
            <a:ext cx="15570203" cy="1525019"/>
            <a:chOff x="0" y="0"/>
            <a:chExt cx="20760271" cy="2033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277025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25221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repo you own. One command: lint, types, tests. Nothing clever, and see it fail once.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0" y="277825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TOMORROW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266695"/>
            <a:ext cx="15570203" cy="1525019"/>
            <a:chOff x="0" y="0"/>
            <a:chExt cx="20760271" cy="20333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41617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Add one agent, one hook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489813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read-only reviewer sub-agent, plus one hook that blocks the mistake your team keeps making.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67360" y="442417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WEEK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12615"/>
            <a:ext cx="15570203" cy="1525019"/>
            <a:chOff x="0" y="0"/>
            <a:chExt cx="20760271" cy="20333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06209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the team’s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54405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Harness into CI, an eval for anything fuzzy, and walk one teammate through the same two steps.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167360" y="607009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MONTH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895350" y="7771638"/>
            <a:ext cx="16497300" cy="1208532"/>
            <a:chOff x="0" y="0"/>
            <a:chExt cx="21996400" cy="161137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96400" cy="1611376"/>
            </a:xfrm>
            <a:custGeom>
              <a:avLst/>
              <a:gdLst/>
              <a:ahLst/>
              <a:cxnLst/>
              <a:rect l="l" t="t" r="r" b="b"/>
              <a:pathLst>
                <a:path w="21996400" h="1611376">
                  <a:moveTo>
                    <a:pt x="0" y="0"/>
                  </a:moveTo>
                  <a:lnTo>
                    <a:pt x="21996400" y="0"/>
                  </a:lnTo>
                  <a:lnTo>
                    <a:pt x="21996400" y="1611376"/>
                  </a:lnTo>
                  <a:lnTo>
                    <a:pt x="0" y="161137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45920" y="7790688"/>
            <a:ext cx="14996160" cy="1170432"/>
            <a:chOff x="0" y="0"/>
            <a:chExt cx="19994880" cy="156057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994877" cy="1560576"/>
            </a:xfrm>
            <a:custGeom>
              <a:avLst/>
              <a:gdLst/>
              <a:ahLst/>
              <a:cxnLst/>
              <a:rect l="l" t="t" r="r" b="b"/>
              <a:pathLst>
                <a:path w="19994877" h="1560576">
                  <a:moveTo>
                    <a:pt x="0" y="0"/>
                  </a:moveTo>
                  <a:lnTo>
                    <a:pt x="19994877" y="0"/>
                  </a:lnTo>
                  <a:lnTo>
                    <a:pt x="19994877" y="1560576"/>
                  </a:lnTo>
                  <a:lnTo>
                    <a:pt x="0" y="15605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99652" b="-1996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19994880" cy="16177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Start where the diffs already make you nervous.</a:t>
              </a:r>
            </a:p>
          </p:txBody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BY 4PM: A HARDENED APP AND A TEAM THAT BUILT 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54705"/>
            <a:ext cx="1115568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80"/>
              </a:lnSpc>
            </a:pPr>
            <a:r>
              <a:rPr lang="en-US" sz="8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Let’s harden it.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564505"/>
            <a:ext cx="10972800" cy="284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ran the loop this morning. You made it repeatable before the break. Now you build the system that produces the work and proves it — the same skills scale from a weekend project to a production service. Only the size of the harness changes.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58" y="2131447"/>
            <a:ext cx="8174683" cy="817468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05283" y="1104404"/>
            <a:ext cx="15477434" cy="10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9"/>
              </a:lnSpc>
            </a:pPr>
            <a:r>
              <a:rPr lang="en-US" sz="6371" b="1" spc="509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HELP US MAKE THE COURSE BETTER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11765</Words>
  <Application>Microsoft Macintosh PowerPoint</Application>
  <PresentationFormat>Custom</PresentationFormat>
  <Paragraphs>1237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4" baseType="lpstr">
      <vt:lpstr>Calibri (MS) Bold</vt:lpstr>
      <vt:lpstr>Arial</vt:lpstr>
      <vt:lpstr>Calibri (MS) Italics</vt:lpstr>
      <vt:lpstr>Glacial Indifference Bold</vt:lpstr>
      <vt:lpstr>Calibri (MS)</vt:lpstr>
      <vt:lpstr>Courier New Bold</vt:lpstr>
      <vt:lpstr>Calibri (MS) Bold Italics</vt:lpstr>
      <vt:lpstr>Calibri</vt:lpstr>
      <vt:lpstr>Aptos</vt:lpstr>
      <vt:lpstr>Courier New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Master_Back in the Code</dc:title>
  <cp:lastModifiedBy>Paul Keen</cp:lastModifiedBy>
  <cp:revision>6</cp:revision>
  <dcterms:created xsi:type="dcterms:W3CDTF">2006-08-16T00:00:00Z</dcterms:created>
  <dcterms:modified xsi:type="dcterms:W3CDTF">2026-10-17T06:36:30Z</dcterms:modified>
  <dc:identifier>DAHRMTmTNGI</dc:identifier>
</cp:coreProperties>
</file>